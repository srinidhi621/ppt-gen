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01  |  THE 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What this program is for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237129"/>
            <a:ext cx="11160122" cy="219456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938" y="1237129"/>
            <a:ext cx="73152" cy="21945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138" y="1465729"/>
            <a:ext cx="102457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OPERATING PRINCIPLE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138" y="1740049"/>
            <a:ext cx="1024572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Space Grotesk"/>
              </a:rPr>
              <a:t>Find engineers who use judgment and AI leverage to remove work —
then put them on a track that doesn't destroy that capability.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938" y="3660289"/>
            <a:ext cx="3628600" cy="299771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5938" y="3660289"/>
            <a:ext cx="3657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538" y="3888889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538" y="4391809"/>
            <a:ext cx="3171400" cy="194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Conventional hiring rewards pedigree, narrow correctness, and confidence. None of these find force multipliers.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1698" y="3660289"/>
            <a:ext cx="3628600" cy="299771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1698" y="3660289"/>
            <a:ext cx="3657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0298" y="3888889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WHAT WE WON'T 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0298" y="4391809"/>
            <a:ext cx="3171400" cy="194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No essay prompts. No personality interviews. No steering committees. No '10x' marketing language externally.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7459" y="3660289"/>
            <a:ext cx="3628600" cy="299771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47459" y="3660289"/>
            <a:ext cx="36576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76059" y="3888889"/>
            <a:ext cx="3171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WHAT WE WILL 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6059" y="4391809"/>
            <a:ext cx="3171400" cy="1946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Verifiable artifacts. Scaffolded take-homes with AI allowed and scored. Anchored defense panels. Clear runway after admission to ensure continuity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02  |  PROGRAM SHAPE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Two tracks. Small cohorts. On purpose.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11160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A 10x program with 200 admits is not a 10x program. We optimize for precision, not recall.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785769"/>
            <a:ext cx="5511481" cy="450647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5938" y="1785769"/>
            <a:ext cx="5511481" cy="7772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538" y="1922929"/>
            <a:ext cx="505428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pace Grotesk"/>
              </a:rPr>
              <a:t>ASCENDER 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288689"/>
            <a:ext cx="50542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0–2 yrs experience  |  external + internal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38" y="279160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COHORT SIZE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0458" y="279160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10–15 per cohort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4538" y="388888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CADENCE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0458" y="388888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Twice yearly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538" y="498616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TEST FOR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90458" y="498616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Decomposition under ambiguity. Taste in deciding what NOT to fix. Healthy AI use the candidate can defend line by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4579" y="1785769"/>
            <a:ext cx="5511481" cy="450647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64579" y="1785769"/>
            <a:ext cx="5511481" cy="77724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3179" y="1922929"/>
            <a:ext cx="5054281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Space Grotesk"/>
              </a:rPr>
              <a:t>PRINCIPAL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3179" y="2288689"/>
            <a:ext cx="50542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2–6 yrs experience  |  lateral + skip-level nomination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3179" y="279160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COHORT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39099" y="279160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10–15 per cohort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3179" y="388888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CADENCE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9099" y="388888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Twice yearly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179" y="4986169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TEST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39099" y="4986169"/>
            <a:ext cx="3179761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Sequencing and trade-off articulation. Resisting the urge to rewrite. Systems thinking, governance awareness, ability to teach.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938" y="6429400"/>
            <a:ext cx="1116012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Internal nominations run from day one and enter at Stage 2. Highest-yield source.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03  |  THE 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Four stages. Five weeks. ~150 in, 8–12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8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15938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4538" y="15114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C0066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4538" y="1922929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425849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EVIDENCE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38" y="292876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GitHub link + 3-min Loom + one shipped artifact. No essays.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5938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538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4538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1,500–15,000 → ~400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28828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28828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7428" y="15114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C0066"/>
                </a:solidFill>
                <a:latin typeface="Space Grotesk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428" y="1922929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2–3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428" y="2425849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SCAFFOLDED TAKE-HOME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7428" y="292876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48 hrs. Real repo. AI allowed and expected. PR + 10-min walkthrough.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28828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57428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57428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~400 → ~50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1719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41719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0319" y="15114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C0066"/>
                </a:solidFill>
                <a:latin typeface="Space Grotesk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0319" y="1922929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319" y="2425849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DEFENSE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0319" y="292876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60 min. Two panelists. Five anchored questions. Independent scoring.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1719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0319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0319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~50 → ~15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54609" y="1374289"/>
            <a:ext cx="2721450" cy="528371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954609" y="1374289"/>
            <a:ext cx="2721450" cy="91440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3209" y="1511449"/>
            <a:ext cx="226425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CC0066"/>
                </a:solidFill>
                <a:latin typeface="Space Grotesk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3209" y="1922929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WEEK 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3209" y="2425849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ADMIT DECISION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3209" y="2928769"/>
            <a:ext cx="226425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30 min. Director + Principal. Confirms appetite. No new tech eval.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54609" y="5743600"/>
            <a:ext cx="2721450" cy="91440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3209" y="5816752"/>
            <a:ext cx="22642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71758A"/>
                </a:solidFill>
                <a:latin typeface="Inter"/>
              </a:rPr>
              <a:t>FUNNEL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83209" y="6045352"/>
            <a:ext cx="22642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10–15 admits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04  |  WHERE THIS DIFFERS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The two design decisions that determine whether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AI-USE RUBRIC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5938" y="14657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Scored explicitly. Without this, calibration collapses.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5938" y="1785769"/>
            <a:ext cx="1788392" cy="487223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5938" y="1785769"/>
            <a:ext cx="1788392" cy="365760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4538" y="1858921"/>
            <a:ext cx="1331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HEALTHY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4538" y="2288689"/>
            <a:ext cx="1331192" cy="432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Used AI for boilerplate, scaffolding, tests. Verified outputs. Can explain every 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77482" y="1785769"/>
            <a:ext cx="1788392" cy="487223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77482" y="1785769"/>
            <a:ext cx="1788392" cy="3657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06082" y="1858921"/>
            <a:ext cx="1331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OVER-RELIANCE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82" y="2288689"/>
            <a:ext cx="1331192" cy="432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Cannot explain choices. Inconsistent style. Hallucinated comments. Tests don't match code.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39026" y="1785769"/>
            <a:ext cx="1788392" cy="4872231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39026" y="1785769"/>
            <a:ext cx="1788392" cy="365760"/>
          </a:xfrm>
          <a:prstGeom prst="rect">
            <a:avLst/>
          </a:prstGeom>
          <a:solidFill>
            <a:srgbClr val="7175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7626" y="1858921"/>
            <a:ext cx="133119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Inter"/>
              </a:rPr>
              <a:t>AVOIDANCE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7626" y="2288689"/>
            <a:ext cx="1331192" cy="43235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Avoided AI in an AI-appropriate task. Slower with no quality gain.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579" y="12371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BASE RATES PER TRACK PER 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4579" y="1465729"/>
            <a:ext cx="551148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If they want recall, this is the wrong program.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4579" y="1785769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64579" y="1785769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93179" y="1922929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1,500–15,000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93179" y="2471569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applicants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6895" y="1785769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6895" y="1785769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5495" y="1922929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~400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5495" y="2471569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Stage 2 invitees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4579" y="3434230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4579" y="3434230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3179" y="3571390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~50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3179" y="4120030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Stage 3 invitees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56895" y="3434230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56895" y="3434230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5495" y="3571390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10–15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5495" y="4120030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admits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64579" y="5082691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4579" y="5082691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93179" y="5219851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~6 hrs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93179" y="5768491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reviewer cost / admit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56895" y="5082691"/>
            <a:ext cx="2719164" cy="1575309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56895" y="5082691"/>
            <a:ext cx="73152" cy="1575309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5495" y="5219851"/>
            <a:ext cx="226196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008567"/>
                </a:solidFill>
                <a:latin typeface="Space Grotesk"/>
              </a:rPr>
              <a:t>25%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85495" y="5768491"/>
            <a:ext cx="2261964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false-positive tolerance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05  |  AFTER ADMIT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Selection is 20%. The development arc is 80%.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111601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71758A"/>
                </a:solidFill>
                <a:latin typeface="Inter"/>
              </a:rPr>
              <a:t>If we cannot protect the runway, we should not run the program. This is the failure mode that quietly kills these initiatives.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785769"/>
            <a:ext cx="3628600" cy="487223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5938" y="178576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4538" y="2014369"/>
            <a:ext cx="317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MONTHS 1–3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4538" y="2288689"/>
            <a:ext cx="317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PROTECTED RUNWAY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4538" y="3111649"/>
            <a:ext cx="3171400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44538" y="3248809"/>
            <a:ext cx="3171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60% protected time. A real problem. A named sponsor. NOT on standard delivery utilization.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098" y="5194960"/>
            <a:ext cx="3400000" cy="132588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698" y="5268112"/>
            <a:ext cx="294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0066"/>
                </a:solidFill>
                <a:latin typeface="Inter"/>
              </a:rPr>
              <a:t>WATCH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698" y="5496712"/>
            <a:ext cx="294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Requires written executive air cover. A Delivery VP will try to break this in week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81698" y="1785769"/>
            <a:ext cx="3628600" cy="487223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81698" y="178576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10298" y="2014369"/>
            <a:ext cx="317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MONTHS 3–9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10298" y="2288689"/>
            <a:ext cx="317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SHADOW + LEAD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510298" y="3111649"/>
            <a:ext cx="3171400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10298" y="3248809"/>
            <a:ext cx="3171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Pair with a Principal Engineer on a real client engagement. Lead one workstream end-to-end.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8858" y="5194960"/>
            <a:ext cx="3400000" cy="132588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47458" y="5268112"/>
            <a:ext cx="294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0066"/>
                </a:solidFill>
                <a:latin typeface="Inter"/>
              </a:rPr>
              <a:t>WATCH FOR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7458" y="5496712"/>
            <a:ext cx="294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Quarterly review on five anchored dimensions: framing, leverage, taste, ownership, teaching.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7459" y="1785769"/>
            <a:ext cx="3628600" cy="4872231"/>
          </a:xfrm>
          <a:prstGeom prst="rect">
            <a:avLst/>
          </a:prstGeom>
          <a:solidFill>
            <a:srgbClr val="FFFFFF"/>
          </a:solidFill>
          <a:ln w="9525">
            <a:solidFill>
              <a:srgbClr val="7175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7459" y="1785769"/>
            <a:ext cx="3628600" cy="73152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6059" y="2014369"/>
            <a:ext cx="3171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MONTHS 9–18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6059" y="2288689"/>
            <a:ext cx="3171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008567"/>
                </a:solidFill>
                <a:latin typeface="Inter"/>
              </a:rPr>
              <a:t>FORCE MULTIPLIER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76059" y="3111649"/>
            <a:ext cx="3171400" cy="0"/>
          </a:xfrm>
          <a:prstGeom prst="line">
            <a:avLst/>
          </a:prstGeom>
          <a:ln w="6350">
            <a:solidFill>
              <a:srgbClr val="7175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276059" y="3248809"/>
            <a:ext cx="31714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00000"/>
                </a:solidFill>
                <a:latin typeface="Inter"/>
              </a:rPr>
              <a:t>Own a small team or a reusable practice asset — playbook, internal tool, eval harness.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4619" y="5194960"/>
            <a:ext cx="3400000" cy="132588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3219" y="5268112"/>
            <a:ext cx="2942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CC0066"/>
                </a:solidFill>
                <a:latin typeface="Inter"/>
              </a:rPr>
              <a:t>WATCH FOR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3219" y="5496712"/>
            <a:ext cx="2942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71758A"/>
                </a:solidFill>
                <a:latin typeface="Inter"/>
              </a:rPr>
              <a:t>Promotion or off-ramp at month 18. Off-ramp to senior IC track is graduation, not failure.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15938" y="435852"/>
            <a:ext cx="137160" cy="13716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1678" y="435852"/>
            <a:ext cx="10885804" cy="153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06  |  MAKE IT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5938" y="710172"/>
            <a:ext cx="11160124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Space Grotesk"/>
              </a:rPr>
              <a:t>Governance, the three risks that kill this, and the first moves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5938" y="1237129"/>
            <a:ext cx="4570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GOVERNANCE — FOUR NAMED OWNERS, NO COMMITTEES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938" y="1602889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098" y="1602889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Executive Sponsor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098" y="1831489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One named VP. Air cover for protected runway. Authority to kill the program if quality slips.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938" y="2773321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098" y="2773321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Program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098" y="3001921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One named Director. End-to-end accountability. Rubric integrity. Calibration.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938" y="3943753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098" y="3943753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Tech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098" y="4172353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4–6 named Principals. Task design. Scoring. Defense panels.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938" y="5114185"/>
            <a:ext cx="73152" cy="109728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098" y="5114185"/>
            <a:ext cx="4341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08567"/>
                </a:solidFill>
                <a:latin typeface="Inter"/>
              </a:rPr>
              <a:t>TA Partner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098" y="5342785"/>
            <a:ext cx="43414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One named recruiter. Funnel mechanics. Candidate experience.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3138" y="1237129"/>
            <a:ext cx="645292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THREE RISKS THAT WILL ACTUALLY KILL THIS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23138" y="1602889"/>
            <a:ext cx="6452921" cy="54864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60298" y="1676041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Inter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88898" y="1676041"/>
            <a:ext cx="590428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Delivery pressure breaks the protected runway in month 2.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23138" y="2224681"/>
            <a:ext cx="6452921" cy="54864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60298" y="2297833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Inter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8898" y="2297833"/>
            <a:ext cx="590428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AI-use rubric drifts across panelists across cycles.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23138" y="2846473"/>
            <a:ext cx="6452921" cy="548640"/>
          </a:xfrm>
          <a:prstGeom prst="rect">
            <a:avLst/>
          </a:prstGeom>
          <a:solidFill>
            <a:srgbClr val="AFAA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60298" y="2919625"/>
            <a:ext cx="228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CC0066"/>
                </a:solidFill>
                <a:latin typeface="Inter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88898" y="2919625"/>
            <a:ext cx="5904281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Inter"/>
              </a:rPr>
              <a:t>Excellent ICs admitted with no senior IC ladder to graduate them onto.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23138" y="3605425"/>
            <a:ext cx="6452921" cy="3052575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223138" y="3605425"/>
            <a:ext cx="73152" cy="3052575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51738" y="3742585"/>
            <a:ext cx="6087161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FIRST THREE MOVES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51738" y="4108345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THIS WEEK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69058" y="4108345"/>
            <a:ext cx="457840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Get one VP to sign the protected-runway commitment in writing. No signature, no program.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51738" y="4656985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NEXT 2 WEEKS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69058" y="4656985"/>
            <a:ext cx="457840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Tech panel writes one Ascender task and one Principal task. Three Principals submit benchmarks.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51738" y="5205625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CC0066"/>
                </a:solidFill>
                <a:latin typeface="Inter"/>
              </a:rPr>
              <a:t>WEEKS 3–4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69058" y="5205625"/>
            <a:ext cx="457840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Inter"/>
              </a:rPr>
              <a:t>Run internal pilot with 20 nominees. Decide on external Cohort 1 from data, not enthusiasm.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