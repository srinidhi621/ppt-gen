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2"/>
  </p:notesMasterIdLst>
  <p:sldIdLst>
    <p:sldId id="426" r:id="rId5"/>
    <p:sldId id="443" r:id="rId6"/>
    <p:sldId id="444" r:id="rId7"/>
    <p:sldId id="445" r:id="rId8"/>
    <p:sldId id="446" r:id="rId9"/>
    <p:sldId id="447" r:id="rId10"/>
    <p:sldId id="4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C4C04C-BA07-A661-11BA-5351E902CFA7}" name="Varshini Chaithra" initials="VC" userId="S::varshini.chaithra@ascendion.com::cfd6f448-240a-4c5f-a765-f909eaec1f5e" providerId="AD"/>
  <p188:author id="{4AA7D286-AD35-88AE-8B13-5A7E4B1CBFB6}" name="Ian Lee" initials="IL" userId="S::ian.lee@ascendion.com::6b91995e-c1f0-4fa6-abd3-fa6daaad774e" providerId="AD"/>
  <p188:author id="{5D65F29C-D2CD-3B57-52E4-D4802B0D78F5}" name="Daryush Laqab" initials="DL" userId="S::daryush.laqab@ascendion.com::1f114113-3f76-4411-8045-8fcc378e5ad6" providerId="AD"/>
  <p188:author id="{9B2D40A4-5335-548A-DB47-B3A48F53C891}" name="Rami Kakish" initials="RK" userId="S::rami.kakish@ascendion.com::16eccbb2-bb18-4b17-a30a-69563413bb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1"/>
    <p:restoredTop sz="94640"/>
  </p:normalViewPr>
  <p:slideViewPr>
    <p:cSldViewPr snapToGrid="0">
      <p:cViewPr varScale="1">
        <p:scale>
          <a:sx n="116" d="100"/>
          <a:sy n="11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94E2E-F8D1-EB46-87B7-9A548C2EE1DD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985F-0D10-FD42-9BC8-0F5974A4D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7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yriad Pro" panose="020B0503030403020204" pitchFamily="34" charset="0"/>
            </a:endParaRPr>
          </a:p>
        </p:txBody>
      </p:sp>
      <p:sp>
        <p:nvSpPr>
          <p:cNvPr id="571" name="Google Shape;5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12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4E4-26F1-9FE4-8F65-0078B5BF2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1140A-93A6-6DD2-7B86-5BC57B0B0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A090-501A-E8D8-4DAA-649D25D5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04EF3-5FF9-4ACE-BC3C-8DFDE9012084}" type="datetimeFigureOut">
              <a:rPr lang="en-IN" smtClean="0"/>
              <a:t>09/04/26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39976-A5C5-A93D-990B-6C965A25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84A7-1015-5F69-E87E-21CD3D1E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8376-9A29-4DB9-904C-0C045F07F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2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image">
  <p:cSld name="Title with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87927" y="2772928"/>
            <a:ext cx="9144000" cy="10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PP Neue Machina" panose="00000500000000000000" pitchFamily="50" charset="0"/>
                <a:ea typeface="PP Neue Machina" panose="00000500000000000000" pitchFamily="50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87927" y="3971492"/>
            <a:ext cx="9144000" cy="49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207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svg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5600"/>
            <a:ext cx="11160123" cy="46058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10864851" y="6468533"/>
            <a:ext cx="186267" cy="2032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/>
        </p:nvSpPr>
        <p:spPr>
          <a:xfrm>
            <a:off x="1838618" y="6362699"/>
            <a:ext cx="41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10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/>
        </p:nvSpPr>
        <p:spPr>
          <a:xfrm>
            <a:off x="274789" y="6362693"/>
            <a:ext cx="1663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4" name="Graphic 10">
            <a:extLst>
              <a:ext uri="{FF2B5EF4-FFF2-40B4-BE49-F238E27FC236}">
                <a16:creationId xmlns:a16="http://schemas.microsoft.com/office/drawing/2014/main" id="{34A157B6-58AF-33D6-96CC-D1BE31D6A076}"/>
              </a:ext>
            </a:extLst>
          </p:cNvPr>
          <p:cNvSpPr/>
          <p:nvPr/>
        </p:nvSpPr>
        <p:spPr>
          <a:xfrm>
            <a:off x="2356339" y="633742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/>
        </p:nvCxnSpPr>
        <p:spPr>
          <a:xfrm>
            <a:off x="0" y="651510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FD9D7BDB-8CD6-FF8E-F8F1-745DD690CC5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1536700" y="1092200"/>
            <a:ext cx="1422400" cy="28702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15B104-CF67-8593-1815-0DB440DCBFCB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t="68935" b="6661"/>
          <a:stretch/>
        </p:blipFill>
        <p:spPr>
          <a:xfrm>
            <a:off x="-1524000" y="4198301"/>
            <a:ext cx="1435100" cy="22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9" r:id="rId6"/>
    <p:sldLayoutId id="2147483690" r:id="rId7"/>
    <p:sldLayoutId id="2147483691" r:id="rId8"/>
    <p:sldLayoutId id="2147483711" r:id="rId9"/>
    <p:sldLayoutId id="2147483757" r:id="rId10"/>
    <p:sldLayoutId id="2147483758" r:id="rId11"/>
    <p:sldLayoutId id="2147483760" r:id="rId12"/>
    <p:sldLayoutId id="2147483761" r:id="rId13"/>
    <p:sldLayoutId id="2147483764" r:id="rId14"/>
    <p:sldLayoutId id="2147483766" r:id="rId15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800" b="1" i="0" kern="1200">
          <a:solidFill>
            <a:schemeClr val="tx1"/>
          </a:solidFill>
          <a:latin typeface="PP Neue Machina Plain Ultrabold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ptos" panose="020B0004020202020204" pitchFamily="34" charset="0"/>
        <a:buChar char="•"/>
        <a:defRPr sz="1867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333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7BCF452-713F-FCFA-31EB-98778F7AD57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4" r="44"/>
          <a:stretch/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40811B93-43B1-47D8-1DBE-8EB3FB679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230" y="3022881"/>
            <a:ext cx="6524502" cy="1648046"/>
          </a:xfrm>
          <a:effectLst>
            <a:outerShdw blurRad="489867" dist="38100" dir="2700000" algn="tl" rotWithShape="0">
              <a:prstClr val="black">
                <a:alpha val="88000"/>
              </a:prstClr>
            </a:outerShdw>
          </a:effectLst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4800" b="1" dirty="0">
                <a:solidFill>
                  <a:schemeClr val="bg1"/>
                </a:solidFill>
                <a:latin typeface="PP Neue Machina Plain Ultrabold"/>
              </a:rPr>
              <a:t>10x Accelerated Talent Program</a:t>
            </a:r>
            <a:br>
              <a:rPr lang="en-IN" sz="4800" b="1" dirty="0">
                <a:solidFill>
                  <a:schemeClr val="bg1"/>
                </a:solidFill>
                <a:latin typeface="PP Neue Machina Plain Ultrabold"/>
              </a:rPr>
            </a:br>
            <a:r>
              <a:rPr lang="en-IN" sz="2800" b="1" dirty="0">
                <a:solidFill>
                  <a:schemeClr val="bg1"/>
                </a:solidFill>
                <a:latin typeface="PP Neue Machina Plain Ultrabold"/>
              </a:rPr>
              <a:t>Operating Plan  |  Leadership Review</a:t>
            </a:r>
            <a:endParaRPr lang="en-IN" sz="4800" b="1" dirty="0">
              <a:solidFill>
                <a:schemeClr val="bg1"/>
              </a:solidFill>
              <a:latin typeface="PP Neue Machina Plain Ultrabold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A00361-B9E9-682B-EA9E-CEB8F5814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230" y="617556"/>
            <a:ext cx="2810233" cy="646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B8EB53-5FDC-C5D0-8960-D910AB2EF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0">
            <a:off x="10992680" y="-5356030"/>
            <a:ext cx="2885530" cy="57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9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01  | 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What this program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OPERATING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Find engineers who use judgment and AI leverage to remove work —
then put them on a track that doesn't destroy that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Conventional hiring rewards pedigree, narrow correctness, and confidence. None of these find force multipliers.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WHAT WE WON'T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No essay prompts. No personality interviews. No steering committees. No '10x' marketing language externally.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WHAT WE WILL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Verifiable artifacts. Scaffolded take-homes with AI allowed and scored. Anchored defense panels. Clear runway after admission to ensure continuity</a:t>
            </a:r>
          </a:p>
        </p:txBody>
      </p:sp>
    </p:spTree>
    <p:extLst>
      <p:ext uri="{BB962C8B-B14F-4D97-AF65-F5344CB8AC3E}">
        <p14:creationId xmlns:p14="http://schemas.microsoft.com/office/powerpoint/2010/main" val="93204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02  |  PROGRAM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Two tracks. Small cohorts.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10x program with 200 admits is not a 10x program. We optimize for precision, not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ASCENDER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0–2 yrs experience  |  external +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346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10–15 per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7947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754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Decomposition under ambiguity. Taste in deciding what NOT to fix. Healthy AI use the candidate can defend line by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PRINCIPAL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2–6 yrs experience  |  lateral + skip-level 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10–15 per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947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Sequencing and trade-off articulation. Resisting the urge to rewrite. Systems thinking, governance awareness, ability to teach.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Internal nominations run from day one and enter at Stage 2. Highest-yield source.</a:t>
            </a:r>
          </a:p>
        </p:txBody>
      </p:sp>
    </p:spTree>
    <p:extLst>
      <p:ext uri="{BB962C8B-B14F-4D97-AF65-F5344CB8AC3E}">
        <p14:creationId xmlns:p14="http://schemas.microsoft.com/office/powerpoint/2010/main" val="70503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03  | 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Four stages. Five weeks. ~150 in, 8–12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152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4152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472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472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472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EVIDENCE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72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GitHub link + 3-min Loom + one shipped artifact. No essays.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152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472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72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1,500–15,000 → ~400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224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544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544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544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SCAFFOLDED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544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48 hrs. Real repo. AI allowed and expected. PR + 10-min walkthrough.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0544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544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~400 → ~50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296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296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616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616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616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DEFENSE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16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60 min. Two panelists. Five anchored questions. Independent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8296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2616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616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~50 → ~15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0368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0368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4688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4688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4688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ADMIT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688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30 min. Director + Principal. Confirms appetite. No new tech eval.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0368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4688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4688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10–15 admits</a:t>
            </a:r>
          </a:p>
        </p:txBody>
      </p:sp>
    </p:spTree>
    <p:extLst>
      <p:ext uri="{BB962C8B-B14F-4D97-AF65-F5344CB8AC3E}">
        <p14:creationId xmlns:p14="http://schemas.microsoft.com/office/powerpoint/2010/main" val="376467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04  |  WHERE THIS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The two design decisions that determine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AI-USE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Scored explicitly. Without this, calibration collapses.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9812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HEALTHY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Used AI for boilerplate, scaffolding, tests. Verified outputs. Can explain every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9840" y="2194560"/>
            <a:ext cx="19812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00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OVER-RELIANCE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Cannot explain choices. Inconsistent style. Hallucinated comments. Tests don't match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48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02480" y="2194560"/>
            <a:ext cx="1981200" cy="41148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964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964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Avoided AI in an AI-appropriate task. Slower with no quality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173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BASE RATES PER TRACK PER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7099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If they want recall, this is the wrong program.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91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1,500–15,000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applicants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3591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Stage 2 invitees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122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68503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233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Stage 3 invitees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68503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10–15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233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admits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122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501091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~6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559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reviewer cost / admit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501091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5559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false-positive tolerance</a:t>
            </a:r>
          </a:p>
        </p:txBody>
      </p:sp>
    </p:spTree>
    <p:extLst>
      <p:ext uri="{BB962C8B-B14F-4D97-AF65-F5344CB8AC3E}">
        <p14:creationId xmlns:p14="http://schemas.microsoft.com/office/powerpoint/2010/main" val="166774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05  |  AFTER ADMIT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Selection is 20%. The development arc is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If we cannot protect the runway, we should not run the program. This is the failure mode that quietly kills these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81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PROTECTED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60% protected time. A real problem. A named sponsor. NOT on standard delivery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1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Requires written executive air cover. A Delivery VP will try to break this in week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3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3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86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3–9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6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SHADOW +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6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6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Pair with a Principal Engineer on a real client engagement. Lead one workstream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72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43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3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Quarterly review on five anchored dimensions: framing, leverage, taste, ownership, teaching.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5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5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48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9–18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8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FORCE MULTIPLIER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48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48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Own a small team or a reusable practice asset — playbook, internal tool, eval harness.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34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05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05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Promotion or off-ramp at month 18. Off-ramp to senior IC track is graduation, not failure.</a:t>
            </a:r>
          </a:p>
        </p:txBody>
      </p:sp>
    </p:spTree>
    <p:extLst>
      <p:ext uri="{BB962C8B-B14F-4D97-AF65-F5344CB8AC3E}">
        <p14:creationId xmlns:p14="http://schemas.microsoft.com/office/powerpoint/2010/main" val="185180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06  | 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Governance, the three risks that kill this, and the first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GOVERNANCE — FOUR NAMED OWNERS, NO COMMITTEES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2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Executive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VP. Air cover for protected runway. Authority to kill the program if quality slips.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Program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Director. End-to-end accountability. Rubric integrity.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Tech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4–6 named Principals. Task design. Scoring. Defense panels.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recruiter. Funnel mechanics. Candidate experience.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1732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THREE RISKS THAT WILL ACTUALLY KILL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7452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993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2082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Delivery pressure breaks the protected runway in month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46888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5877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1518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AI-use rubric drifts across panelists across cycles.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06324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954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Excellent ICs admitted with no senior IC ladder to graduate them onto.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114800"/>
            <a:ext cx="5742432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4114800"/>
            <a:ext cx="109728" cy="21945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793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FIRST THREE MOVES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63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64515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Get one VP to sign the protected-runway commitment in writing. No signature, no program.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NEXT 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14807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Tech panel writes one Ascender task and one Principal task. Three Principals submit benchmarks.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69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WEEKS 3–4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65099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Run internal pilot with 20 nominees. Decide on external Cohort 1 from data, not enthusiasm.</a:t>
            </a:r>
          </a:p>
        </p:txBody>
      </p:sp>
    </p:spTree>
    <p:extLst>
      <p:ext uri="{BB962C8B-B14F-4D97-AF65-F5344CB8AC3E}">
        <p14:creationId xmlns:p14="http://schemas.microsoft.com/office/powerpoint/2010/main" val="40184411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- Light">
  <a:themeElements>
    <a:clrScheme name="25_New_ascendion colors">
      <a:dk1>
        <a:srgbClr val="000000"/>
      </a:dk1>
      <a:lt1>
        <a:srgbClr val="FFFFFF"/>
      </a:lt1>
      <a:dk2>
        <a:srgbClr val="B3B3B3"/>
      </a:dk2>
      <a:lt2>
        <a:srgbClr val="E8E8E8"/>
      </a:lt2>
      <a:accent1>
        <a:srgbClr val="2CDCAA"/>
      </a:accent1>
      <a:accent2>
        <a:srgbClr val="006450"/>
      </a:accent2>
      <a:accent3>
        <a:srgbClr val="F5821E"/>
      </a:accent3>
      <a:accent4>
        <a:srgbClr val="6666CC"/>
      </a:accent4>
      <a:accent5>
        <a:srgbClr val="8C0059"/>
      </a:accent5>
      <a:accent6>
        <a:srgbClr val="828282"/>
      </a:accent6>
      <a:hlink>
        <a:srgbClr val="968CFA"/>
      </a:hlink>
      <a:folHlink>
        <a:srgbClr val="000000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35BFA3-A629-DE4F-B1C5-8C47EAC1BC4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911fa6ee-0b3c-45f7-b455-288c47830c83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17D077514BC341998BBA45225655AA" ma:contentTypeVersion="3" ma:contentTypeDescription="Create a new document." ma:contentTypeScope="" ma:versionID="2396a582a6befac04200bceb3822b478">
  <xsd:schema xmlns:xsd="http://www.w3.org/2001/XMLSchema" xmlns:xs="http://www.w3.org/2001/XMLSchema" xmlns:p="http://schemas.microsoft.com/office/2006/metadata/properties" xmlns:ns2="8b6de726-6a7a-4692-9584-22166a19873a" targetNamespace="http://schemas.microsoft.com/office/2006/metadata/properties" ma:root="true" ma:fieldsID="d315774a3da3dca3dcd2d4bd9531319d" ns2:_="">
    <xsd:import namespace="8b6de726-6a7a-4692-9584-22166a1987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de726-6a7a-4692-9584-22166a198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0CBCBE-B10C-4D49-BEE1-872DDF386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6de726-6a7a-4692-9584-22166a1987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154E1E-A921-46DB-B0DF-1607B9F945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179B07-0447-4D31-BA7E-09C47EA7576B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8b6de726-6a7a-4692-9584-22166a19873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4050</TotalTime>
  <Words>831</Words>
  <Application>Microsoft Macintosh PowerPoint</Application>
  <PresentationFormat>Widescreen</PresentationFormat>
  <Paragraphs>124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Myriad Pro</vt:lpstr>
      <vt:lpstr>PP Neue Machina</vt:lpstr>
      <vt:lpstr>PP Neue Machina Plain Italic</vt:lpstr>
      <vt:lpstr>PP Neue Machina Plain Ultrabold</vt:lpstr>
      <vt:lpstr>Verdana</vt:lpstr>
      <vt:lpstr>Content - Light</vt:lpstr>
      <vt:lpstr>10x Accelerated Talent Program Operating Plan  |  Leadership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Daryush Laqab</dc:creator>
  <cp:lastModifiedBy>Srinidhi Ramanujam</cp:lastModifiedBy>
  <cp:revision>28</cp:revision>
  <dcterms:created xsi:type="dcterms:W3CDTF">2025-06-18T18:37:34Z</dcterms:created>
  <dcterms:modified xsi:type="dcterms:W3CDTF">2026-04-09T12:30:24Z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0x010100FD17D077514BC341998BBA45225655AA</vt:lpwstr>
  </property>
</Properties>
</file>