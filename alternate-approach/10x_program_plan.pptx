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12"/>
  </p:notesMasterIdLst>
  <p:sldIdLst>
    <p:sldId id="426" r:id="rId5"/>
    <p:sldId id="443" r:id="rId6"/>
    <p:sldId id="444" r:id="rId7"/>
    <p:sldId id="445" r:id="rId8"/>
    <p:sldId id="446" r:id="rId9"/>
    <p:sldId id="447" r:id="rId10"/>
    <p:sldId id="4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C4C04C-BA07-A661-11BA-5351E902CFA7}" name="Varshini Chaithra" initials="VC" userId="S::varshini.chaithra@ascendion.com::cfd6f448-240a-4c5f-a765-f909eaec1f5e" providerId="AD"/>
  <p188:author id="{4AA7D286-AD35-88AE-8B13-5A7E4B1CBFB6}" name="Ian Lee" initials="IL" userId="S::ian.lee@ascendion.com::6b91995e-c1f0-4fa6-abd3-fa6daaad774e" providerId="AD"/>
  <p188:author id="{5D65F29C-D2CD-3B57-52E4-D4802B0D78F5}" name="Daryush Laqab" initials="DL" userId="S::daryush.laqab@ascendion.com::1f114113-3f76-4411-8045-8fcc378e5ad6" providerId="AD"/>
  <p188:author id="{9B2D40A4-5335-548A-DB47-B3A48F53C891}" name="Rami Kakish" initials="RK" userId="S::rami.kakish@ascendion.com::16eccbb2-bb18-4b17-a30a-69563413bb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1"/>
    <p:restoredTop sz="94640"/>
  </p:normalViewPr>
  <p:slideViewPr>
    <p:cSldViewPr snapToGrid="0">
      <p:cViewPr varScale="1">
        <p:scale>
          <a:sx n="116" d="100"/>
          <a:sy n="116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94E2E-F8D1-EB46-87B7-9A548C2EE1DD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1985F-0D10-FD42-9BC8-0F5974A4D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7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yriad Pro" panose="020B0503030403020204" pitchFamily="34" charset="0"/>
            </a:endParaRPr>
          </a:p>
        </p:txBody>
      </p:sp>
      <p:sp>
        <p:nvSpPr>
          <p:cNvPr id="571" name="Google Shape;5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A1DDE92-DA1C-8399-049A-66BFF7CE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AFEFB-CFB0-3C09-5A99-8882AAEF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7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12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813116"/>
            <a:ext cx="2071688" cy="357498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40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2071688" y="1625370"/>
            <a:ext cx="10120312" cy="616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71688" cy="28131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2153085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9492" y="4637127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39492" y="4423027"/>
            <a:ext cx="12500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39492" y="5027517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Business: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2267385" y="1799321"/>
            <a:ext cx="216035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Problem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5209534" y="1799322"/>
            <a:ext cx="25247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Solution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0A1CE8-E014-EA9F-C34B-BE5A8E282ECC}"/>
              </a:ext>
            </a:extLst>
          </p:cNvPr>
          <p:cNvGrpSpPr/>
          <p:nvPr userDrawn="1"/>
        </p:nvGrpSpPr>
        <p:grpSpPr>
          <a:xfrm>
            <a:off x="5082023" y="1737765"/>
            <a:ext cx="3879816" cy="385584"/>
            <a:chOff x="5082023" y="1737765"/>
            <a:chExt cx="3879816" cy="3855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F52324D-44E9-7A47-42C3-953653BD00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E24740-BF49-13A2-D93B-760FA193E0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5184134" y="2362985"/>
            <a:ext cx="3693166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9091483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9434383" y="1799321"/>
            <a:ext cx="20740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 </a:t>
            </a:r>
            <a:r>
              <a:rPr lang="en-US" sz="1600" b="1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Benifits</a:t>
            </a:r>
            <a:endParaRPr lang="en-US" sz="1600" b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39492" y="5662523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Geo: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9492" y="5253750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39492" y="5897753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1628" y="394087"/>
            <a:ext cx="9445985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784C-5043-428D-DC33-634365C56E4F}"/>
              </a:ext>
            </a:extLst>
          </p:cNvPr>
          <p:cNvSpPr txBox="1"/>
          <p:nvPr userDrawn="1"/>
        </p:nvSpPr>
        <p:spPr>
          <a:xfrm>
            <a:off x="139492" y="2852936"/>
            <a:ext cx="170200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the client: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F235FC0-4E27-D968-58A3-F9EAFA92D9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39492" y="3068960"/>
            <a:ext cx="1724025" cy="1337940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73FCF-34CD-7A47-56EC-55C24F57E5EA}"/>
              </a:ext>
            </a:extLst>
          </p:cNvPr>
          <p:cNvGrpSpPr/>
          <p:nvPr userDrawn="1"/>
        </p:nvGrpSpPr>
        <p:grpSpPr>
          <a:xfrm>
            <a:off x="5082023" y="2315096"/>
            <a:ext cx="3879816" cy="4085704"/>
            <a:chOff x="5082023" y="1737765"/>
            <a:chExt cx="3879816" cy="3855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DF3B407-BDE4-335A-5A8C-1E0B8BF216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466F1C-B3D4-533E-3981-AEB2F79776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93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5065" y="1613446"/>
            <a:ext cx="4296937" cy="45985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515937" y="1603637"/>
            <a:ext cx="7011136" cy="3791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515938" y="3827168"/>
            <a:ext cx="3230873" cy="379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4296201" y="3827168"/>
            <a:ext cx="3230873" cy="3791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636258" y="1613446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636258" y="3827169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4416522" y="3836977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15933" y="2172350"/>
            <a:ext cx="7011136" cy="1462461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15934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4296201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4087"/>
            <a:ext cx="11171676" cy="43088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4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 - Light_u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6" y="232992"/>
            <a:ext cx="10361757" cy="5671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PP Neue Machina Plain Italic" panose="020B060402020202020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6" y="1839914"/>
            <a:ext cx="11120439" cy="4330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2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ED5CD-E0BA-AFA1-4E70-2639686FDD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9" y="108515"/>
            <a:ext cx="673947" cy="8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44E4-26F1-9FE4-8F65-0078B5BF2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1140A-93A6-6DD2-7B86-5BC57B0B0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A090-501A-E8D8-4DAA-649D25D5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04EF3-5FF9-4ACE-BC3C-8DFDE9012084}" type="datetimeFigureOut">
              <a:rPr lang="en-IN" smtClean="0"/>
              <a:t>09/04/26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39976-A5C5-A93D-990B-6C965A25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84A7-1015-5F69-E87E-21CD3D1E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8376-9A29-4DB9-904C-0C045F07F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2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HALF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F54CCE-2A05-56EB-965D-AE06B1C434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1803400"/>
            <a:ext cx="5358823" cy="217014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</p:spPr>
        <p:txBody>
          <a:bodyPr anchor="b">
            <a:noAutofit/>
          </a:bodyPr>
          <a:lstStyle>
            <a:lvl1pPr marL="0" indent="0">
              <a:buNone/>
              <a:defRPr b="0" i="0">
                <a:latin typeface="PP Neue Machina Plain Italic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D9A8CD-3B41-5263-B917-086B47988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3" name="Graphic 24">
            <a:extLst>
              <a:ext uri="{FF2B5EF4-FFF2-40B4-BE49-F238E27FC236}">
                <a16:creationId xmlns:a16="http://schemas.microsoft.com/office/drawing/2014/main" id="{846B7DF7-B8E6-19E4-04B8-1189A69B7B44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0E4A48D2-E6DA-A08A-148D-8552C304B62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4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image">
  <p:cSld name="Title with 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87927" y="2772928"/>
            <a:ext cx="9144000" cy="10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PP Neue Machina" panose="00000500000000000000" pitchFamily="50" charset="0"/>
                <a:ea typeface="PP Neue Machina" panose="00000500000000000000" pitchFamily="50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87927" y="3971492"/>
            <a:ext cx="9144000" cy="498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207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A1DDE92-DA1C-8399-049A-66BFF7CE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2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AFEFB-CFB0-3C09-5A99-8882AAEF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76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813116"/>
            <a:ext cx="2071688" cy="357498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40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2071688" y="1625370"/>
            <a:ext cx="10120312" cy="616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71688" cy="28131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2153085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9492" y="4637127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39492" y="4423027"/>
            <a:ext cx="12500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39492" y="5027517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Business: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2267385" y="1799321"/>
            <a:ext cx="216035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Problem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5209534" y="1799322"/>
            <a:ext cx="25247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Solution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0A1CE8-E014-EA9F-C34B-BE5A8E282ECC}"/>
              </a:ext>
            </a:extLst>
          </p:cNvPr>
          <p:cNvGrpSpPr/>
          <p:nvPr userDrawn="1"/>
        </p:nvGrpSpPr>
        <p:grpSpPr>
          <a:xfrm>
            <a:off x="5082023" y="1737765"/>
            <a:ext cx="3879816" cy="385584"/>
            <a:chOff x="5082023" y="1737765"/>
            <a:chExt cx="3879816" cy="3855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F52324D-44E9-7A47-42C3-953653BD00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E24740-BF49-13A2-D93B-760FA193E0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5184134" y="2362985"/>
            <a:ext cx="3693166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9091483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9434383" y="1799321"/>
            <a:ext cx="20740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 </a:t>
            </a:r>
            <a:r>
              <a:rPr lang="en-US" sz="1600" b="1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Benifits</a:t>
            </a:r>
            <a:endParaRPr lang="en-US" sz="1600" b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39492" y="5662523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Geo: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9492" y="5253750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39492" y="5897753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1628" y="394087"/>
            <a:ext cx="9445985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784C-5043-428D-DC33-634365C56E4F}"/>
              </a:ext>
            </a:extLst>
          </p:cNvPr>
          <p:cNvSpPr txBox="1"/>
          <p:nvPr userDrawn="1"/>
        </p:nvSpPr>
        <p:spPr>
          <a:xfrm>
            <a:off x="139492" y="2852936"/>
            <a:ext cx="170200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the client: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F235FC0-4E27-D968-58A3-F9EAFA92D9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39492" y="3068960"/>
            <a:ext cx="1724025" cy="1337940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73FCF-34CD-7A47-56EC-55C24F57E5EA}"/>
              </a:ext>
            </a:extLst>
          </p:cNvPr>
          <p:cNvGrpSpPr/>
          <p:nvPr userDrawn="1"/>
        </p:nvGrpSpPr>
        <p:grpSpPr>
          <a:xfrm>
            <a:off x="5082023" y="2315096"/>
            <a:ext cx="3879816" cy="4085704"/>
            <a:chOff x="5082023" y="1737765"/>
            <a:chExt cx="3879816" cy="3855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DF3B407-BDE4-335A-5A8C-1E0B8BF216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466F1C-B3D4-533E-3981-AEB2F79776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938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5065" y="1613446"/>
            <a:ext cx="4296937" cy="45985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515937" y="1603637"/>
            <a:ext cx="7011136" cy="3791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515938" y="3827168"/>
            <a:ext cx="3230873" cy="379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4296201" y="3827168"/>
            <a:ext cx="3230873" cy="3791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636258" y="1613446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636258" y="3827169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4416522" y="3836977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15933" y="2172350"/>
            <a:ext cx="7011136" cy="1462461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15934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4296201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4087"/>
            <a:ext cx="11171676" cy="43088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47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ntent - Light_u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6" y="232992"/>
            <a:ext cx="10361757" cy="5671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PP Neue Machina Plain Italic" panose="020B060402020202020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6" y="1839914"/>
            <a:ext cx="11120439" cy="4330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2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ED5CD-E0BA-AFA1-4E70-2639686FDD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9" y="108515"/>
            <a:ext cx="673947" cy="8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8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HALF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F54CCE-2A05-56EB-965D-AE06B1C434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1803400"/>
            <a:ext cx="5358823" cy="217014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</p:spPr>
        <p:txBody>
          <a:bodyPr anchor="b">
            <a:noAutofit/>
          </a:bodyPr>
          <a:lstStyle>
            <a:lvl1pPr marL="0" indent="0">
              <a:buNone/>
              <a:defRPr b="0" i="0">
                <a:latin typeface="PP Neue Machina Plain Italic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D9A8CD-3B41-5263-B917-086B47988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3" name="Graphic 24">
            <a:extLst>
              <a:ext uri="{FF2B5EF4-FFF2-40B4-BE49-F238E27FC236}">
                <a16:creationId xmlns:a16="http://schemas.microsoft.com/office/drawing/2014/main" id="{846B7DF7-B8E6-19E4-04B8-1189A69B7B44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0E4A48D2-E6DA-A08A-148D-8552C304B62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4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5600"/>
            <a:ext cx="11160123" cy="46058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FC3011FE-129A-723F-0258-2C3653C963AD}"/>
              </a:ext>
            </a:extLst>
          </p:cNvPr>
          <p:cNvGrpSpPr/>
          <p:nvPr/>
        </p:nvGrpSpPr>
        <p:grpSpPr>
          <a:xfrm>
            <a:off x="10864851" y="6468533"/>
            <a:ext cx="186267" cy="203200"/>
            <a:chOff x="8176402" y="4885530"/>
            <a:chExt cx="135493" cy="14301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D1C6C7-4F4F-56E8-A7C8-A48C7E8DA5B6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BD7C35-BA12-9F26-537D-75B82B7D3876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</p:grpSp>
      <p:sp>
        <p:nvSpPr>
          <p:cNvPr id="8" name="Slide Number Placeholder 18">
            <a:extLst>
              <a:ext uri="{FF2B5EF4-FFF2-40B4-BE49-F238E27FC236}">
                <a16:creationId xmlns:a16="http://schemas.microsoft.com/office/drawing/2014/main" id="{56348CC3-4D9E-3009-191A-52A4BBC22FD7}"/>
              </a:ext>
            </a:extLst>
          </p:cNvPr>
          <p:cNvSpPr txBox="1">
            <a:spLocks/>
          </p:cNvSpPr>
          <p:nvPr/>
        </p:nvSpPr>
        <p:spPr>
          <a:xfrm>
            <a:off x="1838618" y="6362699"/>
            <a:ext cx="41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‹#›</a:t>
            </a:fld>
            <a:endParaRPr lang="en-AU" sz="10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E33F-C9AE-AD75-BA0B-87F4D61986B6}"/>
              </a:ext>
            </a:extLst>
          </p:cNvPr>
          <p:cNvSpPr txBox="1"/>
          <p:nvPr/>
        </p:nvSpPr>
        <p:spPr>
          <a:xfrm>
            <a:off x="274789" y="6362693"/>
            <a:ext cx="1663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Confidential</a:t>
            </a:r>
          </a:p>
        </p:txBody>
      </p:sp>
      <p:sp>
        <p:nvSpPr>
          <p:cNvPr id="4" name="Graphic 10">
            <a:extLst>
              <a:ext uri="{FF2B5EF4-FFF2-40B4-BE49-F238E27FC236}">
                <a16:creationId xmlns:a16="http://schemas.microsoft.com/office/drawing/2014/main" id="{34A157B6-58AF-33D6-96CC-D1BE31D6A076}"/>
              </a:ext>
            </a:extLst>
          </p:cNvPr>
          <p:cNvSpPr/>
          <p:nvPr/>
        </p:nvSpPr>
        <p:spPr>
          <a:xfrm>
            <a:off x="2356339" y="6337426"/>
            <a:ext cx="9835661" cy="179324"/>
          </a:xfrm>
          <a:custGeom>
            <a:avLst/>
            <a:gdLst>
              <a:gd name="connsiteX0" fmla="*/ 5829300 w 5829300"/>
              <a:gd name="connsiteY0" fmla="*/ 134493 h 134493"/>
              <a:gd name="connsiteX1" fmla="*/ 5541740 w 5829300"/>
              <a:gd name="connsiteY1" fmla="*/ 134493 h 134493"/>
              <a:gd name="connsiteX2" fmla="*/ 4915853 w 5829300"/>
              <a:gd name="connsiteY2" fmla="*/ 0 h 134493"/>
              <a:gd name="connsiteX3" fmla="*/ 4285393 w 5829300"/>
              <a:gd name="connsiteY3" fmla="*/ 134493 h 134493"/>
              <a:gd name="connsiteX4" fmla="*/ 0 w 5829300"/>
              <a:gd name="connsiteY4" fmla="*/ 134493 h 134493"/>
              <a:gd name="connsiteX0" fmla="*/ 7376746 w 7376746"/>
              <a:gd name="connsiteY0" fmla="*/ 134493 h 134493"/>
              <a:gd name="connsiteX1" fmla="*/ 7089186 w 7376746"/>
              <a:gd name="connsiteY1" fmla="*/ 134493 h 134493"/>
              <a:gd name="connsiteX2" fmla="*/ 6463299 w 7376746"/>
              <a:gd name="connsiteY2" fmla="*/ 0 h 134493"/>
              <a:gd name="connsiteX3" fmla="*/ 5832839 w 7376746"/>
              <a:gd name="connsiteY3" fmla="*/ 134493 h 134493"/>
              <a:gd name="connsiteX4" fmla="*/ 0 w 7376746"/>
              <a:gd name="connsiteY4" fmla="*/ 134493 h 13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6746" h="134493">
                <a:moveTo>
                  <a:pt x="7376746" y="134493"/>
                </a:moveTo>
                <a:lnTo>
                  <a:pt x="7089186" y="134493"/>
                </a:lnTo>
                <a:lnTo>
                  <a:pt x="6463299" y="0"/>
                </a:lnTo>
                <a:lnTo>
                  <a:pt x="5832839" y="134493"/>
                </a:lnTo>
                <a:lnTo>
                  <a:pt x="0" y="134493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BB966-C387-C92B-FA58-18AA05DC5645}"/>
              </a:ext>
            </a:extLst>
          </p:cNvPr>
          <p:cNvCxnSpPr>
            <a:cxnSpLocks/>
          </p:cNvCxnSpPr>
          <p:nvPr/>
        </p:nvCxnSpPr>
        <p:spPr>
          <a:xfrm>
            <a:off x="0" y="6515100"/>
            <a:ext cx="3048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FD9D7BDB-8CD6-FF8E-F8F1-745DD690CC5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1536700" y="1092200"/>
            <a:ext cx="1422400" cy="28702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15B104-CF67-8593-1815-0DB440DCBFCB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t="68935" b="6661"/>
          <a:stretch/>
        </p:blipFill>
        <p:spPr>
          <a:xfrm>
            <a:off x="-1524000" y="4198301"/>
            <a:ext cx="1435100" cy="22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9" r:id="rId6"/>
    <p:sldLayoutId id="2147483690" r:id="rId7"/>
    <p:sldLayoutId id="2147483691" r:id="rId8"/>
    <p:sldLayoutId id="2147483711" r:id="rId9"/>
    <p:sldLayoutId id="2147483757" r:id="rId10"/>
    <p:sldLayoutId id="2147483758" r:id="rId11"/>
    <p:sldLayoutId id="2147483760" r:id="rId12"/>
    <p:sldLayoutId id="2147483761" r:id="rId13"/>
    <p:sldLayoutId id="2147483764" r:id="rId14"/>
    <p:sldLayoutId id="2147483766" r:id="rId15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2800" b="1" i="0" kern="1200">
          <a:solidFill>
            <a:schemeClr val="tx1"/>
          </a:solidFill>
          <a:latin typeface="PP Neue Machina Plain Ultrabold" pitchFamily="50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ptos" panose="020B0004020202020204" pitchFamily="34" charset="0"/>
        <a:buChar char="•"/>
        <a:defRPr sz="1867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333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>
          <p15:clr>
            <a:srgbClr val="F26B43"/>
          </p15:clr>
        </p15:guide>
        <p15:guide id="2" pos="5521">
          <p15:clr>
            <a:srgbClr val="F26B43"/>
          </p15:clr>
        </p15:guide>
        <p15:guide id="3" pos="239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645">
          <p15:clr>
            <a:srgbClr val="F26B43"/>
          </p15:clr>
        </p15:guide>
        <p15:guide id="9" orient="horz" pos="3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7BCF452-713F-FCFA-31EB-98778F7AD57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4" r="44"/>
          <a:stretch/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40811B93-43B1-47D8-1DBE-8EB3FB679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230" y="3022881"/>
            <a:ext cx="6524502" cy="1648046"/>
          </a:xfrm>
          <a:effectLst>
            <a:outerShdw blurRad="489867" dist="38100" dir="2700000" algn="tl" rotWithShape="0">
              <a:prstClr val="black">
                <a:alpha val="88000"/>
              </a:prstClr>
            </a:outerShdw>
          </a:effectLst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sz="4800" b="1" dirty="0">
                <a:solidFill>
                  <a:schemeClr val="bg1"/>
                </a:solidFill>
                <a:latin typeface="PP Neue Machina Plain Ultrabold"/>
              </a:rPr>
              <a:t>10x Accelerated Talent Program</a:t>
            </a:r>
            <a:br>
              <a:rPr lang="en-IN" sz="4800" b="1" dirty="0">
                <a:solidFill>
                  <a:schemeClr val="bg1"/>
                </a:solidFill>
                <a:latin typeface="PP Neue Machina Plain Ultrabold"/>
              </a:rPr>
            </a:br>
            <a:r>
              <a:rPr lang="en-IN" sz="2800" b="1" dirty="0">
                <a:solidFill>
                  <a:schemeClr val="bg1"/>
                </a:solidFill>
                <a:latin typeface="PP Neue Machina Plain Ultrabold"/>
              </a:rPr>
              <a:t>Operating Plan  |  Leadership Review</a:t>
            </a:r>
            <a:endParaRPr lang="en-IN" sz="4800" b="1" dirty="0">
              <a:solidFill>
                <a:schemeClr val="bg1"/>
              </a:solidFill>
              <a:latin typeface="PP Neue Machina Plain Ultrabold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A00361-B9E9-682B-EA9E-CEB8F5814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230" y="617556"/>
            <a:ext cx="2810233" cy="646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B8EB53-5FDC-C5D0-8960-D910AB2EF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0">
            <a:off x="10992680" y="-5356030"/>
            <a:ext cx="2885530" cy="57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9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01  |  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What this program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9728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OPERATING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Find engineers who use judgment and AI leverage to remove work —
then put them on a track that doesn't destroy that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Conventional hiring rewards pedigree, narrow correctness, and confidence. None of these find force multipliers.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WHAT WE WON'T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89120"/>
            <a:ext cx="3200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36454F"/>
                </a:solidFill>
                <a:latin typeface="Calibri"/>
              </a:rPr>
              <a:t>No essay prompts. No personality interviews. No steering committees. No '10x' marketing language externally.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WHAT WE WILL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89120"/>
            <a:ext cx="3200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36454F"/>
                </a:solidFill>
                <a:latin typeface="Calibri"/>
              </a:rPr>
              <a:t>Verifiable artifacts. Scaffolded take-homes with AI allowed and scored. Anchored defense panels. Clear runway after admission to ensure continuity</a:t>
            </a:r>
          </a:p>
        </p:txBody>
      </p:sp>
    </p:spTree>
    <p:extLst>
      <p:ext uri="{BB962C8B-B14F-4D97-AF65-F5344CB8AC3E}">
        <p14:creationId xmlns:p14="http://schemas.microsoft.com/office/powerpoint/2010/main" val="93204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02  |  PROGRAM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Two tracks. Small cohorts.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A 10x program with 200 admits is not a 10x program. We optimize for precision, not recall.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Calibri"/>
              </a:rPr>
              <a:t>ASCENDER TRACK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0–2 yrs experience  |  external +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COHORT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834640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10–15 per cohort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CADENCE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Twice yearly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TEST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75488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Decomposition under ambiguity. Taste in deciding what NOT to fix. Healthy AI use the candidate can defend line by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48640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PRINCIPAL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2–6 yrs experience  |  lateral + skip-level nomination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COHORT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10–15 per cohort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Twice yearly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TEST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Sequencing and trade-off articulation. Resisting the urge to rewrite. Systems thinking, governance awareness, ability to teach.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47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E2761"/>
                </a:solidFill>
                <a:latin typeface="Calibri"/>
              </a:rPr>
              <a:t>Internal nominations run from day one and enter at Stage 2. Highest-yield source. </a:t>
            </a:r>
          </a:p>
        </p:txBody>
      </p:sp>
    </p:spTree>
    <p:extLst>
      <p:ext uri="{BB962C8B-B14F-4D97-AF65-F5344CB8AC3E}">
        <p14:creationId xmlns:p14="http://schemas.microsoft.com/office/powerpoint/2010/main" val="70503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03  |  THE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Four stages. Five weeks. ~150 in, 8–12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152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4152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8472" y="1554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472" y="20391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472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EVIDENCE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472" y="3017520"/>
            <a:ext cx="2148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GitHub link + 3-min Loom + one shipped artifact. No essays.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152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8472" y="50749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72" y="5303520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E2761"/>
                </a:solidFill>
                <a:latin typeface="Calibri"/>
              </a:rPr>
              <a:t>1,500–15,000 → ~400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6224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90544" y="1554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544" y="20391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544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SCAFFOLDED TAKE-HOME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544" y="3017520"/>
            <a:ext cx="2148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48 hrs. Real repo. AI allowed and expected. PR + 10-min walkthrough.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90544" y="50749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0544" y="5303520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~400 → ~50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8296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8296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2616" y="1554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616" y="20391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616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DEFENSE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616" y="3017520"/>
            <a:ext cx="2148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60 min. Two panelists. Five anchored questions. Independent scoring.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8296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2616" y="50749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616" y="5303520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~50 → ~15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0368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40368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14688" y="1554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4688" y="20391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4688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ADMIT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4688" y="3017520"/>
            <a:ext cx="2148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30 min. Director + Principal. Confirms appetite. No new tech eval.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0368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14688" y="50749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4688" y="5303520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10–15 admits</a:t>
            </a:r>
          </a:p>
        </p:txBody>
      </p:sp>
    </p:spTree>
    <p:extLst>
      <p:ext uri="{BB962C8B-B14F-4D97-AF65-F5344CB8AC3E}">
        <p14:creationId xmlns:p14="http://schemas.microsoft.com/office/powerpoint/2010/main" val="376467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04  |  WHERE THIS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The two design decisions that determine whether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AI-USE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Scored explicitly. Without this, calibration collapses.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98120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70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HEALTHY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7068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Used AI for boilerplate, scaffolding, tests. Verified outputs. Can explain every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29840" y="2194560"/>
            <a:ext cx="19812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67000" y="2286000"/>
            <a:ext cx="170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OVER-RELIANCE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2788920"/>
            <a:ext cx="17068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Cannot explain choices. Inconsistent style. Hallucinated comments. Tests don't match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48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02480" y="2194560"/>
            <a:ext cx="1981200" cy="41148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9640" y="2286000"/>
            <a:ext cx="170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AVOIDANCE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9640" y="2788920"/>
            <a:ext cx="17068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Avoided AI in an AI-appropriate task. Slower with no quality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41732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BASE RATES PER TRACK PER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70992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If they want recall, this is the wrong program.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19456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12280" y="219456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2359152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1,500–15,000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90779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applicants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19456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26880" y="219456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2359152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90779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Stage 2 invitees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52044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12280" y="352044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685032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2336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Stage 3 invitees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52044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26880" y="352044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55480" y="3685032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10–15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42336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admits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484632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12280" y="484632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0" y="501091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~6 hrs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559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reviewer cost / admit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484632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326880" y="484632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55480" y="501091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25%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5559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false-positive tolerance</a:t>
            </a:r>
          </a:p>
        </p:txBody>
      </p:sp>
    </p:spTree>
    <p:extLst>
      <p:ext uri="{BB962C8B-B14F-4D97-AF65-F5344CB8AC3E}">
        <p14:creationId xmlns:p14="http://schemas.microsoft.com/office/powerpoint/2010/main" val="166774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05  |  AFTER ADMIT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Selection is 20%. The development arc is 80%.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If we cannot protect the runway, we should not run the program. This is the failure mode that quietly kills these initiatives.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81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460" y="21031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MONTHS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3774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PROTECTED RUNWAY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460" y="3063240"/>
            <a:ext cx="3154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60% protected time. A real problem. A named sponsor. NOT on standard delivery utilization.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180" y="477316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" y="5010912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Requires written executive air cover. A Delivery VP will try to break this in week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3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443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8660" y="21031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MONTHS 3–9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8660" y="23774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SHADOW +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6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18660" y="3063240"/>
            <a:ext cx="3154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Pair with a Principal Engineer on a real client engagement. Lead one workstream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72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4380" y="477316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380" y="5010912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Quarterly review on five anchored dimensions: framing, leverage, taste, ownership, teaching.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05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05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04860" y="21031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MONTHS 9–18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860" y="23774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FORCE MULTIPLIER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48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04860" y="3063240"/>
            <a:ext cx="3154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Own a small team or a reusable practice asset — playbook, internal tool, eval harness.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34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0580" y="477316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0580" y="5010912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Promotion or off-ramp at month 18. Off-ramp to senior IC track is graduation, not failure.</a:t>
            </a:r>
          </a:p>
        </p:txBody>
      </p:sp>
    </p:spTree>
    <p:extLst>
      <p:ext uri="{BB962C8B-B14F-4D97-AF65-F5344CB8AC3E}">
        <p14:creationId xmlns:p14="http://schemas.microsoft.com/office/powerpoint/2010/main" val="185180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06  |  MAKE IT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Governance, the three risks that kill this, and the first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GOVERNANCE — FOUR NAMED OWNERS, NO COMMITTEES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2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Executive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One named VP. Air cover for protected runway. Authority to kill the program if quality slips.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Program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One named Director. End-to-end accountability. Rubric integrity.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Tech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4–6 named Principals. Task design. Scoring. Defense panels.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TA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One named recruiter. Funnel mechanics. Candidate experience.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417320"/>
            <a:ext cx="5742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THREE RISKS THAT WILL ACTUALLY KILL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7452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19933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20824"/>
            <a:ext cx="5102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Delivery pressure breaks the protected runway in month 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46888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25877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15184"/>
            <a:ext cx="5102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AI-use rubric drifts across panelists across cycles.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06324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31821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9544"/>
            <a:ext cx="5102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Excellent ICs admitted with no senior IC ladder to graduate them onto.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114800"/>
            <a:ext cx="5742432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89320" y="4114800"/>
            <a:ext cx="109728" cy="21945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4279392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FIRST THREE MOVES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THIS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645152"/>
            <a:ext cx="3913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Get one VP to sign the protected-runway commitment in writing. No signature, no program.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166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NEXT 2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148072"/>
            <a:ext cx="3913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Tech panel writes one Ascender task and one Principal task. Three Principals submit benchmarks.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669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WEEKS 3–4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650992"/>
            <a:ext cx="3913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Run internal pilot with 20 nominees. Decide on external Cohort 1 from data, not enthusiasm.</a:t>
            </a:r>
          </a:p>
        </p:txBody>
      </p:sp>
    </p:spTree>
    <p:extLst>
      <p:ext uri="{BB962C8B-B14F-4D97-AF65-F5344CB8AC3E}">
        <p14:creationId xmlns:p14="http://schemas.microsoft.com/office/powerpoint/2010/main" val="40184411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- Light">
  <a:themeElements>
    <a:clrScheme name="25_New_ascendion colors">
      <a:dk1>
        <a:srgbClr val="000000"/>
      </a:dk1>
      <a:lt1>
        <a:srgbClr val="FFFFFF"/>
      </a:lt1>
      <a:dk2>
        <a:srgbClr val="B3B3B3"/>
      </a:dk2>
      <a:lt2>
        <a:srgbClr val="E8E8E8"/>
      </a:lt2>
      <a:accent1>
        <a:srgbClr val="2CDCAA"/>
      </a:accent1>
      <a:accent2>
        <a:srgbClr val="006450"/>
      </a:accent2>
      <a:accent3>
        <a:srgbClr val="F5821E"/>
      </a:accent3>
      <a:accent4>
        <a:srgbClr val="6666CC"/>
      </a:accent4>
      <a:accent5>
        <a:srgbClr val="8C0059"/>
      </a:accent5>
      <a:accent6>
        <a:srgbClr val="828282"/>
      </a:accent6>
      <a:hlink>
        <a:srgbClr val="968CFA"/>
      </a:hlink>
      <a:folHlink>
        <a:srgbClr val="000000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35BFA3-A629-DE4F-B1C5-8C47EAC1BC4C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  <we:property name="claude.fileId" value="&quot;911fa6ee-0b3c-45f7-b455-288c47830c8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17D077514BC341998BBA45225655AA" ma:contentTypeVersion="3" ma:contentTypeDescription="Create a new document." ma:contentTypeScope="" ma:versionID="2396a582a6befac04200bceb3822b478">
  <xsd:schema xmlns:xsd="http://www.w3.org/2001/XMLSchema" xmlns:xs="http://www.w3.org/2001/XMLSchema" xmlns:p="http://schemas.microsoft.com/office/2006/metadata/properties" xmlns:ns2="8b6de726-6a7a-4692-9584-22166a19873a" targetNamespace="http://schemas.microsoft.com/office/2006/metadata/properties" ma:root="true" ma:fieldsID="d315774a3da3dca3dcd2d4bd9531319d" ns2:_="">
    <xsd:import namespace="8b6de726-6a7a-4692-9584-22166a1987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de726-6a7a-4692-9584-22166a198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0CBCBE-B10C-4D49-BEE1-872DDF386E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6de726-6a7a-4692-9584-22166a1987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154E1E-A921-46DB-B0DF-1607B9F945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179B07-0447-4D31-BA7E-09C47EA7576B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purl.org/dc/dcmitype/"/>
    <ds:schemaRef ds:uri="8b6de726-6a7a-4692-9584-22166a19873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4050</TotalTime>
  <Words>831</Words>
  <Application>Microsoft Macintosh PowerPoint</Application>
  <PresentationFormat>Widescreen</PresentationFormat>
  <Paragraphs>124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Myriad Pro</vt:lpstr>
      <vt:lpstr>PP Neue Machina</vt:lpstr>
      <vt:lpstr>PP Neue Machina Plain Italic</vt:lpstr>
      <vt:lpstr>PP Neue Machina Plain Ultrabold</vt:lpstr>
      <vt:lpstr>Verdana</vt:lpstr>
      <vt:lpstr>Content - Light</vt:lpstr>
      <vt:lpstr>10x Accelerated Talent Program Operating Plan  |  Leadership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Daryush Laqab</dc:creator>
  <cp:lastModifiedBy>Srinidhi Ramanujam</cp:lastModifiedBy>
  <cp:revision>28</cp:revision>
  <dcterms:created xsi:type="dcterms:W3CDTF">2025-06-18T18:37:34Z</dcterms:created>
  <dcterms:modified xsi:type="dcterms:W3CDTF">2026-04-09T12:30:24Z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0x010100FD17D077514BC341998BBA45225655AA</vt:lpwstr>
  </property>
</Properties>
</file>