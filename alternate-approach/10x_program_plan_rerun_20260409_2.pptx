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media/image2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4"/>
  </p:sldMasterIdLst>
  <p:notesMasterIdLst>
    <p:notesMasterId r:id="rId12"/>
  </p:notesMasterIdLst>
  <p:sldIdLst>
    <p:sldId id="426" r:id="rId5"/>
    <p:sldId id="443" r:id="rId6"/>
    <p:sldId id="444" r:id="rId7"/>
    <p:sldId id="445" r:id="rId8"/>
    <p:sldId id="446" r:id="rId9"/>
    <p:sldId id="447" r:id="rId10"/>
    <p:sldId id="44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8C4C04C-BA07-A661-11BA-5351E902CFA7}" name="Varshini Chaithra" initials="VC" userId="S::varshini.chaithra@ascendion.com::cfd6f448-240a-4c5f-a765-f909eaec1f5e" providerId="AD"/>
  <p188:author id="{4AA7D286-AD35-88AE-8B13-5A7E4B1CBFB6}" name="Ian Lee" initials="IL" userId="S::ian.lee@ascendion.com::6b91995e-c1f0-4fa6-abd3-fa6daaad774e" providerId="AD"/>
  <p188:author id="{5D65F29C-D2CD-3B57-52E4-D4802B0D78F5}" name="Daryush Laqab" initials="DL" userId="S::daryush.laqab@ascendion.com::1f114113-3f76-4411-8045-8fcc378e5ad6" providerId="AD"/>
  <p188:author id="{9B2D40A4-5335-548A-DB47-B3A48F53C891}" name="Rami Kakish" initials="RK" userId="S::rami.kakish@ascendion.com::16eccbb2-bb18-4b17-a30a-69563413bb5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1"/>
    <p:restoredTop sz="94640"/>
  </p:normalViewPr>
  <p:slideViewPr>
    <p:cSldViewPr snapToGrid="0">
      <p:cViewPr varScale="1">
        <p:scale>
          <a:sx n="116" d="100"/>
          <a:sy n="116" d="100"/>
        </p:scale>
        <p:origin x="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94E2E-F8D1-EB46-87B7-9A548C2EE1DD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21985F-0D10-FD42-9BC8-0F5974A4D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76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yriad Pro" panose="020B0503030403020204" pitchFamily="34" charset="0"/>
            </a:endParaRPr>
          </a:p>
        </p:txBody>
      </p:sp>
      <p:sp>
        <p:nvSpPr>
          <p:cNvPr id="571" name="Google Shape;5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49B20-CE4F-2CE3-7EBD-9F382E232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84" y="1604434"/>
            <a:ext cx="11159067" cy="4627033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A1DDE92-DA1C-8399-049A-66BFF7CE6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94087"/>
            <a:ext cx="11160121" cy="43088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24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9AFEFB-CFB0-3C09-5A99-8882AAEFE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94087"/>
            <a:ext cx="11160121" cy="43088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876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4120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Case Study Tem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6A9094-A25C-C476-ADF7-5818D23514A1}"/>
              </a:ext>
            </a:extLst>
          </p:cNvPr>
          <p:cNvSpPr/>
          <p:nvPr userDrawn="1"/>
        </p:nvSpPr>
        <p:spPr>
          <a:xfrm>
            <a:off x="0" y="2813116"/>
            <a:ext cx="2071688" cy="357498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de-DE" sz="1400" b="0" i="0"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C091E0-9FAF-4FE5-D106-FA3E43B76942}"/>
              </a:ext>
            </a:extLst>
          </p:cNvPr>
          <p:cNvSpPr/>
          <p:nvPr userDrawn="1"/>
        </p:nvSpPr>
        <p:spPr>
          <a:xfrm>
            <a:off x="2071688" y="1625370"/>
            <a:ext cx="10120312" cy="6161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b="0" i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D9BE2CB-078E-195D-BC0F-19DCEDE5A8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2071688" cy="281311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E8C6222-4482-5FB1-2AE4-5A8F512E1392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2153085" y="2362985"/>
            <a:ext cx="2859217" cy="3868483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ABF10A2-C9DA-5DAE-C7DB-0602BB4D5EE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39492" y="4637127"/>
            <a:ext cx="1724025" cy="350647"/>
          </a:xfrm>
        </p:spPr>
        <p:txBody>
          <a:bodyPr wrap="square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26B514-4B29-D25C-E426-090F0CCDED2B}"/>
              </a:ext>
            </a:extLst>
          </p:cNvPr>
          <p:cNvSpPr txBox="1"/>
          <p:nvPr userDrawn="1"/>
        </p:nvSpPr>
        <p:spPr>
          <a:xfrm>
            <a:off x="139492" y="4423027"/>
            <a:ext cx="12500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Industry: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7D9ADA-1122-CD1D-3A8A-07F0E1EEE9EB}"/>
              </a:ext>
            </a:extLst>
          </p:cNvPr>
          <p:cNvSpPr txBox="1"/>
          <p:nvPr userDrawn="1"/>
        </p:nvSpPr>
        <p:spPr>
          <a:xfrm>
            <a:off x="139492" y="5027517"/>
            <a:ext cx="18275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Core Business: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B28BD4-B927-D5D7-3E8E-3B8E9CDB9CE1}"/>
              </a:ext>
            </a:extLst>
          </p:cNvPr>
          <p:cNvSpPr txBox="1"/>
          <p:nvPr userDrawn="1"/>
        </p:nvSpPr>
        <p:spPr>
          <a:xfrm>
            <a:off x="2267385" y="1799321"/>
            <a:ext cx="2160356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Business Problem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2F0849-857F-20D1-6423-0570268546AD}"/>
              </a:ext>
            </a:extLst>
          </p:cNvPr>
          <p:cNvSpPr txBox="1"/>
          <p:nvPr userDrawn="1"/>
        </p:nvSpPr>
        <p:spPr>
          <a:xfrm>
            <a:off x="5209534" y="1799322"/>
            <a:ext cx="2524766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Ascendion Solution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C0A1CE8-E014-EA9F-C34B-BE5A8E282ECC}"/>
              </a:ext>
            </a:extLst>
          </p:cNvPr>
          <p:cNvGrpSpPr/>
          <p:nvPr userDrawn="1"/>
        </p:nvGrpSpPr>
        <p:grpSpPr>
          <a:xfrm>
            <a:off x="5082023" y="1737765"/>
            <a:ext cx="3879816" cy="385584"/>
            <a:chOff x="5082023" y="1737765"/>
            <a:chExt cx="3879816" cy="385584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F52324D-44E9-7A47-42C3-953653BD00D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61839" y="1737765"/>
              <a:ext cx="0" cy="38558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DE24740-BF49-13A2-D93B-760FA193E0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082023" y="1737765"/>
              <a:ext cx="0" cy="38558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FE8FD2C-FFE2-E8F7-2153-D79EBD4A283A}"/>
              </a:ext>
            </a:extLst>
          </p:cNvPr>
          <p:cNvSpPr>
            <a:spLocks noGrp="1"/>
          </p:cNvSpPr>
          <p:nvPr>
            <p:ph sz="half" idx="32"/>
          </p:nvPr>
        </p:nvSpPr>
        <p:spPr>
          <a:xfrm>
            <a:off x="5184134" y="2362985"/>
            <a:ext cx="3693166" cy="3868483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943A43A-EBDD-8F84-F264-07442277D8F0}"/>
              </a:ext>
            </a:extLst>
          </p:cNvPr>
          <p:cNvSpPr>
            <a:spLocks noGrp="1"/>
          </p:cNvSpPr>
          <p:nvPr>
            <p:ph sz="half" idx="33"/>
          </p:nvPr>
        </p:nvSpPr>
        <p:spPr>
          <a:xfrm>
            <a:off x="9091483" y="2362985"/>
            <a:ext cx="2859217" cy="3868483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3689D8-C9B4-2D34-07F0-DB463189E114}"/>
              </a:ext>
            </a:extLst>
          </p:cNvPr>
          <p:cNvSpPr txBox="1"/>
          <p:nvPr userDrawn="1"/>
        </p:nvSpPr>
        <p:spPr>
          <a:xfrm>
            <a:off x="9434383" y="1799321"/>
            <a:ext cx="2074091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 </a:t>
            </a:r>
            <a:r>
              <a:rPr lang="en-US" sz="1600" b="1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Benifits</a:t>
            </a:r>
            <a:endParaRPr lang="en-US" sz="1600" b="1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5B966B-1280-A9DA-8598-2560A332500B}"/>
              </a:ext>
            </a:extLst>
          </p:cNvPr>
          <p:cNvSpPr txBox="1"/>
          <p:nvPr userDrawn="1"/>
        </p:nvSpPr>
        <p:spPr>
          <a:xfrm>
            <a:off x="139492" y="5662523"/>
            <a:ext cx="18275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Geo: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3B36562D-95D3-D0A4-CCA6-FA7F6904A36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39492" y="5253750"/>
            <a:ext cx="1724025" cy="350647"/>
          </a:xfrm>
        </p:spPr>
        <p:txBody>
          <a:bodyPr wrap="square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5979479E-8C44-825E-CA22-2ECE22F9D65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39492" y="5897753"/>
            <a:ext cx="1724025" cy="350647"/>
          </a:xfrm>
        </p:spPr>
        <p:txBody>
          <a:bodyPr wrap="square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73BCE4-316C-2824-8669-331C25E93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1628" y="394087"/>
            <a:ext cx="9445985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0E784C-5043-428D-DC33-634365C56E4F}"/>
              </a:ext>
            </a:extLst>
          </p:cNvPr>
          <p:cNvSpPr txBox="1"/>
          <p:nvPr userDrawn="1"/>
        </p:nvSpPr>
        <p:spPr>
          <a:xfrm>
            <a:off x="139492" y="2852936"/>
            <a:ext cx="170200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About the client: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9F235FC0-4E27-D968-58A3-F9EAFA92D96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39492" y="3068960"/>
            <a:ext cx="1724025" cy="1337940"/>
          </a:xfrm>
        </p:spPr>
        <p:txBody>
          <a:bodyPr wrap="square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1D73FCF-34CD-7A47-56EC-55C24F57E5EA}"/>
              </a:ext>
            </a:extLst>
          </p:cNvPr>
          <p:cNvGrpSpPr/>
          <p:nvPr userDrawn="1"/>
        </p:nvGrpSpPr>
        <p:grpSpPr>
          <a:xfrm>
            <a:off x="5082023" y="2315096"/>
            <a:ext cx="3879816" cy="4085704"/>
            <a:chOff x="5082023" y="1737765"/>
            <a:chExt cx="3879816" cy="38558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DF3B407-BDE4-335A-5A8C-1E0B8BF216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61839" y="1737765"/>
              <a:ext cx="0" cy="3855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D466F1C-B3D4-533E-3981-AEB2F79776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082023" y="1737765"/>
              <a:ext cx="0" cy="3855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55938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Case Study Tem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D9BE2CB-078E-195D-BC0F-19DCEDE5A8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95065" y="1613446"/>
            <a:ext cx="4296937" cy="459859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4601F4-528F-F337-00F9-6759A7127E8E}"/>
              </a:ext>
            </a:extLst>
          </p:cNvPr>
          <p:cNvSpPr/>
          <p:nvPr userDrawn="1"/>
        </p:nvSpPr>
        <p:spPr>
          <a:xfrm>
            <a:off x="515937" y="1603637"/>
            <a:ext cx="7011136" cy="3791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i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055DE9-65C3-3EB8-D8BF-E2BFF444B64E}"/>
              </a:ext>
            </a:extLst>
          </p:cNvPr>
          <p:cNvSpPr/>
          <p:nvPr userDrawn="1"/>
        </p:nvSpPr>
        <p:spPr>
          <a:xfrm>
            <a:off x="515938" y="3827168"/>
            <a:ext cx="3230873" cy="3791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i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30974A-A07E-A5F1-A9BD-7A4B30E3891D}"/>
              </a:ext>
            </a:extLst>
          </p:cNvPr>
          <p:cNvSpPr/>
          <p:nvPr userDrawn="1"/>
        </p:nvSpPr>
        <p:spPr>
          <a:xfrm>
            <a:off x="4296201" y="3827168"/>
            <a:ext cx="3230873" cy="3791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i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B28BD4-B927-D5D7-3E8E-3B8E9CDB9CE1}"/>
              </a:ext>
            </a:extLst>
          </p:cNvPr>
          <p:cNvSpPr txBox="1"/>
          <p:nvPr userDrawn="1"/>
        </p:nvSpPr>
        <p:spPr>
          <a:xfrm>
            <a:off x="636258" y="1613446"/>
            <a:ext cx="2990231" cy="3693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Challenge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D1FA6B-2360-0121-7292-A1CDE1A23140}"/>
              </a:ext>
            </a:extLst>
          </p:cNvPr>
          <p:cNvSpPr txBox="1"/>
          <p:nvPr userDrawn="1"/>
        </p:nvSpPr>
        <p:spPr>
          <a:xfrm>
            <a:off x="636258" y="3827169"/>
            <a:ext cx="2990231" cy="3693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Solution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A8D9C9-402E-E931-BA12-3C00810128F6}"/>
              </a:ext>
            </a:extLst>
          </p:cNvPr>
          <p:cNvSpPr txBox="1"/>
          <p:nvPr userDrawn="1"/>
        </p:nvSpPr>
        <p:spPr>
          <a:xfrm>
            <a:off x="4416522" y="3836977"/>
            <a:ext cx="2990231" cy="3693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Business Impact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B07B6CE-3309-07D1-52B1-7F1448FF875F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515933" y="2172350"/>
            <a:ext cx="7011136" cy="1462461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0FC2570-2B4A-0849-BB7F-453DC1B0B2A8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15934" y="4398667"/>
            <a:ext cx="3230873" cy="1813375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15EB2C9-7B59-46AC-C4E8-243BB8DEA0BE}"/>
              </a:ext>
            </a:extLst>
          </p:cNvPr>
          <p:cNvSpPr>
            <a:spLocks noGrp="1"/>
          </p:cNvSpPr>
          <p:nvPr>
            <p:ph sz="half" idx="30"/>
          </p:nvPr>
        </p:nvSpPr>
        <p:spPr>
          <a:xfrm>
            <a:off x="4296201" y="4398667"/>
            <a:ext cx="3230873" cy="1813375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5EDC12-290F-485B-9E72-9551694D7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94087"/>
            <a:ext cx="11171676" cy="43088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9247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ntent - Light_u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6" y="232992"/>
            <a:ext cx="10361757" cy="5671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>
                <a:latin typeface="PP Neue Machina Plain Italic" panose="020B060402020202020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62594-0612-4734-B801-D3A8ACEC8A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6" y="1839914"/>
            <a:ext cx="11120439" cy="4330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Graphic 24">
            <a:extLst>
              <a:ext uri="{FF2B5EF4-FFF2-40B4-BE49-F238E27FC236}">
                <a16:creationId xmlns:a16="http://schemas.microsoft.com/office/drawing/2014/main" id="{6E1E8192-4301-9E2C-0BEC-A3F968017D70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00"/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C7044421-654C-898B-E43A-07F00E643171}"/>
              </a:ext>
            </a:extLst>
          </p:cNvPr>
          <p:cNvSpPr/>
          <p:nvPr userDrawn="1"/>
        </p:nvSpPr>
        <p:spPr>
          <a:xfrm>
            <a:off x="12070232" y="5008132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solidFill>
            <a:schemeClr val="accent1"/>
          </a:soli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0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51ED5CD-E0BA-AFA1-4E70-2639686FDD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9" y="108515"/>
            <a:ext cx="673947" cy="87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38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F44E4-26F1-9FE4-8F65-0078B5BF2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91140A-93A6-6DD2-7B86-5BC57B0B0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6A090-501A-E8D8-4DAA-649D25D50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04EF3-5FF9-4ACE-BC3C-8DFDE9012084}" type="datetimeFigureOut">
              <a:rPr lang="en-IN" smtClean="0"/>
              <a:t>09/04/26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39976-A5C5-A93D-990B-6C965A252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984A7-1015-5F69-E87E-21CD3D1E9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8376-9A29-4DB9-904C-0C045F07F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236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HALF IM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01F54CCE-2A05-56EB-965D-AE06B1C4340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0" y="1803400"/>
            <a:ext cx="5358823" cy="2170147"/>
          </a:xfrm>
        </p:spPr>
        <p:txBody>
          <a:bodyPr anchor="b">
            <a:no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</p:spPr>
        <p:txBody>
          <a:bodyPr anchor="b">
            <a:noAutofit/>
          </a:bodyPr>
          <a:lstStyle>
            <a:lvl1pPr marL="0" indent="0">
              <a:buNone/>
              <a:defRPr b="0" i="0">
                <a:latin typeface="PP Neue Machina Plain Italic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DD9A8CD-3B41-5263-B917-086B479886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3" name="Graphic 24">
            <a:extLst>
              <a:ext uri="{FF2B5EF4-FFF2-40B4-BE49-F238E27FC236}">
                <a16:creationId xmlns:a16="http://schemas.microsoft.com/office/drawing/2014/main" id="{846B7DF7-B8E6-19E4-04B8-1189A69B7B44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0E4A48D2-E6DA-A08A-148D-8552C304B62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solidFill>
            <a:schemeClr val="accent1"/>
          </a:soli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48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with image">
  <p:cSld name="Title with imag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387927" y="2772928"/>
            <a:ext cx="9144000" cy="1025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latin typeface="PP Neue Machina" panose="00000500000000000000" pitchFamily="50" charset="0"/>
                <a:ea typeface="PP Neue Machina" panose="00000500000000000000" pitchFamily="50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387927" y="3971492"/>
            <a:ext cx="9144000" cy="498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62079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49B20-CE4F-2CE3-7EBD-9F382E232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84" y="1604434"/>
            <a:ext cx="11159067" cy="4627033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A1DDE92-DA1C-8399-049A-66BFF7CE6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94087"/>
            <a:ext cx="11160121" cy="43088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24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9AFEFB-CFB0-3C09-5A99-8882AAEFE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94087"/>
            <a:ext cx="11160121" cy="43088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8765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- Case Study Tem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6A9094-A25C-C476-ADF7-5818D23514A1}"/>
              </a:ext>
            </a:extLst>
          </p:cNvPr>
          <p:cNvSpPr/>
          <p:nvPr userDrawn="1"/>
        </p:nvSpPr>
        <p:spPr>
          <a:xfrm>
            <a:off x="0" y="2813116"/>
            <a:ext cx="2071688" cy="357498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de-DE" sz="1400" b="0" i="0"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C091E0-9FAF-4FE5-D106-FA3E43B76942}"/>
              </a:ext>
            </a:extLst>
          </p:cNvPr>
          <p:cNvSpPr/>
          <p:nvPr userDrawn="1"/>
        </p:nvSpPr>
        <p:spPr>
          <a:xfrm>
            <a:off x="2071688" y="1625370"/>
            <a:ext cx="10120312" cy="6161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b="0" i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D9BE2CB-078E-195D-BC0F-19DCEDE5A8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2071688" cy="281311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E8C6222-4482-5FB1-2AE4-5A8F512E1392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2153085" y="2362985"/>
            <a:ext cx="2859217" cy="3868483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ABF10A2-C9DA-5DAE-C7DB-0602BB4D5EE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39492" y="4637127"/>
            <a:ext cx="1724025" cy="350647"/>
          </a:xfrm>
        </p:spPr>
        <p:txBody>
          <a:bodyPr wrap="square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26B514-4B29-D25C-E426-090F0CCDED2B}"/>
              </a:ext>
            </a:extLst>
          </p:cNvPr>
          <p:cNvSpPr txBox="1"/>
          <p:nvPr userDrawn="1"/>
        </p:nvSpPr>
        <p:spPr>
          <a:xfrm>
            <a:off x="139492" y="4423027"/>
            <a:ext cx="12500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Industry: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7D9ADA-1122-CD1D-3A8A-07F0E1EEE9EB}"/>
              </a:ext>
            </a:extLst>
          </p:cNvPr>
          <p:cNvSpPr txBox="1"/>
          <p:nvPr userDrawn="1"/>
        </p:nvSpPr>
        <p:spPr>
          <a:xfrm>
            <a:off x="139492" y="5027517"/>
            <a:ext cx="18275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Core Business: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B28BD4-B927-D5D7-3E8E-3B8E9CDB9CE1}"/>
              </a:ext>
            </a:extLst>
          </p:cNvPr>
          <p:cNvSpPr txBox="1"/>
          <p:nvPr userDrawn="1"/>
        </p:nvSpPr>
        <p:spPr>
          <a:xfrm>
            <a:off x="2267385" y="1799321"/>
            <a:ext cx="2160356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Business Problem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2F0849-857F-20D1-6423-0570268546AD}"/>
              </a:ext>
            </a:extLst>
          </p:cNvPr>
          <p:cNvSpPr txBox="1"/>
          <p:nvPr userDrawn="1"/>
        </p:nvSpPr>
        <p:spPr>
          <a:xfrm>
            <a:off x="5209534" y="1799322"/>
            <a:ext cx="2524766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Ascendion Solution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C0A1CE8-E014-EA9F-C34B-BE5A8E282ECC}"/>
              </a:ext>
            </a:extLst>
          </p:cNvPr>
          <p:cNvGrpSpPr/>
          <p:nvPr userDrawn="1"/>
        </p:nvGrpSpPr>
        <p:grpSpPr>
          <a:xfrm>
            <a:off x="5082023" y="1737765"/>
            <a:ext cx="3879816" cy="385584"/>
            <a:chOff x="5082023" y="1737765"/>
            <a:chExt cx="3879816" cy="385584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F52324D-44E9-7A47-42C3-953653BD00D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61839" y="1737765"/>
              <a:ext cx="0" cy="38558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DE24740-BF49-13A2-D93B-760FA193E0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082023" y="1737765"/>
              <a:ext cx="0" cy="385584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FE8FD2C-FFE2-E8F7-2153-D79EBD4A283A}"/>
              </a:ext>
            </a:extLst>
          </p:cNvPr>
          <p:cNvSpPr>
            <a:spLocks noGrp="1"/>
          </p:cNvSpPr>
          <p:nvPr>
            <p:ph sz="half" idx="32"/>
          </p:nvPr>
        </p:nvSpPr>
        <p:spPr>
          <a:xfrm>
            <a:off x="5184134" y="2362985"/>
            <a:ext cx="3693166" cy="3868483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943A43A-EBDD-8F84-F264-07442277D8F0}"/>
              </a:ext>
            </a:extLst>
          </p:cNvPr>
          <p:cNvSpPr>
            <a:spLocks noGrp="1"/>
          </p:cNvSpPr>
          <p:nvPr>
            <p:ph sz="half" idx="33"/>
          </p:nvPr>
        </p:nvSpPr>
        <p:spPr>
          <a:xfrm>
            <a:off x="9091483" y="2362985"/>
            <a:ext cx="2859217" cy="3868483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3689D8-C9B4-2D34-07F0-DB463189E114}"/>
              </a:ext>
            </a:extLst>
          </p:cNvPr>
          <p:cNvSpPr txBox="1"/>
          <p:nvPr userDrawn="1"/>
        </p:nvSpPr>
        <p:spPr>
          <a:xfrm>
            <a:off x="9434383" y="1799321"/>
            <a:ext cx="2074091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 </a:t>
            </a:r>
            <a:r>
              <a:rPr lang="en-US" sz="1600" b="1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Benifits</a:t>
            </a:r>
            <a:endParaRPr lang="en-US" sz="1600" b="1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5B966B-1280-A9DA-8598-2560A332500B}"/>
              </a:ext>
            </a:extLst>
          </p:cNvPr>
          <p:cNvSpPr txBox="1"/>
          <p:nvPr userDrawn="1"/>
        </p:nvSpPr>
        <p:spPr>
          <a:xfrm>
            <a:off x="139492" y="5662523"/>
            <a:ext cx="1827567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Geo: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3B36562D-95D3-D0A4-CCA6-FA7F6904A36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39492" y="5253750"/>
            <a:ext cx="1724025" cy="350647"/>
          </a:xfrm>
        </p:spPr>
        <p:txBody>
          <a:bodyPr wrap="square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5979479E-8C44-825E-CA22-2ECE22F9D65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39492" y="5897753"/>
            <a:ext cx="1724025" cy="350647"/>
          </a:xfrm>
        </p:spPr>
        <p:txBody>
          <a:bodyPr wrap="square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73BCE4-316C-2824-8669-331C25E93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1628" y="394087"/>
            <a:ext cx="9445985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0E784C-5043-428D-DC33-634365C56E4F}"/>
              </a:ext>
            </a:extLst>
          </p:cNvPr>
          <p:cNvSpPr txBox="1"/>
          <p:nvPr userDrawn="1"/>
        </p:nvSpPr>
        <p:spPr>
          <a:xfrm>
            <a:off x="139492" y="2852936"/>
            <a:ext cx="170200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About the client: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9F235FC0-4E27-D968-58A3-F9EAFA92D96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39492" y="3068960"/>
            <a:ext cx="1724025" cy="1337940"/>
          </a:xfrm>
        </p:spPr>
        <p:txBody>
          <a:bodyPr wrap="square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1D73FCF-34CD-7A47-56EC-55C24F57E5EA}"/>
              </a:ext>
            </a:extLst>
          </p:cNvPr>
          <p:cNvGrpSpPr/>
          <p:nvPr userDrawn="1"/>
        </p:nvGrpSpPr>
        <p:grpSpPr>
          <a:xfrm>
            <a:off x="5082023" y="2315096"/>
            <a:ext cx="3879816" cy="4085704"/>
            <a:chOff x="5082023" y="1737765"/>
            <a:chExt cx="3879816" cy="38558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DF3B407-BDE4-335A-5A8C-1E0B8BF216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61839" y="1737765"/>
              <a:ext cx="0" cy="3855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D466F1C-B3D4-533E-3981-AEB2F79776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082023" y="1737765"/>
              <a:ext cx="0" cy="3855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559384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- Case Study Tem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D9BE2CB-078E-195D-BC0F-19DCEDE5A8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95065" y="1613446"/>
            <a:ext cx="4296937" cy="459859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4601F4-528F-F337-00F9-6759A7127E8E}"/>
              </a:ext>
            </a:extLst>
          </p:cNvPr>
          <p:cNvSpPr/>
          <p:nvPr userDrawn="1"/>
        </p:nvSpPr>
        <p:spPr>
          <a:xfrm>
            <a:off x="515937" y="1603637"/>
            <a:ext cx="7011136" cy="3791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i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055DE9-65C3-3EB8-D8BF-E2BFF444B64E}"/>
              </a:ext>
            </a:extLst>
          </p:cNvPr>
          <p:cNvSpPr/>
          <p:nvPr userDrawn="1"/>
        </p:nvSpPr>
        <p:spPr>
          <a:xfrm>
            <a:off x="515938" y="3827168"/>
            <a:ext cx="3230873" cy="3791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i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30974A-A07E-A5F1-A9BD-7A4B30E3891D}"/>
              </a:ext>
            </a:extLst>
          </p:cNvPr>
          <p:cNvSpPr/>
          <p:nvPr userDrawn="1"/>
        </p:nvSpPr>
        <p:spPr>
          <a:xfrm>
            <a:off x="4296201" y="3827168"/>
            <a:ext cx="3230873" cy="3791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i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B28BD4-B927-D5D7-3E8E-3B8E9CDB9CE1}"/>
              </a:ext>
            </a:extLst>
          </p:cNvPr>
          <p:cNvSpPr txBox="1"/>
          <p:nvPr userDrawn="1"/>
        </p:nvSpPr>
        <p:spPr>
          <a:xfrm>
            <a:off x="636258" y="1613446"/>
            <a:ext cx="2990231" cy="3693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Challenge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D1FA6B-2360-0121-7292-A1CDE1A23140}"/>
              </a:ext>
            </a:extLst>
          </p:cNvPr>
          <p:cNvSpPr txBox="1"/>
          <p:nvPr userDrawn="1"/>
        </p:nvSpPr>
        <p:spPr>
          <a:xfrm>
            <a:off x="636258" y="3827169"/>
            <a:ext cx="2990231" cy="3693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Solution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A8D9C9-402E-E931-BA12-3C00810128F6}"/>
              </a:ext>
            </a:extLst>
          </p:cNvPr>
          <p:cNvSpPr txBox="1"/>
          <p:nvPr userDrawn="1"/>
        </p:nvSpPr>
        <p:spPr>
          <a:xfrm>
            <a:off x="4416522" y="3836977"/>
            <a:ext cx="2990231" cy="3693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Business Impact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B07B6CE-3309-07D1-52B1-7F1448FF875F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515933" y="2172350"/>
            <a:ext cx="7011136" cy="1462461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0FC2570-2B4A-0849-BB7F-453DC1B0B2A8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15934" y="4398667"/>
            <a:ext cx="3230873" cy="1813375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15EB2C9-7B59-46AC-C4E8-243BB8DEA0BE}"/>
              </a:ext>
            </a:extLst>
          </p:cNvPr>
          <p:cNvSpPr>
            <a:spLocks noGrp="1"/>
          </p:cNvSpPr>
          <p:nvPr>
            <p:ph sz="half" idx="30"/>
          </p:nvPr>
        </p:nvSpPr>
        <p:spPr>
          <a:xfrm>
            <a:off x="4296201" y="4398667"/>
            <a:ext cx="3230873" cy="1813375"/>
          </a:xfrm>
        </p:spPr>
        <p:txBody>
          <a:bodyPr wrap="square">
            <a:normAutofit/>
          </a:bodyPr>
          <a:lstStyle>
            <a:lvl1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5EDC12-290F-485B-9E72-9551694D7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94087"/>
            <a:ext cx="11171676" cy="43088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9247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ntent - Light_u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6" y="232992"/>
            <a:ext cx="10361757" cy="5671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>
                <a:latin typeface="PP Neue Machina Plain Italic" panose="020B060402020202020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62594-0612-4734-B801-D3A8ACEC8A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6" y="1839914"/>
            <a:ext cx="11120439" cy="4330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Graphic 24">
            <a:extLst>
              <a:ext uri="{FF2B5EF4-FFF2-40B4-BE49-F238E27FC236}">
                <a16:creationId xmlns:a16="http://schemas.microsoft.com/office/drawing/2014/main" id="{6E1E8192-4301-9E2C-0BEC-A3F968017D70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00"/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C7044421-654C-898B-E43A-07F00E643171}"/>
              </a:ext>
            </a:extLst>
          </p:cNvPr>
          <p:cNvSpPr/>
          <p:nvPr userDrawn="1"/>
        </p:nvSpPr>
        <p:spPr>
          <a:xfrm>
            <a:off x="12070232" y="5008132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solidFill>
            <a:schemeClr val="accent1"/>
          </a:soli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0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51ED5CD-E0BA-AFA1-4E70-2639686FDD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9" y="108515"/>
            <a:ext cx="673947" cy="87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389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HALF IM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01F54CCE-2A05-56EB-965D-AE06B1C4340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0" y="1803400"/>
            <a:ext cx="5358823" cy="2170147"/>
          </a:xfrm>
        </p:spPr>
        <p:txBody>
          <a:bodyPr anchor="b">
            <a:no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</p:spPr>
        <p:txBody>
          <a:bodyPr anchor="b">
            <a:noAutofit/>
          </a:bodyPr>
          <a:lstStyle>
            <a:lvl1pPr marL="0" indent="0">
              <a:buNone/>
              <a:defRPr b="0" i="0">
                <a:latin typeface="PP Neue Machina Plain Italic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DD9A8CD-3B41-5263-B917-086B479886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3" name="Graphic 24">
            <a:extLst>
              <a:ext uri="{FF2B5EF4-FFF2-40B4-BE49-F238E27FC236}">
                <a16:creationId xmlns:a16="http://schemas.microsoft.com/office/drawing/2014/main" id="{846B7DF7-B8E6-19E4-04B8-1189A69B7B44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0E4A48D2-E6DA-A08A-148D-8552C304B62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solidFill>
            <a:schemeClr val="accent1"/>
          </a:soli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485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svg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94087"/>
            <a:ext cx="11160121" cy="43088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25600"/>
            <a:ext cx="11160123" cy="460586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7" name="Graphic 4">
            <a:extLst>
              <a:ext uri="{FF2B5EF4-FFF2-40B4-BE49-F238E27FC236}">
                <a16:creationId xmlns:a16="http://schemas.microsoft.com/office/drawing/2014/main" id="{FC3011FE-129A-723F-0258-2C3653C963AD}"/>
              </a:ext>
            </a:extLst>
          </p:cNvPr>
          <p:cNvGrpSpPr/>
          <p:nvPr/>
        </p:nvGrpSpPr>
        <p:grpSpPr>
          <a:xfrm>
            <a:off x="10864851" y="6468533"/>
            <a:ext cx="186267" cy="203200"/>
            <a:chOff x="8176402" y="4885530"/>
            <a:chExt cx="135493" cy="143018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DD1C6C7-4F4F-56E8-A7C8-A48C7E8DA5B6}"/>
                </a:ext>
              </a:extLst>
            </p:cNvPr>
            <p:cNvSpPr/>
            <p:nvPr/>
          </p:nvSpPr>
          <p:spPr>
            <a:xfrm>
              <a:off x="8176402" y="4885530"/>
              <a:ext cx="67770" cy="143018"/>
            </a:xfrm>
            <a:custGeom>
              <a:avLst/>
              <a:gdLst>
                <a:gd name="connsiteX0" fmla="*/ 67771 w 67770"/>
                <a:gd name="connsiteY0" fmla="*/ 0 h 143018"/>
                <a:gd name="connsiteX1" fmla="*/ 38767 w 67770"/>
                <a:gd name="connsiteY1" fmla="*/ 6144 h 143018"/>
                <a:gd name="connsiteX2" fmla="*/ 0 w 67770"/>
                <a:gd name="connsiteY2" fmla="*/ 143018 h 143018"/>
                <a:gd name="connsiteX3" fmla="*/ 33147 w 67770"/>
                <a:gd name="connsiteY3" fmla="*/ 135970 h 143018"/>
                <a:gd name="connsiteX4" fmla="*/ 44768 w 67770"/>
                <a:gd name="connsiteY4" fmla="*/ 93869 h 143018"/>
                <a:gd name="connsiteX5" fmla="*/ 67771 w 67770"/>
                <a:gd name="connsiteY5" fmla="*/ 88964 h 143018"/>
                <a:gd name="connsiteX6" fmla="*/ 67771 w 67770"/>
                <a:gd name="connsiteY6" fmla="*/ 60341 h 143018"/>
                <a:gd name="connsiteX7" fmla="*/ 53293 w 67770"/>
                <a:gd name="connsiteY7" fmla="*/ 63389 h 143018"/>
                <a:gd name="connsiteX8" fmla="*/ 67771 w 67770"/>
                <a:gd name="connsiteY8" fmla="*/ 11097 h 143018"/>
                <a:gd name="connsiteX9" fmla="*/ 67771 w 67770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70" h="143018">
                  <a:moveTo>
                    <a:pt x="67771" y="0"/>
                  </a:moveTo>
                  <a:lnTo>
                    <a:pt x="38767" y="6144"/>
                  </a:lnTo>
                  <a:lnTo>
                    <a:pt x="0" y="143018"/>
                  </a:lnTo>
                  <a:lnTo>
                    <a:pt x="33147" y="135970"/>
                  </a:lnTo>
                  <a:lnTo>
                    <a:pt x="44768" y="93869"/>
                  </a:lnTo>
                  <a:lnTo>
                    <a:pt x="67771" y="88964"/>
                  </a:lnTo>
                  <a:lnTo>
                    <a:pt x="67771" y="60341"/>
                  </a:lnTo>
                  <a:lnTo>
                    <a:pt x="53293" y="63389"/>
                  </a:lnTo>
                  <a:lnTo>
                    <a:pt x="67771" y="11097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24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ABD7C35-BA12-9F26-537D-75B82B7D3876}"/>
                </a:ext>
              </a:extLst>
            </p:cNvPr>
            <p:cNvSpPr/>
            <p:nvPr/>
          </p:nvSpPr>
          <p:spPr>
            <a:xfrm>
              <a:off x="8244173" y="4885530"/>
              <a:ext cx="67722" cy="143018"/>
            </a:xfrm>
            <a:custGeom>
              <a:avLst/>
              <a:gdLst>
                <a:gd name="connsiteX0" fmla="*/ 0 w 67722"/>
                <a:gd name="connsiteY0" fmla="*/ 0 h 143018"/>
                <a:gd name="connsiteX1" fmla="*/ 0 w 67722"/>
                <a:gd name="connsiteY1" fmla="*/ 11097 h 143018"/>
                <a:gd name="connsiteX2" fmla="*/ 14478 w 67722"/>
                <a:gd name="connsiteY2" fmla="*/ 63389 h 143018"/>
                <a:gd name="connsiteX3" fmla="*/ 0 w 67722"/>
                <a:gd name="connsiteY3" fmla="*/ 60341 h 143018"/>
                <a:gd name="connsiteX4" fmla="*/ 0 w 67722"/>
                <a:gd name="connsiteY4" fmla="*/ 88964 h 143018"/>
                <a:gd name="connsiteX5" fmla="*/ 22955 w 67722"/>
                <a:gd name="connsiteY5" fmla="*/ 93869 h 143018"/>
                <a:gd name="connsiteX6" fmla="*/ 34575 w 67722"/>
                <a:gd name="connsiteY6" fmla="*/ 135970 h 143018"/>
                <a:gd name="connsiteX7" fmla="*/ 67723 w 67722"/>
                <a:gd name="connsiteY7" fmla="*/ 143018 h 143018"/>
                <a:gd name="connsiteX8" fmla="*/ 28956 w 67722"/>
                <a:gd name="connsiteY8" fmla="*/ 6144 h 143018"/>
                <a:gd name="connsiteX9" fmla="*/ 0 w 67722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22" h="143018">
                  <a:moveTo>
                    <a:pt x="0" y="0"/>
                  </a:moveTo>
                  <a:lnTo>
                    <a:pt x="0" y="11097"/>
                  </a:lnTo>
                  <a:lnTo>
                    <a:pt x="14478" y="63389"/>
                  </a:lnTo>
                  <a:lnTo>
                    <a:pt x="0" y="60341"/>
                  </a:lnTo>
                  <a:lnTo>
                    <a:pt x="0" y="88964"/>
                  </a:lnTo>
                  <a:lnTo>
                    <a:pt x="22955" y="93869"/>
                  </a:lnTo>
                  <a:lnTo>
                    <a:pt x="34575" y="135970"/>
                  </a:lnTo>
                  <a:lnTo>
                    <a:pt x="67723" y="143018"/>
                  </a:lnTo>
                  <a:lnTo>
                    <a:pt x="28956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2400"/>
            </a:p>
          </p:txBody>
        </p:sp>
      </p:grpSp>
      <p:sp>
        <p:nvSpPr>
          <p:cNvPr id="8" name="Slide Number Placeholder 18">
            <a:extLst>
              <a:ext uri="{FF2B5EF4-FFF2-40B4-BE49-F238E27FC236}">
                <a16:creationId xmlns:a16="http://schemas.microsoft.com/office/drawing/2014/main" id="{56348CC3-4D9E-3009-191A-52A4BBC22FD7}"/>
              </a:ext>
            </a:extLst>
          </p:cNvPr>
          <p:cNvSpPr txBox="1">
            <a:spLocks/>
          </p:cNvSpPr>
          <p:nvPr/>
        </p:nvSpPr>
        <p:spPr>
          <a:xfrm>
            <a:off x="1838618" y="6362699"/>
            <a:ext cx="4191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z="100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/>
              <a:t>‹#›</a:t>
            </a:fld>
            <a:endParaRPr lang="en-AU" sz="10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B4E33F-C9AE-AD75-BA0B-87F4D61986B6}"/>
              </a:ext>
            </a:extLst>
          </p:cNvPr>
          <p:cNvSpPr txBox="1"/>
          <p:nvPr/>
        </p:nvSpPr>
        <p:spPr>
          <a:xfrm>
            <a:off x="274789" y="6362693"/>
            <a:ext cx="16637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Ascendion Confidential</a:t>
            </a:r>
          </a:p>
        </p:txBody>
      </p:sp>
      <p:sp>
        <p:nvSpPr>
          <p:cNvPr id="4" name="Graphic 10">
            <a:extLst>
              <a:ext uri="{FF2B5EF4-FFF2-40B4-BE49-F238E27FC236}">
                <a16:creationId xmlns:a16="http://schemas.microsoft.com/office/drawing/2014/main" id="{34A157B6-58AF-33D6-96CC-D1BE31D6A076}"/>
              </a:ext>
            </a:extLst>
          </p:cNvPr>
          <p:cNvSpPr/>
          <p:nvPr/>
        </p:nvSpPr>
        <p:spPr>
          <a:xfrm>
            <a:off x="2356339" y="6337426"/>
            <a:ext cx="9835661" cy="179324"/>
          </a:xfrm>
          <a:custGeom>
            <a:avLst/>
            <a:gdLst>
              <a:gd name="connsiteX0" fmla="*/ 5829300 w 5829300"/>
              <a:gd name="connsiteY0" fmla="*/ 134493 h 134493"/>
              <a:gd name="connsiteX1" fmla="*/ 5541740 w 5829300"/>
              <a:gd name="connsiteY1" fmla="*/ 134493 h 134493"/>
              <a:gd name="connsiteX2" fmla="*/ 4915853 w 5829300"/>
              <a:gd name="connsiteY2" fmla="*/ 0 h 134493"/>
              <a:gd name="connsiteX3" fmla="*/ 4285393 w 5829300"/>
              <a:gd name="connsiteY3" fmla="*/ 134493 h 134493"/>
              <a:gd name="connsiteX4" fmla="*/ 0 w 5829300"/>
              <a:gd name="connsiteY4" fmla="*/ 134493 h 134493"/>
              <a:gd name="connsiteX0" fmla="*/ 7376746 w 7376746"/>
              <a:gd name="connsiteY0" fmla="*/ 134493 h 134493"/>
              <a:gd name="connsiteX1" fmla="*/ 7089186 w 7376746"/>
              <a:gd name="connsiteY1" fmla="*/ 134493 h 134493"/>
              <a:gd name="connsiteX2" fmla="*/ 6463299 w 7376746"/>
              <a:gd name="connsiteY2" fmla="*/ 0 h 134493"/>
              <a:gd name="connsiteX3" fmla="*/ 5832839 w 7376746"/>
              <a:gd name="connsiteY3" fmla="*/ 134493 h 134493"/>
              <a:gd name="connsiteX4" fmla="*/ 0 w 7376746"/>
              <a:gd name="connsiteY4" fmla="*/ 134493 h 134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6746" h="134493">
                <a:moveTo>
                  <a:pt x="7376746" y="134493"/>
                </a:moveTo>
                <a:lnTo>
                  <a:pt x="7089186" y="134493"/>
                </a:lnTo>
                <a:lnTo>
                  <a:pt x="6463299" y="0"/>
                </a:lnTo>
                <a:lnTo>
                  <a:pt x="5832839" y="134493"/>
                </a:lnTo>
                <a:lnTo>
                  <a:pt x="0" y="134493"/>
                </a:lnTo>
              </a:path>
            </a:pathLst>
          </a:custGeom>
          <a:noFill/>
          <a:ln w="952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 sz="24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8BB966-C387-C92B-FA58-18AA05DC5645}"/>
              </a:ext>
            </a:extLst>
          </p:cNvPr>
          <p:cNvCxnSpPr>
            <a:cxnSpLocks/>
          </p:cNvCxnSpPr>
          <p:nvPr/>
        </p:nvCxnSpPr>
        <p:spPr>
          <a:xfrm>
            <a:off x="0" y="6515100"/>
            <a:ext cx="304800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FD9D7BDB-8CD6-FF8E-F8F1-745DD690CC53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1536700" y="1092200"/>
            <a:ext cx="1422400" cy="2870200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15B104-CF67-8593-1815-0DB440DCBFCB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rcRect t="68935" b="6661"/>
          <a:stretch/>
        </p:blipFill>
        <p:spPr>
          <a:xfrm>
            <a:off x="-1524000" y="4198301"/>
            <a:ext cx="1435100" cy="22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9" r:id="rId6"/>
    <p:sldLayoutId id="2147483690" r:id="rId7"/>
    <p:sldLayoutId id="2147483691" r:id="rId8"/>
    <p:sldLayoutId id="2147483711" r:id="rId9"/>
    <p:sldLayoutId id="2147483757" r:id="rId10"/>
    <p:sldLayoutId id="2147483758" r:id="rId11"/>
    <p:sldLayoutId id="2147483760" r:id="rId12"/>
    <p:sldLayoutId id="2147483761" r:id="rId13"/>
    <p:sldLayoutId id="2147483764" r:id="rId14"/>
    <p:sldLayoutId id="2147483766" r:id="rId15"/>
  </p:sldLayoutIdLst>
  <p:hf hd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2800" b="1" i="0" kern="1200">
          <a:solidFill>
            <a:schemeClr val="tx1"/>
          </a:solidFill>
          <a:latin typeface="PP Neue Machina Plain Ultrabold" pitchFamily="50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ptos" panose="020B0004020202020204" pitchFamily="34" charset="0"/>
        <a:buChar char="•"/>
        <a:defRPr sz="1867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ptos" panose="020B0004020202020204" pitchFamily="34" charset="0"/>
        <a:buChar char="•"/>
        <a:defRPr sz="16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ptos" panose="020B0004020202020204" pitchFamily="34" charset="0"/>
        <a:buChar char="•"/>
        <a:defRPr sz="1333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200" b="0" i="0" kern="1200">
          <a:solidFill>
            <a:schemeClr val="tx1"/>
          </a:solidFill>
          <a:latin typeface="Aptos" panose="020B0004020202020204" pitchFamily="34" charset="0"/>
          <a:ea typeface="+mn-ea"/>
          <a:cs typeface="Aptos" panose="020B0004020202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200" b="0" i="0" kern="1200">
          <a:solidFill>
            <a:schemeClr val="tx1"/>
          </a:solidFill>
          <a:latin typeface="Aptos" panose="020B0004020202020204" pitchFamily="34" charset="0"/>
          <a:ea typeface="+mn-ea"/>
          <a:cs typeface="Aptos" panose="020B00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44">
          <p15:clr>
            <a:srgbClr val="F26B43"/>
          </p15:clr>
        </p15:guide>
        <p15:guide id="2" pos="5521">
          <p15:clr>
            <a:srgbClr val="F26B43"/>
          </p15:clr>
        </p15:guide>
        <p15:guide id="3" pos="239">
          <p15:clr>
            <a:srgbClr val="F26B43"/>
          </p15:clr>
        </p15:guide>
        <p15:guide id="4" pos="7354">
          <p15:clr>
            <a:srgbClr val="F26B43"/>
          </p15:clr>
        </p15:guide>
        <p15:guide id="5" orient="horz" pos="3898">
          <p15:clr>
            <a:srgbClr val="F26B43"/>
          </p15:clr>
        </p15:guide>
        <p15:guide id="6" orient="horz" pos="758">
          <p15:clr>
            <a:srgbClr val="F26B43"/>
          </p15:clr>
        </p15:guide>
        <p15:guide id="7" pos="2880">
          <p15:clr>
            <a:srgbClr val="F26B43"/>
          </p15:clr>
        </p15:guide>
        <p15:guide id="8" orient="horz" pos="645">
          <p15:clr>
            <a:srgbClr val="F26B43"/>
          </p15:clr>
        </p15:guide>
        <p15:guide id="9" orient="horz" pos="36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C7BCF452-713F-FCFA-31EB-98778F7AD576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44" r="44"/>
          <a:stretch/>
        </p:blipFill>
        <p:spPr/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40811B93-43B1-47D8-1DBE-8EB3FB679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230" y="3022881"/>
            <a:ext cx="6524502" cy="1648046"/>
          </a:xfrm>
          <a:effectLst>
            <a:outerShdw blurRad="489867" dist="38100" dir="2700000" algn="tl" rotWithShape="0">
              <a:prstClr val="black">
                <a:alpha val="88000"/>
              </a:prstClr>
            </a:outerShdw>
          </a:effectLst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IN" sz="4800" b="1" dirty="0">
                <a:solidFill>
                  <a:schemeClr val="bg1"/>
                </a:solidFill>
                <a:latin typeface="PP Neue Machina Plain Ultrabold"/>
              </a:rPr>
              <a:t>10x Accelerated Talent Program</a:t>
            </a:r>
            <a:br>
              <a:rPr lang="en-IN" sz="4800" b="1" dirty="0">
                <a:solidFill>
                  <a:schemeClr val="bg1"/>
                </a:solidFill>
                <a:latin typeface="PP Neue Machina Plain Ultrabold"/>
              </a:rPr>
            </a:br>
            <a:r>
              <a:rPr lang="en-IN" sz="2800" b="1" dirty="0">
                <a:solidFill>
                  <a:schemeClr val="bg1"/>
                </a:solidFill>
                <a:latin typeface="PP Neue Machina Plain Ultrabold"/>
              </a:rPr>
              <a:t>Operating Plan  |  Leadership Review</a:t>
            </a:r>
            <a:endParaRPr lang="en-IN" sz="4800" b="1" dirty="0">
              <a:solidFill>
                <a:schemeClr val="bg1"/>
              </a:solidFill>
              <a:latin typeface="PP Neue Machina Plain Ultrabold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1A00361-B9E9-682B-EA9E-CEB8F58142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3230" y="617556"/>
            <a:ext cx="2810233" cy="64603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BB8EB53-5FDC-C5D0-8960-D910AB2EFD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00000">
            <a:off x="10992680" y="-5356030"/>
            <a:ext cx="2885530" cy="574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592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01  |  THE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What this program is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2011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09728" cy="20116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/>
              </a:rPr>
              <a:t>OPERATING 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Find engineers who use judgment and AI leverage to remove work —
then put them on a track that doesn’t destroy that capability.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94760"/>
            <a:ext cx="3657600" cy="228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457200" cy="7315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Conventional hiring rewards pedigree, narrow correctness, and confidence. None of these find force multipliers.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3794760"/>
            <a:ext cx="3657600" cy="228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3794760"/>
            <a:ext cx="457200" cy="7315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40233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WHAT WE WON’T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389120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No HackerRank rounds. No essay prompts. No personality interviews. No steering committees. No ‘10x’ marketing language externally.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3794760"/>
            <a:ext cx="3657600" cy="228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3794760"/>
            <a:ext cx="457200" cy="7315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40233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WHAT WE WILL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389120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Verifiable artifacts. Scaffolded take-homes with AI allowed and scored. Anchored defense panels. Protected runway after admit.</a:t>
            </a:r>
          </a:p>
        </p:txBody>
      </p:sp>
    </p:spTree>
    <p:extLst>
      <p:ext uri="{BB962C8B-B14F-4D97-AF65-F5344CB8AC3E}">
        <p14:creationId xmlns:p14="http://schemas.microsoft.com/office/powerpoint/2010/main" val="932042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02  |  PROGRAM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Two tracks. Small cohorts. On purpose.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A 10x program with 200 admits is not a 10x program. We optimize for precision, not recall.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486400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ASCENDER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0–2 yrs experience  |  external +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/>
              </a:rPr>
              <a:t>COHORT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83464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8–12 per cohort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/>
              </a:rPr>
              <a:t>CADENCE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379476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Twice yearly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06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/>
              </a:rPr>
              <a:t>TEST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475488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Decomposition under ambiguity. Taste in deciding what NOT to fix. Healthy AI use the candidate can defend line by 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28800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828800"/>
            <a:ext cx="5486400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PRINCIPAL 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2860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2–6 yrs experience  |  lateral + skip-level nomination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8803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/>
              </a:rPr>
              <a:t>COHORT 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83464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8–12 per cohort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840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/>
              </a:rPr>
              <a:t>CADENCE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79476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Twice yearly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8006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/>
              </a:rPr>
              <a:t>TEST FOR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75488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Sequencing and trade-off articulation. Resisting the urge to rewrite. Systems thinking, governance awareness, ability to teach.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Internal nominations run from day one and enter at Stage 2. Highest-yield source. The current draft ignores it.</a:t>
            </a:r>
          </a:p>
        </p:txBody>
      </p:sp>
    </p:spTree>
    <p:extLst>
      <p:ext uri="{BB962C8B-B14F-4D97-AF65-F5344CB8AC3E}">
        <p14:creationId xmlns:p14="http://schemas.microsoft.com/office/powerpoint/2010/main" val="705034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03  |  THE 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Four stages. Five weeks. ~150 in, 8–12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152" y="1417320"/>
            <a:ext cx="26974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4152" y="1417320"/>
            <a:ext cx="2697480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472" y="15544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96167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472" y="20391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8472" y="25603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EVIDENCE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472" y="3017520"/>
            <a:ext cx="2148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GitHub link + 3-min Loom + one shipped artifact. No essays.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4152" y="4937760"/>
            <a:ext cx="269748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8472" y="5074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8A94A6"/>
                </a:solidFill>
                <a:latin typeface="Calibri"/>
              </a:rPr>
              <a:t>FUNNEL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472" y="53035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~150 → ~40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1417320"/>
            <a:ext cx="26974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6224" y="1417320"/>
            <a:ext cx="2697480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0544" y="15544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96167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0544" y="20391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WEEK 2–3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0544" y="25603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SCAFFOLDED TAKE-HOME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0544" y="3017520"/>
            <a:ext cx="2148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48 hrs. Real repo. AI allowed and expected. PR + 10-min walkthrough.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937760"/>
            <a:ext cx="269748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90544" y="5074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8A94A6"/>
                </a:solidFill>
                <a:latin typeface="Calibri"/>
              </a:rPr>
              <a:t>FUNNEL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0544" y="53035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~40 → ~16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8296" y="1417320"/>
            <a:ext cx="26974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8296" y="1417320"/>
            <a:ext cx="2697480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2616" y="15544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96167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2616" y="20391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WEEK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2616" y="25603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DEFENSE PANEL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2616" y="3017520"/>
            <a:ext cx="2148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60 min. Two panelists. Five anchored questions. Independent scoring.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8296" y="4937760"/>
            <a:ext cx="269748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52616" y="5074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8A94A6"/>
                </a:solidFill>
                <a:latin typeface="Calibri"/>
              </a:rPr>
              <a:t>FUNNEL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2616" y="53035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~16 → ~10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40368" y="1417320"/>
            <a:ext cx="269748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40368" y="1417320"/>
            <a:ext cx="2697480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14688" y="15544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96167"/>
                </a:solidFill>
                <a:latin typeface="Calibr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14688" y="20391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WEEK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14688" y="25603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ADMIT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14688" y="3017520"/>
            <a:ext cx="2148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30 min. Director + Principal. Confirms appetite. No new tech eval.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40368" y="4937760"/>
            <a:ext cx="269748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14688" y="5074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8A94A6"/>
                </a:solidFill>
                <a:latin typeface="Calibri"/>
              </a:rPr>
              <a:t>FUNNEL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14688" y="53035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8–12 admits</a:t>
            </a:r>
          </a:p>
        </p:txBody>
      </p:sp>
    </p:spTree>
    <p:extLst>
      <p:ext uri="{BB962C8B-B14F-4D97-AF65-F5344CB8AC3E}">
        <p14:creationId xmlns:p14="http://schemas.microsoft.com/office/powerpoint/2010/main" val="3764678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04  |  WHERE THIS DIFFERS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The two design decisions that determine whether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Calibri"/>
              </a:rPr>
              <a:t>AI-USE RUBRIC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09928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Scored explicitly. Without this, calibration collapses.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1981200" cy="4023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198120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1706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HEALTHY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88920"/>
            <a:ext cx="17068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Used AI for boilerplate, scaffolding, tests. Verified outputs. Can explain every 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29840" y="2194560"/>
            <a:ext cx="1981200" cy="4023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29840" y="2194560"/>
            <a:ext cx="198120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67000" y="2286000"/>
            <a:ext cx="1706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OVER-RELIANCE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7000" y="2788920"/>
            <a:ext cx="17068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Cannot explain choices. Inconsistent style. Hallucinated comments. Tests don’t match code.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02480" y="2194560"/>
            <a:ext cx="1981200" cy="4023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02480" y="2194560"/>
            <a:ext cx="1981200" cy="411480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9640" y="2286000"/>
            <a:ext cx="1706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AVOIDANCE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9640" y="2788920"/>
            <a:ext cx="17068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Avoided AI in an AI-appropriate task. Slower with no quality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14173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Calibri"/>
              </a:rPr>
              <a:t>BASE RATES PER TRACK PER 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170992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If they want recall, this is the wrong program.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2280" y="2194560"/>
            <a:ext cx="2377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12280" y="2194560"/>
            <a:ext cx="73152" cy="12344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2359152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</a:rPr>
              <a:t>~150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90779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alibri"/>
              </a:rPr>
              <a:t>applicants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2194560"/>
            <a:ext cx="2377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26880" y="2194560"/>
            <a:ext cx="73152" cy="12344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359152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</a:rPr>
              <a:t>~40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290779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alibri"/>
              </a:rPr>
              <a:t>Stage 2 invitees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12280" y="3520440"/>
            <a:ext cx="2377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12280" y="3520440"/>
            <a:ext cx="73152" cy="12344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3685032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</a:rPr>
              <a:t>~16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23367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alibri"/>
              </a:rPr>
              <a:t>Stage 3 invitees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26880" y="3520440"/>
            <a:ext cx="2377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6880" y="3520440"/>
            <a:ext cx="73152" cy="12344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55480" y="3685032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</a:rPr>
              <a:t>8–12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423367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alibri"/>
              </a:rPr>
              <a:t>admits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12280" y="4846320"/>
            <a:ext cx="2377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12280" y="4846320"/>
            <a:ext cx="73152" cy="12344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0" y="5010912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</a:rPr>
              <a:t>~6 hrs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55595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alibri"/>
              </a:rPr>
              <a:t>reviewer cost / admit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0" y="4846320"/>
            <a:ext cx="2377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326880" y="4846320"/>
            <a:ext cx="73152" cy="12344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55480" y="5010912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</a:rPr>
              <a:t>25%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55480" y="55595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alibri"/>
              </a:rPr>
              <a:t>false-positive tolerance</a:t>
            </a:r>
          </a:p>
        </p:txBody>
      </p:sp>
    </p:spTree>
    <p:extLst>
      <p:ext uri="{BB962C8B-B14F-4D97-AF65-F5344CB8AC3E}">
        <p14:creationId xmlns:p14="http://schemas.microsoft.com/office/powerpoint/2010/main" val="1667741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05  |  AFTER ADMIT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Selection is 20%. The development arc is 80%.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If we cannot protect the runway, we should not run the program. This is the failure mode that quietly kills these initiatives.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8140" y="1828800"/>
            <a:ext cx="37033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8140" y="1828800"/>
            <a:ext cx="3703320" cy="109728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" y="210312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MONTHS 1–3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" y="23774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PROTECTED RUNWAY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60" y="2926080"/>
            <a:ext cx="3154680" cy="9525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460" y="3063240"/>
            <a:ext cx="3154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60% protected time. A real problem. A named sponsor. NOT on standard delivery utilization.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1020" y="4663440"/>
            <a:ext cx="3337560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180" y="477316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96167"/>
                </a:solidFill>
                <a:latin typeface="Calibri"/>
              </a:rPr>
              <a:t>WATCH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180" y="5010912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alibri"/>
              </a:rPr>
              <a:t>Requires written executive air cover. A Delivery VP will try to break this in week 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4340" y="1828800"/>
            <a:ext cx="37033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4340" y="1828800"/>
            <a:ext cx="3703320" cy="109728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8660" y="210312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MONTHS 3–9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8660" y="23774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SHADOW +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18660" y="2926080"/>
            <a:ext cx="3154680" cy="9525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8660" y="3063240"/>
            <a:ext cx="3154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Pair with a Principal Engineer on a real client engagement. Lead one workstream end-to-end.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27220" y="4663440"/>
            <a:ext cx="3337560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4380" y="477316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96167"/>
                </a:solidFill>
                <a:latin typeface="Calibri"/>
              </a:rPr>
              <a:t>WATCH FOR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4380" y="5010912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alibri"/>
              </a:rPr>
              <a:t>Quarterly review on five anchored dimensions: framing, leverage, taste, ownership, teaching.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0540" y="1828800"/>
            <a:ext cx="37033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0540" y="1828800"/>
            <a:ext cx="3703320" cy="109728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04860" y="210312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MONTHS 9–18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4860" y="23774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FORCE MULTIPLIER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04860" y="2926080"/>
            <a:ext cx="3154680" cy="9525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4860" y="3063240"/>
            <a:ext cx="3154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Calibri"/>
              </a:rPr>
              <a:t>Own a small team or a reusable practice asset — playbook, internal tool, eval harness.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13420" y="4663440"/>
            <a:ext cx="3337560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0580" y="477316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96167"/>
                </a:solidFill>
                <a:latin typeface="Calibri"/>
              </a:rPr>
              <a:t>WATCH FOR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0580" y="5010912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6454F"/>
                </a:solidFill>
                <a:latin typeface="Calibri"/>
              </a:rPr>
              <a:t>Promotion or off-ramp at month 18. Off-ramp to senior IC track is graduation, not failure.</a:t>
            </a:r>
          </a:p>
        </p:txBody>
      </p:sp>
    </p:spTree>
    <p:extLst>
      <p:ext uri="{BB962C8B-B14F-4D97-AF65-F5344CB8AC3E}">
        <p14:creationId xmlns:p14="http://schemas.microsoft.com/office/powerpoint/2010/main" val="1851808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6167"/>
                </a:solidFill>
                <a:latin typeface="Calibri"/>
              </a:rPr>
              <a:t>06  |  MAKE IT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Governance, the three risks that kill this, and the first moves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/>
              </a:rPr>
              <a:t>GOVERNANCE — FOUR NAMED OWNERS, NO COMMITTEES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20"/>
            <a:ext cx="73152" cy="8686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Executive Sponsor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One named VP. Air cover for protected runway. Authority to kill the program if quality slips.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73152" cy="8686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Program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One named Director. End-to-end accountability. Rubric integrity. Calibration.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94760"/>
            <a:ext cx="73152" cy="8686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Tech Panel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4–6 named Principals. Task design. Scoring. Defense panels.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54880"/>
            <a:ext cx="73152" cy="8686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TA Partner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454F"/>
                </a:solidFill>
                <a:latin typeface="Calibri"/>
              </a:rPr>
              <a:t>One named recruiter. Funnel mechanics. Candidate experience.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1417320"/>
            <a:ext cx="5742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/>
              </a:rPr>
              <a:t>THREE RISKS THAT WILL ACTUALLY KILL THIS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1874520"/>
            <a:ext cx="5742432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99339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020824"/>
            <a:ext cx="5102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Delivery pressure breaks the protected runway in month 2.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2468880"/>
            <a:ext cx="5742432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25877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615184"/>
            <a:ext cx="5102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AI-use rubric drifts across panelists across cycles.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3063240"/>
            <a:ext cx="5742432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1821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209544"/>
            <a:ext cx="5102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Excellent ICs admitted with no senior IC ladder to graduate them onto.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4114800"/>
            <a:ext cx="5742432" cy="2194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89320" y="4114800"/>
            <a:ext cx="109728" cy="21945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279392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Calibri"/>
              </a:rPr>
              <a:t>FIRST THREE MOVES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663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/>
              </a:rPr>
              <a:t>THIS WEEK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4645152"/>
            <a:ext cx="39136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Get one VP to sign the protected-runway commitment in writing. No signature, no program.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166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/>
              </a:rPr>
              <a:t>NEXT 2 WEEKS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5148072"/>
            <a:ext cx="39136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Tech panel writes one Ascender task and one Principal task. Three Principals submit benchmarks.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669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/>
              </a:rPr>
              <a:t>WEEKS 3–4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5650992"/>
            <a:ext cx="39136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Run internal pilot with 20 nominees. Decide on external Cohort 1 from data, not enthusiasm.</a:t>
            </a:r>
          </a:p>
        </p:txBody>
      </p:sp>
    </p:spTree>
    <p:extLst>
      <p:ext uri="{BB962C8B-B14F-4D97-AF65-F5344CB8AC3E}">
        <p14:creationId xmlns:p14="http://schemas.microsoft.com/office/powerpoint/2010/main" val="401844117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- Light">
  <a:themeElements>
    <a:clrScheme name="25_New_ascendion colors">
      <a:dk1>
        <a:srgbClr val="000000"/>
      </a:dk1>
      <a:lt1>
        <a:srgbClr val="FFFFFF"/>
      </a:lt1>
      <a:dk2>
        <a:srgbClr val="B3B3B3"/>
      </a:dk2>
      <a:lt2>
        <a:srgbClr val="E8E8E8"/>
      </a:lt2>
      <a:accent1>
        <a:srgbClr val="2CDCAA"/>
      </a:accent1>
      <a:accent2>
        <a:srgbClr val="006450"/>
      </a:accent2>
      <a:accent3>
        <a:srgbClr val="F5821E"/>
      </a:accent3>
      <a:accent4>
        <a:srgbClr val="6666CC"/>
      </a:accent4>
      <a:accent5>
        <a:srgbClr val="8C0059"/>
      </a:accent5>
      <a:accent6>
        <a:srgbClr val="828282"/>
      </a:accent6>
      <a:hlink>
        <a:srgbClr val="968CFA"/>
      </a:hlink>
      <a:folHlink>
        <a:srgbClr val="000000"/>
      </a:folHlink>
    </a:clrScheme>
    <a:fontScheme name="Ascendion Font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235BFA3-A629-DE4F-B1C5-8C47EAC1BC4C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  <we:property name="claude.fileId" value="&quot;911fa6ee-0b3c-45f7-b455-288c47830c83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17D077514BC341998BBA45225655AA" ma:contentTypeVersion="3" ma:contentTypeDescription="Create a new document." ma:contentTypeScope="" ma:versionID="2396a582a6befac04200bceb3822b478">
  <xsd:schema xmlns:xsd="http://www.w3.org/2001/XMLSchema" xmlns:xs="http://www.w3.org/2001/XMLSchema" xmlns:p="http://schemas.microsoft.com/office/2006/metadata/properties" xmlns:ns2="8b6de726-6a7a-4692-9584-22166a19873a" targetNamespace="http://schemas.microsoft.com/office/2006/metadata/properties" ma:root="true" ma:fieldsID="d315774a3da3dca3dcd2d4bd9531319d" ns2:_="">
    <xsd:import namespace="8b6de726-6a7a-4692-9584-22166a19873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6de726-6a7a-4692-9584-22166a1987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80CBCBE-B10C-4D49-BEE1-872DDF386E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b6de726-6a7a-4692-9584-22166a1987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7154E1E-A921-46DB-B0DF-1607B9F945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179B07-0447-4D31-BA7E-09C47EA7576B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elements/1.1/"/>
    <ds:schemaRef ds:uri="http://purl.org/dc/dcmitype/"/>
    <ds:schemaRef ds:uri="8b6de726-6a7a-4692-9584-22166a19873a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4050</TotalTime>
  <Words>831</Words>
  <Application>Microsoft Macintosh PowerPoint</Application>
  <PresentationFormat>Widescreen</PresentationFormat>
  <Paragraphs>124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Aptos</vt:lpstr>
      <vt:lpstr>Arial</vt:lpstr>
      <vt:lpstr>Calibri</vt:lpstr>
      <vt:lpstr>Century Gothic</vt:lpstr>
      <vt:lpstr>Myriad Pro</vt:lpstr>
      <vt:lpstr>PP Neue Machina</vt:lpstr>
      <vt:lpstr>PP Neue Machina Plain Italic</vt:lpstr>
      <vt:lpstr>PP Neue Machina Plain Ultrabold</vt:lpstr>
      <vt:lpstr>Verdana</vt:lpstr>
      <vt:lpstr>Content - Light</vt:lpstr>
      <vt:lpstr>10x Accelerated Talent Program Operating Plan  |  Leadership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Daryush Laqab</dc:creator>
  <cp:lastModifiedBy>Srinidhi Ramanujam</cp:lastModifiedBy>
  <cp:revision>28</cp:revision>
  <dcterms:created xsi:type="dcterms:W3CDTF">2025-06-18T18:37:34Z</dcterms:created>
  <dcterms:modified xsi:type="dcterms:W3CDTF">2026-04-09T12:30:24Z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0x010100FD17D077514BC341998BBA45225655AA</vt:lpwstr>
  </property>
</Properties>
</file>