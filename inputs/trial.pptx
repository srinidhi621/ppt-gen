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ink/ink1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147483511" r:id="rId2"/>
    <p:sldId id="2147483516" r:id="rId3"/>
    <p:sldId id="2147483520" r:id="rId4"/>
    <p:sldId id="2147483521" r:id="rId5"/>
    <p:sldId id="2147483522" r:id="rId6"/>
    <p:sldId id="2147483525" r:id="rId7"/>
    <p:sldId id="2147483526" r:id="rId8"/>
    <p:sldId id="2147483528" r:id="rId9"/>
    <p:sldId id="256" r:id="rId10"/>
    <p:sldId id="2147483535" r:id="rId11"/>
    <p:sldId id="2147483637" r:id="rId12"/>
    <p:sldId id="2147483530" r:id="rId13"/>
    <p:sldId id="2147483531" r:id="rId14"/>
    <p:sldId id="2147483532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7596"/>
    <p:restoredTop sz="94625"/>
  </p:normalViewPr>
  <p:slideViewPr>
    <p:cSldViewPr snapToGrid="0">
      <p:cViewPr varScale="1">
        <p:scale>
          <a:sx n="79" d="100"/>
          <a:sy n="79" d="100"/>
        </p:scale>
        <p:origin x="232" y="9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6T09:24:57.85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24575,'0'0'-8191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3594FC8-6485-A64B-B37B-29DF11692CDC}" type="datetimeFigureOut">
              <a:rPr lang="en-US" smtClean="0"/>
              <a:t>3/17/26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700623C-8A4E-1541-AA32-4A4D22798D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575325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3D9477F-B2EC-4D77-9600-19F0B3EF9B27}" type="slidenum">
              <a:rPr kumimoji="0" lang="en-I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9930069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A34473-1D6B-079F-5BE7-34EB0434972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92A0289-2D62-7991-8B84-14240B8CA7C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608D95E-1D62-DF57-94EE-FFA5AD1AFF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199557-A350-4B44-A6A5-BE87348454E3}" type="datetimeFigureOut">
              <a:rPr lang="en-US" smtClean="0"/>
              <a:t>3/17/26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15A609F-0778-6A04-3C85-1404A90495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BA1AB3E-6FA9-E7E7-8754-6E7AE8531B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39E3FD-21A5-2744-BC04-DCFFF0906D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425856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700F63-2B1E-5FFB-DB75-A957549EEB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3431F6-81D5-2B0A-13A3-D469C6CEF4E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03D5128-F414-682C-C6FB-AA19DAA5BC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199557-A350-4B44-A6A5-BE87348454E3}" type="datetimeFigureOut">
              <a:rPr lang="en-US" smtClean="0"/>
              <a:t>3/17/26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F3AB1DE-4DDA-5981-A504-5D979579E2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AF5A6BE-D4DD-4F13-C280-595946C2A3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39E3FD-21A5-2744-BC04-DCFFF0906D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84982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0F8786-BE69-EDF6-2CD5-82EB92B1AB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1A0B36E-A287-7551-9665-0D11D2D1668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923C6E2-C486-BC4A-6D45-59411D211C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199557-A350-4B44-A6A5-BE87348454E3}" type="datetimeFigureOut">
              <a:rPr lang="en-US" smtClean="0"/>
              <a:t>3/17/26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ED515B9-0354-5079-CE0D-5BECC80F75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E84A894-5CEA-64D9-72B9-7A4E886BDB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39E3FD-21A5-2744-BC04-DCFFF0906D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753580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560860-D483-9240-2784-C1F00A12CE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9727CB-04C1-7488-3CBE-09FA19D25CB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F6ED686-B558-BC38-74E4-6B79C92A21A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1CE10D3-980B-FDED-7B3F-EC47801204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199557-A350-4B44-A6A5-BE87348454E3}" type="datetimeFigureOut">
              <a:rPr lang="en-US" smtClean="0"/>
              <a:t>3/17/26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C1AAD5B-8197-CCF5-9A14-83F8D5655B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4BB129B-7269-FF76-11DB-D3B3FDFADA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39E3FD-21A5-2744-BC04-DCFFF0906D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48934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CE46C7-9382-6D87-E3A3-6E154EE6A0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1B2E5B8-58B4-31C5-0CF7-636352EF0AA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0D0F690-569C-2C99-6A7E-8A843726C25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483CB6D-11F0-E85F-FAC9-B0BD79C377E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193584C-232E-D4CD-D69B-54A8A2A2F0E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5BCB163-2A59-9F81-4FE6-7EFF4B4434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199557-A350-4B44-A6A5-BE87348454E3}" type="datetimeFigureOut">
              <a:rPr lang="en-US" smtClean="0"/>
              <a:t>3/17/26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F55BDA5-09AF-A9C8-316D-0FCCF196AF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68D9542-E894-08D3-5A03-51D8C70411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39E3FD-21A5-2744-BC04-DCFFF0906D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389279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8B1135-54B7-6ACA-AEDB-45E06E661F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45417F8-0B16-2BCC-EA18-5C909D3357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199557-A350-4B44-A6A5-BE87348454E3}" type="datetimeFigureOut">
              <a:rPr lang="en-US" smtClean="0"/>
              <a:t>3/17/26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B3F2BAC-14A1-4B8A-E6B4-6BCFF62CD8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F84354B-4272-0A84-04CA-363DE448DA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39E3FD-21A5-2744-BC04-DCFFF0906D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915447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39A6B68-9A9E-1315-9991-D0F330A848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199557-A350-4B44-A6A5-BE87348454E3}" type="datetimeFigureOut">
              <a:rPr lang="en-US" smtClean="0"/>
              <a:t>3/17/26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8757032-2A9E-C721-617F-48DB66BDA4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152783-3B03-E2F0-0480-D2ABF067E6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39E3FD-21A5-2744-BC04-DCFFF0906D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67798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341D56-2DF1-8D7F-800B-D9805E6A74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8492BB-FDA1-A0E1-1C1D-0DAA9103BE2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4BFB837-F77D-DA5B-9D17-8265FB4A200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B505BCC-6784-4416-3090-7603A82F83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199557-A350-4B44-A6A5-BE87348454E3}" type="datetimeFigureOut">
              <a:rPr lang="en-US" smtClean="0"/>
              <a:t>3/17/26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2A59D5A-64A7-1636-66D3-3DA92CB0FC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7B64267-8C05-B18D-1EBD-C4159BC1AC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39E3FD-21A5-2744-BC04-DCFFF0906D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819670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826A17-9BCF-EC5E-60F1-38B56124DF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74105A1-688C-DDD7-63A3-D2F08A1C6BC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4C7C724-37DC-B376-D4BB-25700F5039A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3F0AF34-9C4F-6DED-0DD9-3C3CB60090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199557-A350-4B44-A6A5-BE87348454E3}" type="datetimeFigureOut">
              <a:rPr lang="en-US" smtClean="0"/>
              <a:t>3/17/26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DC2F13A-4C38-63A6-7E63-A1FB78B87E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6F09C2F-A790-88C3-C94D-343EAC12CD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39E3FD-21A5-2744-BC04-DCFFF0906D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633294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DEADD6-D87A-D697-FEF9-215BD0E751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14BAE59-7A20-60F6-49B5-2B82E50C635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02A4DDE-7DA6-F77D-67B3-ABD2307831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199557-A350-4B44-A6A5-BE87348454E3}" type="datetimeFigureOut">
              <a:rPr lang="en-US" smtClean="0"/>
              <a:t>3/17/26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0AABE26-5C66-A91C-E999-D282E62C55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810ADC9-4406-5F15-01C0-90E4EACA35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39E3FD-21A5-2744-BC04-DCFFF0906D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658334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D3F5DBE-F7A0-39E9-A883-75FCB289D09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8E31663-3930-37F3-9B78-CAC3BEBDA3C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67A07A-6A86-4E3D-83DB-BE0D980237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199557-A350-4B44-A6A5-BE87348454E3}" type="datetimeFigureOut">
              <a:rPr lang="en-US" smtClean="0"/>
              <a:t>3/17/26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FCC8282-4706-7E4B-888F-70EC972027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C26C312-1F34-9B03-C055-DB67950021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39E3FD-21A5-2744-BC04-DCFFF0906D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422843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Slide Number Placeholder 5">
            <a:extLst>
              <a:ext uri="{FF2B5EF4-FFF2-40B4-BE49-F238E27FC236}">
                <a16:creationId xmlns:a16="http://schemas.microsoft.com/office/drawing/2014/main" id="{19F27A21-E6B5-6107-728E-03F4C9E0B621}"/>
              </a:ext>
            </a:extLst>
          </p:cNvPr>
          <p:cNvSpPr txBox="1">
            <a:spLocks/>
          </p:cNvSpPr>
          <p:nvPr userDrawn="1"/>
        </p:nvSpPr>
        <p:spPr>
          <a:xfrm>
            <a:off x="11455765" y="6427244"/>
            <a:ext cx="727075" cy="3206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3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BDA227D-D6B4-481D-8178-2242024024DE}" type="slidenum">
              <a:rPr lang="en-US" smtClean="0">
                <a:solidFill>
                  <a:schemeClr val="bg1"/>
                </a:solidFill>
              </a:rPr>
              <a:pPr/>
              <a:t>‹#›</a:t>
            </a:fld>
            <a:endParaRPr lang="en-US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0413379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Only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492662-CDB7-0D2F-E428-AED45F92F02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5936" y="394087"/>
            <a:ext cx="10668000" cy="965200"/>
          </a:xfrm>
        </p:spPr>
        <p:txBody>
          <a:bodyPr>
            <a:noAutofit/>
          </a:bodyPr>
          <a:lstStyle/>
          <a:p>
            <a:r>
              <a:rPr lang="en-US"/>
              <a:t>Click To Edit Master Title Style</a:t>
            </a:r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5078216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6E079F7-4808-4C92-0751-1499B206B5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1F6BAFC-476C-5E33-0FEB-1450CB8483A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F353D32-10F2-681A-0998-04B50088855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0199557-A350-4B44-A6A5-BE87348454E3}" type="datetimeFigureOut">
              <a:rPr lang="en-US" smtClean="0"/>
              <a:t>3/17/26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C32C8E9-1EAF-F93F-5AE8-E16AB98220A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63B4A04-6F34-FB09-F7EB-88366548141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E39E3FD-21A5-2744-BC04-DCFFF0906D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5115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4.svg"/><Relationship Id="rId7" Type="http://schemas.openxmlformats.org/officeDocument/2006/relationships/image" Target="../media/image8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5" Type="http://schemas.openxmlformats.org/officeDocument/2006/relationships/image" Target="../media/image6.svg"/><Relationship Id="rId4" Type="http://schemas.openxmlformats.org/officeDocument/2006/relationships/image" Target="../media/image5.png"/><Relationship Id="rId9" Type="http://schemas.openxmlformats.org/officeDocument/2006/relationships/image" Target="../media/image10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7" Type="http://schemas.openxmlformats.org/officeDocument/2006/relationships/image" Target="../media/image16.sv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5.png"/><Relationship Id="rId5" Type="http://schemas.openxmlformats.org/officeDocument/2006/relationships/image" Target="../media/image14.svg"/><Relationship Id="rId4" Type="http://schemas.openxmlformats.org/officeDocument/2006/relationships/image" Target="../media/image13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sv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0.svg"/><Relationship Id="rId4" Type="http://schemas.openxmlformats.org/officeDocument/2006/relationships/image" Target="../media/image19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sv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3" Type="http://schemas.openxmlformats.org/officeDocument/2006/relationships/image" Target="../media/image34.svg"/><Relationship Id="rId18" Type="http://schemas.openxmlformats.org/officeDocument/2006/relationships/image" Target="../media/image39.png"/><Relationship Id="rId26" Type="http://schemas.openxmlformats.org/officeDocument/2006/relationships/image" Target="../media/image47.png"/><Relationship Id="rId39" Type="http://schemas.openxmlformats.org/officeDocument/2006/relationships/image" Target="../media/image60.svg"/><Relationship Id="rId21" Type="http://schemas.openxmlformats.org/officeDocument/2006/relationships/image" Target="../media/image42.svg"/><Relationship Id="rId34" Type="http://schemas.openxmlformats.org/officeDocument/2006/relationships/image" Target="../media/image55.png"/><Relationship Id="rId7" Type="http://schemas.openxmlformats.org/officeDocument/2006/relationships/image" Target="../media/image28.svg"/><Relationship Id="rId2" Type="http://schemas.openxmlformats.org/officeDocument/2006/relationships/image" Target="../media/image23.png"/><Relationship Id="rId16" Type="http://schemas.openxmlformats.org/officeDocument/2006/relationships/image" Target="../media/image37.png"/><Relationship Id="rId20" Type="http://schemas.openxmlformats.org/officeDocument/2006/relationships/image" Target="../media/image41.png"/><Relationship Id="rId29" Type="http://schemas.openxmlformats.org/officeDocument/2006/relationships/image" Target="../media/image50.svg"/><Relationship Id="rId41" Type="http://schemas.openxmlformats.org/officeDocument/2006/relationships/image" Target="../media/image62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7.png"/><Relationship Id="rId11" Type="http://schemas.openxmlformats.org/officeDocument/2006/relationships/image" Target="../media/image32.svg"/><Relationship Id="rId24" Type="http://schemas.openxmlformats.org/officeDocument/2006/relationships/image" Target="../media/image45.png"/><Relationship Id="rId32" Type="http://schemas.openxmlformats.org/officeDocument/2006/relationships/image" Target="../media/image53.png"/><Relationship Id="rId37" Type="http://schemas.openxmlformats.org/officeDocument/2006/relationships/image" Target="../media/image58.svg"/><Relationship Id="rId40" Type="http://schemas.openxmlformats.org/officeDocument/2006/relationships/image" Target="../media/image61.png"/><Relationship Id="rId5" Type="http://schemas.openxmlformats.org/officeDocument/2006/relationships/image" Target="../media/image26.svg"/><Relationship Id="rId15" Type="http://schemas.openxmlformats.org/officeDocument/2006/relationships/image" Target="../media/image36.svg"/><Relationship Id="rId23" Type="http://schemas.openxmlformats.org/officeDocument/2006/relationships/image" Target="../media/image44.svg"/><Relationship Id="rId28" Type="http://schemas.openxmlformats.org/officeDocument/2006/relationships/image" Target="../media/image49.png"/><Relationship Id="rId36" Type="http://schemas.openxmlformats.org/officeDocument/2006/relationships/image" Target="../media/image57.png"/><Relationship Id="rId10" Type="http://schemas.openxmlformats.org/officeDocument/2006/relationships/image" Target="../media/image31.png"/><Relationship Id="rId19" Type="http://schemas.openxmlformats.org/officeDocument/2006/relationships/image" Target="../media/image40.svg"/><Relationship Id="rId31" Type="http://schemas.openxmlformats.org/officeDocument/2006/relationships/image" Target="../media/image52.svg"/><Relationship Id="rId4" Type="http://schemas.openxmlformats.org/officeDocument/2006/relationships/image" Target="../media/image25.png"/><Relationship Id="rId9" Type="http://schemas.openxmlformats.org/officeDocument/2006/relationships/image" Target="../media/image30.svg"/><Relationship Id="rId14" Type="http://schemas.openxmlformats.org/officeDocument/2006/relationships/image" Target="../media/image35.png"/><Relationship Id="rId22" Type="http://schemas.openxmlformats.org/officeDocument/2006/relationships/image" Target="../media/image43.png"/><Relationship Id="rId27" Type="http://schemas.openxmlformats.org/officeDocument/2006/relationships/image" Target="../media/image48.svg"/><Relationship Id="rId30" Type="http://schemas.openxmlformats.org/officeDocument/2006/relationships/image" Target="../media/image51.png"/><Relationship Id="rId35" Type="http://schemas.openxmlformats.org/officeDocument/2006/relationships/image" Target="../media/image56.svg"/><Relationship Id="rId8" Type="http://schemas.openxmlformats.org/officeDocument/2006/relationships/image" Target="../media/image29.png"/><Relationship Id="rId3" Type="http://schemas.openxmlformats.org/officeDocument/2006/relationships/image" Target="../media/image24.svg"/><Relationship Id="rId12" Type="http://schemas.openxmlformats.org/officeDocument/2006/relationships/image" Target="../media/image33.png"/><Relationship Id="rId17" Type="http://schemas.openxmlformats.org/officeDocument/2006/relationships/image" Target="../media/image38.svg"/><Relationship Id="rId25" Type="http://schemas.openxmlformats.org/officeDocument/2006/relationships/image" Target="../media/image46.svg"/><Relationship Id="rId33" Type="http://schemas.openxmlformats.org/officeDocument/2006/relationships/image" Target="../media/image54.svg"/><Relationship Id="rId38" Type="http://schemas.openxmlformats.org/officeDocument/2006/relationships/image" Target="../media/image59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3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0.png"/><Relationship Id="rId13" Type="http://schemas.openxmlformats.org/officeDocument/2006/relationships/customXml" Target="../ink/ink1.xml"/><Relationship Id="rId18" Type="http://schemas.openxmlformats.org/officeDocument/2006/relationships/image" Target="../media/image78.png"/><Relationship Id="rId3" Type="http://schemas.openxmlformats.org/officeDocument/2006/relationships/image" Target="../media/image65.png"/><Relationship Id="rId21" Type="http://schemas.openxmlformats.org/officeDocument/2006/relationships/image" Target="../media/image81.png"/><Relationship Id="rId7" Type="http://schemas.openxmlformats.org/officeDocument/2006/relationships/image" Target="../media/image69.png"/><Relationship Id="rId12" Type="http://schemas.openxmlformats.org/officeDocument/2006/relationships/image" Target="../media/image74.svg"/><Relationship Id="rId17" Type="http://schemas.openxmlformats.org/officeDocument/2006/relationships/image" Target="../media/image77.png"/><Relationship Id="rId2" Type="http://schemas.openxmlformats.org/officeDocument/2006/relationships/image" Target="../media/image64.png"/><Relationship Id="rId16" Type="http://schemas.openxmlformats.org/officeDocument/2006/relationships/image" Target="../media/image76.svg"/><Relationship Id="rId20" Type="http://schemas.openxmlformats.org/officeDocument/2006/relationships/image" Target="../media/image80.png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68.png"/><Relationship Id="rId11" Type="http://schemas.openxmlformats.org/officeDocument/2006/relationships/image" Target="../media/image73.png"/><Relationship Id="rId5" Type="http://schemas.openxmlformats.org/officeDocument/2006/relationships/image" Target="../media/image67.svg"/><Relationship Id="rId15" Type="http://schemas.openxmlformats.org/officeDocument/2006/relationships/image" Target="../media/image75.png"/><Relationship Id="rId23" Type="http://schemas.openxmlformats.org/officeDocument/2006/relationships/image" Target="../media/image83.jpeg"/><Relationship Id="rId10" Type="http://schemas.openxmlformats.org/officeDocument/2006/relationships/image" Target="../media/image72.svg"/><Relationship Id="rId19" Type="http://schemas.openxmlformats.org/officeDocument/2006/relationships/image" Target="../media/image79.png"/><Relationship Id="rId4" Type="http://schemas.openxmlformats.org/officeDocument/2006/relationships/image" Target="../media/image66.png"/><Relationship Id="rId9" Type="http://schemas.openxmlformats.org/officeDocument/2006/relationships/image" Target="../media/image71.png"/><Relationship Id="rId14" Type="http://schemas.openxmlformats.org/officeDocument/2006/relationships/image" Target="../media/image390.png"/><Relationship Id="rId22" Type="http://schemas.openxmlformats.org/officeDocument/2006/relationships/image" Target="../media/image82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5.svg"/><Relationship Id="rId2" Type="http://schemas.openxmlformats.org/officeDocument/2006/relationships/image" Target="../media/image84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944168-A58A-DB16-7887-608A1422DE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0">
            <a:extLst>
              <a:ext uri="{FF2B5EF4-FFF2-40B4-BE49-F238E27FC236}">
                <a16:creationId xmlns:a16="http://schemas.microsoft.com/office/drawing/2014/main" id="{97246E08-108F-9FDC-2D63-D532DA351C4E}"/>
              </a:ext>
            </a:extLst>
          </p:cNvPr>
          <p:cNvGrpSpPr/>
          <p:nvPr/>
        </p:nvGrpSpPr>
        <p:grpSpPr>
          <a:xfrm>
            <a:off x="-10160" y="6350000"/>
            <a:ext cx="12202160" cy="508000"/>
            <a:chOff x="-10160" y="6350000"/>
            <a:chExt cx="12202160" cy="508000"/>
          </a:xfrm>
          <a:gradFill flip="none" rotWithShape="1">
            <a:gsLst>
              <a:gs pos="0">
                <a:schemeClr val="accent6">
                  <a:lumMod val="40000"/>
                  <a:lumOff val="60000"/>
                </a:schemeClr>
              </a:gs>
              <a:gs pos="3000">
                <a:schemeClr val="accent6">
                  <a:lumMod val="95000"/>
                  <a:lumOff val="5000"/>
                </a:schemeClr>
              </a:gs>
              <a:gs pos="100000">
                <a:schemeClr val="accent6">
                  <a:lumMod val="60000"/>
                </a:schemeClr>
              </a:gs>
            </a:gsLst>
            <a:path path="circle">
              <a:fillToRect l="50000" t="130000" r="50000" b="-30000"/>
            </a:path>
            <a:tileRect/>
          </a:gradFill>
        </p:grpSpPr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20AC709C-37C7-088D-1A86-568E9B74E1F7}"/>
                </a:ext>
              </a:extLst>
            </p:cNvPr>
            <p:cNvGrpSpPr/>
            <p:nvPr/>
          </p:nvGrpSpPr>
          <p:grpSpPr>
            <a:xfrm>
              <a:off x="-10160" y="6350000"/>
              <a:ext cx="12202160" cy="508000"/>
              <a:chOff x="-10160" y="6299200"/>
              <a:chExt cx="12202160" cy="558800"/>
            </a:xfrm>
            <a:grpFill/>
          </p:grpSpPr>
          <p:sp>
            <p:nvSpPr>
              <p:cNvPr id="3" name="Freeform: Shape 2">
                <a:extLst>
                  <a:ext uri="{FF2B5EF4-FFF2-40B4-BE49-F238E27FC236}">
                    <a16:creationId xmlns:a16="http://schemas.microsoft.com/office/drawing/2014/main" id="{2FDF2EBF-F398-A966-2D24-4C576CB43CC2}"/>
                  </a:ext>
                </a:extLst>
              </p:cNvPr>
              <p:cNvSpPr/>
              <p:nvPr/>
            </p:nvSpPr>
            <p:spPr>
              <a:xfrm>
                <a:off x="-10160" y="6299200"/>
                <a:ext cx="12202160" cy="558800"/>
              </a:xfrm>
              <a:custGeom>
                <a:avLst/>
                <a:gdLst>
                  <a:gd name="connsiteX0" fmla="*/ 0 w 9144000"/>
                  <a:gd name="connsiteY0" fmla="*/ 857250 h 857250"/>
                  <a:gd name="connsiteX1" fmla="*/ 0 w 9144000"/>
                  <a:gd name="connsiteY1" fmla="*/ 149828 h 857250"/>
                  <a:gd name="connsiteX2" fmla="*/ 7540609 w 9144000"/>
                  <a:gd name="connsiteY2" fmla="*/ 149828 h 857250"/>
                  <a:gd name="connsiteX3" fmla="*/ 8245698 w 9144000"/>
                  <a:gd name="connsiteY3" fmla="*/ 0 h 857250"/>
                  <a:gd name="connsiteX4" fmla="*/ 8933831 w 9144000"/>
                  <a:gd name="connsiteY4" fmla="*/ 149828 h 857250"/>
                  <a:gd name="connsiteX5" fmla="*/ 9144000 w 9144000"/>
                  <a:gd name="connsiteY5" fmla="*/ 149828 h 857250"/>
                  <a:gd name="connsiteX6" fmla="*/ 9144000 w 9144000"/>
                  <a:gd name="connsiteY6" fmla="*/ 857250 h 857250"/>
                  <a:gd name="connsiteX7" fmla="*/ 0 w 9144000"/>
                  <a:gd name="connsiteY7" fmla="*/ 857250 h 8572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9144000" h="857250">
                    <a:moveTo>
                      <a:pt x="0" y="857250"/>
                    </a:moveTo>
                    <a:lnTo>
                      <a:pt x="0" y="149828"/>
                    </a:lnTo>
                    <a:lnTo>
                      <a:pt x="7540609" y="149828"/>
                    </a:lnTo>
                    <a:lnTo>
                      <a:pt x="8245698" y="0"/>
                    </a:lnTo>
                    <a:lnTo>
                      <a:pt x="8933831" y="149828"/>
                    </a:lnTo>
                    <a:lnTo>
                      <a:pt x="9144000" y="149828"/>
                    </a:lnTo>
                    <a:lnTo>
                      <a:pt x="9144000" y="857250"/>
                    </a:lnTo>
                    <a:lnTo>
                      <a:pt x="0" y="857250"/>
                    </a:lnTo>
                    <a:close/>
                  </a:path>
                </a:pathLst>
              </a:custGeom>
              <a:grpFill/>
              <a:ln w="8132" cap="flat">
                <a:noFill/>
                <a:prstDash val="solid"/>
                <a:miter/>
              </a:ln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AU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4" name="Freeform: Shape 3">
                <a:extLst>
                  <a:ext uri="{FF2B5EF4-FFF2-40B4-BE49-F238E27FC236}">
                    <a16:creationId xmlns:a16="http://schemas.microsoft.com/office/drawing/2014/main" id="{6925D317-0385-A484-53A5-FD2CA0FE949F}"/>
                  </a:ext>
                </a:extLst>
              </p:cNvPr>
              <p:cNvSpPr/>
              <p:nvPr/>
            </p:nvSpPr>
            <p:spPr>
              <a:xfrm>
                <a:off x="10281920" y="6418580"/>
                <a:ext cx="1350024" cy="339967"/>
              </a:xfrm>
              <a:custGeom>
                <a:avLst/>
                <a:gdLst>
                  <a:gd name="connsiteX0" fmla="*/ 718995 w 1246536"/>
                  <a:gd name="connsiteY0" fmla="*/ 0 h 285083"/>
                  <a:gd name="connsiteX1" fmla="*/ 769239 w 1246536"/>
                  <a:gd name="connsiteY1" fmla="*/ 10668 h 285083"/>
                  <a:gd name="connsiteX2" fmla="*/ 842391 w 1246536"/>
                  <a:gd name="connsiteY2" fmla="*/ 94726 h 285083"/>
                  <a:gd name="connsiteX3" fmla="*/ 769239 w 1246536"/>
                  <a:gd name="connsiteY3" fmla="*/ 147876 h 285083"/>
                  <a:gd name="connsiteX4" fmla="*/ 718995 w 1246536"/>
                  <a:gd name="connsiteY4" fmla="*/ 137208 h 285083"/>
                  <a:gd name="connsiteX5" fmla="*/ 718995 w 1246536"/>
                  <a:gd name="connsiteY5" fmla="*/ 48 h 285083"/>
                  <a:gd name="connsiteX6" fmla="*/ 769239 w 1246536"/>
                  <a:gd name="connsiteY6" fmla="*/ 116729 h 285083"/>
                  <a:gd name="connsiteX7" fmla="*/ 808530 w 1246536"/>
                  <a:gd name="connsiteY7" fmla="*/ 87535 h 285083"/>
                  <a:gd name="connsiteX8" fmla="*/ 769239 w 1246536"/>
                  <a:gd name="connsiteY8" fmla="*/ 41624 h 285083"/>
                  <a:gd name="connsiteX9" fmla="*/ 752856 w 1246536"/>
                  <a:gd name="connsiteY9" fmla="*/ 38148 h 285083"/>
                  <a:gd name="connsiteX10" fmla="*/ 752856 w 1246536"/>
                  <a:gd name="connsiteY10" fmla="*/ 113252 h 285083"/>
                  <a:gd name="connsiteX11" fmla="*/ 769239 w 1246536"/>
                  <a:gd name="connsiteY11" fmla="*/ 116729 h 285083"/>
                  <a:gd name="connsiteX12" fmla="*/ 947024 w 1246536"/>
                  <a:gd name="connsiteY12" fmla="*/ 48482 h 285083"/>
                  <a:gd name="connsiteX13" fmla="*/ 947024 w 1246536"/>
                  <a:gd name="connsiteY13" fmla="*/ 79391 h 285083"/>
                  <a:gd name="connsiteX14" fmla="*/ 917067 w 1246536"/>
                  <a:gd name="connsiteY14" fmla="*/ 73009 h 285083"/>
                  <a:gd name="connsiteX15" fmla="*/ 917067 w 1246536"/>
                  <a:gd name="connsiteY15" fmla="*/ 148114 h 285083"/>
                  <a:gd name="connsiteX16" fmla="*/ 947024 w 1246536"/>
                  <a:gd name="connsiteY16" fmla="*/ 154496 h 285083"/>
                  <a:gd name="connsiteX17" fmla="*/ 947024 w 1246536"/>
                  <a:gd name="connsiteY17" fmla="*/ 185642 h 285083"/>
                  <a:gd name="connsiteX18" fmla="*/ 853393 w 1246536"/>
                  <a:gd name="connsiteY18" fmla="*/ 165735 h 285083"/>
                  <a:gd name="connsiteX19" fmla="*/ 853393 w 1246536"/>
                  <a:gd name="connsiteY19" fmla="*/ 134588 h 285083"/>
                  <a:gd name="connsiteX20" fmla="*/ 883349 w 1246536"/>
                  <a:gd name="connsiteY20" fmla="*/ 140970 h 285083"/>
                  <a:gd name="connsiteX21" fmla="*/ 883349 w 1246536"/>
                  <a:gd name="connsiteY21" fmla="*/ 65865 h 285083"/>
                  <a:gd name="connsiteX22" fmla="*/ 853393 w 1246536"/>
                  <a:gd name="connsiteY22" fmla="*/ 59484 h 285083"/>
                  <a:gd name="connsiteX23" fmla="*/ 853393 w 1246536"/>
                  <a:gd name="connsiteY23" fmla="*/ 28575 h 285083"/>
                  <a:gd name="connsiteX24" fmla="*/ 947024 w 1246536"/>
                  <a:gd name="connsiteY24" fmla="*/ 48482 h 285083"/>
                  <a:gd name="connsiteX25" fmla="*/ 1026319 w 1246536"/>
                  <a:gd name="connsiteY25" fmla="*/ 62627 h 285083"/>
                  <a:gd name="connsiteX26" fmla="*/ 1094994 w 1246536"/>
                  <a:gd name="connsiteY26" fmla="*/ 148447 h 285083"/>
                  <a:gd name="connsiteX27" fmla="*/ 1026319 w 1246536"/>
                  <a:gd name="connsiteY27" fmla="*/ 205264 h 285083"/>
                  <a:gd name="connsiteX28" fmla="*/ 957263 w 1246536"/>
                  <a:gd name="connsiteY28" fmla="*/ 119205 h 285083"/>
                  <a:gd name="connsiteX29" fmla="*/ 1026319 w 1246536"/>
                  <a:gd name="connsiteY29" fmla="*/ 62675 h 285083"/>
                  <a:gd name="connsiteX30" fmla="*/ 1026319 w 1246536"/>
                  <a:gd name="connsiteY30" fmla="*/ 173117 h 285083"/>
                  <a:gd name="connsiteX31" fmla="*/ 1060180 w 1246536"/>
                  <a:gd name="connsiteY31" fmla="*/ 141018 h 285083"/>
                  <a:gd name="connsiteX32" fmla="*/ 1026319 w 1246536"/>
                  <a:gd name="connsiteY32" fmla="*/ 94726 h 285083"/>
                  <a:gd name="connsiteX33" fmla="*/ 992267 w 1246536"/>
                  <a:gd name="connsiteY33" fmla="*/ 126587 h 285083"/>
                  <a:gd name="connsiteX34" fmla="*/ 1026319 w 1246536"/>
                  <a:gd name="connsiteY34" fmla="*/ 173117 h 285083"/>
                  <a:gd name="connsiteX35" fmla="*/ 1111949 w 1246536"/>
                  <a:gd name="connsiteY35" fmla="*/ 83534 h 285083"/>
                  <a:gd name="connsiteX36" fmla="*/ 1175814 w 1246536"/>
                  <a:gd name="connsiteY36" fmla="*/ 97107 h 285083"/>
                  <a:gd name="connsiteX37" fmla="*/ 1212675 w 1246536"/>
                  <a:gd name="connsiteY37" fmla="*/ 230791 h 285083"/>
                  <a:gd name="connsiteX38" fmla="*/ 1212675 w 1246536"/>
                  <a:gd name="connsiteY38" fmla="*/ 104918 h 285083"/>
                  <a:gd name="connsiteX39" fmla="*/ 1246537 w 1246536"/>
                  <a:gd name="connsiteY39" fmla="*/ 112109 h 285083"/>
                  <a:gd name="connsiteX40" fmla="*/ 1246537 w 1246536"/>
                  <a:gd name="connsiteY40" fmla="*/ 249269 h 285083"/>
                  <a:gd name="connsiteX41" fmla="*/ 1182672 w 1246536"/>
                  <a:gd name="connsiteY41" fmla="*/ 235696 h 285083"/>
                  <a:gd name="connsiteX42" fmla="*/ 1145810 w 1246536"/>
                  <a:gd name="connsiteY42" fmla="*/ 102013 h 285083"/>
                  <a:gd name="connsiteX43" fmla="*/ 1145810 w 1246536"/>
                  <a:gd name="connsiteY43" fmla="*/ 227886 h 285083"/>
                  <a:gd name="connsiteX44" fmla="*/ 1111949 w 1246536"/>
                  <a:gd name="connsiteY44" fmla="*/ 220694 h 285083"/>
                  <a:gd name="connsiteX45" fmla="*/ 1111949 w 1246536"/>
                  <a:gd name="connsiteY45" fmla="*/ 83534 h 285083"/>
                  <a:gd name="connsiteX46" fmla="*/ 42101 w 1246536"/>
                  <a:gd name="connsiteY46" fmla="*/ 138970 h 285083"/>
                  <a:gd name="connsiteX47" fmla="*/ 104108 w 1246536"/>
                  <a:gd name="connsiteY47" fmla="*/ 125778 h 285083"/>
                  <a:gd name="connsiteX48" fmla="*/ 145971 w 1246536"/>
                  <a:gd name="connsiteY48" fmla="*/ 254032 h 285083"/>
                  <a:gd name="connsiteX49" fmla="*/ 110061 w 1246536"/>
                  <a:gd name="connsiteY49" fmla="*/ 261652 h 285083"/>
                  <a:gd name="connsiteX50" fmla="*/ 97774 w 1246536"/>
                  <a:gd name="connsiteY50" fmla="*/ 222837 h 285083"/>
                  <a:gd name="connsiteX51" fmla="*/ 47863 w 1246536"/>
                  <a:gd name="connsiteY51" fmla="*/ 233458 h 285083"/>
                  <a:gd name="connsiteX52" fmla="*/ 35576 w 1246536"/>
                  <a:gd name="connsiteY52" fmla="*/ 277511 h 285083"/>
                  <a:gd name="connsiteX53" fmla="*/ 0 w 1246536"/>
                  <a:gd name="connsiteY53" fmla="*/ 285083 h 285083"/>
                  <a:gd name="connsiteX54" fmla="*/ 42053 w 1246536"/>
                  <a:gd name="connsiteY54" fmla="*/ 138970 h 285083"/>
                  <a:gd name="connsiteX55" fmla="*/ 88440 w 1246536"/>
                  <a:gd name="connsiteY55" fmla="*/ 193929 h 285083"/>
                  <a:gd name="connsiteX56" fmla="*/ 72819 w 1246536"/>
                  <a:gd name="connsiteY56" fmla="*/ 144923 h 285083"/>
                  <a:gd name="connsiteX57" fmla="*/ 57198 w 1246536"/>
                  <a:gd name="connsiteY57" fmla="*/ 200597 h 285083"/>
                  <a:gd name="connsiteX58" fmla="*/ 88488 w 1246536"/>
                  <a:gd name="connsiteY58" fmla="*/ 193929 h 285083"/>
                  <a:gd name="connsiteX59" fmla="*/ 214646 w 1246536"/>
                  <a:gd name="connsiteY59" fmla="*/ 242173 h 285083"/>
                  <a:gd name="connsiteX60" fmla="*/ 148733 w 1246536"/>
                  <a:gd name="connsiteY60" fmla="*/ 199930 h 285083"/>
                  <a:gd name="connsiteX61" fmla="*/ 183738 w 1246536"/>
                  <a:gd name="connsiteY61" fmla="*/ 192500 h 285083"/>
                  <a:gd name="connsiteX62" fmla="*/ 215408 w 1246536"/>
                  <a:gd name="connsiteY62" fmla="*/ 212408 h 285083"/>
                  <a:gd name="connsiteX63" fmla="*/ 239030 w 1246536"/>
                  <a:gd name="connsiteY63" fmla="*/ 195310 h 285083"/>
                  <a:gd name="connsiteX64" fmla="*/ 227886 w 1246536"/>
                  <a:gd name="connsiteY64" fmla="*/ 187166 h 285083"/>
                  <a:gd name="connsiteX65" fmla="*/ 183975 w 1246536"/>
                  <a:gd name="connsiteY65" fmla="*/ 184452 h 285083"/>
                  <a:gd name="connsiteX66" fmla="*/ 154210 w 1246536"/>
                  <a:gd name="connsiteY66" fmla="*/ 153210 h 285083"/>
                  <a:gd name="connsiteX67" fmla="*/ 207645 w 1246536"/>
                  <a:gd name="connsiteY67" fmla="*/ 101013 h 285083"/>
                  <a:gd name="connsiteX68" fmla="*/ 268891 w 1246536"/>
                  <a:gd name="connsiteY68" fmla="*/ 138017 h 285083"/>
                  <a:gd name="connsiteX69" fmla="*/ 234077 w 1246536"/>
                  <a:gd name="connsiteY69" fmla="*/ 145399 h 285083"/>
                  <a:gd name="connsiteX70" fmla="*/ 208217 w 1246536"/>
                  <a:gd name="connsiteY70" fmla="*/ 129873 h 285083"/>
                  <a:gd name="connsiteX71" fmla="*/ 189215 w 1246536"/>
                  <a:gd name="connsiteY71" fmla="*/ 145018 h 285083"/>
                  <a:gd name="connsiteX72" fmla="*/ 199454 w 1246536"/>
                  <a:gd name="connsiteY72" fmla="*/ 152352 h 285083"/>
                  <a:gd name="connsiteX73" fmla="*/ 242078 w 1246536"/>
                  <a:gd name="connsiteY73" fmla="*/ 154400 h 285083"/>
                  <a:gd name="connsiteX74" fmla="*/ 273891 w 1246536"/>
                  <a:gd name="connsiteY74" fmla="*/ 186357 h 285083"/>
                  <a:gd name="connsiteX75" fmla="*/ 214694 w 1246536"/>
                  <a:gd name="connsiteY75" fmla="*/ 242125 h 285083"/>
                  <a:gd name="connsiteX76" fmla="*/ 283702 w 1246536"/>
                  <a:gd name="connsiteY76" fmla="*/ 156115 h 285083"/>
                  <a:gd name="connsiteX77" fmla="*/ 353330 w 1246536"/>
                  <a:gd name="connsiteY77" fmla="*/ 70104 h 285083"/>
                  <a:gd name="connsiteX78" fmla="*/ 419767 w 1246536"/>
                  <a:gd name="connsiteY78" fmla="*/ 111633 h 285083"/>
                  <a:gd name="connsiteX79" fmla="*/ 384953 w 1246536"/>
                  <a:gd name="connsiteY79" fmla="*/ 119015 h 285083"/>
                  <a:gd name="connsiteX80" fmla="*/ 353473 w 1246536"/>
                  <a:gd name="connsiteY80" fmla="*/ 102156 h 285083"/>
                  <a:gd name="connsiteX81" fmla="*/ 318659 w 1246536"/>
                  <a:gd name="connsiteY81" fmla="*/ 148638 h 285083"/>
                  <a:gd name="connsiteX82" fmla="*/ 353473 w 1246536"/>
                  <a:gd name="connsiteY82" fmla="*/ 180546 h 285083"/>
                  <a:gd name="connsiteX83" fmla="*/ 384953 w 1246536"/>
                  <a:gd name="connsiteY83" fmla="*/ 150114 h 285083"/>
                  <a:gd name="connsiteX84" fmla="*/ 419767 w 1246536"/>
                  <a:gd name="connsiteY84" fmla="*/ 142732 h 285083"/>
                  <a:gd name="connsiteX85" fmla="*/ 353330 w 1246536"/>
                  <a:gd name="connsiteY85" fmla="*/ 212693 h 285083"/>
                  <a:gd name="connsiteX86" fmla="*/ 283702 w 1246536"/>
                  <a:gd name="connsiteY86" fmla="*/ 156115 h 285083"/>
                  <a:gd name="connsiteX87" fmla="*/ 436340 w 1246536"/>
                  <a:gd name="connsiteY87" fmla="*/ 55150 h 285083"/>
                  <a:gd name="connsiteX88" fmla="*/ 540782 w 1246536"/>
                  <a:gd name="connsiteY88" fmla="*/ 32956 h 285083"/>
                  <a:gd name="connsiteX89" fmla="*/ 540782 w 1246536"/>
                  <a:gd name="connsiteY89" fmla="*/ 63865 h 285083"/>
                  <a:gd name="connsiteX90" fmla="*/ 470440 w 1246536"/>
                  <a:gd name="connsiteY90" fmla="*/ 78819 h 285083"/>
                  <a:gd name="connsiteX91" fmla="*/ 470440 w 1246536"/>
                  <a:gd name="connsiteY91" fmla="*/ 101775 h 285083"/>
                  <a:gd name="connsiteX92" fmla="*/ 531495 w 1246536"/>
                  <a:gd name="connsiteY92" fmla="*/ 88821 h 285083"/>
                  <a:gd name="connsiteX93" fmla="*/ 531495 w 1246536"/>
                  <a:gd name="connsiteY93" fmla="*/ 118015 h 285083"/>
                  <a:gd name="connsiteX94" fmla="*/ 470440 w 1246536"/>
                  <a:gd name="connsiteY94" fmla="*/ 131016 h 285083"/>
                  <a:gd name="connsiteX95" fmla="*/ 470440 w 1246536"/>
                  <a:gd name="connsiteY95" fmla="*/ 154162 h 285083"/>
                  <a:gd name="connsiteX96" fmla="*/ 540782 w 1246536"/>
                  <a:gd name="connsiteY96" fmla="*/ 139208 h 285083"/>
                  <a:gd name="connsiteX97" fmla="*/ 540782 w 1246536"/>
                  <a:gd name="connsiteY97" fmla="*/ 170117 h 285083"/>
                  <a:gd name="connsiteX98" fmla="*/ 436340 w 1246536"/>
                  <a:gd name="connsiteY98" fmla="*/ 192310 h 285083"/>
                  <a:gd name="connsiteX99" fmla="*/ 436340 w 1246536"/>
                  <a:gd name="connsiteY99" fmla="*/ 55150 h 285083"/>
                  <a:gd name="connsiteX100" fmla="*/ 561308 w 1246536"/>
                  <a:gd name="connsiteY100" fmla="*/ 28623 h 285083"/>
                  <a:gd name="connsiteX101" fmla="*/ 625173 w 1246536"/>
                  <a:gd name="connsiteY101" fmla="*/ 15049 h 285083"/>
                  <a:gd name="connsiteX102" fmla="*/ 662035 w 1246536"/>
                  <a:gd name="connsiteY102" fmla="*/ 133112 h 285083"/>
                  <a:gd name="connsiteX103" fmla="*/ 662035 w 1246536"/>
                  <a:gd name="connsiteY103" fmla="*/ 7239 h 285083"/>
                  <a:gd name="connsiteX104" fmla="*/ 695897 w 1246536"/>
                  <a:gd name="connsiteY104" fmla="*/ 48 h 285083"/>
                  <a:gd name="connsiteX105" fmla="*/ 695897 w 1246536"/>
                  <a:gd name="connsiteY105" fmla="*/ 137208 h 285083"/>
                  <a:gd name="connsiteX106" fmla="*/ 632032 w 1246536"/>
                  <a:gd name="connsiteY106" fmla="*/ 150781 h 285083"/>
                  <a:gd name="connsiteX107" fmla="*/ 595170 w 1246536"/>
                  <a:gd name="connsiteY107" fmla="*/ 32718 h 285083"/>
                  <a:gd name="connsiteX108" fmla="*/ 595170 w 1246536"/>
                  <a:gd name="connsiteY108" fmla="*/ 158591 h 285083"/>
                  <a:gd name="connsiteX109" fmla="*/ 561308 w 1246536"/>
                  <a:gd name="connsiteY109" fmla="*/ 165783 h 285083"/>
                  <a:gd name="connsiteX110" fmla="*/ 561308 w 1246536"/>
                  <a:gd name="connsiteY110" fmla="*/ 28623 h 28508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</a:cxnLst>
                <a:rect l="l" t="t" r="r" b="b"/>
                <a:pathLst>
                  <a:path w="1246536" h="285083">
                    <a:moveTo>
                      <a:pt x="718995" y="0"/>
                    </a:moveTo>
                    <a:lnTo>
                      <a:pt x="769239" y="10668"/>
                    </a:lnTo>
                    <a:cubicBezTo>
                      <a:pt x="805149" y="18288"/>
                      <a:pt x="842391" y="35766"/>
                      <a:pt x="842391" y="94726"/>
                    </a:cubicBezTo>
                    <a:cubicBezTo>
                      <a:pt x="842391" y="153876"/>
                      <a:pt x="805149" y="155496"/>
                      <a:pt x="769239" y="147876"/>
                    </a:cubicBezTo>
                    <a:lnTo>
                      <a:pt x="718995" y="137208"/>
                    </a:lnTo>
                    <a:lnTo>
                      <a:pt x="718995" y="48"/>
                    </a:lnTo>
                    <a:close/>
                    <a:moveTo>
                      <a:pt x="769239" y="116729"/>
                    </a:moveTo>
                    <a:cubicBezTo>
                      <a:pt x="791766" y="121539"/>
                      <a:pt x="808530" y="124301"/>
                      <a:pt x="808530" y="87535"/>
                    </a:cubicBezTo>
                    <a:cubicBezTo>
                      <a:pt x="808530" y="50768"/>
                      <a:pt x="791623" y="46387"/>
                      <a:pt x="769239" y="41624"/>
                    </a:cubicBezTo>
                    <a:lnTo>
                      <a:pt x="752856" y="38148"/>
                    </a:lnTo>
                    <a:lnTo>
                      <a:pt x="752856" y="113252"/>
                    </a:lnTo>
                    <a:cubicBezTo>
                      <a:pt x="752856" y="113252"/>
                      <a:pt x="769239" y="116729"/>
                      <a:pt x="769239" y="116729"/>
                    </a:cubicBezTo>
                    <a:close/>
                    <a:moveTo>
                      <a:pt x="947024" y="48482"/>
                    </a:moveTo>
                    <a:lnTo>
                      <a:pt x="947024" y="79391"/>
                    </a:lnTo>
                    <a:cubicBezTo>
                      <a:pt x="947024" y="79391"/>
                      <a:pt x="917067" y="73009"/>
                      <a:pt x="917067" y="73009"/>
                    </a:cubicBezTo>
                    <a:lnTo>
                      <a:pt x="917067" y="148114"/>
                    </a:lnTo>
                    <a:cubicBezTo>
                      <a:pt x="917067" y="148114"/>
                      <a:pt x="947024" y="154496"/>
                      <a:pt x="947024" y="154496"/>
                    </a:cubicBezTo>
                    <a:lnTo>
                      <a:pt x="947024" y="185642"/>
                    </a:lnTo>
                    <a:cubicBezTo>
                      <a:pt x="947024" y="185642"/>
                      <a:pt x="853393" y="165735"/>
                      <a:pt x="853393" y="165735"/>
                    </a:cubicBezTo>
                    <a:lnTo>
                      <a:pt x="853393" y="134588"/>
                    </a:lnTo>
                    <a:cubicBezTo>
                      <a:pt x="853393" y="134588"/>
                      <a:pt x="883349" y="140970"/>
                      <a:pt x="883349" y="140970"/>
                    </a:cubicBezTo>
                    <a:lnTo>
                      <a:pt x="883349" y="65865"/>
                    </a:lnTo>
                    <a:cubicBezTo>
                      <a:pt x="883349" y="65865"/>
                      <a:pt x="853393" y="59484"/>
                      <a:pt x="853393" y="59484"/>
                    </a:cubicBezTo>
                    <a:lnTo>
                      <a:pt x="853393" y="28575"/>
                    </a:lnTo>
                    <a:cubicBezTo>
                      <a:pt x="853393" y="28575"/>
                      <a:pt x="947024" y="48482"/>
                      <a:pt x="947024" y="48482"/>
                    </a:cubicBezTo>
                    <a:close/>
                    <a:moveTo>
                      <a:pt x="1026319" y="62627"/>
                    </a:moveTo>
                    <a:cubicBezTo>
                      <a:pt x="1068944" y="71676"/>
                      <a:pt x="1094994" y="107966"/>
                      <a:pt x="1094994" y="148447"/>
                    </a:cubicBezTo>
                    <a:cubicBezTo>
                      <a:pt x="1094994" y="189119"/>
                      <a:pt x="1068944" y="214313"/>
                      <a:pt x="1026319" y="205264"/>
                    </a:cubicBezTo>
                    <a:cubicBezTo>
                      <a:pt x="983504" y="196167"/>
                      <a:pt x="957263" y="159829"/>
                      <a:pt x="957263" y="119205"/>
                    </a:cubicBezTo>
                    <a:cubicBezTo>
                      <a:pt x="957263" y="78724"/>
                      <a:pt x="983504" y="53578"/>
                      <a:pt x="1026319" y="62675"/>
                    </a:cubicBezTo>
                    <a:moveTo>
                      <a:pt x="1026319" y="173117"/>
                    </a:moveTo>
                    <a:cubicBezTo>
                      <a:pt x="1049036" y="177927"/>
                      <a:pt x="1060180" y="165926"/>
                      <a:pt x="1060180" y="141018"/>
                    </a:cubicBezTo>
                    <a:cubicBezTo>
                      <a:pt x="1060180" y="116110"/>
                      <a:pt x="1048846" y="99489"/>
                      <a:pt x="1026319" y="94726"/>
                    </a:cubicBezTo>
                    <a:cubicBezTo>
                      <a:pt x="1003602" y="89916"/>
                      <a:pt x="992267" y="101870"/>
                      <a:pt x="992267" y="126587"/>
                    </a:cubicBezTo>
                    <a:cubicBezTo>
                      <a:pt x="992267" y="151495"/>
                      <a:pt x="1003649" y="168307"/>
                      <a:pt x="1026319" y="173117"/>
                    </a:cubicBezTo>
                    <a:moveTo>
                      <a:pt x="1111949" y="83534"/>
                    </a:moveTo>
                    <a:lnTo>
                      <a:pt x="1175814" y="97107"/>
                    </a:lnTo>
                    <a:lnTo>
                      <a:pt x="1212675" y="230791"/>
                    </a:lnTo>
                    <a:lnTo>
                      <a:pt x="1212675" y="104918"/>
                    </a:lnTo>
                    <a:cubicBezTo>
                      <a:pt x="1212675" y="104918"/>
                      <a:pt x="1246537" y="112109"/>
                      <a:pt x="1246537" y="112109"/>
                    </a:cubicBezTo>
                    <a:lnTo>
                      <a:pt x="1246537" y="249269"/>
                    </a:lnTo>
                    <a:cubicBezTo>
                      <a:pt x="1246537" y="249269"/>
                      <a:pt x="1182672" y="235696"/>
                      <a:pt x="1182672" y="235696"/>
                    </a:cubicBezTo>
                    <a:lnTo>
                      <a:pt x="1145810" y="102013"/>
                    </a:lnTo>
                    <a:lnTo>
                      <a:pt x="1145810" y="227886"/>
                    </a:lnTo>
                    <a:cubicBezTo>
                      <a:pt x="1145810" y="227886"/>
                      <a:pt x="1111949" y="220694"/>
                      <a:pt x="1111949" y="220694"/>
                    </a:cubicBezTo>
                    <a:lnTo>
                      <a:pt x="1111949" y="83534"/>
                    </a:lnTo>
                    <a:close/>
                    <a:moveTo>
                      <a:pt x="42101" y="138970"/>
                    </a:moveTo>
                    <a:lnTo>
                      <a:pt x="104108" y="125778"/>
                    </a:lnTo>
                    <a:lnTo>
                      <a:pt x="145971" y="254032"/>
                    </a:lnTo>
                    <a:lnTo>
                      <a:pt x="110061" y="261652"/>
                    </a:lnTo>
                    <a:lnTo>
                      <a:pt x="97774" y="222837"/>
                    </a:lnTo>
                    <a:lnTo>
                      <a:pt x="47863" y="233458"/>
                    </a:lnTo>
                    <a:lnTo>
                      <a:pt x="35576" y="277511"/>
                    </a:lnTo>
                    <a:lnTo>
                      <a:pt x="0" y="285083"/>
                    </a:lnTo>
                    <a:lnTo>
                      <a:pt x="42053" y="138970"/>
                    </a:lnTo>
                    <a:close/>
                    <a:moveTo>
                      <a:pt x="88440" y="193929"/>
                    </a:moveTo>
                    <a:lnTo>
                      <a:pt x="72819" y="144923"/>
                    </a:lnTo>
                    <a:lnTo>
                      <a:pt x="57198" y="200597"/>
                    </a:lnTo>
                    <a:lnTo>
                      <a:pt x="88488" y="193929"/>
                    </a:lnTo>
                    <a:close/>
                    <a:moveTo>
                      <a:pt x="214646" y="242173"/>
                    </a:moveTo>
                    <a:cubicBezTo>
                      <a:pt x="168307" y="252031"/>
                      <a:pt x="148733" y="235553"/>
                      <a:pt x="148733" y="199930"/>
                    </a:cubicBezTo>
                    <a:lnTo>
                      <a:pt x="183738" y="192500"/>
                    </a:lnTo>
                    <a:cubicBezTo>
                      <a:pt x="183738" y="211979"/>
                      <a:pt x="190977" y="217599"/>
                      <a:pt x="215408" y="212408"/>
                    </a:cubicBezTo>
                    <a:cubicBezTo>
                      <a:pt x="231982" y="208883"/>
                      <a:pt x="239030" y="203883"/>
                      <a:pt x="239030" y="195310"/>
                    </a:cubicBezTo>
                    <a:cubicBezTo>
                      <a:pt x="239030" y="190452"/>
                      <a:pt x="235315" y="187547"/>
                      <a:pt x="227886" y="187166"/>
                    </a:cubicBezTo>
                    <a:lnTo>
                      <a:pt x="183975" y="184452"/>
                    </a:lnTo>
                    <a:cubicBezTo>
                      <a:pt x="161258" y="182880"/>
                      <a:pt x="154210" y="170545"/>
                      <a:pt x="154210" y="153210"/>
                    </a:cubicBezTo>
                    <a:cubicBezTo>
                      <a:pt x="154210" y="126540"/>
                      <a:pt x="173212" y="108299"/>
                      <a:pt x="207645" y="101013"/>
                    </a:cubicBezTo>
                    <a:cubicBezTo>
                      <a:pt x="248603" y="92297"/>
                      <a:pt x="268891" y="108252"/>
                      <a:pt x="268891" y="138017"/>
                    </a:cubicBezTo>
                    <a:lnTo>
                      <a:pt x="234077" y="145399"/>
                    </a:lnTo>
                    <a:cubicBezTo>
                      <a:pt x="234077" y="130635"/>
                      <a:pt x="226076" y="126111"/>
                      <a:pt x="208217" y="129873"/>
                    </a:cubicBezTo>
                    <a:cubicBezTo>
                      <a:pt x="195739" y="132540"/>
                      <a:pt x="189215" y="137208"/>
                      <a:pt x="189215" y="145018"/>
                    </a:cubicBezTo>
                    <a:cubicBezTo>
                      <a:pt x="189215" y="148923"/>
                      <a:pt x="191262" y="151781"/>
                      <a:pt x="199454" y="152352"/>
                    </a:cubicBezTo>
                    <a:lnTo>
                      <a:pt x="242078" y="154400"/>
                    </a:lnTo>
                    <a:cubicBezTo>
                      <a:pt x="263843" y="155400"/>
                      <a:pt x="273891" y="166306"/>
                      <a:pt x="273891" y="186357"/>
                    </a:cubicBezTo>
                    <a:cubicBezTo>
                      <a:pt x="273891" y="212408"/>
                      <a:pt x="256747" y="233172"/>
                      <a:pt x="214694" y="242125"/>
                    </a:cubicBezTo>
                    <a:moveTo>
                      <a:pt x="283702" y="156115"/>
                    </a:moveTo>
                    <a:cubicBezTo>
                      <a:pt x="283702" y="115633"/>
                      <a:pt x="310325" y="79248"/>
                      <a:pt x="353330" y="70104"/>
                    </a:cubicBezTo>
                    <a:cubicBezTo>
                      <a:pt x="390906" y="62103"/>
                      <a:pt x="415862" y="78010"/>
                      <a:pt x="419767" y="111633"/>
                    </a:cubicBezTo>
                    <a:lnTo>
                      <a:pt x="384953" y="119015"/>
                    </a:lnTo>
                    <a:cubicBezTo>
                      <a:pt x="382143" y="104823"/>
                      <a:pt x="370047" y="98631"/>
                      <a:pt x="353473" y="102156"/>
                    </a:cubicBezTo>
                    <a:cubicBezTo>
                      <a:pt x="333185" y="106490"/>
                      <a:pt x="318659" y="121634"/>
                      <a:pt x="318659" y="148638"/>
                    </a:cubicBezTo>
                    <a:cubicBezTo>
                      <a:pt x="318659" y="175879"/>
                      <a:pt x="333185" y="184833"/>
                      <a:pt x="353473" y="180546"/>
                    </a:cubicBezTo>
                    <a:cubicBezTo>
                      <a:pt x="370047" y="177022"/>
                      <a:pt x="382143" y="165497"/>
                      <a:pt x="384953" y="150114"/>
                    </a:cubicBezTo>
                    <a:lnTo>
                      <a:pt x="419767" y="142732"/>
                    </a:lnTo>
                    <a:cubicBezTo>
                      <a:pt x="415862" y="178213"/>
                      <a:pt x="390906" y="204692"/>
                      <a:pt x="353330" y="212693"/>
                    </a:cubicBezTo>
                    <a:cubicBezTo>
                      <a:pt x="310325" y="221837"/>
                      <a:pt x="283702" y="196739"/>
                      <a:pt x="283702" y="156115"/>
                    </a:cubicBezTo>
                    <a:moveTo>
                      <a:pt x="436340" y="55150"/>
                    </a:moveTo>
                    <a:lnTo>
                      <a:pt x="540782" y="32956"/>
                    </a:lnTo>
                    <a:lnTo>
                      <a:pt x="540782" y="63865"/>
                    </a:lnTo>
                    <a:cubicBezTo>
                      <a:pt x="540782" y="63865"/>
                      <a:pt x="470440" y="78819"/>
                      <a:pt x="470440" y="78819"/>
                    </a:cubicBezTo>
                    <a:lnTo>
                      <a:pt x="470440" y="101775"/>
                    </a:lnTo>
                    <a:cubicBezTo>
                      <a:pt x="470440" y="101775"/>
                      <a:pt x="531495" y="88821"/>
                      <a:pt x="531495" y="88821"/>
                    </a:cubicBezTo>
                    <a:lnTo>
                      <a:pt x="531495" y="118015"/>
                    </a:lnTo>
                    <a:cubicBezTo>
                      <a:pt x="531495" y="118015"/>
                      <a:pt x="470440" y="131016"/>
                      <a:pt x="470440" y="131016"/>
                    </a:cubicBezTo>
                    <a:lnTo>
                      <a:pt x="470440" y="154162"/>
                    </a:lnTo>
                    <a:cubicBezTo>
                      <a:pt x="470440" y="154162"/>
                      <a:pt x="540782" y="139208"/>
                      <a:pt x="540782" y="139208"/>
                    </a:cubicBezTo>
                    <a:lnTo>
                      <a:pt x="540782" y="170117"/>
                    </a:lnTo>
                    <a:cubicBezTo>
                      <a:pt x="540782" y="170117"/>
                      <a:pt x="436340" y="192310"/>
                      <a:pt x="436340" y="192310"/>
                    </a:cubicBezTo>
                    <a:lnTo>
                      <a:pt x="436340" y="55150"/>
                    </a:lnTo>
                    <a:close/>
                    <a:moveTo>
                      <a:pt x="561308" y="28623"/>
                    </a:moveTo>
                    <a:lnTo>
                      <a:pt x="625173" y="15049"/>
                    </a:lnTo>
                    <a:lnTo>
                      <a:pt x="662035" y="133112"/>
                    </a:lnTo>
                    <a:lnTo>
                      <a:pt x="662035" y="7239"/>
                    </a:lnTo>
                    <a:cubicBezTo>
                      <a:pt x="662035" y="7239"/>
                      <a:pt x="695897" y="48"/>
                      <a:pt x="695897" y="48"/>
                    </a:cubicBezTo>
                    <a:lnTo>
                      <a:pt x="695897" y="137208"/>
                    </a:lnTo>
                    <a:cubicBezTo>
                      <a:pt x="695897" y="137208"/>
                      <a:pt x="632032" y="150781"/>
                      <a:pt x="632032" y="150781"/>
                    </a:cubicBezTo>
                    <a:lnTo>
                      <a:pt x="595170" y="32718"/>
                    </a:lnTo>
                    <a:lnTo>
                      <a:pt x="595170" y="158591"/>
                    </a:lnTo>
                    <a:cubicBezTo>
                      <a:pt x="595170" y="158591"/>
                      <a:pt x="561308" y="165783"/>
                      <a:pt x="561308" y="165783"/>
                    </a:cubicBezTo>
                    <a:lnTo>
                      <a:pt x="561308" y="28623"/>
                    </a:lnTo>
                    <a:close/>
                  </a:path>
                </a:pathLst>
              </a:custGeom>
              <a:grpFill/>
              <a:ln w="476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AU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C7415F14-9577-7542-E5D7-B968D6DE8ADC}"/>
                </a:ext>
              </a:extLst>
            </p:cNvPr>
            <p:cNvSpPr txBox="1"/>
            <p:nvPr/>
          </p:nvSpPr>
          <p:spPr>
            <a:xfrm>
              <a:off x="30480" y="6523176"/>
              <a:ext cx="3144375" cy="246221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>
                <a:defRPr sz="700">
                  <a:solidFill>
                    <a:schemeClr val="bg1"/>
                  </a:solidFill>
                  <a:effectLst/>
                  <a:latin typeface="Verdana" panose="020B0604030504040204" pitchFamily="34" charset="0"/>
                  <a:ea typeface="Verdana" panose="020B0604030504040204" pitchFamily="34" charset="0"/>
                </a:defRPr>
              </a:lvl1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Verdana" panose="020B0604030504040204" pitchFamily="34" charset="0"/>
                  <a:ea typeface="Verdana" panose="020B0604030504040204" pitchFamily="34" charset="0"/>
                  <a:cs typeface="+mn-cs"/>
                </a:rPr>
                <a:t>Ascendion Confidential</a:t>
              </a:r>
            </a:p>
          </p:txBody>
        </p:sp>
      </p:grpSp>
      <p:pic>
        <p:nvPicPr>
          <p:cNvPr id="46" name="Picture 45" descr="A white letter on a black background&#10;&#10;Description automatically generated">
            <a:extLst>
              <a:ext uri="{FF2B5EF4-FFF2-40B4-BE49-F238E27FC236}">
                <a16:creationId xmlns:a16="http://schemas.microsoft.com/office/drawing/2014/main" id="{332FFBAB-EA14-E6D1-68CF-74125250465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62597" y="6403397"/>
            <a:ext cx="453720" cy="460156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0254DFEB-7383-C432-7FA8-51B376C819EB}"/>
              </a:ext>
            </a:extLst>
          </p:cNvPr>
          <p:cNvSpPr txBox="1">
            <a:spLocks/>
          </p:cNvSpPr>
          <p:nvPr/>
        </p:nvSpPr>
        <p:spPr>
          <a:xfrm>
            <a:off x="102380" y="-31095"/>
            <a:ext cx="9948264" cy="763600"/>
          </a:xfrm>
          <a:prstGeom prst="rect">
            <a:avLst/>
          </a:prstGeom>
        </p:spPr>
        <p:txBody>
          <a:bodyPr spcFirstLastPara="1" vert="horz" wrap="square" lIns="91425" tIns="91425" rIns="91425" bIns="91425" rtlCol="0" anchor="ctr" anchorCtr="0">
            <a:noAutofit/>
          </a:bodyPr>
          <a:lstStyle>
            <a:defPPr>
              <a:defRPr lang="en-US"/>
            </a:defPPr>
            <a:lvl1pPr marR="0" lvl="0" indent="0" fontAlgn="auto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Pts val="2800"/>
              <a:buFontTx/>
              <a:buNone/>
              <a:tabLst/>
              <a:defRPr kumimoji="0" sz="2400" b="1" i="0" u="none" strike="noStrike" cap="none" spc="0" normalizeH="0" baseline="0">
                <a:ln>
                  <a:noFill/>
                </a:ln>
                <a:solidFill>
                  <a:srgbClr val="3E8853">
                    <a:lumMod val="50000"/>
                  </a:srgbClr>
                </a:solidFill>
                <a:effectLst/>
                <a:uLnTx/>
                <a:uFillTx/>
                <a:ea typeface="+mj-ea"/>
                <a:cs typeface="+mj-c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Pts val="2800"/>
              <a:buFontTx/>
              <a:buNone/>
              <a:tabLst/>
              <a:defRPr/>
            </a:pPr>
            <a:r>
              <a:rPr lang="en-US">
                <a:latin typeface="Calibri" panose="020F0502020204030204"/>
              </a:rPr>
              <a:t>P1.2 Scope + timelines</a:t>
            </a:r>
            <a:endParaRPr kumimoji="0" lang="en-US" sz="2400" b="1" i="0" u="none" strike="noStrike" kern="1200" cap="none" spc="0" normalizeH="0" baseline="0" noProof="0">
              <a:ln>
                <a:noFill/>
              </a:ln>
              <a:solidFill>
                <a:srgbClr val="3E8853">
                  <a:lumMod val="50000"/>
                </a:srgbClr>
              </a:solidFill>
              <a:effectLst/>
              <a:uLnTx/>
              <a:uFillTx/>
              <a:latin typeface="Calibri" panose="020F0502020204030204"/>
              <a:ea typeface="+mj-ea"/>
              <a:cs typeface="+mj-cs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DF83EA7-F7BD-F113-DF5F-49C3E4B0777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00414" y="54668"/>
            <a:ext cx="1402659" cy="531463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1D0DBB76-4DB1-4B5E-3538-FA1DFFEA56E2}"/>
              </a:ext>
            </a:extLst>
          </p:cNvPr>
          <p:cNvSpPr txBox="1"/>
          <p:nvPr/>
        </p:nvSpPr>
        <p:spPr>
          <a:xfrm>
            <a:off x="-365506" y="816330"/>
            <a:ext cx="7341497" cy="6617196"/>
          </a:xfrm>
          <a:prstGeom prst="rect">
            <a:avLst/>
          </a:prstGeom>
          <a:noFill/>
        </p:spPr>
        <p:txBody>
          <a:bodyPr wrap="none" lIns="91440" tIns="45720" rIns="91440" bIns="45720" rtlCol="0" anchor="t">
            <a:spAutoFit/>
          </a:bodyPr>
          <a:lstStyle/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b="1" dirty="0"/>
              <a:t>General CFO Agent updates; 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US" dirty="0"/>
              <a:t>Data Layer redesign (8 weeks: M1 + M2)</a:t>
            </a:r>
            <a:endParaRPr lang="en-US" dirty="0">
              <a:ea typeface="Calibri"/>
              <a:cs typeface="Calibri"/>
            </a:endParaRPr>
          </a:p>
          <a:p>
            <a:pPr marL="1657350" lvl="3" indent="-285750">
              <a:buFont typeface="Arial" panose="020B0604020202020204" pitchFamily="34" charset="0"/>
              <a:buChar char="•"/>
            </a:pPr>
            <a:r>
              <a:rPr lang="en-US" sz="1600" dirty="0"/>
              <a:t>Storage + Retrieval updates</a:t>
            </a:r>
            <a:endParaRPr lang="en-US" sz="1600" dirty="0">
              <a:ea typeface="Calibri"/>
              <a:cs typeface="Calibri"/>
            </a:endParaRPr>
          </a:p>
          <a:p>
            <a:pPr marL="2114550" lvl="4" indent="-285750">
              <a:buFont typeface="Arial" panose="020B0604020202020204" pitchFamily="34" charset="0"/>
              <a:buChar char="•"/>
            </a:pPr>
            <a:r>
              <a:rPr lang="en-US" sz="1400" dirty="0"/>
              <a:t>Rebuild Data layer with facts and dims for data sources (CF/BS/</a:t>
            </a:r>
            <a:r>
              <a:rPr lang="en-US" sz="1400" dirty="0" err="1"/>
              <a:t>PnL</a:t>
            </a:r>
            <a:r>
              <a:rPr lang="en-US" sz="1400" dirty="0"/>
              <a:t>)</a:t>
            </a:r>
            <a:endParaRPr lang="en-US" sz="1400" dirty="0">
              <a:ea typeface="Calibri"/>
              <a:cs typeface="Calibri"/>
            </a:endParaRPr>
          </a:p>
          <a:p>
            <a:pPr marL="2114550" lvl="4" indent="-285750">
              <a:buFont typeface="Arial" panose="020B0604020202020204" pitchFamily="34" charset="0"/>
              <a:buChar char="•"/>
            </a:pPr>
            <a:r>
              <a:rPr lang="en-US" sz="1400" dirty="0"/>
              <a:t>OLAP workloads</a:t>
            </a:r>
            <a:endParaRPr lang="en-US" sz="1400" dirty="0">
              <a:ea typeface="Calibri"/>
              <a:cs typeface="Calibri"/>
            </a:endParaRPr>
          </a:p>
          <a:p>
            <a:pPr marL="1657350" lvl="3" indent="-285750">
              <a:buFont typeface="Arial" panose="020B0604020202020204" pitchFamily="34" charset="0"/>
              <a:buChar char="•"/>
            </a:pPr>
            <a:r>
              <a:rPr lang="en-US" sz="1600" dirty="0"/>
              <a:t>Semantic Layer redesign</a:t>
            </a:r>
            <a:endParaRPr lang="en-US" sz="1600" dirty="0">
              <a:ea typeface="Calibri"/>
              <a:cs typeface="Calibri"/>
            </a:endParaRPr>
          </a:p>
          <a:p>
            <a:pPr marL="2114550" lvl="4" indent="-285750">
              <a:buFont typeface="Arial" panose="020B0604020202020204" pitchFamily="34" charset="0"/>
              <a:buChar char="•"/>
            </a:pPr>
            <a:r>
              <a:rPr lang="en-US" sz="1400" dirty="0"/>
              <a:t>Dedicated KPI library with SQL templates that map to DK and IS</a:t>
            </a:r>
            <a:endParaRPr lang="en-US" sz="1400" dirty="0">
              <a:ea typeface="Calibri"/>
              <a:cs typeface="Calibri"/>
            </a:endParaRPr>
          </a:p>
          <a:p>
            <a:pPr marL="2114550" lvl="4" indent="-285750">
              <a:buFont typeface="Arial" panose="020B0604020202020204" pitchFamily="34" charset="0"/>
              <a:buChar char="•"/>
            </a:pPr>
            <a:r>
              <a:rPr lang="en-US" sz="1400" dirty="0"/>
              <a:t>Minimize LLM reliance on SQL query generation</a:t>
            </a:r>
            <a:endParaRPr lang="en-US" sz="1400" dirty="0">
              <a:ea typeface="Calibri"/>
              <a:cs typeface="Calibri"/>
            </a:endParaRPr>
          </a:p>
          <a:p>
            <a:pPr marL="1657350" lvl="3" indent="-285750">
              <a:buFont typeface="Arial" panose="020B0604020202020204" pitchFamily="34" charset="0"/>
              <a:buChar char="•"/>
            </a:pPr>
            <a:r>
              <a:rPr lang="en-US" sz="1600" dirty="0"/>
              <a:t>Data source standardization</a:t>
            </a:r>
            <a:endParaRPr lang="en-US" sz="1600" dirty="0">
              <a:ea typeface="Calibri"/>
              <a:cs typeface="Calibri"/>
            </a:endParaRPr>
          </a:p>
          <a:p>
            <a:pPr marL="2114550" lvl="4" indent="-285750">
              <a:buFont typeface="Arial" panose="020B0604020202020204" pitchFamily="34" charset="0"/>
              <a:buChar char="•"/>
            </a:pPr>
            <a:r>
              <a:rPr lang="en-US" sz="1400" dirty="0"/>
              <a:t>XLS template for all data sources (CF/BS/</a:t>
            </a:r>
            <a:r>
              <a:rPr lang="en-US" sz="1400" dirty="0" err="1"/>
              <a:t>PnL</a:t>
            </a:r>
            <a:r>
              <a:rPr lang="en-US" sz="1400" dirty="0"/>
              <a:t>)</a:t>
            </a:r>
            <a:endParaRPr lang="en-US" sz="1400" dirty="0">
              <a:ea typeface="Calibri"/>
              <a:cs typeface="Calibri"/>
            </a:endParaRPr>
          </a:p>
          <a:p>
            <a:pPr marL="2114550" lvl="4" indent="-285750">
              <a:buFont typeface="Arial" panose="020B0604020202020204" pitchFamily="34" charset="0"/>
              <a:buChar char="•"/>
            </a:pPr>
            <a:r>
              <a:rPr lang="en-US" sz="1400" dirty="0"/>
              <a:t>Ingestion pipeline for ETL into CF Agent </a:t>
            </a:r>
            <a:endParaRPr lang="en-US" sz="1400" dirty="0">
              <a:ea typeface="Calibri"/>
              <a:cs typeface="Calibri"/>
            </a:endParaRPr>
          </a:p>
          <a:p>
            <a:pPr marL="2114550" lvl="4" indent="-285750">
              <a:buFont typeface="Arial" panose="020B0604020202020204" pitchFamily="34" charset="0"/>
              <a:buChar char="•"/>
            </a:pPr>
            <a:r>
              <a:rPr lang="en-US" sz="1400" dirty="0"/>
              <a:t>Built on top of Phase 2 work</a:t>
            </a:r>
            <a:endParaRPr lang="en-US" sz="1400" dirty="0">
              <a:ea typeface="Calibri"/>
              <a:cs typeface="Calibri"/>
            </a:endParaRP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US" dirty="0"/>
              <a:t>AI Layer redesign (4 weeks: M2)</a:t>
            </a:r>
            <a:endParaRPr lang="en-US" dirty="0">
              <a:ea typeface="Calibri"/>
              <a:cs typeface="Calibri"/>
            </a:endParaRPr>
          </a:p>
          <a:p>
            <a:pPr marL="1657350" lvl="3" indent="-285750">
              <a:buFont typeface="Arial" panose="020B0604020202020204" pitchFamily="34" charset="0"/>
              <a:buChar char="•"/>
            </a:pPr>
            <a:r>
              <a:rPr lang="en-US" sz="1400" dirty="0"/>
              <a:t>Azure OpenAI API update</a:t>
            </a:r>
            <a:endParaRPr lang="en-US" sz="1400" dirty="0">
              <a:ea typeface="Calibri"/>
              <a:cs typeface="Calibri"/>
            </a:endParaRPr>
          </a:p>
          <a:p>
            <a:pPr marL="2114550" lvl="4" indent="-285750">
              <a:buFont typeface="Arial" panose="020B0604020202020204" pitchFamily="34" charset="0"/>
              <a:buChar char="•"/>
            </a:pPr>
            <a:r>
              <a:rPr lang="en-US" sz="1400" dirty="0">
                <a:ea typeface="Calibri"/>
                <a:cs typeface="Calibri"/>
              </a:rPr>
              <a:t>Chat completions to Responses API</a:t>
            </a:r>
            <a:endParaRPr lang="en-US" sz="1400" dirty="0"/>
          </a:p>
          <a:p>
            <a:pPr marL="2114550" lvl="4" indent="-285750">
              <a:buFont typeface="Arial" panose="020B0604020202020204" pitchFamily="34" charset="0"/>
              <a:buChar char="•"/>
            </a:pPr>
            <a:r>
              <a:rPr lang="en-US" sz="1400" dirty="0">
                <a:ea typeface="Calibri"/>
                <a:cs typeface="Calibri"/>
              </a:rPr>
              <a:t>Plan +  tool calls with one pass </a:t>
            </a:r>
            <a:endParaRPr lang="en-US" sz="1400" dirty="0"/>
          </a:p>
          <a:p>
            <a:pPr marL="2114550" lvl="4" indent="-285750">
              <a:buFont typeface="Arial" panose="020B0604020202020204" pitchFamily="34" charset="0"/>
              <a:buChar char="•"/>
            </a:pPr>
            <a:r>
              <a:rPr lang="en-US" sz="1400" dirty="0">
                <a:ea typeface="Calibri"/>
                <a:cs typeface="Calibri"/>
              </a:rPr>
              <a:t>Reasoning effort per step</a:t>
            </a:r>
            <a:endParaRPr lang="en-US" sz="1400" dirty="0"/>
          </a:p>
          <a:p>
            <a:pPr marL="1657350" lvl="3" indent="-285750">
              <a:buFont typeface="Arial" panose="020B0604020202020204" pitchFamily="34" charset="0"/>
              <a:buChar char="•"/>
            </a:pPr>
            <a:r>
              <a:rPr lang="en-US" sz="1400" dirty="0"/>
              <a:t>Generic Agent workflow updates</a:t>
            </a:r>
            <a:endParaRPr lang="en-US" sz="1400" dirty="0">
              <a:ea typeface="Calibri"/>
              <a:cs typeface="Calibri"/>
            </a:endParaRPr>
          </a:p>
          <a:p>
            <a:pPr marL="2114550" lvl="4" indent="-285750">
              <a:buFont typeface="Arial" panose="020B0604020202020204" pitchFamily="34" charset="0"/>
              <a:buChar char="•"/>
            </a:pPr>
            <a:r>
              <a:rPr lang="en-US" sz="1400" dirty="0">
                <a:ea typeface="Calibri"/>
                <a:cs typeface="Calibri"/>
              </a:rPr>
              <a:t>Redo 5 agents (Orchestrator, SQL, RIA, Graphs, </a:t>
            </a:r>
            <a:r>
              <a:rPr lang="en-US" sz="1400" dirty="0" err="1">
                <a:ea typeface="Calibri"/>
                <a:cs typeface="Calibri"/>
              </a:rPr>
              <a:t>Calculator,Response</a:t>
            </a:r>
            <a:r>
              <a:rPr lang="en-US" sz="1400" dirty="0">
                <a:ea typeface="Calibri"/>
                <a:cs typeface="Calibri"/>
              </a:rPr>
              <a:t>)</a:t>
            </a:r>
          </a:p>
          <a:p>
            <a:pPr marL="2114550" lvl="4" indent="-285750">
              <a:buFont typeface="Arial" panose="020B0604020202020204" pitchFamily="34" charset="0"/>
              <a:buChar char="•"/>
            </a:pPr>
            <a:r>
              <a:rPr lang="en-US" sz="1400" dirty="0">
                <a:ea typeface="Calibri"/>
                <a:cs typeface="Calibri"/>
              </a:rPr>
              <a:t>Token + Latency optimizations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dirty="0">
              <a:ea typeface="Calibri" panose="020F0502020204030204"/>
              <a:cs typeface="Calibri" panose="020F0502020204030204"/>
            </a:endParaRPr>
          </a:p>
          <a:p>
            <a:pPr marL="1200150" lvl="2" indent="-285750">
              <a:buFont typeface="Arial" panose="020B0604020202020204" pitchFamily="34" charset="0"/>
              <a:buChar char="•"/>
            </a:pPr>
            <a:endParaRPr lang="en-US" dirty="0">
              <a:ea typeface="Calibri" panose="020F0502020204030204"/>
              <a:cs typeface="Calibri" panose="020F0502020204030204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dirty="0">
              <a:ea typeface="Calibri" panose="020F0502020204030204"/>
              <a:cs typeface="Calibri" panose="020F0502020204030204"/>
            </a:endParaRPr>
          </a:p>
          <a:p>
            <a:pPr lvl="1"/>
            <a:endParaRPr lang="en-US" dirty="0">
              <a:ea typeface="Calibri" panose="020F0502020204030204"/>
              <a:cs typeface="Calibri" panose="020F0502020204030204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DB14312-6CFA-0E09-4AFA-B00C2A0E07F9}"/>
              </a:ext>
            </a:extLst>
          </p:cNvPr>
          <p:cNvSpPr txBox="1"/>
          <p:nvPr/>
        </p:nvSpPr>
        <p:spPr>
          <a:xfrm>
            <a:off x="6433525" y="1599298"/>
            <a:ext cx="5843907" cy="3693319"/>
          </a:xfrm>
          <a:prstGeom prst="rect">
            <a:avLst/>
          </a:prstGeom>
          <a:noFill/>
        </p:spPr>
        <p:txBody>
          <a:bodyPr wrap="none" lIns="91440" tIns="45720" rIns="91440" bIns="45720" rtlCol="0" anchor="t">
            <a:spAutoFit/>
          </a:bodyPr>
          <a:lstStyle/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b="1" dirty="0"/>
              <a:t>P1.2 Specific changes 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US" dirty="0"/>
              <a:t>Domain workbook: Q&amp;A set (4 weeks: M2)</a:t>
            </a:r>
            <a:endParaRPr lang="en-US" dirty="0">
              <a:ea typeface="Calibri"/>
              <a:cs typeface="Calibri"/>
            </a:endParaRPr>
          </a:p>
          <a:p>
            <a:pPr marL="1657350" lvl="3" indent="-285750">
              <a:buFont typeface="Arial" panose="020B0604020202020204" pitchFamily="34" charset="0"/>
              <a:buChar char="•"/>
            </a:pPr>
            <a:r>
              <a:rPr lang="en-US" dirty="0">
                <a:ea typeface="Calibri"/>
                <a:cs typeface="Calibri"/>
              </a:rPr>
              <a:t>Ground truth for 3 tiers of Q&amp;A</a:t>
            </a:r>
          </a:p>
          <a:p>
            <a:pPr marL="1657350" lvl="3" indent="-285750">
              <a:buFont typeface="Arial" panose="020B0604020202020204" pitchFamily="34" charset="0"/>
              <a:buChar char="•"/>
            </a:pPr>
            <a:r>
              <a:rPr lang="en-US" dirty="0">
                <a:ea typeface="Calibri"/>
                <a:cs typeface="Calibri"/>
              </a:rPr>
              <a:t>KPIs required by customer</a:t>
            </a:r>
            <a:endParaRPr lang="en-US" dirty="0"/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US" dirty="0"/>
              <a:t>MS Fabric migration (4 weeks: M3)</a:t>
            </a:r>
            <a:endParaRPr lang="en-US" dirty="0">
              <a:ea typeface="Calibri"/>
              <a:cs typeface="Calibri"/>
            </a:endParaRPr>
          </a:p>
          <a:p>
            <a:pPr marL="1657350" lvl="3" indent="-285750">
              <a:buFont typeface="Arial" panose="020B0604020202020204" pitchFamily="34" charset="0"/>
              <a:buChar char="•"/>
            </a:pPr>
            <a:r>
              <a:rPr lang="en-US" sz="1200" dirty="0"/>
              <a:t>SQL database for business data storage</a:t>
            </a:r>
            <a:endParaRPr lang="en-US" sz="1200" dirty="0">
              <a:ea typeface="Calibri"/>
              <a:cs typeface="Calibri"/>
            </a:endParaRPr>
          </a:p>
          <a:p>
            <a:pPr marL="1657350" lvl="3" indent="-285750">
              <a:buFont typeface="Arial" panose="020B0604020202020204" pitchFamily="34" charset="0"/>
              <a:buChar char="•"/>
            </a:pPr>
            <a:r>
              <a:rPr lang="en-US" sz="1200" dirty="0"/>
              <a:t>Cosmos database for user and application data storage</a:t>
            </a:r>
            <a:endParaRPr lang="en-US" sz="1200" dirty="0">
              <a:ea typeface="Calibri"/>
              <a:cs typeface="Calibri"/>
            </a:endParaRPr>
          </a:p>
          <a:p>
            <a:pPr marL="1657350" lvl="3" indent="-285750">
              <a:buFont typeface="Arial" panose="020B0604020202020204" pitchFamily="34" charset="0"/>
              <a:buChar char="•"/>
            </a:pPr>
            <a:r>
              <a:rPr lang="en-US" sz="1200" dirty="0" err="1"/>
              <a:t>OneLake</a:t>
            </a:r>
            <a:r>
              <a:rPr lang="en-US" sz="1200" dirty="0"/>
              <a:t> + Lakehouse for file upload</a:t>
            </a:r>
            <a:endParaRPr lang="en-US" dirty="0"/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US" dirty="0"/>
              <a:t>UAT Prep (4 weeks: M3+M4)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US" dirty="0"/>
              <a:t>Data Ingestion to Fabric (2 weeks: M4)</a:t>
            </a:r>
            <a:endParaRPr lang="en-US" dirty="0">
              <a:ea typeface="Calibri" panose="020F0502020204030204"/>
              <a:cs typeface="Calibri" panose="020F0502020204030204"/>
            </a:endParaRP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US" dirty="0"/>
              <a:t>Prompt tuning for P1.2 Q&amp;A (3 weeks: M4+M5)</a:t>
            </a:r>
            <a:endParaRPr lang="en-US" dirty="0">
              <a:ea typeface="Calibri" panose="020F0502020204030204"/>
              <a:cs typeface="Calibri" panose="020F0502020204030204"/>
            </a:endParaRP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US" dirty="0"/>
              <a:t>SIT (3 weeks: M5)</a:t>
            </a:r>
            <a:endParaRPr lang="en-US" dirty="0">
              <a:ea typeface="Calibri" panose="020F0502020204030204"/>
              <a:cs typeface="Calibri" panose="020F0502020204030204"/>
            </a:endParaRP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US" dirty="0"/>
              <a:t>UAT (2 weeks: M6)</a:t>
            </a:r>
            <a:endParaRPr lang="en-US" dirty="0">
              <a:ea typeface="Calibri" panose="020F0502020204030204"/>
              <a:cs typeface="Calibri" panose="020F0502020204030204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2272387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FDA1E452-D259-D043-B990-A88EA0E0B6AF}"/>
              </a:ext>
            </a:extLst>
          </p:cNvPr>
          <p:cNvSpPr/>
          <p:nvPr/>
        </p:nvSpPr>
        <p:spPr>
          <a:xfrm>
            <a:off x="0" y="0"/>
            <a:ext cx="12192000" cy="3810000"/>
          </a:xfrm>
          <a:prstGeom prst="rect">
            <a:avLst/>
          </a:prstGeom>
          <a:solidFill>
            <a:srgbClr val="0E2841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FAB1BA2-62C9-D54E-A5E9-605C56F648C2}"/>
              </a:ext>
            </a:extLst>
          </p:cNvPr>
          <p:cNvSpPr/>
          <p:nvPr/>
        </p:nvSpPr>
        <p:spPr>
          <a:xfrm>
            <a:off x="0" y="3810000"/>
            <a:ext cx="12192000" cy="3048000"/>
          </a:xfrm>
          <a:prstGeom prst="rect">
            <a:avLst/>
          </a:prstGeom>
          <a:solidFill>
            <a:srgbClr val="F2F7F3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057BA9D-CA25-D34E-A8ED-EDE12F08631B}"/>
              </a:ext>
            </a:extLst>
          </p:cNvPr>
          <p:cNvSpPr/>
          <p:nvPr/>
        </p:nvSpPr>
        <p:spPr>
          <a:xfrm>
            <a:off x="0" y="3759200"/>
            <a:ext cx="12192000" cy="50800"/>
          </a:xfrm>
          <a:prstGeom prst="rect">
            <a:avLst/>
          </a:prstGeom>
          <a:solidFill>
            <a:srgbClr val="4EA72E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6F028D2-6F63-004A-A489-195C80E96FDF}"/>
              </a:ext>
            </a:extLst>
          </p:cNvPr>
          <p:cNvSpPr txBox="1"/>
          <p:nvPr/>
        </p:nvSpPr>
        <p:spPr>
          <a:xfrm>
            <a:off x="635000" y="762000"/>
            <a:ext cx="7112000" cy="553998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3000" b="1">
                <a:solidFill>
                  <a:srgbClr val="FFFFFF"/>
                </a:solidFill>
                <a:latin typeface="Aptos Display"/>
              </a:rPr>
              <a:t>Legacy System X-Ray &amp; Navigator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46C0E9D-ABFF-5A4D-9614-7F9C1291686A}"/>
              </a:ext>
            </a:extLst>
          </p:cNvPr>
          <p:cNvSpPr txBox="1"/>
          <p:nvPr/>
        </p:nvSpPr>
        <p:spPr>
          <a:xfrm>
            <a:off x="635000" y="1651000"/>
            <a:ext cx="7112000" cy="369332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>
                <a:solidFill>
                  <a:srgbClr val="A8C4E0"/>
                </a:solidFill>
                <a:latin typeface="Aptos"/>
              </a:rPr>
              <a:t>AI-assisted understanding for mainframes and monoliths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2741B66-EDAB-AA4E-966F-42F852A71E08}"/>
              </a:ext>
            </a:extLst>
          </p:cNvPr>
          <p:cNvSpPr txBox="1"/>
          <p:nvPr/>
        </p:nvSpPr>
        <p:spPr>
          <a:xfrm>
            <a:off x="635000" y="2349500"/>
            <a:ext cx="7112000" cy="307777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00">
                <a:solidFill>
                  <a:srgbClr val="7EB8E0"/>
                </a:solidFill>
                <a:latin typeface="Aptos"/>
              </a:rPr>
              <a:t>From trapped SME knowledge → shared, governed system model → safer modernization</a:t>
            </a: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550F10C1-44AA-4849-AFDB-836CD591D906}"/>
              </a:ext>
            </a:extLst>
          </p:cNvPr>
          <p:cNvSpPr/>
          <p:nvPr/>
        </p:nvSpPr>
        <p:spPr>
          <a:xfrm>
            <a:off x="635000" y="3098800"/>
            <a:ext cx="1968500" cy="431800"/>
          </a:xfrm>
          <a:prstGeom prst="roundRect">
            <a:avLst/>
          </a:prstGeom>
          <a:solidFill>
            <a:srgbClr val="4EA72E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sz="1400" b="1">
                <a:solidFill>
                  <a:srgbClr val="FFFFFF"/>
                </a:solidFill>
                <a:latin typeface="Aptos"/>
              </a:rPr>
              <a:t>Traceable</a:t>
            </a: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16B708CB-D0C0-E445-8F7F-F1D1E3808566}"/>
              </a:ext>
            </a:extLst>
          </p:cNvPr>
          <p:cNvSpPr/>
          <p:nvPr/>
        </p:nvSpPr>
        <p:spPr>
          <a:xfrm>
            <a:off x="2794000" y="3098800"/>
            <a:ext cx="1968500" cy="431800"/>
          </a:xfrm>
          <a:prstGeom prst="roundRect">
            <a:avLst/>
          </a:prstGeom>
          <a:solidFill>
            <a:srgbClr val="156082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sz="1400" b="1">
                <a:solidFill>
                  <a:srgbClr val="FFFFFF"/>
                </a:solidFill>
                <a:latin typeface="Aptos"/>
              </a:rPr>
              <a:t>Client-Controlled</a:t>
            </a: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8DDCF4C4-D294-A246-9919-9B2AA3BD5274}"/>
              </a:ext>
            </a:extLst>
          </p:cNvPr>
          <p:cNvSpPr/>
          <p:nvPr/>
        </p:nvSpPr>
        <p:spPr>
          <a:xfrm>
            <a:off x="4953000" y="3098800"/>
            <a:ext cx="1968500" cy="431800"/>
          </a:xfrm>
          <a:prstGeom prst="roundRect">
            <a:avLst/>
          </a:prstGeom>
          <a:solidFill>
            <a:srgbClr val="0F9ED5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sz="1400" b="1">
                <a:solidFill>
                  <a:srgbClr val="FFFFFF"/>
                </a:solidFill>
                <a:latin typeface="Aptos"/>
              </a:rPr>
              <a:t>Org-Wide Model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68E2043-9EBA-8842-8F84-0E6FD0C8B068}"/>
              </a:ext>
            </a:extLst>
          </p:cNvPr>
          <p:cNvSpPr txBox="1"/>
          <p:nvPr/>
        </p:nvSpPr>
        <p:spPr>
          <a:xfrm>
            <a:off x="1270000" y="4191000"/>
            <a:ext cx="2921000" cy="338554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600" b="1">
                <a:solidFill>
                  <a:srgbClr val="0E2841"/>
                </a:solidFill>
                <a:latin typeface="Aptos Display"/>
              </a:rPr>
              <a:t>System X-Ray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87F9116-9076-A746-B780-B4151DD2524B}"/>
              </a:ext>
            </a:extLst>
          </p:cNvPr>
          <p:cNvSpPr txBox="1"/>
          <p:nvPr/>
        </p:nvSpPr>
        <p:spPr>
          <a:xfrm>
            <a:off x="1270000" y="4635500"/>
            <a:ext cx="2921000" cy="762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00">
                <a:solidFill>
                  <a:srgbClr val="333333"/>
                </a:solidFill>
                <a:latin typeface="Aptos"/>
              </a:rPr>
              <a:t>Parse legacy code into a navigable system map with traceable references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2226027-D8EA-3549-8FAB-62CF8158BD1D}"/>
              </a:ext>
            </a:extLst>
          </p:cNvPr>
          <p:cNvSpPr txBox="1"/>
          <p:nvPr/>
        </p:nvSpPr>
        <p:spPr>
          <a:xfrm>
            <a:off x="5080000" y="4191000"/>
            <a:ext cx="2921000" cy="338554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600" b="1">
                <a:solidFill>
                  <a:srgbClr val="0E2841"/>
                </a:solidFill>
                <a:latin typeface="Aptos Display"/>
              </a:rPr>
              <a:t>Code Navigator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536CA69-4C6D-0E4F-A1B5-B8DA3024AC0A}"/>
              </a:ext>
            </a:extLst>
          </p:cNvPr>
          <p:cNvSpPr txBox="1"/>
          <p:nvPr/>
        </p:nvSpPr>
        <p:spPr>
          <a:xfrm>
            <a:off x="5080000" y="4635500"/>
            <a:ext cx="2921000" cy="52322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00">
                <a:solidFill>
                  <a:srgbClr val="333333"/>
                </a:solidFill>
                <a:latin typeface="Aptos"/>
              </a:rPr>
              <a:t>Production-grade knowledge layer for daily engineering workflows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8F48B08-1A6C-C44B-8C60-B49CBD1A302D}"/>
              </a:ext>
            </a:extLst>
          </p:cNvPr>
          <p:cNvSpPr txBox="1"/>
          <p:nvPr/>
        </p:nvSpPr>
        <p:spPr>
          <a:xfrm>
            <a:off x="8890000" y="4191000"/>
            <a:ext cx="2921000" cy="338554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600" b="1">
                <a:solidFill>
                  <a:srgbClr val="0E2841"/>
                </a:solidFill>
                <a:latin typeface="Aptos Display"/>
              </a:rPr>
              <a:t>Modernization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76CD20F-871B-1540-9227-88BF7E08D316}"/>
              </a:ext>
            </a:extLst>
          </p:cNvPr>
          <p:cNvSpPr txBox="1"/>
          <p:nvPr/>
        </p:nvSpPr>
        <p:spPr>
          <a:xfrm>
            <a:off x="8890000" y="4635500"/>
            <a:ext cx="2921000" cy="52322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00">
                <a:solidFill>
                  <a:srgbClr val="333333"/>
                </a:solidFill>
                <a:latin typeface="Aptos"/>
              </a:rPr>
              <a:t>De-risk and accelerate migration using the knowledge layer</a:t>
            </a:r>
          </a:p>
        </p:txBody>
      </p:sp>
      <p:pic>
        <p:nvPicPr>
          <p:cNvPr id="17" name="Graphic 17" descr="Network graph representing system understanding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890000" y="1016000"/>
            <a:ext cx="2540000" cy="2540000"/>
          </a:xfrm>
          <a:prstGeom prst="rect">
            <a:avLst/>
          </a:prstGeom>
        </p:spPr>
      </p:pic>
      <p:pic>
        <p:nvPicPr>
          <p:cNvPr id="18" name="Graphic 18" descr="Search/scan icon for X-Ray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60400" y="4191000"/>
            <a:ext cx="508000" cy="508000"/>
          </a:xfrm>
          <a:prstGeom prst="rect">
            <a:avLst/>
          </a:prstGeom>
        </p:spPr>
      </p:pic>
      <p:pic>
        <p:nvPicPr>
          <p:cNvPr id="19" name="Graphic 19" descr="Compass icon for Navigator"/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470400" y="4191000"/>
            <a:ext cx="508000" cy="508000"/>
          </a:xfrm>
          <a:prstGeom prst="rect">
            <a:avLst/>
          </a:prstGeom>
        </p:spPr>
      </p:pic>
      <p:pic>
        <p:nvPicPr>
          <p:cNvPr id="20" name="Graphic 20" descr="Rocket icon for Modernization"/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8280400" y="4191000"/>
            <a:ext cx="508000" cy="50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7086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ABAE0A58-EAC6-4C4B-BED0-294521FB234E}"/>
              </a:ext>
            </a:extLst>
          </p:cNvPr>
          <p:cNvSpPr/>
          <p:nvPr/>
        </p:nvSpPr>
        <p:spPr>
          <a:xfrm>
            <a:off x="0" y="0"/>
            <a:ext cx="12192000" cy="889000"/>
          </a:xfrm>
          <a:prstGeom prst="rect">
            <a:avLst/>
          </a:prstGeom>
          <a:solidFill>
            <a:srgbClr val="0E2841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27085AC-D27F-B64E-A9D0-86422B4442F1}"/>
              </a:ext>
            </a:extLst>
          </p:cNvPr>
          <p:cNvSpPr txBox="1"/>
          <p:nvPr/>
        </p:nvSpPr>
        <p:spPr>
          <a:xfrm>
            <a:off x="508000" y="190500"/>
            <a:ext cx="6350000" cy="52322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2800" b="1">
                <a:solidFill>
                  <a:srgbClr val="FFFFFF"/>
                </a:solidFill>
                <a:latin typeface="Aptos Display"/>
              </a:rPr>
              <a:t>The Business Problem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2245E85-2710-CF40-B638-29FE0894AE8B}"/>
              </a:ext>
            </a:extLst>
          </p:cNvPr>
          <p:cNvSpPr/>
          <p:nvPr/>
        </p:nvSpPr>
        <p:spPr>
          <a:xfrm>
            <a:off x="0" y="889000"/>
            <a:ext cx="12192000" cy="38100"/>
          </a:xfrm>
          <a:prstGeom prst="rect">
            <a:avLst/>
          </a:prstGeom>
          <a:solidFill>
            <a:srgbClr val="4EA72E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9E69E81E-7662-9C46-89EE-604650CEF705}"/>
              </a:ext>
            </a:extLst>
          </p:cNvPr>
          <p:cNvSpPr/>
          <p:nvPr/>
        </p:nvSpPr>
        <p:spPr>
          <a:xfrm>
            <a:off x="635000" y="1397000"/>
            <a:ext cx="3429000" cy="3556000"/>
          </a:xfrm>
          <a:prstGeom prst="roundRect">
            <a:avLst/>
          </a:prstGeom>
          <a:solidFill>
            <a:srgbClr val="F5F7FA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428054C-CDA4-0D4E-9BFD-03A49C58AE4E}"/>
              </a:ext>
            </a:extLst>
          </p:cNvPr>
          <p:cNvSpPr/>
          <p:nvPr/>
        </p:nvSpPr>
        <p:spPr>
          <a:xfrm>
            <a:off x="635000" y="1397000"/>
            <a:ext cx="3429000" cy="63500"/>
          </a:xfrm>
          <a:prstGeom prst="rect">
            <a:avLst/>
          </a:prstGeom>
          <a:solidFill>
            <a:srgbClr val="E97132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CFA4A7D-565E-1147-8D69-FB285E747052}"/>
              </a:ext>
            </a:extLst>
          </p:cNvPr>
          <p:cNvSpPr txBox="1"/>
          <p:nvPr/>
        </p:nvSpPr>
        <p:spPr>
          <a:xfrm>
            <a:off x="825500" y="2286000"/>
            <a:ext cx="3048000" cy="369332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b="1">
                <a:solidFill>
                  <a:srgbClr val="0E2841"/>
                </a:solidFill>
                <a:latin typeface="Aptos Display"/>
              </a:rPr>
              <a:t>Trapped Knowledge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F9C9649-42B9-9443-9669-DCABE5B7237E}"/>
              </a:ext>
            </a:extLst>
          </p:cNvPr>
          <p:cNvSpPr txBox="1"/>
          <p:nvPr/>
        </p:nvSpPr>
        <p:spPr>
          <a:xfrm>
            <a:off x="825500" y="2857500"/>
            <a:ext cx="3048000" cy="954107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00">
                <a:solidFill>
                  <a:srgbClr val="333333"/>
                </a:solidFill>
                <a:latin typeface="Aptos"/>
              </a:rPr>
              <a:t>Critical COBOL / FORTRAN / PL/SQL / Java monoliths run core business, but knowledge is trapped in a few SMEs</a:t>
            </a: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0637C273-0724-9340-8EC2-10371C607A30}"/>
              </a:ext>
            </a:extLst>
          </p:cNvPr>
          <p:cNvSpPr/>
          <p:nvPr/>
        </p:nvSpPr>
        <p:spPr>
          <a:xfrm>
            <a:off x="4381500" y="1397000"/>
            <a:ext cx="3429000" cy="3556000"/>
          </a:xfrm>
          <a:prstGeom prst="roundRect">
            <a:avLst/>
          </a:prstGeom>
          <a:solidFill>
            <a:srgbClr val="F5F7FA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E2914B0-8F39-BE48-823C-E77323D57C20}"/>
              </a:ext>
            </a:extLst>
          </p:cNvPr>
          <p:cNvSpPr/>
          <p:nvPr/>
        </p:nvSpPr>
        <p:spPr>
          <a:xfrm>
            <a:off x="4381500" y="1397000"/>
            <a:ext cx="3429000" cy="63500"/>
          </a:xfrm>
          <a:prstGeom prst="rect">
            <a:avLst/>
          </a:prstGeom>
          <a:solidFill>
            <a:srgbClr val="156082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88321B4-27A4-FE48-859F-15EEB172E740}"/>
              </a:ext>
            </a:extLst>
          </p:cNvPr>
          <p:cNvSpPr txBox="1"/>
          <p:nvPr/>
        </p:nvSpPr>
        <p:spPr>
          <a:xfrm>
            <a:off x="4572000" y="2286000"/>
            <a:ext cx="3048000" cy="369332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b="1">
                <a:solidFill>
                  <a:srgbClr val="0E2841"/>
                </a:solidFill>
                <a:latin typeface="Aptos Display"/>
              </a:rPr>
              <a:t>Slow Onboarding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81A571F-6EA1-4942-B4C4-74ACE18E4A3B}"/>
              </a:ext>
            </a:extLst>
          </p:cNvPr>
          <p:cNvSpPr txBox="1"/>
          <p:nvPr/>
        </p:nvSpPr>
        <p:spPr>
          <a:xfrm>
            <a:off x="4572000" y="2857500"/>
            <a:ext cx="3048000" cy="738664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00">
                <a:solidFill>
                  <a:srgbClr val="333333"/>
                </a:solidFill>
                <a:latin typeface="Aptos"/>
              </a:rPr>
              <a:t>Onboarding new engineers and doing impact analysis takes weeks, slows releases, increases risk</a:t>
            </a:r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47092BDD-1227-EA4F-A86D-1343DF60D8A2}"/>
              </a:ext>
            </a:extLst>
          </p:cNvPr>
          <p:cNvSpPr/>
          <p:nvPr/>
        </p:nvSpPr>
        <p:spPr>
          <a:xfrm>
            <a:off x="8128000" y="1397000"/>
            <a:ext cx="3429000" cy="3556000"/>
          </a:xfrm>
          <a:prstGeom prst="roundRect">
            <a:avLst/>
          </a:prstGeom>
          <a:solidFill>
            <a:srgbClr val="F5F7FA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E839E5F7-8D6D-D348-B07E-E114A36D9FEA}"/>
              </a:ext>
            </a:extLst>
          </p:cNvPr>
          <p:cNvSpPr/>
          <p:nvPr/>
        </p:nvSpPr>
        <p:spPr>
          <a:xfrm>
            <a:off x="8128000" y="1397000"/>
            <a:ext cx="3429000" cy="63500"/>
          </a:xfrm>
          <a:prstGeom prst="rect">
            <a:avLst/>
          </a:prstGeom>
          <a:solidFill>
            <a:srgbClr val="4EA72E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C710B0A-5045-574C-96B1-2C2D236B2172}"/>
              </a:ext>
            </a:extLst>
          </p:cNvPr>
          <p:cNvSpPr txBox="1"/>
          <p:nvPr/>
        </p:nvSpPr>
        <p:spPr>
          <a:xfrm>
            <a:off x="8318500" y="2286000"/>
            <a:ext cx="3048000" cy="369332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b="1">
                <a:solidFill>
                  <a:srgbClr val="0E2841"/>
                </a:solidFill>
                <a:latin typeface="Aptos Display"/>
              </a:rPr>
              <a:t>Individual, Not Org-Wide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0F04618-29E5-104C-BAC7-4CC34620CC32}"/>
              </a:ext>
            </a:extLst>
          </p:cNvPr>
          <p:cNvSpPr txBox="1"/>
          <p:nvPr/>
        </p:nvSpPr>
        <p:spPr>
          <a:xfrm>
            <a:off x="8318500" y="2857500"/>
            <a:ext cx="3048000" cy="738664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00">
                <a:solidFill>
                  <a:srgbClr val="333333"/>
                </a:solidFill>
                <a:latin typeface="Aptos"/>
              </a:rPr>
              <a:t>"Just give 5 devs a copilot" helps individuals, but does not create org-wide understanding of the estate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EFE296A-1566-9847-9F0F-4756A43C836C}"/>
              </a:ext>
            </a:extLst>
          </p:cNvPr>
          <p:cNvSpPr txBox="1"/>
          <p:nvPr/>
        </p:nvSpPr>
        <p:spPr>
          <a:xfrm>
            <a:off x="508000" y="5588000"/>
            <a:ext cx="11176000" cy="461665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2400" b="1">
                <a:solidFill>
                  <a:srgbClr val="0E2841"/>
                </a:solidFill>
                <a:latin typeface="Aptos Display"/>
              </a:rPr>
              <a:t>Understanding is the constraint.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8BBD2282-BB90-B840-B07A-3586179982B7}"/>
              </a:ext>
            </a:extLst>
          </p:cNvPr>
          <p:cNvSpPr/>
          <p:nvPr/>
        </p:nvSpPr>
        <p:spPr>
          <a:xfrm>
            <a:off x="4445000" y="6223000"/>
            <a:ext cx="3302000" cy="38100"/>
          </a:xfrm>
          <a:prstGeom prst="rect">
            <a:avLst/>
          </a:prstGeom>
          <a:solidFill>
            <a:srgbClr val="4EA72E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pic>
        <p:nvPicPr>
          <p:cNvPr id="19" name="Graphic 19" descr="Key icon for trapped knowledge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184400" y="1587500"/>
            <a:ext cx="558800" cy="558800"/>
          </a:xfrm>
          <a:prstGeom prst="rect">
            <a:avLst/>
          </a:prstGeom>
        </p:spPr>
      </p:pic>
      <p:pic>
        <p:nvPicPr>
          <p:cNvPr id="20" name="Graphic 20" descr="People icon for onboardi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930900" y="1587500"/>
            <a:ext cx="558800" cy="558800"/>
          </a:xfrm>
          <a:prstGeom prst="rect">
            <a:avLst/>
          </a:prstGeom>
        </p:spPr>
      </p:pic>
      <p:pic>
        <p:nvPicPr>
          <p:cNvPr id="21" name="Graphic 21" descr="Warning icon for risk"/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9677400" y="1587500"/>
            <a:ext cx="558800" cy="558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213770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AFF37355-DBDB-C44F-8456-C9FAA7E53C8A}"/>
              </a:ext>
            </a:extLst>
          </p:cNvPr>
          <p:cNvSpPr/>
          <p:nvPr/>
        </p:nvSpPr>
        <p:spPr>
          <a:xfrm>
            <a:off x="0" y="0"/>
            <a:ext cx="12192000" cy="889000"/>
          </a:xfrm>
          <a:prstGeom prst="rect">
            <a:avLst/>
          </a:prstGeom>
          <a:solidFill>
            <a:srgbClr val="0E2841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668098B-A633-2C49-983E-7A2F1EF0EF81}"/>
              </a:ext>
            </a:extLst>
          </p:cNvPr>
          <p:cNvSpPr txBox="1"/>
          <p:nvPr/>
        </p:nvSpPr>
        <p:spPr>
          <a:xfrm>
            <a:off x="508000" y="190500"/>
            <a:ext cx="8890000" cy="52322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2800" b="1">
                <a:solidFill>
                  <a:srgbClr val="FFFFFF"/>
                </a:solidFill>
                <a:latin typeface="Aptos Display"/>
              </a:rPr>
              <a:t>Why "Just Give the Team Copilot" Fails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2631DF0-8BAA-524D-A996-7A929CC60895}"/>
              </a:ext>
            </a:extLst>
          </p:cNvPr>
          <p:cNvSpPr/>
          <p:nvPr/>
        </p:nvSpPr>
        <p:spPr>
          <a:xfrm>
            <a:off x="0" y="889000"/>
            <a:ext cx="12192000" cy="38100"/>
          </a:xfrm>
          <a:prstGeom prst="rect">
            <a:avLst/>
          </a:prstGeom>
          <a:solidFill>
            <a:srgbClr val="4EA72E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0C4EBFF8-2622-2847-9E86-79555858DDD0}"/>
              </a:ext>
            </a:extLst>
          </p:cNvPr>
          <p:cNvSpPr/>
          <p:nvPr/>
        </p:nvSpPr>
        <p:spPr>
          <a:xfrm>
            <a:off x="508000" y="1270000"/>
            <a:ext cx="5334000" cy="4826000"/>
          </a:xfrm>
          <a:prstGeom prst="roundRect">
            <a:avLst/>
          </a:prstGeom>
          <a:solidFill>
            <a:srgbClr val="FFF3ED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641BDC1-B54D-8145-A4F1-F76F0F061663}"/>
              </a:ext>
            </a:extLst>
          </p:cNvPr>
          <p:cNvSpPr/>
          <p:nvPr/>
        </p:nvSpPr>
        <p:spPr>
          <a:xfrm>
            <a:off x="508000" y="1270000"/>
            <a:ext cx="5334000" cy="63500"/>
          </a:xfrm>
          <a:prstGeom prst="rect">
            <a:avLst/>
          </a:prstGeom>
          <a:solidFill>
            <a:srgbClr val="E97132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382BF7F-3B08-784A-B440-DFCFDF0C5AA5}"/>
              </a:ext>
            </a:extLst>
          </p:cNvPr>
          <p:cNvSpPr txBox="1"/>
          <p:nvPr/>
        </p:nvSpPr>
        <p:spPr>
          <a:xfrm>
            <a:off x="825500" y="1524000"/>
            <a:ext cx="4699000" cy="40011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2000" b="1">
                <a:solidFill>
                  <a:srgbClr val="E97132"/>
                </a:solidFill>
                <a:latin typeface="Aptos Display"/>
              </a:rPr>
              <a:t>Individual Augmentation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014906F-D3B3-1A43-A42D-B7FC45D68814}"/>
              </a:ext>
            </a:extLst>
          </p:cNvPr>
          <p:cNvSpPr txBox="1"/>
          <p:nvPr/>
        </p:nvSpPr>
        <p:spPr>
          <a:xfrm>
            <a:off x="825500" y="2032000"/>
            <a:ext cx="4699000" cy="338554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600">
                <a:solidFill>
                  <a:srgbClr val="666666"/>
                </a:solidFill>
                <a:latin typeface="Aptos"/>
              </a:rPr>
              <a:t>IDE + Copilot Suggestions</a:t>
            </a: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76989F30-6459-FA45-9FBD-0FB5D0568BA4}"/>
              </a:ext>
            </a:extLst>
          </p:cNvPr>
          <p:cNvSpPr/>
          <p:nvPr/>
        </p:nvSpPr>
        <p:spPr>
          <a:xfrm>
            <a:off x="6350000" y="1270000"/>
            <a:ext cx="5334000" cy="4826000"/>
          </a:xfrm>
          <a:prstGeom prst="roundRect">
            <a:avLst/>
          </a:prstGeom>
          <a:solidFill>
            <a:srgbClr val="EDF5F0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6649471-8B79-8840-91CA-C876342233B8}"/>
              </a:ext>
            </a:extLst>
          </p:cNvPr>
          <p:cNvSpPr/>
          <p:nvPr/>
        </p:nvSpPr>
        <p:spPr>
          <a:xfrm>
            <a:off x="6350000" y="1270000"/>
            <a:ext cx="5334000" cy="63500"/>
          </a:xfrm>
          <a:prstGeom prst="rect">
            <a:avLst/>
          </a:prstGeom>
          <a:solidFill>
            <a:srgbClr val="4EA72E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246E96E-372B-0745-BACA-16C2C422C317}"/>
              </a:ext>
            </a:extLst>
          </p:cNvPr>
          <p:cNvSpPr txBox="1"/>
          <p:nvPr/>
        </p:nvSpPr>
        <p:spPr>
          <a:xfrm>
            <a:off x="6667500" y="1524000"/>
            <a:ext cx="4699000" cy="40011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2000" b="1">
                <a:solidFill>
                  <a:srgbClr val="196B24"/>
                </a:solidFill>
                <a:latin typeface="Aptos Display"/>
              </a:rPr>
              <a:t>Estate Understanding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D2B10A1-61AA-AE4F-8917-C5F8BE8E83BB}"/>
              </a:ext>
            </a:extLst>
          </p:cNvPr>
          <p:cNvSpPr txBox="1"/>
          <p:nvPr/>
        </p:nvSpPr>
        <p:spPr>
          <a:xfrm>
            <a:off x="6667500" y="2032000"/>
            <a:ext cx="4699000" cy="338554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600">
                <a:solidFill>
                  <a:srgbClr val="666666"/>
                </a:solidFill>
                <a:latin typeface="Aptos"/>
              </a:rPr>
              <a:t>Persistent System Map</a:t>
            </a: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8454929D-8954-C14A-BF57-2C2B7B16BCE6}"/>
              </a:ext>
            </a:extLst>
          </p:cNvPr>
          <p:cNvSpPr/>
          <p:nvPr/>
        </p:nvSpPr>
        <p:spPr>
          <a:xfrm>
            <a:off x="5715000" y="3302000"/>
            <a:ext cx="762000" cy="762000"/>
          </a:xfrm>
          <a:prstGeom prst="ellipse">
            <a:avLst/>
          </a:prstGeom>
          <a:solidFill>
            <a:srgbClr val="0E2841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b="1">
                <a:solidFill>
                  <a:srgbClr val="FFFFFF"/>
                </a:solidFill>
                <a:latin typeface="Aptos"/>
              </a:rPr>
              <a:t>vs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263C40E-4C67-AF46-9611-30BE80EF565B}"/>
              </a:ext>
            </a:extLst>
          </p:cNvPr>
          <p:cNvSpPr txBox="1"/>
          <p:nvPr/>
        </p:nvSpPr>
        <p:spPr>
          <a:xfrm>
            <a:off x="825500" y="2476500"/>
            <a:ext cx="4699000" cy="2462213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00">
                <a:solidFill>
                  <a:srgbClr val="444444"/>
                </a:solidFill>
                <a:latin typeface="Aptos"/>
              </a:rPr>
              <a:t>• Summaries live in chat history
  and local context only
• Ephemeral — knowledge is lost
  when sessions end
• No persistent model: call graphs,
  data flows, entity maps
• Impact analysis remains
  SME-dependent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D92A509-18B7-FE42-B4DE-1A247DEDE293}"/>
              </a:ext>
            </a:extLst>
          </p:cNvPr>
          <p:cNvSpPr txBox="1"/>
          <p:nvPr/>
        </p:nvSpPr>
        <p:spPr>
          <a:xfrm>
            <a:off x="6667500" y="2476500"/>
            <a:ext cx="4699000" cy="2462213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00">
                <a:solidFill>
                  <a:srgbClr val="444444"/>
                </a:solidFill>
                <a:latin typeface="Aptos"/>
              </a:rPr>
              <a:t>• Persistent system model shared
  across the entire organization
• Call graphs, data flows, entity
  maps always up-to-date
• Governed knowledge base for
  onboarding and impact analysis
• Shared governance eliminates
  single-point SME dependency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A014466-5DC0-1A45-BBBB-BC4732FD35DC}"/>
              </a:ext>
            </a:extLst>
          </p:cNvPr>
          <p:cNvSpPr txBox="1"/>
          <p:nvPr/>
        </p:nvSpPr>
        <p:spPr>
          <a:xfrm>
            <a:off x="2032000" y="5588000"/>
            <a:ext cx="2540000" cy="338554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600" b="1">
                <a:solidFill>
                  <a:srgbClr val="E97132"/>
                </a:solidFill>
                <a:latin typeface="Aptos"/>
              </a:rPr>
              <a:t>≈ Sticky Notes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88159C6-3A06-D54C-A41F-08950CB73554}"/>
              </a:ext>
            </a:extLst>
          </p:cNvPr>
          <p:cNvSpPr txBox="1"/>
          <p:nvPr/>
        </p:nvSpPr>
        <p:spPr>
          <a:xfrm>
            <a:off x="7747000" y="5588000"/>
            <a:ext cx="2794000" cy="338554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600" b="1">
                <a:solidFill>
                  <a:srgbClr val="196B24"/>
                </a:solidFill>
                <a:latin typeface="Aptos"/>
              </a:rPr>
              <a:t>≈ Engineering Atlas</a:t>
            </a:r>
          </a:p>
        </p:txBody>
      </p:sp>
    </p:spTree>
    <p:extLst>
      <p:ext uri="{BB962C8B-B14F-4D97-AF65-F5344CB8AC3E}">
        <p14:creationId xmlns:p14="http://schemas.microsoft.com/office/powerpoint/2010/main" val="199093058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56880464-1D1B-B54A-8E3A-78B15A420E83}"/>
              </a:ext>
            </a:extLst>
          </p:cNvPr>
          <p:cNvSpPr/>
          <p:nvPr/>
        </p:nvSpPr>
        <p:spPr>
          <a:xfrm>
            <a:off x="0" y="0"/>
            <a:ext cx="12192000" cy="889000"/>
          </a:xfrm>
          <a:prstGeom prst="rect">
            <a:avLst/>
          </a:prstGeom>
          <a:solidFill>
            <a:srgbClr val="0E2841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E8CB054-4379-F84C-A26F-C284618C747B}"/>
              </a:ext>
            </a:extLst>
          </p:cNvPr>
          <p:cNvSpPr txBox="1"/>
          <p:nvPr/>
        </p:nvSpPr>
        <p:spPr>
          <a:xfrm>
            <a:off x="508000" y="190500"/>
            <a:ext cx="6350000" cy="52322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2800" b="1">
                <a:solidFill>
                  <a:srgbClr val="FFFFFF"/>
                </a:solidFill>
                <a:latin typeface="Aptos Display"/>
              </a:rPr>
              <a:t>Our 3-Tier Offering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8567788-8D6E-8844-9CE1-64771404A332}"/>
              </a:ext>
            </a:extLst>
          </p:cNvPr>
          <p:cNvSpPr/>
          <p:nvPr/>
        </p:nvSpPr>
        <p:spPr>
          <a:xfrm>
            <a:off x="0" y="889000"/>
            <a:ext cx="12192000" cy="38100"/>
          </a:xfrm>
          <a:prstGeom prst="rect">
            <a:avLst/>
          </a:prstGeom>
          <a:solidFill>
            <a:srgbClr val="4EA72E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32D233D1-D5E6-FB4E-AA8A-92863BB31D00}"/>
              </a:ext>
            </a:extLst>
          </p:cNvPr>
          <p:cNvSpPr/>
          <p:nvPr/>
        </p:nvSpPr>
        <p:spPr>
          <a:xfrm>
            <a:off x="635000" y="1397000"/>
            <a:ext cx="3429000" cy="3810000"/>
          </a:xfrm>
          <a:prstGeom prst="roundRect">
            <a:avLst/>
          </a:prstGeom>
          <a:solidFill>
            <a:srgbClr val="FFF3ED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68F421E-B6A0-1B40-A6CE-8BDC49EAAE99}"/>
              </a:ext>
            </a:extLst>
          </p:cNvPr>
          <p:cNvSpPr/>
          <p:nvPr/>
        </p:nvSpPr>
        <p:spPr>
          <a:xfrm>
            <a:off x="635000" y="1397000"/>
            <a:ext cx="3429000" cy="63500"/>
          </a:xfrm>
          <a:prstGeom prst="rect">
            <a:avLst/>
          </a:prstGeom>
          <a:solidFill>
            <a:srgbClr val="E97132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052F5BCB-894B-054C-8302-6214C011D116}"/>
              </a:ext>
            </a:extLst>
          </p:cNvPr>
          <p:cNvSpPr/>
          <p:nvPr/>
        </p:nvSpPr>
        <p:spPr>
          <a:xfrm>
            <a:off x="2032000" y="1651000"/>
            <a:ext cx="635000" cy="635000"/>
          </a:xfrm>
          <a:prstGeom prst="ellipse">
            <a:avLst/>
          </a:prstGeom>
          <a:solidFill>
            <a:srgbClr val="E97132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sz="2400" b="1">
                <a:solidFill>
                  <a:srgbClr val="FFFFFF"/>
                </a:solidFill>
                <a:latin typeface="Aptos Display"/>
              </a:rPr>
              <a:t>1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D401AC0-7AFE-F642-A937-B0242EE97BDD}"/>
              </a:ext>
            </a:extLst>
          </p:cNvPr>
          <p:cNvSpPr txBox="1"/>
          <p:nvPr/>
        </p:nvSpPr>
        <p:spPr>
          <a:xfrm>
            <a:off x="825500" y="2413000"/>
            <a:ext cx="3048000" cy="369332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b="1">
                <a:solidFill>
                  <a:srgbClr val="0E2841"/>
                </a:solidFill>
                <a:latin typeface="Aptos Display"/>
              </a:rPr>
              <a:t>Legacy System X-Ray</a:t>
            </a: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12776012-8E43-0F4F-91A2-F9BF5F26928C}"/>
              </a:ext>
            </a:extLst>
          </p:cNvPr>
          <p:cNvSpPr/>
          <p:nvPr/>
        </p:nvSpPr>
        <p:spPr>
          <a:xfrm>
            <a:off x="1587500" y="3048000"/>
            <a:ext cx="1524000" cy="355600"/>
          </a:xfrm>
          <a:prstGeom prst="roundRect">
            <a:avLst/>
          </a:prstGeom>
          <a:solidFill>
            <a:srgbClr val="E97132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sz="1400" b="1">
                <a:solidFill>
                  <a:srgbClr val="FFFFFF"/>
                </a:solidFill>
                <a:latin typeface="Aptos"/>
              </a:rPr>
              <a:t>2–4 weeks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4163213-2D39-9448-8EE6-2A6F5174E079}"/>
              </a:ext>
            </a:extLst>
          </p:cNvPr>
          <p:cNvSpPr txBox="1"/>
          <p:nvPr/>
        </p:nvSpPr>
        <p:spPr>
          <a:xfrm>
            <a:off x="825500" y="3619500"/>
            <a:ext cx="3048000" cy="52322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00">
                <a:solidFill>
                  <a:srgbClr val="444444"/>
                </a:solidFill>
                <a:latin typeface="Aptos"/>
              </a:rPr>
              <a:t>Rapid assessment + system map + traceable Q&amp;A demo</a:t>
            </a: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BD7DC86B-068C-4349-BD3A-CC6732165A9B}"/>
              </a:ext>
            </a:extLst>
          </p:cNvPr>
          <p:cNvSpPr/>
          <p:nvPr/>
        </p:nvSpPr>
        <p:spPr>
          <a:xfrm>
            <a:off x="4381500" y="1397000"/>
            <a:ext cx="3429000" cy="3810000"/>
          </a:xfrm>
          <a:prstGeom prst="roundRect">
            <a:avLst/>
          </a:prstGeom>
          <a:solidFill>
            <a:srgbClr val="EDF3F7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7DA1127-96DB-8B43-87B3-8D8521636F05}"/>
              </a:ext>
            </a:extLst>
          </p:cNvPr>
          <p:cNvSpPr/>
          <p:nvPr/>
        </p:nvSpPr>
        <p:spPr>
          <a:xfrm>
            <a:off x="4381500" y="1397000"/>
            <a:ext cx="3429000" cy="63500"/>
          </a:xfrm>
          <a:prstGeom prst="rect">
            <a:avLst/>
          </a:prstGeom>
          <a:solidFill>
            <a:srgbClr val="156082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CC484531-290E-1245-9203-3044814FDC8A}"/>
              </a:ext>
            </a:extLst>
          </p:cNvPr>
          <p:cNvSpPr/>
          <p:nvPr/>
        </p:nvSpPr>
        <p:spPr>
          <a:xfrm>
            <a:off x="5778500" y="1651000"/>
            <a:ext cx="635000" cy="635000"/>
          </a:xfrm>
          <a:prstGeom prst="ellipse">
            <a:avLst/>
          </a:prstGeom>
          <a:solidFill>
            <a:srgbClr val="156082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sz="2400" b="1">
                <a:solidFill>
                  <a:srgbClr val="FFFFFF"/>
                </a:solidFill>
                <a:latin typeface="Aptos Display"/>
              </a:rPr>
              <a:t>2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783BBD6-ED3F-0D4A-8C60-71BA19A5FFE4}"/>
              </a:ext>
            </a:extLst>
          </p:cNvPr>
          <p:cNvSpPr txBox="1"/>
          <p:nvPr/>
        </p:nvSpPr>
        <p:spPr>
          <a:xfrm>
            <a:off x="4572000" y="2413000"/>
            <a:ext cx="3048000" cy="369332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b="1">
                <a:solidFill>
                  <a:srgbClr val="0E2841"/>
                </a:solidFill>
                <a:latin typeface="Aptos Display"/>
              </a:rPr>
              <a:t>Legacy Code Navigator</a:t>
            </a:r>
          </a:p>
        </p:txBody>
      </p: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8E672CC5-24B1-C248-B12E-77F0F4A9FE20}"/>
              </a:ext>
            </a:extLst>
          </p:cNvPr>
          <p:cNvSpPr/>
          <p:nvPr/>
        </p:nvSpPr>
        <p:spPr>
          <a:xfrm>
            <a:off x="5334000" y="3048000"/>
            <a:ext cx="1524000" cy="355600"/>
          </a:xfrm>
          <a:prstGeom prst="roundRect">
            <a:avLst/>
          </a:prstGeom>
          <a:solidFill>
            <a:srgbClr val="156082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sz="1400" b="1">
                <a:solidFill>
                  <a:srgbClr val="FFFFFF"/>
                </a:solidFill>
                <a:latin typeface="Aptos"/>
              </a:rPr>
              <a:t>Ongoing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1E51507-8F10-E84E-A89B-E684C2FB2021}"/>
              </a:ext>
            </a:extLst>
          </p:cNvPr>
          <p:cNvSpPr txBox="1"/>
          <p:nvPr/>
        </p:nvSpPr>
        <p:spPr>
          <a:xfrm>
            <a:off x="4572000" y="3619500"/>
            <a:ext cx="3048000" cy="52322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00">
                <a:solidFill>
                  <a:srgbClr val="444444"/>
                </a:solidFill>
                <a:latin typeface="Aptos"/>
              </a:rPr>
              <a:t>Production-grade knowledge layer for daily engineering work</a:t>
            </a:r>
          </a:p>
        </p:txBody>
      </p:sp>
      <p:sp>
        <p:nvSpPr>
          <p:cNvPr id="17" name="Rounded Rectangle 16">
            <a:extLst>
              <a:ext uri="{FF2B5EF4-FFF2-40B4-BE49-F238E27FC236}">
                <a16:creationId xmlns:a16="http://schemas.microsoft.com/office/drawing/2014/main" id="{4D1D92B5-3091-F14B-97AE-7A765C83529B}"/>
              </a:ext>
            </a:extLst>
          </p:cNvPr>
          <p:cNvSpPr/>
          <p:nvPr/>
        </p:nvSpPr>
        <p:spPr>
          <a:xfrm>
            <a:off x="8128000" y="1397000"/>
            <a:ext cx="3429000" cy="3810000"/>
          </a:xfrm>
          <a:prstGeom prst="roundRect">
            <a:avLst/>
          </a:prstGeom>
          <a:solidFill>
            <a:srgbClr val="EDF5F0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70BC0153-7F1E-A042-AED2-6C1537A5AF62}"/>
              </a:ext>
            </a:extLst>
          </p:cNvPr>
          <p:cNvSpPr/>
          <p:nvPr/>
        </p:nvSpPr>
        <p:spPr>
          <a:xfrm>
            <a:off x="8128000" y="1397000"/>
            <a:ext cx="3429000" cy="63500"/>
          </a:xfrm>
          <a:prstGeom prst="rect">
            <a:avLst/>
          </a:prstGeom>
          <a:solidFill>
            <a:srgbClr val="4EA72E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A5D7C659-7A5A-8F43-A5D9-6B4F074C189B}"/>
              </a:ext>
            </a:extLst>
          </p:cNvPr>
          <p:cNvSpPr/>
          <p:nvPr/>
        </p:nvSpPr>
        <p:spPr>
          <a:xfrm>
            <a:off x="9525000" y="1651000"/>
            <a:ext cx="635000" cy="635000"/>
          </a:xfrm>
          <a:prstGeom prst="ellipse">
            <a:avLst/>
          </a:prstGeom>
          <a:solidFill>
            <a:srgbClr val="4EA72E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sz="2400" b="1">
                <a:solidFill>
                  <a:srgbClr val="FFFFFF"/>
                </a:solidFill>
                <a:latin typeface="Aptos Display"/>
              </a:rPr>
              <a:t>3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73FB6DF8-473F-0D41-A899-7D0A45ACF600}"/>
              </a:ext>
            </a:extLst>
          </p:cNvPr>
          <p:cNvSpPr txBox="1"/>
          <p:nvPr/>
        </p:nvSpPr>
        <p:spPr>
          <a:xfrm>
            <a:off x="8318500" y="2413000"/>
            <a:ext cx="3048000" cy="369332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b="1">
                <a:solidFill>
                  <a:srgbClr val="0E2841"/>
                </a:solidFill>
                <a:latin typeface="Aptos Display"/>
              </a:rPr>
              <a:t>Modernization Accelerator</a:t>
            </a:r>
          </a:p>
        </p:txBody>
      </p:sp>
      <p:sp>
        <p:nvSpPr>
          <p:cNvPr id="21" name="Rounded Rectangle 20">
            <a:extLst>
              <a:ext uri="{FF2B5EF4-FFF2-40B4-BE49-F238E27FC236}">
                <a16:creationId xmlns:a16="http://schemas.microsoft.com/office/drawing/2014/main" id="{A0070A9B-5FA2-F247-8EA9-3851F37A0940}"/>
              </a:ext>
            </a:extLst>
          </p:cNvPr>
          <p:cNvSpPr/>
          <p:nvPr/>
        </p:nvSpPr>
        <p:spPr>
          <a:xfrm>
            <a:off x="9080500" y="3048000"/>
            <a:ext cx="1524000" cy="355600"/>
          </a:xfrm>
          <a:prstGeom prst="roundRect">
            <a:avLst/>
          </a:prstGeom>
          <a:solidFill>
            <a:srgbClr val="4EA72E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sz="1400" b="1">
                <a:solidFill>
                  <a:srgbClr val="FFFFFF"/>
                </a:solidFill>
                <a:latin typeface="Aptos"/>
              </a:rPr>
              <a:t>Phased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5644EEBE-260B-494C-8AC3-2941C879CE67}"/>
              </a:ext>
            </a:extLst>
          </p:cNvPr>
          <p:cNvSpPr txBox="1"/>
          <p:nvPr/>
        </p:nvSpPr>
        <p:spPr>
          <a:xfrm>
            <a:off x="8318500" y="3619500"/>
            <a:ext cx="3048000" cy="52322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00">
                <a:solidFill>
                  <a:srgbClr val="444444"/>
                </a:solidFill>
                <a:latin typeface="Aptos"/>
              </a:rPr>
              <a:t>De-risk modernization using the knowledge layer</a:t>
            </a:r>
          </a:p>
        </p:txBody>
      </p:sp>
      <p:sp>
        <p:nvSpPr>
          <p:cNvPr id="23" name="Right Arrow 22">
            <a:extLst>
              <a:ext uri="{FF2B5EF4-FFF2-40B4-BE49-F238E27FC236}">
                <a16:creationId xmlns:a16="http://schemas.microsoft.com/office/drawing/2014/main" id="{5DD481A5-41BA-0F40-A06E-DAD1C890364A}"/>
              </a:ext>
            </a:extLst>
          </p:cNvPr>
          <p:cNvSpPr/>
          <p:nvPr/>
        </p:nvSpPr>
        <p:spPr>
          <a:xfrm>
            <a:off x="4025900" y="3111500"/>
            <a:ext cx="381000" cy="317500"/>
          </a:xfrm>
          <a:prstGeom prst="rightArrow">
            <a:avLst/>
          </a:prstGeom>
          <a:solidFill>
            <a:srgbClr val="4EA72E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4" name="Right Arrow 23">
            <a:extLst>
              <a:ext uri="{FF2B5EF4-FFF2-40B4-BE49-F238E27FC236}">
                <a16:creationId xmlns:a16="http://schemas.microsoft.com/office/drawing/2014/main" id="{C18F35A6-D163-A243-9721-98A93B65C87E}"/>
              </a:ext>
            </a:extLst>
          </p:cNvPr>
          <p:cNvSpPr/>
          <p:nvPr/>
        </p:nvSpPr>
        <p:spPr>
          <a:xfrm>
            <a:off x="7772400" y="3111500"/>
            <a:ext cx="381000" cy="317500"/>
          </a:xfrm>
          <a:prstGeom prst="rightArrow">
            <a:avLst/>
          </a:prstGeom>
          <a:solidFill>
            <a:srgbClr val="4EA72E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5" name="Rounded Rectangle 24">
            <a:extLst>
              <a:ext uri="{FF2B5EF4-FFF2-40B4-BE49-F238E27FC236}">
                <a16:creationId xmlns:a16="http://schemas.microsoft.com/office/drawing/2014/main" id="{707C66EE-3DFD-644F-B8A4-E17720DF2100}"/>
              </a:ext>
            </a:extLst>
          </p:cNvPr>
          <p:cNvSpPr/>
          <p:nvPr/>
        </p:nvSpPr>
        <p:spPr>
          <a:xfrm>
            <a:off x="2032000" y="5588000"/>
            <a:ext cx="8128000" cy="508000"/>
          </a:xfrm>
          <a:prstGeom prst="roundRect">
            <a:avLst/>
          </a:prstGeom>
          <a:solidFill>
            <a:srgbClr val="E8E8E8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69C3DCD0-26F9-074B-B73F-9564BD0EB813}"/>
              </a:ext>
            </a:extLst>
          </p:cNvPr>
          <p:cNvSpPr/>
          <p:nvPr/>
        </p:nvSpPr>
        <p:spPr>
          <a:xfrm>
            <a:off x="2032000" y="5588000"/>
            <a:ext cx="2705100" cy="508000"/>
          </a:xfrm>
          <a:prstGeom prst="rect">
            <a:avLst/>
          </a:prstGeom>
          <a:solidFill>
            <a:srgbClr val="E97132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sz="1400" b="1">
                <a:solidFill>
                  <a:srgbClr val="FFFFFF"/>
                </a:solidFill>
                <a:latin typeface="Aptos"/>
              </a:rPr>
              <a:t>Understand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C9006873-83C2-2548-89E4-B2C915721577}"/>
              </a:ext>
            </a:extLst>
          </p:cNvPr>
          <p:cNvSpPr/>
          <p:nvPr/>
        </p:nvSpPr>
        <p:spPr>
          <a:xfrm>
            <a:off x="4737100" y="5588000"/>
            <a:ext cx="2705100" cy="508000"/>
          </a:xfrm>
          <a:prstGeom prst="rect">
            <a:avLst/>
          </a:prstGeom>
          <a:solidFill>
            <a:srgbClr val="156082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sz="1400" b="1">
                <a:solidFill>
                  <a:srgbClr val="FFFFFF"/>
                </a:solidFill>
                <a:latin typeface="Aptos"/>
              </a:rPr>
              <a:t>Daily Use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273B3E35-2CB3-6E4C-A779-7F9627ABA102}"/>
              </a:ext>
            </a:extLst>
          </p:cNvPr>
          <p:cNvSpPr/>
          <p:nvPr/>
        </p:nvSpPr>
        <p:spPr>
          <a:xfrm>
            <a:off x="7442200" y="5588000"/>
            <a:ext cx="2705100" cy="508000"/>
          </a:xfrm>
          <a:prstGeom prst="rect">
            <a:avLst/>
          </a:prstGeom>
          <a:solidFill>
            <a:srgbClr val="4EA72E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sz="1400" b="1">
                <a:solidFill>
                  <a:srgbClr val="FFFFFF"/>
                </a:solidFill>
                <a:latin typeface="Aptos"/>
              </a:rPr>
              <a:t>Modernize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FB15E6CE-D3E4-1B4F-9263-FBBD069D588D}"/>
              </a:ext>
            </a:extLst>
          </p:cNvPr>
          <p:cNvSpPr txBox="1"/>
          <p:nvPr/>
        </p:nvSpPr>
        <p:spPr>
          <a:xfrm>
            <a:off x="4318000" y="5270500"/>
            <a:ext cx="3556000" cy="307777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00" b="1">
                <a:solidFill>
                  <a:srgbClr val="0E2841"/>
                </a:solidFill>
                <a:latin typeface="Aptos"/>
              </a:rPr>
              <a:t>MATURITY PROGRESSION</a:t>
            </a:r>
          </a:p>
        </p:txBody>
      </p:sp>
    </p:spTree>
    <p:extLst>
      <p:ext uri="{BB962C8B-B14F-4D97-AF65-F5344CB8AC3E}">
        <p14:creationId xmlns:p14="http://schemas.microsoft.com/office/powerpoint/2010/main" val="136220235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6536494C-2D28-594A-85C6-7E600385F537}"/>
              </a:ext>
            </a:extLst>
          </p:cNvPr>
          <p:cNvSpPr/>
          <p:nvPr/>
        </p:nvSpPr>
        <p:spPr>
          <a:xfrm>
            <a:off x="0" y="0"/>
            <a:ext cx="12192000" cy="889000"/>
          </a:xfrm>
          <a:prstGeom prst="rect">
            <a:avLst/>
          </a:prstGeom>
          <a:solidFill>
            <a:srgbClr val="0E2841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0C1869A-5AB2-4F4F-92C2-E1587C55EE62}"/>
              </a:ext>
            </a:extLst>
          </p:cNvPr>
          <p:cNvSpPr txBox="1"/>
          <p:nvPr/>
        </p:nvSpPr>
        <p:spPr>
          <a:xfrm>
            <a:off x="508000" y="190500"/>
            <a:ext cx="7620000" cy="52322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2800" b="1">
                <a:solidFill>
                  <a:srgbClr val="FFFFFF"/>
                </a:solidFill>
                <a:latin typeface="Aptos Display"/>
              </a:rPr>
              <a:t>Tier 1 — Legacy System X-Ray</a:t>
            </a:r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77E690CF-BF4A-0A43-989C-565B4787C4B4}"/>
              </a:ext>
            </a:extLst>
          </p:cNvPr>
          <p:cNvSpPr/>
          <p:nvPr/>
        </p:nvSpPr>
        <p:spPr>
          <a:xfrm>
            <a:off x="9779000" y="254000"/>
            <a:ext cx="1905000" cy="406400"/>
          </a:xfrm>
          <a:prstGeom prst="roundRect">
            <a:avLst/>
          </a:prstGeom>
          <a:solidFill>
            <a:srgbClr val="E97132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sz="1600" b="1">
                <a:solidFill>
                  <a:srgbClr val="FFFFFF"/>
                </a:solidFill>
                <a:latin typeface="Aptos"/>
              </a:rPr>
              <a:t>2–4 weeks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C9B2094-242E-E143-9A48-115BE0D4E7BB}"/>
              </a:ext>
            </a:extLst>
          </p:cNvPr>
          <p:cNvSpPr/>
          <p:nvPr/>
        </p:nvSpPr>
        <p:spPr>
          <a:xfrm>
            <a:off x="0" y="889000"/>
            <a:ext cx="12192000" cy="38100"/>
          </a:xfrm>
          <a:prstGeom prst="rect">
            <a:avLst/>
          </a:prstGeom>
          <a:solidFill>
            <a:srgbClr val="E97132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B49CA16-3E04-354E-AA5F-D6161A1693E9}"/>
              </a:ext>
            </a:extLst>
          </p:cNvPr>
          <p:cNvSpPr txBox="1"/>
          <p:nvPr/>
        </p:nvSpPr>
        <p:spPr>
          <a:xfrm>
            <a:off x="952500" y="1143000"/>
            <a:ext cx="5588000" cy="381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b="1">
                <a:solidFill>
                  <a:srgbClr val="0E2841"/>
                </a:solidFill>
                <a:latin typeface="Aptos Display"/>
              </a:rPr>
              <a:t>System Map &amp; Impact Analysis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ABEF8105-43B6-964E-BDAE-762C9B981D74}"/>
              </a:ext>
            </a:extLst>
          </p:cNvPr>
          <p:cNvSpPr/>
          <p:nvPr/>
        </p:nvSpPr>
        <p:spPr>
          <a:xfrm>
            <a:off x="508000" y="1651000"/>
            <a:ext cx="5588000" cy="2540000"/>
          </a:xfrm>
          <a:prstGeom prst="roundRect">
            <a:avLst/>
          </a:prstGeom>
          <a:solidFill>
            <a:srgbClr val="F5F7FA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889EB1D-7A2D-5945-B378-2B38720DA02B}"/>
              </a:ext>
            </a:extLst>
          </p:cNvPr>
          <p:cNvSpPr txBox="1"/>
          <p:nvPr/>
        </p:nvSpPr>
        <p:spPr>
          <a:xfrm>
            <a:off x="6921500" y="1143000"/>
            <a:ext cx="5334000" cy="381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b="1">
                <a:solidFill>
                  <a:srgbClr val="0E2841"/>
                </a:solidFill>
                <a:latin typeface="Aptos Display"/>
              </a:rPr>
              <a:t>"Ask Your Legacy System" Demo</a:t>
            </a: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BDCF2E8E-CC60-844C-BAFB-E196A0A5184C}"/>
              </a:ext>
            </a:extLst>
          </p:cNvPr>
          <p:cNvSpPr/>
          <p:nvPr/>
        </p:nvSpPr>
        <p:spPr>
          <a:xfrm>
            <a:off x="6477000" y="1651000"/>
            <a:ext cx="5334000" cy="2540000"/>
          </a:xfrm>
          <a:prstGeom prst="roundRect">
            <a:avLst/>
          </a:prstGeom>
          <a:solidFill>
            <a:srgbClr val="F5F7FA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D7BD37F-72AF-224F-BB50-A77164C56F02}"/>
              </a:ext>
            </a:extLst>
          </p:cNvPr>
          <p:cNvSpPr txBox="1"/>
          <p:nvPr/>
        </p:nvSpPr>
        <p:spPr>
          <a:xfrm>
            <a:off x="698500" y="1778000"/>
            <a:ext cx="5207000" cy="2462213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00">
                <a:solidFill>
                  <a:srgbClr val="333333"/>
                </a:solidFill>
                <a:latin typeface="Aptos"/>
              </a:rPr>
              <a:t>• Parse legacy code, jobs, schemas
  into navigable system map
• Modules, interfaces, key
  business entities identified
• Entity-to-code impact maps
  (Customer / Account / Policy)
• Hot-spot analysis reveals
  high-risk areas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EE758FA-D576-B94F-A66C-E15B36764B4D}"/>
              </a:ext>
            </a:extLst>
          </p:cNvPr>
          <p:cNvSpPr txBox="1"/>
          <p:nvPr/>
        </p:nvSpPr>
        <p:spPr>
          <a:xfrm>
            <a:off x="6667500" y="1778000"/>
            <a:ext cx="4953000" cy="2462213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00">
                <a:solidFill>
                  <a:srgbClr val="333333"/>
                </a:solidFill>
                <a:latin typeface="Aptos"/>
              </a:rPr>
              <a:t>• Query flows and business rules
  with natural language
• Every answer includes traceable
  code references
• Sources: file path + line numbers
  for full auditability
• Lightweight demo — value
  visible in days, not months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6477D5D-C720-3746-8E2A-987143B4973C}"/>
              </a:ext>
            </a:extLst>
          </p:cNvPr>
          <p:cNvSpPr txBox="1"/>
          <p:nvPr/>
        </p:nvSpPr>
        <p:spPr>
          <a:xfrm>
            <a:off x="508000" y="4508500"/>
            <a:ext cx="2540000" cy="3175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00" b="1">
                <a:solidFill>
                  <a:srgbClr val="E97132"/>
                </a:solidFill>
                <a:latin typeface="Aptos"/>
              </a:rPr>
              <a:t>DELIVERABLES</a:t>
            </a:r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656CE22D-0FB8-C545-A23A-20F8FA78A32D}"/>
              </a:ext>
            </a:extLst>
          </p:cNvPr>
          <p:cNvSpPr/>
          <p:nvPr/>
        </p:nvSpPr>
        <p:spPr>
          <a:xfrm>
            <a:off x="508000" y="4953000"/>
            <a:ext cx="2667000" cy="482600"/>
          </a:xfrm>
          <a:prstGeom prst="roundRect">
            <a:avLst/>
          </a:prstGeom>
          <a:solidFill>
            <a:srgbClr val="0E2841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sz="1400" b="1">
                <a:solidFill>
                  <a:srgbClr val="FFFFFF"/>
                </a:solidFill>
                <a:latin typeface="Aptos"/>
              </a:rPr>
              <a:t>System Atlas</a:t>
            </a:r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915B3BDB-9C82-4E45-BCFA-F8C2B2B7754E}"/>
              </a:ext>
            </a:extLst>
          </p:cNvPr>
          <p:cNvSpPr/>
          <p:nvPr/>
        </p:nvSpPr>
        <p:spPr>
          <a:xfrm>
            <a:off x="3429000" y="4953000"/>
            <a:ext cx="2667000" cy="482600"/>
          </a:xfrm>
          <a:prstGeom prst="roundRect">
            <a:avLst/>
          </a:prstGeom>
          <a:solidFill>
            <a:srgbClr val="E97132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sz="1400" b="1">
                <a:solidFill>
                  <a:srgbClr val="FFFFFF"/>
                </a:solidFill>
                <a:latin typeface="Aptos"/>
              </a:rPr>
              <a:t>Impact Maps</a:t>
            </a:r>
          </a:p>
        </p:txBody>
      </p: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B10220CA-7C16-0647-BFEC-6F9BABCC8C1A}"/>
              </a:ext>
            </a:extLst>
          </p:cNvPr>
          <p:cNvSpPr/>
          <p:nvPr/>
        </p:nvSpPr>
        <p:spPr>
          <a:xfrm>
            <a:off x="6350000" y="4953000"/>
            <a:ext cx="2667000" cy="482600"/>
          </a:xfrm>
          <a:prstGeom prst="roundRect">
            <a:avLst/>
          </a:prstGeom>
          <a:solidFill>
            <a:srgbClr val="156082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sz="1400" b="1">
                <a:solidFill>
                  <a:srgbClr val="FFFFFF"/>
                </a:solidFill>
                <a:latin typeface="Aptos"/>
              </a:rPr>
              <a:t>Q&amp;A Demo</a:t>
            </a:r>
          </a:p>
        </p:txBody>
      </p:sp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74DD941E-B9DB-A542-8C68-ECEC99312A1B}"/>
              </a:ext>
            </a:extLst>
          </p:cNvPr>
          <p:cNvSpPr/>
          <p:nvPr/>
        </p:nvSpPr>
        <p:spPr>
          <a:xfrm>
            <a:off x="9271000" y="4953000"/>
            <a:ext cx="2667000" cy="482600"/>
          </a:xfrm>
          <a:prstGeom prst="roundRect">
            <a:avLst/>
          </a:prstGeom>
          <a:solidFill>
            <a:srgbClr val="4EA72E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sz="1400" b="1">
                <a:solidFill>
                  <a:srgbClr val="FFFFFF"/>
                </a:solidFill>
                <a:latin typeface="Aptos"/>
              </a:rPr>
              <a:t>Findings Readout</a:t>
            </a:r>
          </a:p>
        </p:txBody>
      </p:sp>
      <p:pic>
        <p:nvPicPr>
          <p:cNvPr id="17" name="Graphic 17" descr="Map icon for system map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08000" y="1117600"/>
            <a:ext cx="355600" cy="355600"/>
          </a:xfrm>
          <a:prstGeom prst="rect">
            <a:avLst/>
          </a:prstGeom>
        </p:spPr>
      </p:pic>
      <p:pic>
        <p:nvPicPr>
          <p:cNvPr id="18" name="Graphic 18" descr="Link icon for traceability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477000" y="1117600"/>
            <a:ext cx="355600" cy="355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068213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CA0D88FE-69F9-184B-ADC0-57C7A4E84B31}"/>
              </a:ext>
            </a:extLst>
          </p:cNvPr>
          <p:cNvSpPr/>
          <p:nvPr/>
        </p:nvSpPr>
        <p:spPr>
          <a:xfrm>
            <a:off x="0" y="0"/>
            <a:ext cx="12192000" cy="889000"/>
          </a:xfrm>
          <a:prstGeom prst="rect">
            <a:avLst/>
          </a:prstGeom>
          <a:solidFill>
            <a:srgbClr val="0E2841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9081A11-EA59-2642-8727-747A33E36C6D}"/>
              </a:ext>
            </a:extLst>
          </p:cNvPr>
          <p:cNvSpPr txBox="1"/>
          <p:nvPr/>
        </p:nvSpPr>
        <p:spPr>
          <a:xfrm>
            <a:off x="508000" y="190500"/>
            <a:ext cx="7620000" cy="52322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2800" b="1">
                <a:solidFill>
                  <a:srgbClr val="FFFFFF"/>
                </a:solidFill>
                <a:latin typeface="Aptos Display"/>
              </a:rPr>
              <a:t>Tier 2 — Legacy Code Navigator</a:t>
            </a:r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BCCC6B83-F3DA-9F47-B175-A8AC05C58E8A}"/>
              </a:ext>
            </a:extLst>
          </p:cNvPr>
          <p:cNvSpPr/>
          <p:nvPr/>
        </p:nvSpPr>
        <p:spPr>
          <a:xfrm>
            <a:off x="9779000" y="254000"/>
            <a:ext cx="1905000" cy="406400"/>
          </a:xfrm>
          <a:prstGeom prst="roundRect">
            <a:avLst/>
          </a:prstGeom>
          <a:solidFill>
            <a:srgbClr val="156082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sz="1600" b="1">
                <a:solidFill>
                  <a:srgbClr val="FFFFFF"/>
                </a:solidFill>
                <a:latin typeface="Aptos"/>
              </a:rPr>
              <a:t>Team Copilot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4DA834A-1EE0-C249-85AB-9C9A0ACB74C6}"/>
              </a:ext>
            </a:extLst>
          </p:cNvPr>
          <p:cNvSpPr/>
          <p:nvPr/>
        </p:nvSpPr>
        <p:spPr>
          <a:xfrm>
            <a:off x="0" y="889000"/>
            <a:ext cx="12192000" cy="38100"/>
          </a:xfrm>
          <a:prstGeom prst="rect">
            <a:avLst/>
          </a:prstGeom>
          <a:solidFill>
            <a:srgbClr val="156082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83EDC2B9-F455-CD43-82FF-CFD24368D2E3}"/>
              </a:ext>
            </a:extLst>
          </p:cNvPr>
          <p:cNvSpPr/>
          <p:nvPr/>
        </p:nvSpPr>
        <p:spPr>
          <a:xfrm>
            <a:off x="698500" y="1143000"/>
            <a:ext cx="1778000" cy="698500"/>
          </a:xfrm>
          <a:prstGeom prst="roundRect">
            <a:avLst/>
          </a:prstGeom>
          <a:solidFill>
            <a:srgbClr val="E8E8E8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>
            <a:noAutofit/>
          </a:bodyPr>
          <a:lstStyle/>
          <a:p>
            <a:pPr algn="l"/>
            <a:r>
              <a:rPr lang="en-US" sz="1400" b="1">
                <a:solidFill>
                  <a:srgbClr val="0E2841"/>
                </a:solidFill>
                <a:latin typeface="Aptos"/>
              </a:rPr>
              <a:t>Code / Jobs /
Schemas</a:t>
            </a:r>
          </a:p>
        </p:txBody>
      </p:sp>
      <p:sp>
        <p:nvSpPr>
          <p:cNvPr id="7" name="Right Arrow 6">
            <a:extLst>
              <a:ext uri="{FF2B5EF4-FFF2-40B4-BE49-F238E27FC236}">
                <a16:creationId xmlns:a16="http://schemas.microsoft.com/office/drawing/2014/main" id="{747C8899-A7DE-3748-BC35-F43B0518B7CB}"/>
              </a:ext>
            </a:extLst>
          </p:cNvPr>
          <p:cNvSpPr/>
          <p:nvPr/>
        </p:nvSpPr>
        <p:spPr>
          <a:xfrm>
            <a:off x="2540000" y="1333500"/>
            <a:ext cx="317500" cy="317500"/>
          </a:xfrm>
          <a:prstGeom prst="rightArrow">
            <a:avLst/>
          </a:prstGeom>
          <a:solidFill>
            <a:srgbClr val="0E2841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FE07CF41-EA88-8F43-97F2-37E7AB5CC37D}"/>
              </a:ext>
            </a:extLst>
          </p:cNvPr>
          <p:cNvSpPr/>
          <p:nvPr/>
        </p:nvSpPr>
        <p:spPr>
          <a:xfrm>
            <a:off x="2921000" y="1143000"/>
            <a:ext cx="1778000" cy="698500"/>
          </a:xfrm>
          <a:prstGeom prst="roundRect">
            <a:avLst/>
          </a:prstGeom>
          <a:solidFill>
            <a:srgbClr val="E97132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>
            <a:noAutofit/>
          </a:bodyPr>
          <a:lstStyle/>
          <a:p>
            <a:pPr algn="l"/>
            <a:r>
              <a:rPr lang="en-US" sz="1400" b="1">
                <a:solidFill>
                  <a:srgbClr val="FFFFFF"/>
                </a:solidFill>
                <a:latin typeface="Aptos"/>
              </a:rPr>
              <a:t>Ingestion
Pipeline</a:t>
            </a:r>
          </a:p>
        </p:txBody>
      </p:sp>
      <p:sp>
        <p:nvSpPr>
          <p:cNvPr id="9" name="Right Arrow 8">
            <a:extLst>
              <a:ext uri="{FF2B5EF4-FFF2-40B4-BE49-F238E27FC236}">
                <a16:creationId xmlns:a16="http://schemas.microsoft.com/office/drawing/2014/main" id="{91A716FD-7533-9F4E-B93D-56E5F2A85C04}"/>
              </a:ext>
            </a:extLst>
          </p:cNvPr>
          <p:cNvSpPr/>
          <p:nvPr/>
        </p:nvSpPr>
        <p:spPr>
          <a:xfrm>
            <a:off x="4762500" y="1333500"/>
            <a:ext cx="317500" cy="317500"/>
          </a:xfrm>
          <a:prstGeom prst="rightArrow">
            <a:avLst/>
          </a:prstGeom>
          <a:solidFill>
            <a:srgbClr val="0E2841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4A33C686-0A8E-F44B-B045-592CBCA8FCDD}"/>
              </a:ext>
            </a:extLst>
          </p:cNvPr>
          <p:cNvSpPr/>
          <p:nvPr/>
        </p:nvSpPr>
        <p:spPr>
          <a:xfrm>
            <a:off x="5143500" y="1143000"/>
            <a:ext cx="2032000" cy="698500"/>
          </a:xfrm>
          <a:prstGeom prst="roundRect">
            <a:avLst/>
          </a:prstGeom>
          <a:solidFill>
            <a:srgbClr val="156082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>
            <a:noAutofit/>
          </a:bodyPr>
          <a:lstStyle/>
          <a:p>
            <a:pPr algn="l"/>
            <a:r>
              <a:rPr lang="en-US" sz="1400" b="1">
                <a:solidFill>
                  <a:srgbClr val="FFFFFF"/>
                </a:solidFill>
                <a:latin typeface="Aptos"/>
              </a:rPr>
              <a:t>Knowledge
Layer</a:t>
            </a:r>
          </a:p>
        </p:txBody>
      </p:sp>
      <p:sp>
        <p:nvSpPr>
          <p:cNvPr id="11" name="Right Arrow 10">
            <a:extLst>
              <a:ext uri="{FF2B5EF4-FFF2-40B4-BE49-F238E27FC236}">
                <a16:creationId xmlns:a16="http://schemas.microsoft.com/office/drawing/2014/main" id="{DB70A4DB-10C5-D342-9790-CBB7306C8B9F}"/>
              </a:ext>
            </a:extLst>
          </p:cNvPr>
          <p:cNvSpPr/>
          <p:nvPr/>
        </p:nvSpPr>
        <p:spPr>
          <a:xfrm>
            <a:off x="7239000" y="1333500"/>
            <a:ext cx="317500" cy="317500"/>
          </a:xfrm>
          <a:prstGeom prst="rightArrow">
            <a:avLst/>
          </a:prstGeom>
          <a:solidFill>
            <a:srgbClr val="0E2841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E9DDD57D-0D8D-E549-9F56-5813B48AEE69}"/>
              </a:ext>
            </a:extLst>
          </p:cNvPr>
          <p:cNvSpPr/>
          <p:nvPr/>
        </p:nvSpPr>
        <p:spPr>
          <a:xfrm>
            <a:off x="7620000" y="1143000"/>
            <a:ext cx="1778000" cy="698500"/>
          </a:xfrm>
          <a:prstGeom prst="roundRect">
            <a:avLst/>
          </a:prstGeom>
          <a:solidFill>
            <a:srgbClr val="4EA72E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>
            <a:noAutofit/>
          </a:bodyPr>
          <a:lstStyle/>
          <a:p>
            <a:pPr algn="l"/>
            <a:r>
              <a:rPr lang="en-US" sz="1400" b="1">
                <a:solidFill>
                  <a:srgbClr val="FFFFFF"/>
                </a:solidFill>
                <a:latin typeface="Aptos"/>
              </a:rPr>
              <a:t>IDE / Web /
API</a:t>
            </a:r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10EE6268-BADE-1B4B-94D7-27264CE83942}"/>
              </a:ext>
            </a:extLst>
          </p:cNvPr>
          <p:cNvSpPr/>
          <p:nvPr/>
        </p:nvSpPr>
        <p:spPr>
          <a:xfrm>
            <a:off x="381000" y="2159000"/>
            <a:ext cx="2667000" cy="1651000"/>
          </a:xfrm>
          <a:prstGeom prst="roundRect">
            <a:avLst/>
          </a:prstGeom>
          <a:solidFill>
            <a:srgbClr val="F5F7FA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F290EADD-ECB5-DE42-86A8-F20639CA2FC8}"/>
              </a:ext>
            </a:extLst>
          </p:cNvPr>
          <p:cNvSpPr/>
          <p:nvPr/>
        </p:nvSpPr>
        <p:spPr>
          <a:xfrm>
            <a:off x="381000" y="2159000"/>
            <a:ext cx="2667000" cy="50800"/>
          </a:xfrm>
          <a:prstGeom prst="rect">
            <a:avLst/>
          </a:prstGeom>
          <a:solidFill>
            <a:srgbClr val="156082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50BFACD-B5DC-0A4D-B706-7BAF3D223960}"/>
              </a:ext>
            </a:extLst>
          </p:cNvPr>
          <p:cNvSpPr txBox="1"/>
          <p:nvPr/>
        </p:nvSpPr>
        <p:spPr>
          <a:xfrm>
            <a:off x="533400" y="2349500"/>
            <a:ext cx="2362200" cy="323165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500" b="1">
                <a:solidFill>
                  <a:srgbClr val="0E2841"/>
                </a:solidFill>
                <a:latin typeface="Aptos Display"/>
              </a:rPr>
              <a:t>Impact Analysis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375E4F0-D515-1444-94CA-584A048AE6BE}"/>
              </a:ext>
            </a:extLst>
          </p:cNvPr>
          <p:cNvSpPr txBox="1"/>
          <p:nvPr/>
        </p:nvSpPr>
        <p:spPr>
          <a:xfrm>
            <a:off x="533400" y="2730500"/>
            <a:ext cx="2362200" cy="52322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00">
                <a:solidFill>
                  <a:srgbClr val="444444"/>
                </a:solidFill>
                <a:latin typeface="Aptos"/>
              </a:rPr>
              <a:t>Trace all code affected by a proposed change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BD055BB-C79A-9A4E-A3A4-EEEEA72EE93F}"/>
              </a:ext>
            </a:extLst>
          </p:cNvPr>
          <p:cNvSpPr txBox="1"/>
          <p:nvPr/>
        </p:nvSpPr>
        <p:spPr>
          <a:xfrm>
            <a:off x="533400" y="3429000"/>
            <a:ext cx="2362200" cy="307777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00">
                <a:solidFill>
                  <a:srgbClr val="156082"/>
                </a:solidFill>
                <a:latin typeface="Aptos"/>
              </a:rPr>
              <a:t>Sources: file path + line #</a:t>
            </a:r>
          </a:p>
        </p:txBody>
      </p:sp>
      <p:sp>
        <p:nvSpPr>
          <p:cNvPr id="18" name="Rounded Rectangle 17">
            <a:extLst>
              <a:ext uri="{FF2B5EF4-FFF2-40B4-BE49-F238E27FC236}">
                <a16:creationId xmlns:a16="http://schemas.microsoft.com/office/drawing/2014/main" id="{F3F968AD-D37F-104B-A5AA-36B478C86BF8}"/>
              </a:ext>
            </a:extLst>
          </p:cNvPr>
          <p:cNvSpPr/>
          <p:nvPr/>
        </p:nvSpPr>
        <p:spPr>
          <a:xfrm>
            <a:off x="3302000" y="2159000"/>
            <a:ext cx="2667000" cy="1651000"/>
          </a:xfrm>
          <a:prstGeom prst="roundRect">
            <a:avLst/>
          </a:prstGeom>
          <a:solidFill>
            <a:srgbClr val="F5F7FA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2815AFD2-E071-4344-8044-0D01F1783793}"/>
              </a:ext>
            </a:extLst>
          </p:cNvPr>
          <p:cNvSpPr/>
          <p:nvPr/>
        </p:nvSpPr>
        <p:spPr>
          <a:xfrm>
            <a:off x="3302000" y="2159000"/>
            <a:ext cx="2667000" cy="50800"/>
          </a:xfrm>
          <a:prstGeom prst="rect">
            <a:avLst/>
          </a:prstGeom>
          <a:solidFill>
            <a:srgbClr val="156082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B59727E9-3DAA-7545-8DF9-09DB3E2E1D40}"/>
              </a:ext>
            </a:extLst>
          </p:cNvPr>
          <p:cNvSpPr txBox="1"/>
          <p:nvPr/>
        </p:nvSpPr>
        <p:spPr>
          <a:xfrm>
            <a:off x="3454400" y="2349500"/>
            <a:ext cx="2362200" cy="323165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500" b="1">
                <a:solidFill>
                  <a:srgbClr val="0E2841"/>
                </a:solidFill>
                <a:latin typeface="Aptos Display"/>
              </a:rPr>
              <a:t>Business Flow Tracing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51F52BC9-F97B-5C48-BC30-BBB84DA6E504}"/>
              </a:ext>
            </a:extLst>
          </p:cNvPr>
          <p:cNvSpPr txBox="1"/>
          <p:nvPr/>
        </p:nvSpPr>
        <p:spPr>
          <a:xfrm>
            <a:off x="3454400" y="2730500"/>
            <a:ext cx="2362200" cy="52322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00">
                <a:solidFill>
                  <a:srgbClr val="444444"/>
                </a:solidFill>
                <a:latin typeface="Aptos"/>
              </a:rPr>
              <a:t>Follow a business process through the codebase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D8A5FDFB-EE7F-264C-A0FD-2139F1F27CD1}"/>
              </a:ext>
            </a:extLst>
          </p:cNvPr>
          <p:cNvSpPr txBox="1"/>
          <p:nvPr/>
        </p:nvSpPr>
        <p:spPr>
          <a:xfrm>
            <a:off x="3454400" y="3429000"/>
            <a:ext cx="2362200" cy="307777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00">
                <a:solidFill>
                  <a:srgbClr val="156082"/>
                </a:solidFill>
                <a:latin typeface="Aptos"/>
              </a:rPr>
              <a:t>Sources: file path + line #</a:t>
            </a:r>
          </a:p>
        </p:txBody>
      </p:sp>
      <p:sp>
        <p:nvSpPr>
          <p:cNvPr id="23" name="Rounded Rectangle 22">
            <a:extLst>
              <a:ext uri="{FF2B5EF4-FFF2-40B4-BE49-F238E27FC236}">
                <a16:creationId xmlns:a16="http://schemas.microsoft.com/office/drawing/2014/main" id="{C6157B15-1566-F44E-9DD0-B346E09D2171}"/>
              </a:ext>
            </a:extLst>
          </p:cNvPr>
          <p:cNvSpPr/>
          <p:nvPr/>
        </p:nvSpPr>
        <p:spPr>
          <a:xfrm>
            <a:off x="6223000" y="2159000"/>
            <a:ext cx="2667000" cy="1651000"/>
          </a:xfrm>
          <a:prstGeom prst="roundRect">
            <a:avLst/>
          </a:prstGeom>
          <a:solidFill>
            <a:srgbClr val="F5F7FA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80638958-F589-1346-8798-C359AD2DC25B}"/>
              </a:ext>
            </a:extLst>
          </p:cNvPr>
          <p:cNvSpPr/>
          <p:nvPr/>
        </p:nvSpPr>
        <p:spPr>
          <a:xfrm>
            <a:off x="6223000" y="2159000"/>
            <a:ext cx="2667000" cy="50800"/>
          </a:xfrm>
          <a:prstGeom prst="rect">
            <a:avLst/>
          </a:prstGeom>
          <a:solidFill>
            <a:srgbClr val="156082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09946E9D-AC6A-EE47-9A87-8E41B6866087}"/>
              </a:ext>
            </a:extLst>
          </p:cNvPr>
          <p:cNvSpPr txBox="1"/>
          <p:nvPr/>
        </p:nvSpPr>
        <p:spPr>
          <a:xfrm>
            <a:off x="6375400" y="2349500"/>
            <a:ext cx="2362200" cy="323165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500" b="1">
                <a:solidFill>
                  <a:srgbClr val="0E2841"/>
                </a:solidFill>
                <a:latin typeface="Aptos Display"/>
              </a:rPr>
              <a:t>Explain This Program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8574E3AA-3289-5040-8210-8F1A2DE5B707}"/>
              </a:ext>
            </a:extLst>
          </p:cNvPr>
          <p:cNvSpPr txBox="1"/>
          <p:nvPr/>
        </p:nvSpPr>
        <p:spPr>
          <a:xfrm>
            <a:off x="6375400" y="2730500"/>
            <a:ext cx="2362200" cy="52322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00">
                <a:solidFill>
                  <a:srgbClr val="444444"/>
                </a:solidFill>
                <a:latin typeface="Aptos"/>
              </a:rPr>
              <a:t>Get a clear summary of what any module does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D7951D96-5611-9044-AD97-938A626560CF}"/>
              </a:ext>
            </a:extLst>
          </p:cNvPr>
          <p:cNvSpPr txBox="1"/>
          <p:nvPr/>
        </p:nvSpPr>
        <p:spPr>
          <a:xfrm>
            <a:off x="6375400" y="3429000"/>
            <a:ext cx="2362200" cy="307777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00">
                <a:solidFill>
                  <a:srgbClr val="156082"/>
                </a:solidFill>
                <a:latin typeface="Aptos"/>
              </a:rPr>
              <a:t>Sources: file path + line #</a:t>
            </a:r>
          </a:p>
        </p:txBody>
      </p:sp>
      <p:sp>
        <p:nvSpPr>
          <p:cNvPr id="28" name="Rounded Rectangle 27">
            <a:extLst>
              <a:ext uri="{FF2B5EF4-FFF2-40B4-BE49-F238E27FC236}">
                <a16:creationId xmlns:a16="http://schemas.microsoft.com/office/drawing/2014/main" id="{69F86E16-1599-A040-B504-C67609263C07}"/>
              </a:ext>
            </a:extLst>
          </p:cNvPr>
          <p:cNvSpPr/>
          <p:nvPr/>
        </p:nvSpPr>
        <p:spPr>
          <a:xfrm>
            <a:off x="9144000" y="2159000"/>
            <a:ext cx="2667000" cy="1651000"/>
          </a:xfrm>
          <a:prstGeom prst="roundRect">
            <a:avLst/>
          </a:prstGeom>
          <a:solidFill>
            <a:srgbClr val="F5F7FA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7690FE33-BA3D-E549-8F25-FEAE7704CFEA}"/>
              </a:ext>
            </a:extLst>
          </p:cNvPr>
          <p:cNvSpPr/>
          <p:nvPr/>
        </p:nvSpPr>
        <p:spPr>
          <a:xfrm>
            <a:off x="9144000" y="2159000"/>
            <a:ext cx="2667000" cy="50800"/>
          </a:xfrm>
          <a:prstGeom prst="rect">
            <a:avLst/>
          </a:prstGeom>
          <a:solidFill>
            <a:srgbClr val="156082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C1D44709-EBD1-4441-A46C-9B7E2CE8C362}"/>
              </a:ext>
            </a:extLst>
          </p:cNvPr>
          <p:cNvSpPr txBox="1"/>
          <p:nvPr/>
        </p:nvSpPr>
        <p:spPr>
          <a:xfrm>
            <a:off x="9296400" y="2349500"/>
            <a:ext cx="2362200" cy="323165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500" b="1">
                <a:solidFill>
                  <a:srgbClr val="0E2841"/>
                </a:solidFill>
                <a:latin typeface="Aptos Display"/>
              </a:rPr>
              <a:t>Data Lineage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04F5C072-C4B9-C441-8DB8-FEF25809CDDB}"/>
              </a:ext>
            </a:extLst>
          </p:cNvPr>
          <p:cNvSpPr txBox="1"/>
          <p:nvPr/>
        </p:nvSpPr>
        <p:spPr>
          <a:xfrm>
            <a:off x="9296400" y="2730500"/>
            <a:ext cx="2362200" cy="52322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00">
                <a:solidFill>
                  <a:srgbClr val="444444"/>
                </a:solidFill>
                <a:latin typeface="Aptos"/>
              </a:rPr>
              <a:t>Track data from source to consumption point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A7FACA9C-63CA-1441-8870-4B07ECAE7B96}"/>
              </a:ext>
            </a:extLst>
          </p:cNvPr>
          <p:cNvSpPr txBox="1"/>
          <p:nvPr/>
        </p:nvSpPr>
        <p:spPr>
          <a:xfrm>
            <a:off x="9296400" y="3429000"/>
            <a:ext cx="2362200" cy="307777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00">
                <a:solidFill>
                  <a:srgbClr val="156082"/>
                </a:solidFill>
                <a:latin typeface="Aptos"/>
              </a:rPr>
              <a:t>Sources: file path + line #</a:t>
            </a:r>
          </a:p>
        </p:txBody>
      </p:sp>
      <p:sp>
        <p:nvSpPr>
          <p:cNvPr id="33" name="Rounded Rectangle 32">
            <a:extLst>
              <a:ext uri="{FF2B5EF4-FFF2-40B4-BE49-F238E27FC236}">
                <a16:creationId xmlns:a16="http://schemas.microsoft.com/office/drawing/2014/main" id="{331B4C44-18DF-F745-99F9-C96C93B4D8DD}"/>
              </a:ext>
            </a:extLst>
          </p:cNvPr>
          <p:cNvSpPr/>
          <p:nvPr/>
        </p:nvSpPr>
        <p:spPr>
          <a:xfrm>
            <a:off x="508000" y="4127500"/>
            <a:ext cx="11176000" cy="1016000"/>
          </a:xfrm>
          <a:prstGeom prst="roundRect">
            <a:avLst/>
          </a:prstGeom>
          <a:solidFill>
            <a:srgbClr val="EDF3F7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228DA1F2-C6B1-2240-885F-F77F76533D1B}"/>
              </a:ext>
            </a:extLst>
          </p:cNvPr>
          <p:cNvSpPr txBox="1"/>
          <p:nvPr/>
        </p:nvSpPr>
        <p:spPr>
          <a:xfrm>
            <a:off x="762000" y="4229100"/>
            <a:ext cx="3175000" cy="3175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00" b="1">
                <a:solidFill>
                  <a:srgbClr val="156082"/>
                </a:solidFill>
                <a:latin typeface="Aptos"/>
              </a:rPr>
              <a:t>GUIDED ONBOARDING</a:t>
            </a:r>
          </a:p>
        </p:txBody>
      </p:sp>
      <p:sp>
        <p:nvSpPr>
          <p:cNvPr id="35" name="Rounded Rectangle 34">
            <a:extLst>
              <a:ext uri="{FF2B5EF4-FFF2-40B4-BE49-F238E27FC236}">
                <a16:creationId xmlns:a16="http://schemas.microsoft.com/office/drawing/2014/main" id="{8347DC3F-5062-C943-978E-A8D2748680B0}"/>
              </a:ext>
            </a:extLst>
          </p:cNvPr>
          <p:cNvSpPr/>
          <p:nvPr/>
        </p:nvSpPr>
        <p:spPr>
          <a:xfrm>
            <a:off x="762000" y="4610100"/>
            <a:ext cx="3302000" cy="406400"/>
          </a:xfrm>
          <a:prstGeom prst="roundRect">
            <a:avLst/>
          </a:prstGeom>
          <a:solidFill>
            <a:srgbClr val="156082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sz="1400" b="1">
                <a:solidFill>
                  <a:srgbClr val="FFFFFF"/>
                </a:solidFill>
                <a:latin typeface="Aptos"/>
              </a:rPr>
              <a:t>1. System Overview</a:t>
            </a:r>
          </a:p>
        </p:txBody>
      </p:sp>
      <p:sp>
        <p:nvSpPr>
          <p:cNvPr id="36" name="Rounded Rectangle 35">
            <a:extLst>
              <a:ext uri="{FF2B5EF4-FFF2-40B4-BE49-F238E27FC236}">
                <a16:creationId xmlns:a16="http://schemas.microsoft.com/office/drawing/2014/main" id="{5450F084-4A4C-2247-AAF5-C97D1A227198}"/>
              </a:ext>
            </a:extLst>
          </p:cNvPr>
          <p:cNvSpPr/>
          <p:nvPr/>
        </p:nvSpPr>
        <p:spPr>
          <a:xfrm>
            <a:off x="4445000" y="4610100"/>
            <a:ext cx="3302000" cy="406400"/>
          </a:xfrm>
          <a:prstGeom prst="roundRect">
            <a:avLst/>
          </a:prstGeom>
          <a:solidFill>
            <a:srgbClr val="0F9ED5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sz="1400" b="1">
                <a:solidFill>
                  <a:srgbClr val="FFFFFF"/>
                </a:solidFill>
                <a:latin typeface="Aptos"/>
              </a:rPr>
              <a:t>2. Key Flows</a:t>
            </a:r>
          </a:p>
        </p:txBody>
      </p:sp>
      <p:sp>
        <p:nvSpPr>
          <p:cNvPr id="37" name="Rounded Rectangle 36">
            <a:extLst>
              <a:ext uri="{FF2B5EF4-FFF2-40B4-BE49-F238E27FC236}">
                <a16:creationId xmlns:a16="http://schemas.microsoft.com/office/drawing/2014/main" id="{37276837-A30C-2F4C-83FF-2B279CF2D265}"/>
              </a:ext>
            </a:extLst>
          </p:cNvPr>
          <p:cNvSpPr/>
          <p:nvPr/>
        </p:nvSpPr>
        <p:spPr>
          <a:xfrm>
            <a:off x="8128000" y="4610100"/>
            <a:ext cx="3302000" cy="406400"/>
          </a:xfrm>
          <a:prstGeom prst="roundRect">
            <a:avLst/>
          </a:prstGeom>
          <a:solidFill>
            <a:srgbClr val="4EA72E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sz="1400" b="1">
                <a:solidFill>
                  <a:srgbClr val="FFFFFF"/>
                </a:solidFill>
                <a:latin typeface="Aptos"/>
              </a:rPr>
              <a:t>3. Deep Dive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F1D507F9-E7EE-8B43-A7F8-32D6ED6A96BB}"/>
              </a:ext>
            </a:extLst>
          </p:cNvPr>
          <p:cNvSpPr txBox="1"/>
          <p:nvPr/>
        </p:nvSpPr>
        <p:spPr>
          <a:xfrm>
            <a:off x="508000" y="5461000"/>
            <a:ext cx="11176000" cy="307777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00">
                <a:solidFill>
                  <a:srgbClr val="666666"/>
                </a:solidFill>
                <a:latin typeface="Aptos"/>
              </a:rPr>
              <a:t>Deployed in client VPC • Optional IDE / web integration</a:t>
            </a:r>
          </a:p>
        </p:txBody>
      </p:sp>
    </p:spTree>
    <p:extLst>
      <p:ext uri="{BB962C8B-B14F-4D97-AF65-F5344CB8AC3E}">
        <p14:creationId xmlns:p14="http://schemas.microsoft.com/office/powerpoint/2010/main" val="378640275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EA56A6B3-3ACC-5440-97D9-4F09AB7932FB}"/>
              </a:ext>
            </a:extLst>
          </p:cNvPr>
          <p:cNvSpPr/>
          <p:nvPr/>
        </p:nvSpPr>
        <p:spPr>
          <a:xfrm>
            <a:off x="0" y="0"/>
            <a:ext cx="12192000" cy="889000"/>
          </a:xfrm>
          <a:prstGeom prst="rect">
            <a:avLst/>
          </a:prstGeom>
          <a:solidFill>
            <a:srgbClr val="0E2841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070AD18-9F74-4C44-98EC-F1250012FABA}"/>
              </a:ext>
            </a:extLst>
          </p:cNvPr>
          <p:cNvSpPr txBox="1"/>
          <p:nvPr/>
        </p:nvSpPr>
        <p:spPr>
          <a:xfrm>
            <a:off x="508000" y="190500"/>
            <a:ext cx="8255000" cy="52322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2800" b="1">
                <a:solidFill>
                  <a:srgbClr val="FFFFFF"/>
                </a:solidFill>
                <a:latin typeface="Aptos Display"/>
              </a:rPr>
              <a:t>Tier 3 — Modernization Accelerator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28AAEE9-1A99-7C42-8B0D-0D803D947483}"/>
              </a:ext>
            </a:extLst>
          </p:cNvPr>
          <p:cNvSpPr/>
          <p:nvPr/>
        </p:nvSpPr>
        <p:spPr>
          <a:xfrm>
            <a:off x="0" y="889000"/>
            <a:ext cx="12192000" cy="38100"/>
          </a:xfrm>
          <a:prstGeom prst="rect">
            <a:avLst/>
          </a:prstGeom>
          <a:solidFill>
            <a:srgbClr val="4EA72E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6DFF419-7126-3547-979C-E2063F5CE9E8}"/>
              </a:ext>
            </a:extLst>
          </p:cNvPr>
          <p:cNvSpPr txBox="1"/>
          <p:nvPr/>
        </p:nvSpPr>
        <p:spPr>
          <a:xfrm>
            <a:off x="508000" y="1143000"/>
            <a:ext cx="5588000" cy="3175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00" b="1">
                <a:solidFill>
                  <a:srgbClr val="4EA72E"/>
                </a:solidFill>
                <a:latin typeface="Aptos"/>
              </a:rPr>
              <a:t>STRANGLER PATTERN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43E990DB-5257-214A-8C9D-11A44469299E}"/>
              </a:ext>
            </a:extLst>
          </p:cNvPr>
          <p:cNvSpPr/>
          <p:nvPr/>
        </p:nvSpPr>
        <p:spPr>
          <a:xfrm>
            <a:off x="698500" y="1587500"/>
            <a:ext cx="1524000" cy="2286000"/>
          </a:xfrm>
          <a:prstGeom prst="roundRect">
            <a:avLst/>
          </a:prstGeom>
          <a:solidFill>
            <a:srgbClr val="8B4D3B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>
            <a:noAutofit/>
          </a:bodyPr>
          <a:lstStyle/>
          <a:p>
            <a:pPr algn="l"/>
            <a:r>
              <a:rPr lang="en-US" sz="1600" b="1">
                <a:solidFill>
                  <a:srgbClr val="FFFFFF"/>
                </a:solidFill>
                <a:latin typeface="Aptos"/>
              </a:rPr>
              <a:t>Monolith</a:t>
            </a:r>
          </a:p>
        </p:txBody>
      </p:sp>
      <p:sp>
        <p:nvSpPr>
          <p:cNvPr id="7" name="Right Arrow 6">
            <a:extLst>
              <a:ext uri="{FF2B5EF4-FFF2-40B4-BE49-F238E27FC236}">
                <a16:creationId xmlns:a16="http://schemas.microsoft.com/office/drawing/2014/main" id="{B9F31589-B67A-6844-B32C-92077CFB4E5D}"/>
              </a:ext>
            </a:extLst>
          </p:cNvPr>
          <p:cNvSpPr/>
          <p:nvPr/>
        </p:nvSpPr>
        <p:spPr>
          <a:xfrm>
            <a:off x="2286000" y="2540000"/>
            <a:ext cx="317500" cy="317500"/>
          </a:xfrm>
          <a:prstGeom prst="rightArrow">
            <a:avLst/>
          </a:prstGeom>
          <a:solidFill>
            <a:srgbClr val="0E2841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C83E9E9E-1A9F-3F40-9FC6-ABE7F9C16F6A}"/>
              </a:ext>
            </a:extLst>
          </p:cNvPr>
          <p:cNvSpPr/>
          <p:nvPr/>
        </p:nvSpPr>
        <p:spPr>
          <a:xfrm>
            <a:off x="2667000" y="1587500"/>
            <a:ext cx="1270000" cy="2286000"/>
          </a:xfrm>
          <a:prstGeom prst="roundRect">
            <a:avLst/>
          </a:prstGeom>
          <a:solidFill>
            <a:srgbClr val="E97132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>
            <a:noAutofit/>
          </a:bodyPr>
          <a:lstStyle/>
          <a:p>
            <a:pPr algn="l"/>
            <a:r>
              <a:rPr lang="en-US" sz="1600" b="1">
                <a:solidFill>
                  <a:srgbClr val="FFFFFF"/>
                </a:solidFill>
                <a:latin typeface="Aptos"/>
              </a:rPr>
              <a:t>Routing
Layer</a:t>
            </a:r>
          </a:p>
        </p:txBody>
      </p:sp>
      <p:sp>
        <p:nvSpPr>
          <p:cNvPr id="9" name="Right Arrow 8">
            <a:extLst>
              <a:ext uri="{FF2B5EF4-FFF2-40B4-BE49-F238E27FC236}">
                <a16:creationId xmlns:a16="http://schemas.microsoft.com/office/drawing/2014/main" id="{13FFBFFA-1D31-4743-A3A9-87B8FF737F26}"/>
              </a:ext>
            </a:extLst>
          </p:cNvPr>
          <p:cNvSpPr/>
          <p:nvPr/>
        </p:nvSpPr>
        <p:spPr>
          <a:xfrm>
            <a:off x="4000500" y="2540000"/>
            <a:ext cx="317500" cy="317500"/>
          </a:xfrm>
          <a:prstGeom prst="rightArrow">
            <a:avLst/>
          </a:prstGeom>
          <a:solidFill>
            <a:srgbClr val="0E2841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39A0CAFE-A459-4F43-A20C-2D760FFE4CF6}"/>
              </a:ext>
            </a:extLst>
          </p:cNvPr>
          <p:cNvSpPr/>
          <p:nvPr/>
        </p:nvSpPr>
        <p:spPr>
          <a:xfrm>
            <a:off x="4381500" y="1587500"/>
            <a:ext cx="2032000" cy="2286000"/>
          </a:xfrm>
          <a:prstGeom prst="roundRect">
            <a:avLst/>
          </a:prstGeom>
          <a:solidFill>
            <a:srgbClr val="4EA72E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>
            <a:noAutofit/>
          </a:bodyPr>
          <a:lstStyle/>
          <a:p>
            <a:pPr algn="l"/>
            <a:r>
              <a:rPr lang="en-US" sz="1600" b="1">
                <a:solidFill>
                  <a:srgbClr val="FFFFFF"/>
                </a:solidFill>
                <a:latin typeface="Aptos"/>
              </a:rPr>
              <a:t>Services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379CA52-B993-C143-B87B-0F2C6383D58B}"/>
              </a:ext>
            </a:extLst>
          </p:cNvPr>
          <p:cNvSpPr txBox="1"/>
          <p:nvPr/>
        </p:nvSpPr>
        <p:spPr>
          <a:xfrm>
            <a:off x="508000" y="4000500"/>
            <a:ext cx="5588000" cy="307777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00">
                <a:solidFill>
                  <a:srgbClr val="666666"/>
                </a:solidFill>
                <a:latin typeface="Aptos"/>
              </a:rPr>
              <a:t>Gradually hollow out the monolith → route traffic → migrate to services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CDCF98D-5F2B-8D46-9BA6-76C1D69892F3}"/>
              </a:ext>
            </a:extLst>
          </p:cNvPr>
          <p:cNvSpPr txBox="1"/>
          <p:nvPr/>
        </p:nvSpPr>
        <p:spPr>
          <a:xfrm>
            <a:off x="6477000" y="1143000"/>
            <a:ext cx="5334000" cy="3175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00" b="1">
                <a:solidFill>
                  <a:srgbClr val="4EA72E"/>
                </a:solidFill>
                <a:latin typeface="Aptos"/>
              </a:rPr>
              <a:t>GENERATED ARTIFACTS</a:t>
            </a:r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08850E74-FAE6-304E-8EFE-E14366E27D26}"/>
              </a:ext>
            </a:extLst>
          </p:cNvPr>
          <p:cNvSpPr/>
          <p:nvPr/>
        </p:nvSpPr>
        <p:spPr>
          <a:xfrm>
            <a:off x="6477000" y="1587500"/>
            <a:ext cx="5207000" cy="863600"/>
          </a:xfrm>
          <a:prstGeom prst="roundRect">
            <a:avLst/>
          </a:prstGeom>
          <a:solidFill>
            <a:srgbClr val="F5F7FA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492A56D-59D7-4F42-9F9F-71F4E324E89F}"/>
              </a:ext>
            </a:extLst>
          </p:cNvPr>
          <p:cNvSpPr txBox="1"/>
          <p:nvPr/>
        </p:nvSpPr>
        <p:spPr>
          <a:xfrm>
            <a:off x="6667500" y="1689100"/>
            <a:ext cx="4826000" cy="338554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600" b="1">
                <a:solidFill>
                  <a:srgbClr val="0E2841"/>
                </a:solidFill>
                <a:latin typeface="Aptos Display"/>
              </a:rPr>
              <a:t>Interface Specs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637AEC9-F99F-214A-9C07-CC6D728C514F}"/>
              </a:ext>
            </a:extLst>
          </p:cNvPr>
          <p:cNvSpPr txBox="1"/>
          <p:nvPr/>
        </p:nvSpPr>
        <p:spPr>
          <a:xfrm>
            <a:off x="6667500" y="2019300"/>
            <a:ext cx="4826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00">
                <a:solidFill>
                  <a:srgbClr val="444444"/>
                </a:solidFill>
                <a:latin typeface="Aptos"/>
              </a:rPr>
              <a:t>Candidate API contracts generated from existing flows</a:t>
            </a:r>
          </a:p>
        </p:txBody>
      </p:sp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5F103499-3F76-4A43-B574-E77AB015247E}"/>
              </a:ext>
            </a:extLst>
          </p:cNvPr>
          <p:cNvSpPr/>
          <p:nvPr/>
        </p:nvSpPr>
        <p:spPr>
          <a:xfrm>
            <a:off x="6477000" y="2603500"/>
            <a:ext cx="5207000" cy="863600"/>
          </a:xfrm>
          <a:prstGeom prst="roundRect">
            <a:avLst/>
          </a:prstGeom>
          <a:solidFill>
            <a:srgbClr val="F5F7FA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8AE0800-78A2-6243-A775-668B0492AF5D}"/>
              </a:ext>
            </a:extLst>
          </p:cNvPr>
          <p:cNvSpPr txBox="1"/>
          <p:nvPr/>
        </p:nvSpPr>
        <p:spPr>
          <a:xfrm>
            <a:off x="6667500" y="2705100"/>
            <a:ext cx="4826000" cy="338554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600" b="1">
                <a:solidFill>
                  <a:srgbClr val="0E2841"/>
                </a:solidFill>
                <a:latin typeface="Aptos Display"/>
              </a:rPr>
              <a:t>Sequence Diagrams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42B0389D-947C-404F-B430-9B89912F0A11}"/>
              </a:ext>
            </a:extLst>
          </p:cNvPr>
          <p:cNvSpPr txBox="1"/>
          <p:nvPr/>
        </p:nvSpPr>
        <p:spPr>
          <a:xfrm>
            <a:off x="6667500" y="3035300"/>
            <a:ext cx="4826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00">
                <a:solidFill>
                  <a:srgbClr val="444444"/>
                </a:solidFill>
                <a:latin typeface="Aptos"/>
              </a:rPr>
              <a:t>Visualize interactions between components</a:t>
            </a:r>
          </a:p>
        </p:txBody>
      </p:sp>
      <p:sp>
        <p:nvSpPr>
          <p:cNvPr id="19" name="Rounded Rectangle 18">
            <a:extLst>
              <a:ext uri="{FF2B5EF4-FFF2-40B4-BE49-F238E27FC236}">
                <a16:creationId xmlns:a16="http://schemas.microsoft.com/office/drawing/2014/main" id="{6E48D0EA-5B0F-574C-BF2B-C39D93CFCF6B}"/>
              </a:ext>
            </a:extLst>
          </p:cNvPr>
          <p:cNvSpPr/>
          <p:nvPr/>
        </p:nvSpPr>
        <p:spPr>
          <a:xfrm>
            <a:off x="6477000" y="3619500"/>
            <a:ext cx="5207000" cy="863600"/>
          </a:xfrm>
          <a:prstGeom prst="roundRect">
            <a:avLst/>
          </a:prstGeom>
          <a:solidFill>
            <a:srgbClr val="F5F7FA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8BBE50FB-2A29-BF4F-A9B8-71B6925C619A}"/>
              </a:ext>
            </a:extLst>
          </p:cNvPr>
          <p:cNvSpPr txBox="1"/>
          <p:nvPr/>
        </p:nvSpPr>
        <p:spPr>
          <a:xfrm>
            <a:off x="6667500" y="3721100"/>
            <a:ext cx="4826000" cy="338554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600" b="1">
                <a:solidFill>
                  <a:srgbClr val="0E2841"/>
                </a:solidFill>
                <a:latin typeface="Aptos Display"/>
              </a:rPr>
              <a:t>Test Suggestions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59E9C78B-A024-774E-8CE8-CEA5B6F7E8AD}"/>
              </a:ext>
            </a:extLst>
          </p:cNvPr>
          <p:cNvSpPr txBox="1"/>
          <p:nvPr/>
        </p:nvSpPr>
        <p:spPr>
          <a:xfrm>
            <a:off x="6667500" y="4051300"/>
            <a:ext cx="4826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00">
                <a:solidFill>
                  <a:srgbClr val="444444"/>
                </a:solidFill>
                <a:latin typeface="Aptos"/>
              </a:rPr>
              <a:t>Ensure new code preserves legacy semantics</a:t>
            </a:r>
          </a:p>
        </p:txBody>
      </p:sp>
      <p:sp>
        <p:nvSpPr>
          <p:cNvPr id="22" name="Rounded Rectangle 21">
            <a:extLst>
              <a:ext uri="{FF2B5EF4-FFF2-40B4-BE49-F238E27FC236}">
                <a16:creationId xmlns:a16="http://schemas.microsoft.com/office/drawing/2014/main" id="{73D1F8C7-FAB1-4B44-8E81-62E2EE23A83B}"/>
              </a:ext>
            </a:extLst>
          </p:cNvPr>
          <p:cNvSpPr/>
          <p:nvPr/>
        </p:nvSpPr>
        <p:spPr>
          <a:xfrm>
            <a:off x="508000" y="4826000"/>
            <a:ext cx="11176000" cy="698500"/>
          </a:xfrm>
          <a:prstGeom prst="roundRect">
            <a:avLst/>
          </a:prstGeom>
          <a:solidFill>
            <a:srgbClr val="EDF5F0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5E09B84A-93FF-9341-9AB0-7C3DF30E2CC0}"/>
              </a:ext>
            </a:extLst>
          </p:cNvPr>
          <p:cNvSpPr txBox="1"/>
          <p:nvPr/>
        </p:nvSpPr>
        <p:spPr>
          <a:xfrm>
            <a:off x="762000" y="4953000"/>
            <a:ext cx="10160000" cy="369332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b="1">
                <a:solidFill>
                  <a:srgbClr val="196B24"/>
                </a:solidFill>
                <a:latin typeface="Aptos Display"/>
              </a:rPr>
              <a:t>AI-assisted refactoring preserves legacy semantics while moving to modern stacks</a:t>
            </a:r>
          </a:p>
        </p:txBody>
      </p:sp>
      <p:pic>
        <p:nvPicPr>
          <p:cNvPr id="24" name="Graphic 24" descr="Lock icon for preserving semantics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049000" y="4927600"/>
            <a:ext cx="508000" cy="50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095901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1" name="bg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702" name="ttl"/>
          <p:cNvSpPr/>
          <p:nvPr/>
        </p:nvSpPr>
        <p:spPr>
          <a:xfrm>
            <a:off x="101600" y="0"/>
            <a:ext cx="11988800" cy="50800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txBody>
          <a:bodyPr wrap="square" lIns="108000" tIns="0" rIns="72000" bIns="0" anchor="ctr"/>
          <a:lstStyle/>
          <a:p>
            <a:pPr algn="l"/>
            <a:r>
              <a:rPr lang="en-US" sz="2000" b="1" dirty="0">
                <a:solidFill>
                  <a:srgbClr val="FFFFFF"/>
                </a:solidFill>
                <a:latin typeface="Aptos Display"/>
              </a:rPr>
              <a:t>Data Pipeline Architecture</a:t>
            </a:r>
          </a:p>
        </p:txBody>
      </p:sp>
      <p:sp>
        <p:nvSpPr>
          <p:cNvPr id="703" name="h"/>
          <p:cNvSpPr/>
          <p:nvPr/>
        </p:nvSpPr>
        <p:spPr>
          <a:xfrm>
            <a:off x="152400" y="584200"/>
            <a:ext cx="1219200" cy="355600"/>
          </a:xfrm>
          <a:prstGeom prst="roundRect">
            <a:avLst>
              <a:gd name="adj" fmla="val 14000"/>
            </a:avLst>
          </a:prstGeom>
          <a:solidFill>
            <a:srgbClr val="4A5568"/>
          </a:solidFill>
          <a:ln>
            <a:noFill/>
          </a:ln>
        </p:spPr>
        <p:txBody>
          <a:bodyPr wrap="square" lIns="14000" tIns="0" rIns="14000" bIns="0" anchor="ctr"/>
          <a:lstStyle/>
          <a:p>
            <a:pPr algn="ctr">
              <a:lnSpc>
                <a:spcPts val="1000"/>
              </a:lnSpc>
            </a:pPr>
            <a:r>
              <a:rPr lang="en-US" sz="900" b="1" dirty="0">
                <a:solidFill>
                  <a:srgbClr val="FFFFFF"/>
                </a:solidFill>
                <a:latin typeface="Aptos"/>
              </a:rPr>
              <a:t>Source
Systems</a:t>
            </a:r>
          </a:p>
        </p:txBody>
      </p:sp>
      <p:sp>
        <p:nvSpPr>
          <p:cNvPr id="704" name="acc"/>
          <p:cNvSpPr/>
          <p:nvPr/>
        </p:nvSpPr>
        <p:spPr>
          <a:xfrm>
            <a:off x="152400" y="990600"/>
            <a:ext cx="50800" cy="609600"/>
          </a:xfrm>
          <a:prstGeom prst="rect">
            <a:avLst/>
          </a:prstGeom>
          <a:solidFill>
            <a:srgbClr val="4A5568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705" name="bx"/>
          <p:cNvSpPr/>
          <p:nvPr/>
        </p:nvSpPr>
        <p:spPr>
          <a:xfrm>
            <a:off x="203200" y="990600"/>
            <a:ext cx="1168400" cy="609600"/>
          </a:xfrm>
          <a:prstGeom prst="rect">
            <a:avLst/>
          </a:prstGeom>
          <a:solidFill>
            <a:srgbClr val="F7F8FA"/>
          </a:solidFill>
          <a:ln w="6350">
            <a:solidFill>
              <a:srgbClr val="E2E8F0"/>
            </a:solidFill>
          </a:ln>
        </p:spPr>
        <p:txBody>
          <a:bodyPr wrap="square" lIns="27000" tIns="0" rIns="9000" bIns="0" anchor="ctr"/>
          <a:lstStyle/>
          <a:p>
            <a:pPr algn="ctr">
              <a:lnSpc>
                <a:spcPts val="1050"/>
              </a:lnSpc>
            </a:pPr>
            <a:r>
              <a:rPr lang="en-US" sz="850" b="1" dirty="0">
                <a:solidFill>
                  <a:srgbClr val="1A1A2E"/>
                </a:solidFill>
                <a:latin typeface="Aptos"/>
              </a:rPr>
              <a:t>SQL Server</a:t>
            </a:r>
          </a:p>
        </p:txBody>
      </p:sp>
      <p:sp>
        <p:nvSpPr>
          <p:cNvPr id="706" name="acc"/>
          <p:cNvSpPr/>
          <p:nvPr/>
        </p:nvSpPr>
        <p:spPr>
          <a:xfrm>
            <a:off x="152400" y="1676400"/>
            <a:ext cx="50800" cy="609600"/>
          </a:xfrm>
          <a:prstGeom prst="rect">
            <a:avLst/>
          </a:prstGeom>
          <a:solidFill>
            <a:srgbClr val="4A5568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707" name="bx"/>
          <p:cNvSpPr/>
          <p:nvPr/>
        </p:nvSpPr>
        <p:spPr>
          <a:xfrm>
            <a:off x="203200" y="1676400"/>
            <a:ext cx="1168400" cy="609600"/>
          </a:xfrm>
          <a:prstGeom prst="rect">
            <a:avLst/>
          </a:prstGeom>
          <a:solidFill>
            <a:srgbClr val="F7F8FA"/>
          </a:solidFill>
          <a:ln w="6350">
            <a:solidFill>
              <a:srgbClr val="E2E8F0"/>
            </a:solidFill>
          </a:ln>
        </p:spPr>
        <p:txBody>
          <a:bodyPr wrap="square" lIns="27000" tIns="0" rIns="9000" bIns="0" anchor="ctr"/>
          <a:lstStyle/>
          <a:p>
            <a:pPr algn="ctr">
              <a:lnSpc>
                <a:spcPts val="1050"/>
              </a:lnSpc>
            </a:pPr>
            <a:r>
              <a:rPr lang="en-US" sz="850" b="1" dirty="0">
                <a:solidFill>
                  <a:srgbClr val="1A1A2E"/>
                </a:solidFill>
                <a:latin typeface="Aptos"/>
              </a:rPr>
              <a:t>Oracle</a:t>
            </a:r>
          </a:p>
        </p:txBody>
      </p:sp>
      <p:sp>
        <p:nvSpPr>
          <p:cNvPr id="708" name="acc"/>
          <p:cNvSpPr/>
          <p:nvPr/>
        </p:nvSpPr>
        <p:spPr>
          <a:xfrm>
            <a:off x="152400" y="2362200"/>
            <a:ext cx="50800" cy="609600"/>
          </a:xfrm>
          <a:prstGeom prst="rect">
            <a:avLst/>
          </a:prstGeom>
          <a:solidFill>
            <a:srgbClr val="4A5568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709" name="bx"/>
          <p:cNvSpPr/>
          <p:nvPr/>
        </p:nvSpPr>
        <p:spPr>
          <a:xfrm>
            <a:off x="203200" y="2362200"/>
            <a:ext cx="1168400" cy="609600"/>
          </a:xfrm>
          <a:prstGeom prst="rect">
            <a:avLst/>
          </a:prstGeom>
          <a:solidFill>
            <a:srgbClr val="F7F8FA"/>
          </a:solidFill>
          <a:ln w="6350">
            <a:solidFill>
              <a:srgbClr val="E2E8F0"/>
            </a:solidFill>
          </a:ln>
        </p:spPr>
        <p:txBody>
          <a:bodyPr wrap="square" lIns="27000" tIns="0" rIns="9000" bIns="0" anchor="ctr"/>
          <a:lstStyle/>
          <a:p>
            <a:pPr algn="ctr">
              <a:lnSpc>
                <a:spcPts val="1050"/>
              </a:lnSpc>
            </a:pPr>
            <a:r>
              <a:rPr lang="en-US" sz="850" b="1" dirty="0">
                <a:solidFill>
                  <a:srgbClr val="1A1A2E"/>
                </a:solidFill>
                <a:latin typeface="Aptos"/>
              </a:rPr>
              <a:t>REST APIs</a:t>
            </a:r>
          </a:p>
        </p:txBody>
      </p:sp>
      <p:sp>
        <p:nvSpPr>
          <p:cNvPr id="710" name="acc"/>
          <p:cNvSpPr/>
          <p:nvPr/>
        </p:nvSpPr>
        <p:spPr>
          <a:xfrm>
            <a:off x="152400" y="3048000"/>
            <a:ext cx="50800" cy="609600"/>
          </a:xfrm>
          <a:prstGeom prst="rect">
            <a:avLst/>
          </a:prstGeom>
          <a:solidFill>
            <a:srgbClr val="4A5568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711" name="bx"/>
          <p:cNvSpPr/>
          <p:nvPr/>
        </p:nvSpPr>
        <p:spPr>
          <a:xfrm>
            <a:off x="203200" y="3048000"/>
            <a:ext cx="1168400" cy="609600"/>
          </a:xfrm>
          <a:prstGeom prst="rect">
            <a:avLst/>
          </a:prstGeom>
          <a:solidFill>
            <a:srgbClr val="F7F8FA"/>
          </a:solidFill>
          <a:ln w="6350">
            <a:solidFill>
              <a:srgbClr val="E2E8F0"/>
            </a:solidFill>
          </a:ln>
        </p:spPr>
        <p:txBody>
          <a:bodyPr wrap="square" lIns="27000" tIns="0" rIns="9000" bIns="0" anchor="ctr"/>
          <a:lstStyle/>
          <a:p>
            <a:pPr algn="ctr">
              <a:lnSpc>
                <a:spcPts val="1050"/>
              </a:lnSpc>
            </a:pPr>
            <a:r>
              <a:rPr lang="en-US" sz="850" b="1" dirty="0">
                <a:solidFill>
                  <a:srgbClr val="1A1A2E"/>
                </a:solidFill>
                <a:latin typeface="Aptos"/>
              </a:rPr>
              <a:t>SAP / D365</a:t>
            </a:r>
          </a:p>
        </p:txBody>
      </p:sp>
      <p:sp>
        <p:nvSpPr>
          <p:cNvPr id="712" name="acc"/>
          <p:cNvSpPr/>
          <p:nvPr/>
        </p:nvSpPr>
        <p:spPr>
          <a:xfrm>
            <a:off x="152400" y="3733800"/>
            <a:ext cx="50800" cy="609600"/>
          </a:xfrm>
          <a:prstGeom prst="rect">
            <a:avLst/>
          </a:prstGeom>
          <a:solidFill>
            <a:srgbClr val="4A5568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713" name="bx"/>
          <p:cNvSpPr/>
          <p:nvPr/>
        </p:nvSpPr>
        <p:spPr>
          <a:xfrm>
            <a:off x="203200" y="3733800"/>
            <a:ext cx="1168400" cy="609600"/>
          </a:xfrm>
          <a:prstGeom prst="rect">
            <a:avLst/>
          </a:prstGeom>
          <a:solidFill>
            <a:srgbClr val="F7F8FA"/>
          </a:solidFill>
          <a:ln w="6350">
            <a:solidFill>
              <a:srgbClr val="E2E8F0"/>
            </a:solidFill>
          </a:ln>
        </p:spPr>
        <p:txBody>
          <a:bodyPr wrap="square" lIns="27000" tIns="0" rIns="9000" bIns="0" anchor="ctr"/>
          <a:lstStyle/>
          <a:p>
            <a:pPr algn="ctr">
              <a:lnSpc>
                <a:spcPts val="1050"/>
              </a:lnSpc>
            </a:pPr>
            <a:r>
              <a:rPr lang="en-US" sz="850" b="1" dirty="0">
                <a:solidFill>
                  <a:srgbClr val="1A1A2E"/>
                </a:solidFill>
                <a:latin typeface="Aptos"/>
              </a:rPr>
              <a:t>Kafka</a:t>
            </a:r>
          </a:p>
        </p:txBody>
      </p:sp>
      <p:sp>
        <p:nvSpPr>
          <p:cNvPr id="714" name="acc"/>
          <p:cNvSpPr/>
          <p:nvPr/>
        </p:nvSpPr>
        <p:spPr>
          <a:xfrm>
            <a:off x="152400" y="4419600"/>
            <a:ext cx="50800" cy="609600"/>
          </a:xfrm>
          <a:prstGeom prst="rect">
            <a:avLst/>
          </a:prstGeom>
          <a:solidFill>
            <a:srgbClr val="4A5568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715" name="bx"/>
          <p:cNvSpPr/>
          <p:nvPr/>
        </p:nvSpPr>
        <p:spPr>
          <a:xfrm>
            <a:off x="203200" y="4419600"/>
            <a:ext cx="1168400" cy="609600"/>
          </a:xfrm>
          <a:prstGeom prst="rect">
            <a:avLst/>
          </a:prstGeom>
          <a:solidFill>
            <a:srgbClr val="F7F8FA"/>
          </a:solidFill>
          <a:ln w="6350">
            <a:solidFill>
              <a:srgbClr val="E2E8F0"/>
            </a:solidFill>
          </a:ln>
        </p:spPr>
        <p:txBody>
          <a:bodyPr wrap="square" lIns="27000" tIns="0" rIns="9000" bIns="0" anchor="ctr"/>
          <a:lstStyle/>
          <a:p>
            <a:pPr algn="ctr">
              <a:lnSpc>
                <a:spcPts val="1050"/>
              </a:lnSpc>
            </a:pPr>
            <a:r>
              <a:rPr lang="en-US" sz="850" b="1" dirty="0">
                <a:solidFill>
                  <a:srgbClr val="1A1A2E"/>
                </a:solidFill>
                <a:latin typeface="Aptos"/>
              </a:rPr>
              <a:t>IoT Hub</a:t>
            </a:r>
          </a:p>
        </p:txBody>
      </p:sp>
      <p:sp>
        <p:nvSpPr>
          <p:cNvPr id="716" name="h"/>
          <p:cNvSpPr/>
          <p:nvPr/>
        </p:nvSpPr>
        <p:spPr>
          <a:xfrm>
            <a:off x="1841500" y="584200"/>
            <a:ext cx="1270000" cy="355600"/>
          </a:xfrm>
          <a:prstGeom prst="roundRect">
            <a:avLst>
              <a:gd name="adj" fmla="val 14000"/>
            </a:avLst>
          </a:prstGeom>
          <a:solidFill>
            <a:srgbClr val="E97132"/>
          </a:solidFill>
          <a:ln>
            <a:noFill/>
          </a:ln>
        </p:spPr>
        <p:txBody>
          <a:bodyPr wrap="square" lIns="14000" tIns="0" rIns="14000" bIns="0" anchor="ctr"/>
          <a:lstStyle/>
          <a:p>
            <a:pPr algn="ctr">
              <a:lnSpc>
                <a:spcPts val="1000"/>
              </a:lnSpc>
            </a:pPr>
            <a:r>
              <a:rPr lang="en-US" sz="900" b="1" dirty="0">
                <a:solidFill>
                  <a:srgbClr val="FFFFFF"/>
                </a:solidFill>
                <a:latin typeface="Aptos"/>
              </a:rPr>
              <a:t>Ingestion</a:t>
            </a:r>
          </a:p>
        </p:txBody>
      </p:sp>
      <p:sp>
        <p:nvSpPr>
          <p:cNvPr id="717" name="acc"/>
          <p:cNvSpPr/>
          <p:nvPr/>
        </p:nvSpPr>
        <p:spPr>
          <a:xfrm>
            <a:off x="1841500" y="990600"/>
            <a:ext cx="50800" cy="698500"/>
          </a:xfrm>
          <a:prstGeom prst="rect">
            <a:avLst/>
          </a:prstGeom>
          <a:solidFill>
            <a:srgbClr val="E97132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718" name="bx"/>
          <p:cNvSpPr/>
          <p:nvPr/>
        </p:nvSpPr>
        <p:spPr>
          <a:xfrm>
            <a:off x="1892300" y="990600"/>
            <a:ext cx="1219200" cy="698500"/>
          </a:xfrm>
          <a:prstGeom prst="rect">
            <a:avLst/>
          </a:prstGeom>
          <a:solidFill>
            <a:srgbClr val="F7F8FA"/>
          </a:solidFill>
          <a:ln w="6350">
            <a:solidFill>
              <a:srgbClr val="E2E8F0"/>
            </a:solidFill>
          </a:ln>
        </p:spPr>
        <p:txBody>
          <a:bodyPr wrap="square" lIns="27000" tIns="0" rIns="9000" bIns="0" anchor="ctr"/>
          <a:lstStyle/>
          <a:p>
            <a:pPr algn="ctr">
              <a:lnSpc>
                <a:spcPts val="1050"/>
              </a:lnSpc>
            </a:pPr>
            <a:r>
              <a:rPr lang="en-US" sz="850" b="1" dirty="0">
                <a:solidFill>
                  <a:srgbClr val="1A1A2E"/>
                </a:solidFill>
                <a:latin typeface="Aptos"/>
              </a:rPr>
              <a:t>Azure Data</a:t>
            </a:r>
          </a:p>
          <a:p>
            <a:pPr algn="ctr">
              <a:lnSpc>
                <a:spcPts val="1050"/>
              </a:lnSpc>
            </a:pPr>
            <a:r>
              <a:rPr lang="en-US" sz="850" b="1" dirty="0">
                <a:solidFill>
                  <a:srgbClr val="1A1A2E"/>
                </a:solidFill>
                <a:latin typeface="Aptos"/>
              </a:rPr>
              <a:t>Factory</a:t>
            </a:r>
          </a:p>
        </p:txBody>
      </p:sp>
      <p:sp>
        <p:nvSpPr>
          <p:cNvPr id="719" name="acc"/>
          <p:cNvSpPr/>
          <p:nvPr/>
        </p:nvSpPr>
        <p:spPr>
          <a:xfrm>
            <a:off x="1841500" y="2120900"/>
            <a:ext cx="50800" cy="698500"/>
          </a:xfrm>
          <a:prstGeom prst="rect">
            <a:avLst/>
          </a:prstGeom>
          <a:solidFill>
            <a:srgbClr val="E97132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720" name="bx"/>
          <p:cNvSpPr/>
          <p:nvPr/>
        </p:nvSpPr>
        <p:spPr>
          <a:xfrm>
            <a:off x="1892300" y="2120900"/>
            <a:ext cx="1219200" cy="698500"/>
          </a:xfrm>
          <a:prstGeom prst="rect">
            <a:avLst/>
          </a:prstGeom>
          <a:solidFill>
            <a:srgbClr val="F7F8FA"/>
          </a:solidFill>
          <a:ln w="6350">
            <a:solidFill>
              <a:srgbClr val="E2E8F0"/>
            </a:solidFill>
          </a:ln>
        </p:spPr>
        <p:txBody>
          <a:bodyPr wrap="square" lIns="27000" tIns="0" rIns="9000" bIns="0" anchor="ctr"/>
          <a:lstStyle/>
          <a:p>
            <a:pPr algn="ctr">
              <a:lnSpc>
                <a:spcPts val="1050"/>
              </a:lnSpc>
            </a:pPr>
            <a:r>
              <a:rPr lang="en-US" sz="850" b="1" dirty="0">
                <a:solidFill>
                  <a:srgbClr val="1A1A2E"/>
                </a:solidFill>
                <a:latin typeface="Aptos"/>
              </a:rPr>
              <a:t>Event Hubs</a:t>
            </a:r>
          </a:p>
        </p:txBody>
      </p:sp>
      <p:sp>
        <p:nvSpPr>
          <p:cNvPr id="721" name="acc"/>
          <p:cNvSpPr/>
          <p:nvPr/>
        </p:nvSpPr>
        <p:spPr>
          <a:xfrm>
            <a:off x="1841500" y="3251200"/>
            <a:ext cx="50800" cy="698500"/>
          </a:xfrm>
          <a:prstGeom prst="rect">
            <a:avLst/>
          </a:prstGeom>
          <a:solidFill>
            <a:srgbClr val="E97132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722" name="bx"/>
          <p:cNvSpPr/>
          <p:nvPr/>
        </p:nvSpPr>
        <p:spPr>
          <a:xfrm>
            <a:off x="1892300" y="3251200"/>
            <a:ext cx="1219200" cy="698500"/>
          </a:xfrm>
          <a:prstGeom prst="rect">
            <a:avLst/>
          </a:prstGeom>
          <a:solidFill>
            <a:srgbClr val="F7F8FA"/>
          </a:solidFill>
          <a:ln w="6350">
            <a:solidFill>
              <a:srgbClr val="E2E8F0"/>
            </a:solidFill>
          </a:ln>
        </p:spPr>
        <p:txBody>
          <a:bodyPr wrap="square" lIns="27000" tIns="0" rIns="9000" bIns="0" anchor="ctr"/>
          <a:lstStyle/>
          <a:p>
            <a:pPr algn="ctr">
              <a:lnSpc>
                <a:spcPts val="1050"/>
              </a:lnSpc>
            </a:pPr>
            <a:r>
              <a:rPr lang="en-US" sz="850" b="1" dirty="0">
                <a:solidFill>
                  <a:srgbClr val="1A1A2E"/>
                </a:solidFill>
                <a:latin typeface="Aptos"/>
              </a:rPr>
              <a:t>Azure</a:t>
            </a:r>
          </a:p>
          <a:p>
            <a:pPr algn="ctr">
              <a:lnSpc>
                <a:spcPts val="1050"/>
              </a:lnSpc>
            </a:pPr>
            <a:r>
              <a:rPr lang="en-US" sz="850" b="1" dirty="0">
                <a:solidFill>
                  <a:srgbClr val="1A1A2E"/>
                </a:solidFill>
                <a:latin typeface="Aptos"/>
              </a:rPr>
              <a:t>Functions</a:t>
            </a:r>
          </a:p>
        </p:txBody>
      </p:sp>
      <p:sp>
        <p:nvSpPr>
          <p:cNvPr id="723" name="acc"/>
          <p:cNvSpPr/>
          <p:nvPr/>
        </p:nvSpPr>
        <p:spPr>
          <a:xfrm>
            <a:off x="1841500" y="4381500"/>
            <a:ext cx="50800" cy="698500"/>
          </a:xfrm>
          <a:prstGeom prst="rect">
            <a:avLst/>
          </a:prstGeom>
          <a:solidFill>
            <a:srgbClr val="E97132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724" name="bx"/>
          <p:cNvSpPr/>
          <p:nvPr/>
        </p:nvSpPr>
        <p:spPr>
          <a:xfrm>
            <a:off x="1892300" y="4381500"/>
            <a:ext cx="1219200" cy="698500"/>
          </a:xfrm>
          <a:prstGeom prst="rect">
            <a:avLst/>
          </a:prstGeom>
          <a:solidFill>
            <a:srgbClr val="F7F8FA"/>
          </a:solidFill>
          <a:ln w="6350">
            <a:solidFill>
              <a:srgbClr val="E2E8F0"/>
            </a:solidFill>
          </a:ln>
        </p:spPr>
        <p:txBody>
          <a:bodyPr wrap="square" lIns="27000" tIns="0" rIns="9000" bIns="0" anchor="ctr"/>
          <a:lstStyle/>
          <a:p>
            <a:pPr algn="ctr">
              <a:lnSpc>
                <a:spcPts val="1050"/>
              </a:lnSpc>
            </a:pPr>
            <a:r>
              <a:rPr lang="en-US" sz="850" b="1" dirty="0">
                <a:solidFill>
                  <a:srgbClr val="1A1A2E"/>
                </a:solidFill>
                <a:latin typeface="Aptos"/>
              </a:rPr>
              <a:t>Auto Loader</a:t>
            </a:r>
          </a:p>
        </p:txBody>
      </p:sp>
      <p:sp>
        <p:nvSpPr>
          <p:cNvPr id="725" name="h"/>
          <p:cNvSpPr/>
          <p:nvPr/>
        </p:nvSpPr>
        <p:spPr>
          <a:xfrm>
            <a:off x="3581400" y="584200"/>
            <a:ext cx="1143000" cy="355600"/>
          </a:xfrm>
          <a:prstGeom prst="roundRect">
            <a:avLst>
              <a:gd name="adj" fmla="val 14000"/>
            </a:avLst>
          </a:prstGeom>
          <a:solidFill>
            <a:srgbClr val="0078D4"/>
          </a:solidFill>
          <a:ln>
            <a:noFill/>
          </a:ln>
        </p:spPr>
        <p:txBody>
          <a:bodyPr wrap="square" lIns="14000" tIns="0" rIns="14000" bIns="0" anchor="ctr"/>
          <a:lstStyle/>
          <a:p>
            <a:pPr algn="ctr">
              <a:lnSpc>
                <a:spcPts val="1000"/>
              </a:lnSpc>
            </a:pPr>
            <a:r>
              <a:rPr lang="en-US" sz="900" b="1" dirty="0">
                <a:solidFill>
                  <a:srgbClr val="FFFFFF"/>
                </a:solidFill>
                <a:latin typeface="Aptos"/>
              </a:rPr>
              <a:t>Raw Landing</a:t>
            </a:r>
          </a:p>
        </p:txBody>
      </p:sp>
      <p:sp>
        <p:nvSpPr>
          <p:cNvPr id="726" name="acc"/>
          <p:cNvSpPr/>
          <p:nvPr/>
        </p:nvSpPr>
        <p:spPr>
          <a:xfrm>
            <a:off x="3581400" y="990600"/>
            <a:ext cx="50800" cy="69850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727" name="bx"/>
          <p:cNvSpPr/>
          <p:nvPr/>
        </p:nvSpPr>
        <p:spPr>
          <a:xfrm>
            <a:off x="3632200" y="990600"/>
            <a:ext cx="1092200" cy="698500"/>
          </a:xfrm>
          <a:prstGeom prst="rect">
            <a:avLst/>
          </a:prstGeom>
          <a:solidFill>
            <a:srgbClr val="F7F8FA"/>
          </a:solidFill>
          <a:ln w="6350">
            <a:solidFill>
              <a:srgbClr val="E2E8F0"/>
            </a:solidFill>
          </a:ln>
        </p:spPr>
        <p:txBody>
          <a:bodyPr wrap="square" lIns="27000" tIns="0" rIns="9000" bIns="0" anchor="ctr"/>
          <a:lstStyle/>
          <a:p>
            <a:pPr algn="ctr">
              <a:lnSpc>
                <a:spcPts val="1050"/>
              </a:lnSpc>
            </a:pPr>
            <a:r>
              <a:rPr lang="en-US" sz="850" b="1" dirty="0">
                <a:solidFill>
                  <a:srgbClr val="1A1A2E"/>
                </a:solidFill>
                <a:latin typeface="Aptos"/>
              </a:rPr>
              <a:t>ADLS Gen2</a:t>
            </a:r>
          </a:p>
        </p:txBody>
      </p:sp>
      <p:sp>
        <p:nvSpPr>
          <p:cNvPr id="728" name="acc"/>
          <p:cNvSpPr/>
          <p:nvPr/>
        </p:nvSpPr>
        <p:spPr>
          <a:xfrm>
            <a:off x="3581400" y="2679700"/>
            <a:ext cx="50800" cy="69850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729" name="bx"/>
          <p:cNvSpPr/>
          <p:nvPr/>
        </p:nvSpPr>
        <p:spPr>
          <a:xfrm>
            <a:off x="3632200" y="2679700"/>
            <a:ext cx="1092200" cy="698500"/>
          </a:xfrm>
          <a:prstGeom prst="rect">
            <a:avLst/>
          </a:prstGeom>
          <a:solidFill>
            <a:srgbClr val="F7F8FA"/>
          </a:solidFill>
          <a:ln w="6350">
            <a:solidFill>
              <a:srgbClr val="E2E8F0"/>
            </a:solidFill>
          </a:ln>
        </p:spPr>
        <p:txBody>
          <a:bodyPr wrap="square" lIns="27000" tIns="0" rIns="9000" bIns="0" anchor="ctr"/>
          <a:lstStyle/>
          <a:p>
            <a:pPr algn="ctr">
              <a:lnSpc>
                <a:spcPts val="1050"/>
              </a:lnSpc>
            </a:pPr>
            <a:r>
              <a:rPr lang="en-US" sz="850" b="1" dirty="0">
                <a:solidFill>
                  <a:srgbClr val="1A1A2E"/>
                </a:solidFill>
                <a:latin typeface="Aptos"/>
              </a:rPr>
              <a:t>Delta Lake</a:t>
            </a:r>
          </a:p>
          <a:p>
            <a:pPr algn="ctr">
              <a:lnSpc>
                <a:spcPts val="1050"/>
              </a:lnSpc>
            </a:pPr>
            <a:r>
              <a:rPr lang="en-US" sz="850" b="1" dirty="0">
                <a:solidFill>
                  <a:srgbClr val="1A1A2E"/>
                </a:solidFill>
                <a:latin typeface="Aptos"/>
              </a:rPr>
              <a:t>(Raw)</a:t>
            </a:r>
          </a:p>
        </p:txBody>
      </p:sp>
      <p:sp>
        <p:nvSpPr>
          <p:cNvPr id="730" name="acc"/>
          <p:cNvSpPr/>
          <p:nvPr/>
        </p:nvSpPr>
        <p:spPr>
          <a:xfrm>
            <a:off x="3581400" y="4368800"/>
            <a:ext cx="50800" cy="69850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731" name="bx"/>
          <p:cNvSpPr/>
          <p:nvPr/>
        </p:nvSpPr>
        <p:spPr>
          <a:xfrm>
            <a:off x="3632200" y="4368800"/>
            <a:ext cx="1092200" cy="698500"/>
          </a:xfrm>
          <a:prstGeom prst="rect">
            <a:avLst/>
          </a:prstGeom>
          <a:solidFill>
            <a:srgbClr val="F7F8FA"/>
          </a:solidFill>
          <a:ln w="6350">
            <a:solidFill>
              <a:srgbClr val="E2E8F0"/>
            </a:solidFill>
          </a:ln>
        </p:spPr>
        <p:txBody>
          <a:bodyPr wrap="square" lIns="27000" tIns="0" rIns="9000" bIns="0" anchor="ctr"/>
          <a:lstStyle/>
          <a:p>
            <a:pPr algn="ctr">
              <a:lnSpc>
                <a:spcPts val="1050"/>
              </a:lnSpc>
            </a:pPr>
            <a:r>
              <a:rPr lang="en-US" sz="850" b="1" dirty="0">
                <a:solidFill>
                  <a:srgbClr val="1A1A2E"/>
                </a:solidFill>
                <a:latin typeface="Aptos"/>
              </a:rPr>
              <a:t>Schema</a:t>
            </a:r>
          </a:p>
          <a:p>
            <a:pPr algn="ctr">
              <a:lnSpc>
                <a:spcPts val="1050"/>
              </a:lnSpc>
            </a:pPr>
            <a:r>
              <a:rPr lang="en-US" sz="850" b="1" dirty="0">
                <a:solidFill>
                  <a:srgbClr val="1A1A2E"/>
                </a:solidFill>
                <a:latin typeface="Aptos"/>
              </a:rPr>
              <a:t>Registry</a:t>
            </a:r>
          </a:p>
        </p:txBody>
      </p:sp>
      <p:sp>
        <p:nvSpPr>
          <p:cNvPr id="732" name="h"/>
          <p:cNvSpPr/>
          <p:nvPr/>
        </p:nvSpPr>
        <p:spPr>
          <a:xfrm>
            <a:off x="5194300" y="584200"/>
            <a:ext cx="1143000" cy="355600"/>
          </a:xfrm>
          <a:prstGeom prst="roundRect">
            <a:avLst>
              <a:gd name="adj" fmla="val 14000"/>
            </a:avLst>
          </a:prstGeom>
          <a:solidFill>
            <a:srgbClr val="8B4D3B"/>
          </a:solidFill>
          <a:ln>
            <a:noFill/>
          </a:ln>
        </p:spPr>
        <p:txBody>
          <a:bodyPr wrap="square" lIns="14000" tIns="0" rIns="14000" bIns="0" anchor="ctr"/>
          <a:lstStyle/>
          <a:p>
            <a:pPr algn="ctr">
              <a:lnSpc>
                <a:spcPts val="1000"/>
              </a:lnSpc>
            </a:pPr>
            <a:r>
              <a:rPr lang="en-US" sz="900" b="1" dirty="0">
                <a:solidFill>
                  <a:srgbClr val="FFFFFF"/>
                </a:solidFill>
                <a:latin typeface="Aptos"/>
              </a:rPr>
              <a:t>Bronze</a:t>
            </a:r>
          </a:p>
        </p:txBody>
      </p:sp>
      <p:sp>
        <p:nvSpPr>
          <p:cNvPr id="733" name="acc"/>
          <p:cNvSpPr/>
          <p:nvPr/>
        </p:nvSpPr>
        <p:spPr>
          <a:xfrm>
            <a:off x="5194300" y="990600"/>
            <a:ext cx="50800" cy="698500"/>
          </a:xfrm>
          <a:prstGeom prst="rect">
            <a:avLst/>
          </a:prstGeom>
          <a:solidFill>
            <a:srgbClr val="8B4D3B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734" name="bx"/>
          <p:cNvSpPr/>
          <p:nvPr/>
        </p:nvSpPr>
        <p:spPr>
          <a:xfrm>
            <a:off x="5245100" y="990600"/>
            <a:ext cx="1092200" cy="698500"/>
          </a:xfrm>
          <a:prstGeom prst="rect">
            <a:avLst/>
          </a:prstGeom>
          <a:solidFill>
            <a:srgbClr val="F7F8FA"/>
          </a:solidFill>
          <a:ln w="6350">
            <a:solidFill>
              <a:srgbClr val="E2E8F0"/>
            </a:solidFill>
          </a:ln>
        </p:spPr>
        <p:txBody>
          <a:bodyPr wrap="square" lIns="27000" tIns="0" rIns="9000" bIns="0" anchor="ctr"/>
          <a:lstStyle/>
          <a:p>
            <a:pPr algn="ctr">
              <a:lnSpc>
                <a:spcPts val="1050"/>
              </a:lnSpc>
            </a:pPr>
            <a:r>
              <a:rPr lang="en-US" sz="850" b="1" dirty="0">
                <a:solidFill>
                  <a:srgbClr val="1A1A2E"/>
                </a:solidFill>
                <a:latin typeface="Aptos"/>
              </a:rPr>
              <a:t>Raw Tables</a:t>
            </a:r>
          </a:p>
        </p:txBody>
      </p:sp>
      <p:sp>
        <p:nvSpPr>
          <p:cNvPr id="735" name="acc"/>
          <p:cNvSpPr/>
          <p:nvPr/>
        </p:nvSpPr>
        <p:spPr>
          <a:xfrm>
            <a:off x="5194300" y="2120900"/>
            <a:ext cx="50800" cy="698500"/>
          </a:xfrm>
          <a:prstGeom prst="rect">
            <a:avLst/>
          </a:prstGeom>
          <a:solidFill>
            <a:srgbClr val="8B4D3B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736" name="bx"/>
          <p:cNvSpPr/>
          <p:nvPr/>
        </p:nvSpPr>
        <p:spPr>
          <a:xfrm>
            <a:off x="5245100" y="2120900"/>
            <a:ext cx="1092200" cy="698500"/>
          </a:xfrm>
          <a:prstGeom prst="rect">
            <a:avLst/>
          </a:prstGeom>
          <a:solidFill>
            <a:srgbClr val="F7F8FA"/>
          </a:solidFill>
          <a:ln w="6350">
            <a:solidFill>
              <a:srgbClr val="E2E8F0"/>
            </a:solidFill>
          </a:ln>
        </p:spPr>
        <p:txBody>
          <a:bodyPr wrap="square" lIns="27000" tIns="0" rIns="9000" bIns="0" anchor="ctr"/>
          <a:lstStyle/>
          <a:p>
            <a:pPr algn="ctr">
              <a:lnSpc>
                <a:spcPts val="1050"/>
              </a:lnSpc>
            </a:pPr>
            <a:r>
              <a:rPr lang="en-US" sz="850" b="1" dirty="0">
                <a:solidFill>
                  <a:srgbClr val="1A1A2E"/>
                </a:solidFill>
                <a:latin typeface="Aptos"/>
              </a:rPr>
              <a:t>Schema on</a:t>
            </a:r>
          </a:p>
          <a:p>
            <a:pPr algn="ctr">
              <a:lnSpc>
                <a:spcPts val="1050"/>
              </a:lnSpc>
            </a:pPr>
            <a:r>
              <a:rPr lang="en-US" sz="850" b="1" dirty="0">
                <a:solidFill>
                  <a:srgbClr val="1A1A2E"/>
                </a:solidFill>
                <a:latin typeface="Aptos"/>
              </a:rPr>
              <a:t>Read</a:t>
            </a:r>
          </a:p>
        </p:txBody>
      </p:sp>
      <p:sp>
        <p:nvSpPr>
          <p:cNvPr id="737" name="acc"/>
          <p:cNvSpPr/>
          <p:nvPr/>
        </p:nvSpPr>
        <p:spPr>
          <a:xfrm>
            <a:off x="5194300" y="3251200"/>
            <a:ext cx="50800" cy="698500"/>
          </a:xfrm>
          <a:prstGeom prst="rect">
            <a:avLst/>
          </a:prstGeom>
          <a:solidFill>
            <a:srgbClr val="8B4D3B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738" name="bx"/>
          <p:cNvSpPr/>
          <p:nvPr/>
        </p:nvSpPr>
        <p:spPr>
          <a:xfrm>
            <a:off x="5245100" y="3251200"/>
            <a:ext cx="1092200" cy="698500"/>
          </a:xfrm>
          <a:prstGeom prst="rect">
            <a:avLst/>
          </a:prstGeom>
          <a:solidFill>
            <a:srgbClr val="F7F8FA"/>
          </a:solidFill>
          <a:ln w="6350">
            <a:solidFill>
              <a:srgbClr val="E2E8F0"/>
            </a:solidFill>
          </a:ln>
        </p:spPr>
        <p:txBody>
          <a:bodyPr wrap="square" lIns="27000" tIns="0" rIns="9000" bIns="0" anchor="ctr"/>
          <a:lstStyle/>
          <a:p>
            <a:pPr algn="ctr">
              <a:lnSpc>
                <a:spcPts val="1050"/>
              </a:lnSpc>
            </a:pPr>
            <a:r>
              <a:rPr lang="en-US" sz="850" b="1" dirty="0">
                <a:solidFill>
                  <a:srgbClr val="1A1A2E"/>
                </a:solidFill>
                <a:latin typeface="Aptos"/>
              </a:rPr>
              <a:t>Audit Trail</a:t>
            </a:r>
          </a:p>
        </p:txBody>
      </p:sp>
      <p:sp>
        <p:nvSpPr>
          <p:cNvPr id="739" name="acc"/>
          <p:cNvSpPr/>
          <p:nvPr/>
        </p:nvSpPr>
        <p:spPr>
          <a:xfrm>
            <a:off x="5194300" y="4381500"/>
            <a:ext cx="50800" cy="698500"/>
          </a:xfrm>
          <a:prstGeom prst="rect">
            <a:avLst/>
          </a:prstGeom>
          <a:solidFill>
            <a:srgbClr val="8B4D3B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740" name="bx"/>
          <p:cNvSpPr/>
          <p:nvPr/>
        </p:nvSpPr>
        <p:spPr>
          <a:xfrm>
            <a:off x="5245100" y="4381500"/>
            <a:ext cx="1092200" cy="698500"/>
          </a:xfrm>
          <a:prstGeom prst="rect">
            <a:avLst/>
          </a:prstGeom>
          <a:solidFill>
            <a:srgbClr val="F7F8FA"/>
          </a:solidFill>
          <a:ln w="6350">
            <a:solidFill>
              <a:srgbClr val="E2E8F0"/>
            </a:solidFill>
          </a:ln>
        </p:spPr>
        <p:txBody>
          <a:bodyPr wrap="square" lIns="27000" tIns="0" rIns="9000" bIns="0" anchor="ctr"/>
          <a:lstStyle/>
          <a:p>
            <a:pPr algn="ctr">
              <a:lnSpc>
                <a:spcPts val="1050"/>
              </a:lnSpc>
            </a:pPr>
            <a:r>
              <a:rPr lang="en-US" sz="850" b="1" dirty="0">
                <a:solidFill>
                  <a:srgbClr val="1A1A2E"/>
                </a:solidFill>
                <a:latin typeface="Aptos"/>
              </a:rPr>
              <a:t>Partitioned</a:t>
            </a:r>
          </a:p>
        </p:txBody>
      </p:sp>
      <p:sp>
        <p:nvSpPr>
          <p:cNvPr id="741" name="h"/>
          <p:cNvSpPr/>
          <p:nvPr/>
        </p:nvSpPr>
        <p:spPr>
          <a:xfrm>
            <a:off x="6807200" y="584200"/>
            <a:ext cx="1143000" cy="355600"/>
          </a:xfrm>
          <a:prstGeom prst="roundRect">
            <a:avLst>
              <a:gd name="adj" fmla="val 14000"/>
            </a:avLst>
          </a:prstGeom>
          <a:solidFill>
            <a:srgbClr val="A08020"/>
          </a:solidFill>
          <a:ln>
            <a:noFill/>
          </a:ln>
        </p:spPr>
        <p:txBody>
          <a:bodyPr wrap="square" lIns="14000" tIns="0" rIns="14000" bIns="0" anchor="ctr"/>
          <a:lstStyle/>
          <a:p>
            <a:pPr algn="ctr">
              <a:lnSpc>
                <a:spcPts val="1000"/>
              </a:lnSpc>
            </a:pPr>
            <a:r>
              <a:rPr lang="en-US" sz="900" b="1" dirty="0">
                <a:solidFill>
                  <a:srgbClr val="FFFFFF"/>
                </a:solidFill>
                <a:latin typeface="Aptos"/>
              </a:rPr>
              <a:t>Silver</a:t>
            </a:r>
          </a:p>
        </p:txBody>
      </p:sp>
      <p:sp>
        <p:nvSpPr>
          <p:cNvPr id="742" name="acc"/>
          <p:cNvSpPr/>
          <p:nvPr/>
        </p:nvSpPr>
        <p:spPr>
          <a:xfrm>
            <a:off x="6807200" y="990600"/>
            <a:ext cx="50800" cy="698500"/>
          </a:xfrm>
          <a:prstGeom prst="rect">
            <a:avLst/>
          </a:prstGeom>
          <a:solidFill>
            <a:srgbClr val="A0802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743" name="bx"/>
          <p:cNvSpPr/>
          <p:nvPr/>
        </p:nvSpPr>
        <p:spPr>
          <a:xfrm>
            <a:off x="6858000" y="990600"/>
            <a:ext cx="1092200" cy="698500"/>
          </a:xfrm>
          <a:prstGeom prst="rect">
            <a:avLst/>
          </a:prstGeom>
          <a:solidFill>
            <a:srgbClr val="F7F8FA"/>
          </a:solidFill>
          <a:ln w="6350">
            <a:solidFill>
              <a:srgbClr val="E2E8F0"/>
            </a:solidFill>
          </a:ln>
        </p:spPr>
        <p:txBody>
          <a:bodyPr wrap="square" lIns="27000" tIns="0" rIns="9000" bIns="0" anchor="ctr"/>
          <a:lstStyle/>
          <a:p>
            <a:pPr algn="ctr">
              <a:lnSpc>
                <a:spcPts val="1050"/>
              </a:lnSpc>
            </a:pPr>
            <a:r>
              <a:rPr lang="en-US" sz="850" b="1" dirty="0">
                <a:solidFill>
                  <a:srgbClr val="1A1A2E"/>
                </a:solidFill>
                <a:latin typeface="Aptos"/>
              </a:rPr>
              <a:t>Dedup /</a:t>
            </a:r>
          </a:p>
          <a:p>
            <a:pPr algn="ctr">
              <a:lnSpc>
                <a:spcPts val="1050"/>
              </a:lnSpc>
            </a:pPr>
            <a:r>
              <a:rPr lang="en-US" sz="850" b="1" dirty="0">
                <a:solidFill>
                  <a:srgbClr val="1A1A2E"/>
                </a:solidFill>
                <a:latin typeface="Aptos"/>
              </a:rPr>
              <a:t>SCD-2</a:t>
            </a:r>
          </a:p>
        </p:txBody>
      </p:sp>
      <p:sp>
        <p:nvSpPr>
          <p:cNvPr id="744" name="acc"/>
          <p:cNvSpPr/>
          <p:nvPr/>
        </p:nvSpPr>
        <p:spPr>
          <a:xfrm>
            <a:off x="6807200" y="2120900"/>
            <a:ext cx="50800" cy="698500"/>
          </a:xfrm>
          <a:prstGeom prst="rect">
            <a:avLst/>
          </a:prstGeom>
          <a:solidFill>
            <a:srgbClr val="A0802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745" name="bx"/>
          <p:cNvSpPr/>
          <p:nvPr/>
        </p:nvSpPr>
        <p:spPr>
          <a:xfrm>
            <a:off x="6858000" y="2120900"/>
            <a:ext cx="1092200" cy="698500"/>
          </a:xfrm>
          <a:prstGeom prst="rect">
            <a:avLst/>
          </a:prstGeom>
          <a:solidFill>
            <a:srgbClr val="F7F8FA"/>
          </a:solidFill>
          <a:ln w="6350">
            <a:solidFill>
              <a:srgbClr val="E2E8F0"/>
            </a:solidFill>
          </a:ln>
        </p:spPr>
        <p:txBody>
          <a:bodyPr wrap="square" lIns="27000" tIns="0" rIns="9000" bIns="0" anchor="ctr"/>
          <a:lstStyle/>
          <a:p>
            <a:pPr algn="ctr">
              <a:lnSpc>
                <a:spcPts val="1050"/>
              </a:lnSpc>
            </a:pPr>
            <a:r>
              <a:rPr lang="en-US" sz="850" b="1" dirty="0">
                <a:solidFill>
                  <a:srgbClr val="1A1A2E"/>
                </a:solidFill>
                <a:latin typeface="Aptos"/>
              </a:rPr>
              <a:t>Schema</a:t>
            </a:r>
          </a:p>
          <a:p>
            <a:pPr algn="ctr">
              <a:lnSpc>
                <a:spcPts val="1050"/>
              </a:lnSpc>
            </a:pPr>
            <a:r>
              <a:rPr lang="en-US" sz="850" b="1" dirty="0">
                <a:solidFill>
                  <a:srgbClr val="1A1A2E"/>
                </a:solidFill>
                <a:latin typeface="Aptos"/>
              </a:rPr>
              <a:t>Enforced</a:t>
            </a:r>
          </a:p>
        </p:txBody>
      </p:sp>
      <p:sp>
        <p:nvSpPr>
          <p:cNvPr id="746" name="acc"/>
          <p:cNvSpPr/>
          <p:nvPr/>
        </p:nvSpPr>
        <p:spPr>
          <a:xfrm>
            <a:off x="6807200" y="3251200"/>
            <a:ext cx="50800" cy="698500"/>
          </a:xfrm>
          <a:prstGeom prst="rect">
            <a:avLst/>
          </a:prstGeom>
          <a:solidFill>
            <a:srgbClr val="A0802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747" name="bx"/>
          <p:cNvSpPr/>
          <p:nvPr/>
        </p:nvSpPr>
        <p:spPr>
          <a:xfrm>
            <a:off x="6858000" y="3251200"/>
            <a:ext cx="1092200" cy="698500"/>
          </a:xfrm>
          <a:prstGeom prst="rect">
            <a:avLst/>
          </a:prstGeom>
          <a:solidFill>
            <a:srgbClr val="F7F8FA"/>
          </a:solidFill>
          <a:ln w="6350">
            <a:solidFill>
              <a:srgbClr val="E2E8F0"/>
            </a:solidFill>
          </a:ln>
        </p:spPr>
        <p:txBody>
          <a:bodyPr wrap="square" lIns="27000" tIns="0" rIns="9000" bIns="0" anchor="ctr"/>
          <a:lstStyle/>
          <a:p>
            <a:pPr algn="ctr">
              <a:lnSpc>
                <a:spcPts val="1050"/>
              </a:lnSpc>
            </a:pPr>
            <a:r>
              <a:rPr lang="en-US" sz="850" b="1" dirty="0">
                <a:solidFill>
                  <a:srgbClr val="1A1A2E"/>
                </a:solidFill>
                <a:latin typeface="Aptos"/>
              </a:rPr>
              <a:t>Data Quality</a:t>
            </a:r>
          </a:p>
        </p:txBody>
      </p:sp>
      <p:sp>
        <p:nvSpPr>
          <p:cNvPr id="748" name="acc"/>
          <p:cNvSpPr/>
          <p:nvPr/>
        </p:nvSpPr>
        <p:spPr>
          <a:xfrm>
            <a:off x="6807200" y="4381500"/>
            <a:ext cx="50800" cy="698500"/>
          </a:xfrm>
          <a:prstGeom prst="rect">
            <a:avLst/>
          </a:prstGeom>
          <a:solidFill>
            <a:srgbClr val="A0802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749" name="bx"/>
          <p:cNvSpPr/>
          <p:nvPr/>
        </p:nvSpPr>
        <p:spPr>
          <a:xfrm>
            <a:off x="6858000" y="4381500"/>
            <a:ext cx="1092200" cy="698500"/>
          </a:xfrm>
          <a:prstGeom prst="rect">
            <a:avLst/>
          </a:prstGeom>
          <a:solidFill>
            <a:srgbClr val="F7F8FA"/>
          </a:solidFill>
          <a:ln w="6350">
            <a:solidFill>
              <a:srgbClr val="E2E8F0"/>
            </a:solidFill>
          </a:ln>
        </p:spPr>
        <p:txBody>
          <a:bodyPr wrap="square" lIns="27000" tIns="0" rIns="9000" bIns="0" anchor="ctr"/>
          <a:lstStyle/>
          <a:p>
            <a:pPr algn="ctr">
              <a:lnSpc>
                <a:spcPts val="1050"/>
              </a:lnSpc>
            </a:pPr>
            <a:r>
              <a:rPr lang="en-US" sz="850" b="1" dirty="0">
                <a:solidFill>
                  <a:srgbClr val="1A1A2E"/>
                </a:solidFill>
                <a:latin typeface="Aptos"/>
              </a:rPr>
              <a:t>Conformed</a:t>
            </a:r>
          </a:p>
          <a:p>
            <a:pPr algn="ctr">
              <a:lnSpc>
                <a:spcPts val="1050"/>
              </a:lnSpc>
            </a:pPr>
            <a:r>
              <a:rPr lang="en-US" sz="850" b="1" dirty="0">
                <a:solidFill>
                  <a:srgbClr val="1A1A2E"/>
                </a:solidFill>
                <a:latin typeface="Aptos"/>
              </a:rPr>
              <a:t>Dims</a:t>
            </a:r>
          </a:p>
        </p:txBody>
      </p:sp>
      <p:sp>
        <p:nvSpPr>
          <p:cNvPr id="750" name="h"/>
          <p:cNvSpPr/>
          <p:nvPr/>
        </p:nvSpPr>
        <p:spPr>
          <a:xfrm>
            <a:off x="8420100" y="584200"/>
            <a:ext cx="1143000" cy="355600"/>
          </a:xfrm>
          <a:prstGeom prst="roundRect">
            <a:avLst>
              <a:gd name="adj" fmla="val 14000"/>
            </a:avLst>
          </a:prstGeom>
          <a:solidFill>
            <a:srgbClr val="276749"/>
          </a:solidFill>
          <a:ln>
            <a:noFill/>
          </a:ln>
        </p:spPr>
        <p:txBody>
          <a:bodyPr wrap="square" lIns="14000" tIns="0" rIns="14000" bIns="0" anchor="ctr"/>
          <a:lstStyle/>
          <a:p>
            <a:pPr algn="ctr">
              <a:lnSpc>
                <a:spcPts val="1000"/>
              </a:lnSpc>
            </a:pPr>
            <a:r>
              <a:rPr lang="en-US" sz="900" b="1" dirty="0">
                <a:solidFill>
                  <a:srgbClr val="FFFFFF"/>
                </a:solidFill>
                <a:latin typeface="Aptos"/>
              </a:rPr>
              <a:t>Gold</a:t>
            </a:r>
          </a:p>
        </p:txBody>
      </p:sp>
      <p:sp>
        <p:nvSpPr>
          <p:cNvPr id="751" name="acc"/>
          <p:cNvSpPr/>
          <p:nvPr/>
        </p:nvSpPr>
        <p:spPr>
          <a:xfrm>
            <a:off x="8420100" y="990600"/>
            <a:ext cx="50800" cy="698500"/>
          </a:xfrm>
          <a:prstGeom prst="rect">
            <a:avLst/>
          </a:prstGeom>
          <a:solidFill>
            <a:srgbClr val="276749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752" name="bx"/>
          <p:cNvSpPr/>
          <p:nvPr/>
        </p:nvSpPr>
        <p:spPr>
          <a:xfrm>
            <a:off x="8470900" y="990600"/>
            <a:ext cx="1092200" cy="698500"/>
          </a:xfrm>
          <a:prstGeom prst="rect">
            <a:avLst/>
          </a:prstGeom>
          <a:solidFill>
            <a:srgbClr val="F7F8FA"/>
          </a:solidFill>
          <a:ln w="6350">
            <a:solidFill>
              <a:srgbClr val="E2E8F0"/>
            </a:solidFill>
          </a:ln>
        </p:spPr>
        <p:txBody>
          <a:bodyPr wrap="square" lIns="27000" tIns="0" rIns="9000" bIns="0" anchor="ctr"/>
          <a:lstStyle/>
          <a:p>
            <a:pPr algn="ctr">
              <a:lnSpc>
                <a:spcPts val="1050"/>
              </a:lnSpc>
            </a:pPr>
            <a:r>
              <a:rPr lang="en-US" sz="850" b="1" dirty="0">
                <a:solidFill>
                  <a:srgbClr val="1A1A2E"/>
                </a:solidFill>
                <a:latin typeface="Aptos"/>
              </a:rPr>
              <a:t>Star Schema</a:t>
            </a:r>
          </a:p>
        </p:txBody>
      </p:sp>
      <p:sp>
        <p:nvSpPr>
          <p:cNvPr id="753" name="acc"/>
          <p:cNvSpPr/>
          <p:nvPr/>
        </p:nvSpPr>
        <p:spPr>
          <a:xfrm>
            <a:off x="8420100" y="2120900"/>
            <a:ext cx="50800" cy="698500"/>
          </a:xfrm>
          <a:prstGeom prst="rect">
            <a:avLst/>
          </a:prstGeom>
          <a:solidFill>
            <a:srgbClr val="276749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754" name="bx"/>
          <p:cNvSpPr/>
          <p:nvPr/>
        </p:nvSpPr>
        <p:spPr>
          <a:xfrm>
            <a:off x="8470900" y="2120900"/>
            <a:ext cx="1092200" cy="698500"/>
          </a:xfrm>
          <a:prstGeom prst="rect">
            <a:avLst/>
          </a:prstGeom>
          <a:solidFill>
            <a:srgbClr val="F7F8FA"/>
          </a:solidFill>
          <a:ln w="6350">
            <a:solidFill>
              <a:srgbClr val="E2E8F0"/>
            </a:solidFill>
          </a:ln>
        </p:spPr>
        <p:txBody>
          <a:bodyPr wrap="square" lIns="27000" tIns="0" rIns="9000" bIns="0" anchor="ctr"/>
          <a:lstStyle/>
          <a:p>
            <a:pPr algn="ctr">
              <a:lnSpc>
                <a:spcPts val="1050"/>
              </a:lnSpc>
            </a:pPr>
            <a:r>
              <a:rPr lang="en-US" sz="850" b="1" dirty="0">
                <a:solidFill>
                  <a:srgbClr val="1A1A2E"/>
                </a:solidFill>
                <a:latin typeface="Aptos"/>
              </a:rPr>
              <a:t>KPI Marts</a:t>
            </a:r>
          </a:p>
        </p:txBody>
      </p:sp>
      <p:sp>
        <p:nvSpPr>
          <p:cNvPr id="755" name="acc"/>
          <p:cNvSpPr/>
          <p:nvPr/>
        </p:nvSpPr>
        <p:spPr>
          <a:xfrm>
            <a:off x="8420100" y="3251200"/>
            <a:ext cx="50800" cy="698500"/>
          </a:xfrm>
          <a:prstGeom prst="rect">
            <a:avLst/>
          </a:prstGeom>
          <a:solidFill>
            <a:srgbClr val="276749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756" name="bx"/>
          <p:cNvSpPr/>
          <p:nvPr/>
        </p:nvSpPr>
        <p:spPr>
          <a:xfrm>
            <a:off x="8470900" y="3251200"/>
            <a:ext cx="1092200" cy="698500"/>
          </a:xfrm>
          <a:prstGeom prst="rect">
            <a:avLst/>
          </a:prstGeom>
          <a:solidFill>
            <a:srgbClr val="F7F8FA"/>
          </a:solidFill>
          <a:ln w="6350">
            <a:solidFill>
              <a:srgbClr val="E2E8F0"/>
            </a:solidFill>
          </a:ln>
        </p:spPr>
        <p:txBody>
          <a:bodyPr wrap="square" lIns="27000" tIns="0" rIns="9000" bIns="0" anchor="ctr"/>
          <a:lstStyle/>
          <a:p>
            <a:pPr algn="ctr">
              <a:lnSpc>
                <a:spcPts val="1050"/>
              </a:lnSpc>
            </a:pPr>
            <a:r>
              <a:rPr lang="en-US" sz="850" b="1" dirty="0">
                <a:solidFill>
                  <a:srgbClr val="1A1A2E"/>
                </a:solidFill>
                <a:latin typeface="Aptos"/>
              </a:rPr>
              <a:t>Feature</a:t>
            </a:r>
          </a:p>
          <a:p>
            <a:pPr algn="ctr">
              <a:lnSpc>
                <a:spcPts val="1050"/>
              </a:lnSpc>
            </a:pPr>
            <a:r>
              <a:rPr lang="en-US" sz="850" b="1" dirty="0">
                <a:solidFill>
                  <a:srgbClr val="1A1A2E"/>
                </a:solidFill>
                <a:latin typeface="Aptos"/>
              </a:rPr>
              <a:t>Store</a:t>
            </a:r>
          </a:p>
        </p:txBody>
      </p:sp>
      <p:sp>
        <p:nvSpPr>
          <p:cNvPr id="757" name="acc"/>
          <p:cNvSpPr/>
          <p:nvPr/>
        </p:nvSpPr>
        <p:spPr>
          <a:xfrm>
            <a:off x="8420100" y="4381500"/>
            <a:ext cx="50800" cy="698500"/>
          </a:xfrm>
          <a:prstGeom prst="rect">
            <a:avLst/>
          </a:prstGeom>
          <a:solidFill>
            <a:srgbClr val="276749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758" name="bx"/>
          <p:cNvSpPr/>
          <p:nvPr/>
        </p:nvSpPr>
        <p:spPr>
          <a:xfrm>
            <a:off x="8470900" y="4381500"/>
            <a:ext cx="1092200" cy="698500"/>
          </a:xfrm>
          <a:prstGeom prst="rect">
            <a:avLst/>
          </a:prstGeom>
          <a:solidFill>
            <a:srgbClr val="F7F8FA"/>
          </a:solidFill>
          <a:ln w="6350">
            <a:solidFill>
              <a:srgbClr val="E2E8F0"/>
            </a:solidFill>
          </a:ln>
        </p:spPr>
        <p:txBody>
          <a:bodyPr wrap="square" lIns="27000" tIns="0" rIns="9000" bIns="0" anchor="ctr"/>
          <a:lstStyle/>
          <a:p>
            <a:pPr algn="ctr">
              <a:lnSpc>
                <a:spcPts val="1050"/>
              </a:lnSpc>
            </a:pPr>
            <a:r>
              <a:rPr lang="en-US" sz="850" b="1" dirty="0">
                <a:solidFill>
                  <a:srgbClr val="1A1A2E"/>
                </a:solidFill>
                <a:latin typeface="Aptos"/>
              </a:rPr>
              <a:t>SQL Views</a:t>
            </a:r>
          </a:p>
        </p:txBody>
      </p:sp>
      <p:sp>
        <p:nvSpPr>
          <p:cNvPr id="759" name="h"/>
          <p:cNvSpPr/>
          <p:nvPr/>
        </p:nvSpPr>
        <p:spPr>
          <a:xfrm>
            <a:off x="10820400" y="584200"/>
            <a:ext cx="1270000" cy="355600"/>
          </a:xfrm>
          <a:prstGeom prst="roundRect">
            <a:avLst>
              <a:gd name="adj" fmla="val 14000"/>
            </a:avLst>
          </a:prstGeom>
          <a:solidFill>
            <a:srgbClr val="1A365D"/>
          </a:solidFill>
          <a:ln>
            <a:noFill/>
          </a:ln>
        </p:spPr>
        <p:txBody>
          <a:bodyPr wrap="square" lIns="14000" tIns="0" rIns="14000" bIns="0" anchor="ctr"/>
          <a:lstStyle/>
          <a:p>
            <a:pPr algn="ctr">
              <a:lnSpc>
                <a:spcPts val="1000"/>
              </a:lnSpc>
            </a:pPr>
            <a:r>
              <a:rPr lang="en-US" sz="900" b="1" dirty="0">
                <a:solidFill>
                  <a:srgbClr val="FFFFFF"/>
                </a:solidFill>
                <a:latin typeface="Aptos"/>
              </a:rPr>
              <a:t>Consumption</a:t>
            </a:r>
          </a:p>
        </p:txBody>
      </p:sp>
      <p:sp>
        <p:nvSpPr>
          <p:cNvPr id="760" name="acc"/>
          <p:cNvSpPr/>
          <p:nvPr/>
        </p:nvSpPr>
        <p:spPr>
          <a:xfrm>
            <a:off x="10820400" y="990600"/>
            <a:ext cx="50800" cy="698500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761" name="bx"/>
          <p:cNvSpPr/>
          <p:nvPr/>
        </p:nvSpPr>
        <p:spPr>
          <a:xfrm>
            <a:off x="10871200" y="990600"/>
            <a:ext cx="1219200" cy="698500"/>
          </a:xfrm>
          <a:prstGeom prst="rect">
            <a:avLst/>
          </a:prstGeom>
          <a:solidFill>
            <a:srgbClr val="F7F8FA"/>
          </a:solidFill>
          <a:ln w="6350">
            <a:solidFill>
              <a:srgbClr val="E2E8F0"/>
            </a:solidFill>
          </a:ln>
        </p:spPr>
        <p:txBody>
          <a:bodyPr wrap="square" lIns="27000" tIns="0" rIns="9000" bIns="0" anchor="ctr"/>
          <a:lstStyle/>
          <a:p>
            <a:pPr algn="ctr">
              <a:lnSpc>
                <a:spcPts val="1050"/>
              </a:lnSpc>
            </a:pPr>
            <a:r>
              <a:rPr lang="en-US" sz="850" b="1" dirty="0">
                <a:solidFill>
                  <a:srgbClr val="1A1A2E"/>
                </a:solidFill>
                <a:latin typeface="Aptos"/>
              </a:rPr>
              <a:t>Power BI</a:t>
            </a:r>
          </a:p>
        </p:txBody>
      </p:sp>
      <p:sp>
        <p:nvSpPr>
          <p:cNvPr id="762" name="acc"/>
          <p:cNvSpPr/>
          <p:nvPr/>
        </p:nvSpPr>
        <p:spPr>
          <a:xfrm>
            <a:off x="10820400" y="1828800"/>
            <a:ext cx="50800" cy="698500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763" name="bx"/>
          <p:cNvSpPr/>
          <p:nvPr/>
        </p:nvSpPr>
        <p:spPr>
          <a:xfrm>
            <a:off x="10871200" y="1828800"/>
            <a:ext cx="1219200" cy="698500"/>
          </a:xfrm>
          <a:prstGeom prst="rect">
            <a:avLst/>
          </a:prstGeom>
          <a:solidFill>
            <a:srgbClr val="F7F8FA"/>
          </a:solidFill>
          <a:ln w="6350">
            <a:solidFill>
              <a:srgbClr val="E2E8F0"/>
            </a:solidFill>
          </a:ln>
        </p:spPr>
        <p:txBody>
          <a:bodyPr wrap="square" lIns="27000" tIns="0" rIns="9000" bIns="0" anchor="ctr"/>
          <a:lstStyle/>
          <a:p>
            <a:pPr algn="ctr">
              <a:lnSpc>
                <a:spcPts val="1050"/>
              </a:lnSpc>
            </a:pPr>
            <a:r>
              <a:rPr lang="en-US" sz="850" b="1" dirty="0">
                <a:solidFill>
                  <a:srgbClr val="1A1A2E"/>
                </a:solidFill>
                <a:latin typeface="Aptos"/>
              </a:rPr>
              <a:t>Azure ML</a:t>
            </a:r>
          </a:p>
        </p:txBody>
      </p:sp>
      <p:sp>
        <p:nvSpPr>
          <p:cNvPr id="764" name="acc"/>
          <p:cNvSpPr/>
          <p:nvPr/>
        </p:nvSpPr>
        <p:spPr>
          <a:xfrm>
            <a:off x="10820400" y="2667000"/>
            <a:ext cx="50800" cy="698500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765" name="bx"/>
          <p:cNvSpPr/>
          <p:nvPr/>
        </p:nvSpPr>
        <p:spPr>
          <a:xfrm>
            <a:off x="10871200" y="2667000"/>
            <a:ext cx="1219200" cy="698500"/>
          </a:xfrm>
          <a:prstGeom prst="rect">
            <a:avLst/>
          </a:prstGeom>
          <a:solidFill>
            <a:srgbClr val="F7F8FA"/>
          </a:solidFill>
          <a:ln w="6350">
            <a:solidFill>
              <a:srgbClr val="E2E8F0"/>
            </a:solidFill>
          </a:ln>
        </p:spPr>
        <p:txBody>
          <a:bodyPr wrap="square" lIns="27000" tIns="0" rIns="9000" bIns="0" anchor="ctr"/>
          <a:lstStyle/>
          <a:p>
            <a:pPr algn="ctr">
              <a:lnSpc>
                <a:spcPts val="1050"/>
              </a:lnSpc>
            </a:pPr>
            <a:r>
              <a:rPr lang="en-US" sz="850" b="1" dirty="0">
                <a:solidFill>
                  <a:srgbClr val="1A1A2E"/>
                </a:solidFill>
                <a:latin typeface="Aptos"/>
              </a:rPr>
              <a:t>Custom Apps</a:t>
            </a:r>
          </a:p>
        </p:txBody>
      </p:sp>
      <p:sp>
        <p:nvSpPr>
          <p:cNvPr id="766" name="acc"/>
          <p:cNvSpPr/>
          <p:nvPr/>
        </p:nvSpPr>
        <p:spPr>
          <a:xfrm>
            <a:off x="10820400" y="3505200"/>
            <a:ext cx="50800" cy="698500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767" name="bx"/>
          <p:cNvSpPr/>
          <p:nvPr/>
        </p:nvSpPr>
        <p:spPr>
          <a:xfrm>
            <a:off x="10871200" y="3505200"/>
            <a:ext cx="1219200" cy="698500"/>
          </a:xfrm>
          <a:prstGeom prst="rect">
            <a:avLst/>
          </a:prstGeom>
          <a:solidFill>
            <a:srgbClr val="F7F8FA"/>
          </a:solidFill>
          <a:ln w="6350">
            <a:solidFill>
              <a:srgbClr val="E2E8F0"/>
            </a:solidFill>
          </a:ln>
        </p:spPr>
        <p:txBody>
          <a:bodyPr wrap="square" lIns="27000" tIns="0" rIns="9000" bIns="0" anchor="ctr"/>
          <a:lstStyle/>
          <a:p>
            <a:pPr algn="ctr">
              <a:lnSpc>
                <a:spcPts val="1050"/>
              </a:lnSpc>
            </a:pPr>
            <a:r>
              <a:rPr lang="en-US" sz="850" b="1" dirty="0">
                <a:solidFill>
                  <a:srgbClr val="1A1A2E"/>
                </a:solidFill>
                <a:latin typeface="Aptos"/>
              </a:rPr>
              <a:t>REST APIs</a:t>
            </a:r>
          </a:p>
        </p:txBody>
      </p:sp>
      <p:sp>
        <p:nvSpPr>
          <p:cNvPr id="768" name="acc"/>
          <p:cNvSpPr/>
          <p:nvPr/>
        </p:nvSpPr>
        <p:spPr>
          <a:xfrm>
            <a:off x="10820400" y="4343400"/>
            <a:ext cx="50800" cy="698500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769" name="bx"/>
          <p:cNvSpPr/>
          <p:nvPr/>
        </p:nvSpPr>
        <p:spPr>
          <a:xfrm>
            <a:off x="10871200" y="4343400"/>
            <a:ext cx="1219200" cy="698500"/>
          </a:xfrm>
          <a:prstGeom prst="rect">
            <a:avLst/>
          </a:prstGeom>
          <a:solidFill>
            <a:srgbClr val="F7F8FA"/>
          </a:solidFill>
          <a:ln w="6350">
            <a:solidFill>
              <a:srgbClr val="E2E8F0"/>
            </a:solidFill>
          </a:ln>
        </p:spPr>
        <p:txBody>
          <a:bodyPr wrap="square" lIns="27000" tIns="0" rIns="9000" bIns="0" anchor="ctr"/>
          <a:lstStyle/>
          <a:p>
            <a:pPr algn="ctr">
              <a:lnSpc>
                <a:spcPts val="1050"/>
              </a:lnSpc>
            </a:pPr>
            <a:r>
              <a:rPr lang="en-US" sz="850" b="1" dirty="0">
                <a:solidFill>
                  <a:srgbClr val="1A1A2E"/>
                </a:solidFill>
                <a:latin typeface="Aptos"/>
              </a:rPr>
              <a:t>Purview</a:t>
            </a:r>
          </a:p>
          <a:p>
            <a:pPr algn="ctr">
              <a:lnSpc>
                <a:spcPts val="1050"/>
              </a:lnSpc>
            </a:pPr>
            <a:r>
              <a:rPr lang="en-US" sz="850" b="1" dirty="0">
                <a:solidFill>
                  <a:srgbClr val="1A1A2E"/>
                </a:solidFill>
                <a:latin typeface="Aptos"/>
              </a:rPr>
              <a:t>Sharing</a:t>
            </a:r>
          </a:p>
        </p:txBody>
      </p:sp>
      <p:sp>
        <p:nvSpPr>
          <p:cNvPr id="770" name="lh"/>
          <p:cNvSpPr/>
          <p:nvPr/>
        </p:nvSpPr>
        <p:spPr>
          <a:xfrm>
            <a:off x="5105400" y="533400"/>
            <a:ext cx="4546600" cy="4635500"/>
          </a:xfrm>
          <a:prstGeom prst="roundRect">
            <a:avLst>
              <a:gd name="adj" fmla="val 2000"/>
            </a:avLst>
          </a:prstGeom>
          <a:noFill/>
          <a:ln w="22225">
            <a:solidFill>
              <a:srgbClr val="38A169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771" name="lhL"/>
          <p:cNvSpPr/>
          <p:nvPr/>
        </p:nvSpPr>
        <p:spPr>
          <a:xfrm>
            <a:off x="5588000" y="444500"/>
            <a:ext cx="3556000" cy="203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18000" tIns="0" rIns="18000" bIns="0" anchor="ctr"/>
          <a:lstStyle/>
          <a:p>
            <a:pPr algn="ctr"/>
            <a:r>
              <a:rPr lang="en-US" sz="800" b="1" dirty="0">
                <a:solidFill>
                  <a:srgbClr val="38A169"/>
                </a:solidFill>
                <a:latin typeface="Aptos"/>
              </a:rPr>
              <a:t>Databricks Lakehouse  /  Medallion Architecture</a:t>
            </a:r>
          </a:p>
        </p:txBody>
      </p:sp>
      <p:cxnSp>
        <p:nvCxnSpPr>
          <p:cNvPr id="772" name="ar"/>
          <p:cNvCxnSpPr/>
          <p:nvPr/>
        </p:nvCxnSpPr>
        <p:spPr>
          <a:xfrm>
            <a:off x="1371600" y="1295400"/>
            <a:ext cx="469900" cy="44450"/>
          </a:xfrm>
          <a:prstGeom prst="straightConnector1">
            <a:avLst/>
          </a:prstGeom>
          <a:ln w="19050">
            <a:solidFill>
              <a:srgbClr val="002060"/>
            </a:solidFill>
            <a:tailEnd type="triangle" w="med" len="med"/>
          </a:ln>
        </p:spPr>
      </p:cxnSp>
      <p:cxnSp>
        <p:nvCxnSpPr>
          <p:cNvPr id="773" name="ar"/>
          <p:cNvCxnSpPr/>
          <p:nvPr/>
        </p:nvCxnSpPr>
        <p:spPr>
          <a:xfrm flipV="1">
            <a:off x="1371600" y="1339850"/>
            <a:ext cx="469900" cy="641350"/>
          </a:xfrm>
          <a:prstGeom prst="straightConnector1">
            <a:avLst/>
          </a:prstGeom>
          <a:ln w="19050">
            <a:solidFill>
              <a:srgbClr val="002060"/>
            </a:solidFill>
            <a:tailEnd type="triangle" w="med" len="med"/>
          </a:ln>
        </p:spPr>
      </p:cxnSp>
      <p:cxnSp>
        <p:nvCxnSpPr>
          <p:cNvPr id="774" name="ar"/>
          <p:cNvCxnSpPr/>
          <p:nvPr/>
        </p:nvCxnSpPr>
        <p:spPr>
          <a:xfrm>
            <a:off x="1371600" y="2667000"/>
            <a:ext cx="469900" cy="933450"/>
          </a:xfrm>
          <a:prstGeom prst="straightConnector1">
            <a:avLst/>
          </a:prstGeom>
          <a:ln w="19050">
            <a:solidFill>
              <a:srgbClr val="002060"/>
            </a:solidFill>
            <a:tailEnd type="triangle" w="med" len="med"/>
          </a:ln>
        </p:spPr>
      </p:cxnSp>
      <p:cxnSp>
        <p:nvCxnSpPr>
          <p:cNvPr id="775" name="ar"/>
          <p:cNvCxnSpPr/>
          <p:nvPr/>
        </p:nvCxnSpPr>
        <p:spPr>
          <a:xfrm>
            <a:off x="1371600" y="3352800"/>
            <a:ext cx="469900" cy="247650"/>
          </a:xfrm>
          <a:prstGeom prst="straightConnector1">
            <a:avLst/>
          </a:prstGeom>
          <a:ln w="19050">
            <a:solidFill>
              <a:srgbClr val="002060"/>
            </a:solidFill>
            <a:tailEnd type="triangle" w="med" len="med"/>
          </a:ln>
        </p:spPr>
      </p:cxnSp>
      <p:cxnSp>
        <p:nvCxnSpPr>
          <p:cNvPr id="776" name="ar"/>
          <p:cNvCxnSpPr/>
          <p:nvPr/>
        </p:nvCxnSpPr>
        <p:spPr>
          <a:xfrm flipV="1">
            <a:off x="1371600" y="2470150"/>
            <a:ext cx="469900" cy="1568450"/>
          </a:xfrm>
          <a:prstGeom prst="straightConnector1">
            <a:avLst/>
          </a:prstGeom>
          <a:ln w="19050">
            <a:solidFill>
              <a:srgbClr val="002060"/>
            </a:solidFill>
            <a:tailEnd type="triangle" w="med" len="med"/>
          </a:ln>
        </p:spPr>
      </p:cxnSp>
      <p:cxnSp>
        <p:nvCxnSpPr>
          <p:cNvPr id="777" name="ar"/>
          <p:cNvCxnSpPr/>
          <p:nvPr/>
        </p:nvCxnSpPr>
        <p:spPr>
          <a:xfrm flipV="1">
            <a:off x="1371600" y="2470150"/>
            <a:ext cx="469900" cy="2254250"/>
          </a:xfrm>
          <a:prstGeom prst="straightConnector1">
            <a:avLst/>
          </a:prstGeom>
          <a:ln w="19050">
            <a:solidFill>
              <a:srgbClr val="002060"/>
            </a:solidFill>
            <a:tailEnd type="triangle" w="med" len="med"/>
          </a:ln>
        </p:spPr>
      </p:cxnSp>
      <p:cxnSp>
        <p:nvCxnSpPr>
          <p:cNvPr id="778" name="ar"/>
          <p:cNvCxnSpPr/>
          <p:nvPr/>
        </p:nvCxnSpPr>
        <p:spPr>
          <a:xfrm>
            <a:off x="3111500" y="1339850"/>
            <a:ext cx="469900" cy="0"/>
          </a:xfrm>
          <a:prstGeom prst="straightConnector1">
            <a:avLst/>
          </a:prstGeom>
          <a:ln w="19050">
            <a:solidFill>
              <a:srgbClr val="002060"/>
            </a:solidFill>
            <a:tailEnd type="triangle" w="med" len="med"/>
          </a:ln>
        </p:spPr>
      </p:cxnSp>
      <p:cxnSp>
        <p:nvCxnSpPr>
          <p:cNvPr id="779" name="ar"/>
          <p:cNvCxnSpPr/>
          <p:nvPr/>
        </p:nvCxnSpPr>
        <p:spPr>
          <a:xfrm flipV="1">
            <a:off x="3111500" y="1339850"/>
            <a:ext cx="469900" cy="1130300"/>
          </a:xfrm>
          <a:prstGeom prst="straightConnector1">
            <a:avLst/>
          </a:prstGeom>
          <a:ln w="19050">
            <a:solidFill>
              <a:srgbClr val="002060"/>
            </a:solidFill>
            <a:tailEnd type="triangle" w="med" len="med"/>
          </a:ln>
        </p:spPr>
      </p:cxnSp>
      <p:cxnSp>
        <p:nvCxnSpPr>
          <p:cNvPr id="780" name="ar"/>
          <p:cNvCxnSpPr/>
          <p:nvPr/>
        </p:nvCxnSpPr>
        <p:spPr>
          <a:xfrm flipV="1">
            <a:off x="3111500" y="3028950"/>
            <a:ext cx="469900" cy="571500"/>
          </a:xfrm>
          <a:prstGeom prst="straightConnector1">
            <a:avLst/>
          </a:prstGeom>
          <a:ln w="19050">
            <a:solidFill>
              <a:srgbClr val="002060"/>
            </a:solidFill>
            <a:tailEnd type="triangle" w="med" len="med"/>
          </a:ln>
        </p:spPr>
      </p:cxnSp>
      <p:cxnSp>
        <p:nvCxnSpPr>
          <p:cNvPr id="781" name="ar"/>
          <p:cNvCxnSpPr/>
          <p:nvPr/>
        </p:nvCxnSpPr>
        <p:spPr>
          <a:xfrm flipV="1">
            <a:off x="3111500" y="4718050"/>
            <a:ext cx="469900" cy="12700"/>
          </a:xfrm>
          <a:prstGeom prst="straightConnector1">
            <a:avLst/>
          </a:prstGeom>
          <a:ln w="19050">
            <a:solidFill>
              <a:srgbClr val="002060"/>
            </a:solidFill>
            <a:tailEnd type="triangle" w="med" len="med"/>
          </a:ln>
        </p:spPr>
      </p:cxnSp>
      <p:cxnSp>
        <p:nvCxnSpPr>
          <p:cNvPr id="782" name="ar"/>
          <p:cNvCxnSpPr/>
          <p:nvPr/>
        </p:nvCxnSpPr>
        <p:spPr>
          <a:xfrm>
            <a:off x="4724400" y="1339850"/>
            <a:ext cx="469900" cy="0"/>
          </a:xfrm>
          <a:prstGeom prst="straightConnector1">
            <a:avLst/>
          </a:prstGeom>
          <a:ln w="19050">
            <a:solidFill>
              <a:srgbClr val="002060"/>
            </a:solidFill>
            <a:tailEnd type="triangle" w="med" len="med"/>
          </a:ln>
        </p:spPr>
      </p:cxnSp>
      <p:cxnSp>
        <p:nvCxnSpPr>
          <p:cNvPr id="783" name="ar"/>
          <p:cNvCxnSpPr/>
          <p:nvPr/>
        </p:nvCxnSpPr>
        <p:spPr>
          <a:xfrm flipV="1">
            <a:off x="4724400" y="2470150"/>
            <a:ext cx="469900" cy="558800"/>
          </a:xfrm>
          <a:prstGeom prst="straightConnector1">
            <a:avLst/>
          </a:prstGeom>
          <a:ln w="19050">
            <a:solidFill>
              <a:srgbClr val="002060"/>
            </a:solidFill>
            <a:tailEnd type="triangle" w="med" len="med"/>
          </a:ln>
        </p:spPr>
      </p:cxnSp>
      <p:cxnSp>
        <p:nvCxnSpPr>
          <p:cNvPr id="784" name="ar"/>
          <p:cNvCxnSpPr/>
          <p:nvPr/>
        </p:nvCxnSpPr>
        <p:spPr>
          <a:xfrm flipV="1">
            <a:off x="4724400" y="3600450"/>
            <a:ext cx="469900" cy="1117600"/>
          </a:xfrm>
          <a:prstGeom prst="straightConnector1">
            <a:avLst/>
          </a:prstGeom>
          <a:ln w="19050">
            <a:solidFill>
              <a:srgbClr val="002060"/>
            </a:solidFill>
            <a:tailEnd type="triangle" w="med" len="med"/>
          </a:ln>
        </p:spPr>
      </p:cxnSp>
      <p:cxnSp>
        <p:nvCxnSpPr>
          <p:cNvPr id="785" name="ar"/>
          <p:cNvCxnSpPr/>
          <p:nvPr/>
        </p:nvCxnSpPr>
        <p:spPr>
          <a:xfrm>
            <a:off x="6337300" y="1339850"/>
            <a:ext cx="469900" cy="0"/>
          </a:xfrm>
          <a:prstGeom prst="straightConnector1">
            <a:avLst/>
          </a:prstGeom>
          <a:ln w="19050">
            <a:solidFill>
              <a:srgbClr val="002060"/>
            </a:solidFill>
            <a:tailEnd type="triangle" w="med" len="med"/>
          </a:ln>
        </p:spPr>
      </p:cxnSp>
      <p:cxnSp>
        <p:nvCxnSpPr>
          <p:cNvPr id="786" name="ar"/>
          <p:cNvCxnSpPr/>
          <p:nvPr/>
        </p:nvCxnSpPr>
        <p:spPr>
          <a:xfrm>
            <a:off x="6337300" y="2470150"/>
            <a:ext cx="469900" cy="0"/>
          </a:xfrm>
          <a:prstGeom prst="straightConnector1">
            <a:avLst/>
          </a:prstGeom>
          <a:ln w="19050">
            <a:solidFill>
              <a:srgbClr val="002060"/>
            </a:solidFill>
            <a:tailEnd type="triangle" w="med" len="med"/>
          </a:ln>
        </p:spPr>
      </p:cxnSp>
      <p:cxnSp>
        <p:nvCxnSpPr>
          <p:cNvPr id="787" name="ar"/>
          <p:cNvCxnSpPr/>
          <p:nvPr/>
        </p:nvCxnSpPr>
        <p:spPr>
          <a:xfrm>
            <a:off x="6337300" y="3600450"/>
            <a:ext cx="469900" cy="0"/>
          </a:xfrm>
          <a:prstGeom prst="straightConnector1">
            <a:avLst/>
          </a:prstGeom>
          <a:ln w="19050">
            <a:solidFill>
              <a:srgbClr val="002060"/>
            </a:solidFill>
            <a:tailEnd type="triangle" w="med" len="med"/>
          </a:ln>
        </p:spPr>
      </p:cxnSp>
      <p:cxnSp>
        <p:nvCxnSpPr>
          <p:cNvPr id="788" name="ar"/>
          <p:cNvCxnSpPr/>
          <p:nvPr/>
        </p:nvCxnSpPr>
        <p:spPr>
          <a:xfrm>
            <a:off x="6337300" y="4730750"/>
            <a:ext cx="469900" cy="0"/>
          </a:xfrm>
          <a:prstGeom prst="straightConnector1">
            <a:avLst/>
          </a:prstGeom>
          <a:ln w="19050">
            <a:solidFill>
              <a:srgbClr val="002060"/>
            </a:solidFill>
            <a:tailEnd type="triangle" w="med" len="med"/>
          </a:ln>
        </p:spPr>
      </p:cxnSp>
      <p:cxnSp>
        <p:nvCxnSpPr>
          <p:cNvPr id="789" name="ar"/>
          <p:cNvCxnSpPr/>
          <p:nvPr/>
        </p:nvCxnSpPr>
        <p:spPr>
          <a:xfrm>
            <a:off x="7950200" y="1339850"/>
            <a:ext cx="469900" cy="0"/>
          </a:xfrm>
          <a:prstGeom prst="straightConnector1">
            <a:avLst/>
          </a:prstGeom>
          <a:ln w="19050">
            <a:solidFill>
              <a:srgbClr val="002060"/>
            </a:solidFill>
            <a:tailEnd type="triangle" w="med" len="med"/>
          </a:ln>
        </p:spPr>
      </p:cxnSp>
      <p:cxnSp>
        <p:nvCxnSpPr>
          <p:cNvPr id="790" name="ar"/>
          <p:cNvCxnSpPr/>
          <p:nvPr/>
        </p:nvCxnSpPr>
        <p:spPr>
          <a:xfrm>
            <a:off x="7950200" y="2470150"/>
            <a:ext cx="469900" cy="0"/>
          </a:xfrm>
          <a:prstGeom prst="straightConnector1">
            <a:avLst/>
          </a:prstGeom>
          <a:ln w="19050">
            <a:solidFill>
              <a:srgbClr val="002060"/>
            </a:solidFill>
            <a:tailEnd type="triangle" w="med" len="med"/>
          </a:ln>
        </p:spPr>
      </p:cxnSp>
      <p:cxnSp>
        <p:nvCxnSpPr>
          <p:cNvPr id="791" name="ar"/>
          <p:cNvCxnSpPr/>
          <p:nvPr/>
        </p:nvCxnSpPr>
        <p:spPr>
          <a:xfrm>
            <a:off x="7950200" y="3600450"/>
            <a:ext cx="469900" cy="0"/>
          </a:xfrm>
          <a:prstGeom prst="straightConnector1">
            <a:avLst/>
          </a:prstGeom>
          <a:ln w="19050">
            <a:solidFill>
              <a:srgbClr val="002060"/>
            </a:solidFill>
            <a:tailEnd type="triangle" w="med" len="med"/>
          </a:ln>
        </p:spPr>
      </p:cxnSp>
      <p:cxnSp>
        <p:nvCxnSpPr>
          <p:cNvPr id="792" name="ar"/>
          <p:cNvCxnSpPr/>
          <p:nvPr/>
        </p:nvCxnSpPr>
        <p:spPr>
          <a:xfrm>
            <a:off x="7950200" y="4730750"/>
            <a:ext cx="469900" cy="0"/>
          </a:xfrm>
          <a:prstGeom prst="straightConnector1">
            <a:avLst/>
          </a:prstGeom>
          <a:ln w="19050">
            <a:solidFill>
              <a:srgbClr val="002060"/>
            </a:solidFill>
            <a:tailEnd type="triangle" w="med" len="med"/>
          </a:ln>
        </p:spPr>
      </p:cxnSp>
      <p:cxnSp>
        <p:nvCxnSpPr>
          <p:cNvPr id="793" name="ar"/>
          <p:cNvCxnSpPr/>
          <p:nvPr/>
        </p:nvCxnSpPr>
        <p:spPr>
          <a:xfrm>
            <a:off x="9563100" y="1339850"/>
            <a:ext cx="1257300" cy="0"/>
          </a:xfrm>
          <a:prstGeom prst="straightConnector1">
            <a:avLst/>
          </a:prstGeom>
          <a:ln w="19050">
            <a:solidFill>
              <a:srgbClr val="002060"/>
            </a:solidFill>
            <a:tailEnd type="triangle" w="med" len="med"/>
          </a:ln>
        </p:spPr>
      </p:cxnSp>
      <p:cxnSp>
        <p:nvCxnSpPr>
          <p:cNvPr id="794" name="ar"/>
          <p:cNvCxnSpPr/>
          <p:nvPr/>
        </p:nvCxnSpPr>
        <p:spPr>
          <a:xfrm flipV="1">
            <a:off x="9563100" y="2178050"/>
            <a:ext cx="1257300" cy="292100"/>
          </a:xfrm>
          <a:prstGeom prst="straightConnector1">
            <a:avLst/>
          </a:prstGeom>
          <a:ln w="19050">
            <a:solidFill>
              <a:srgbClr val="002060"/>
            </a:solidFill>
            <a:tailEnd type="triangle" w="med" len="med"/>
          </a:ln>
        </p:spPr>
      </p:cxnSp>
      <p:cxnSp>
        <p:nvCxnSpPr>
          <p:cNvPr id="795" name="ar"/>
          <p:cNvCxnSpPr/>
          <p:nvPr/>
        </p:nvCxnSpPr>
        <p:spPr>
          <a:xfrm flipV="1">
            <a:off x="9563100" y="3016250"/>
            <a:ext cx="1257300" cy="584200"/>
          </a:xfrm>
          <a:prstGeom prst="straightConnector1">
            <a:avLst/>
          </a:prstGeom>
          <a:ln w="19050">
            <a:solidFill>
              <a:srgbClr val="002060"/>
            </a:solidFill>
            <a:tailEnd type="triangle" w="med" len="med"/>
          </a:ln>
        </p:spPr>
      </p:cxnSp>
      <p:cxnSp>
        <p:nvCxnSpPr>
          <p:cNvPr id="796" name="ar"/>
          <p:cNvCxnSpPr/>
          <p:nvPr/>
        </p:nvCxnSpPr>
        <p:spPr>
          <a:xfrm flipV="1">
            <a:off x="9563100" y="3854450"/>
            <a:ext cx="1257300" cy="876300"/>
          </a:xfrm>
          <a:prstGeom prst="straightConnector1">
            <a:avLst/>
          </a:prstGeom>
          <a:ln w="19050">
            <a:solidFill>
              <a:srgbClr val="002060"/>
            </a:solidFill>
            <a:tailEnd type="triangle" w="med" len="med"/>
          </a:ln>
        </p:spPr>
      </p:cxnSp>
      <p:cxnSp>
        <p:nvCxnSpPr>
          <p:cNvPr id="797" name="ar"/>
          <p:cNvCxnSpPr/>
          <p:nvPr/>
        </p:nvCxnSpPr>
        <p:spPr>
          <a:xfrm flipV="1">
            <a:off x="9563100" y="4692650"/>
            <a:ext cx="1257300" cy="38100"/>
          </a:xfrm>
          <a:prstGeom prst="straightConnector1">
            <a:avLst/>
          </a:prstGeom>
          <a:ln w="19050">
            <a:solidFill>
              <a:srgbClr val="002060"/>
            </a:solidFill>
            <a:tailEnd type="triangle" w="med" len="med"/>
          </a:ln>
        </p:spPr>
      </p:cxnSp>
      <p:sp>
        <p:nvSpPr>
          <p:cNvPr id="798" name="gov"/>
          <p:cNvSpPr/>
          <p:nvPr/>
        </p:nvSpPr>
        <p:spPr>
          <a:xfrm>
            <a:off x="152400" y="5257800"/>
            <a:ext cx="11938000" cy="381000"/>
          </a:xfrm>
          <a:prstGeom prst="roundRect">
            <a:avLst>
              <a:gd name="adj" fmla="val 18000"/>
            </a:avLst>
          </a:prstGeom>
          <a:solidFill>
            <a:srgbClr val="0078D4"/>
          </a:solidFill>
          <a:ln>
            <a:noFill/>
          </a:ln>
        </p:spPr>
        <p:txBody>
          <a:bodyPr wrap="square" lIns="108000" tIns="0" rIns="36000" bIns="0" anchor="ctr"/>
          <a:lstStyle/>
          <a:p>
            <a:pPr algn="l"/>
            <a:r>
              <a:rPr lang="en-US" sz="1000" b="1" dirty="0">
                <a:solidFill>
                  <a:srgbClr val="FFFFFF"/>
                </a:solidFill>
                <a:latin typeface="Aptos"/>
              </a:rPr>
              <a:t>Governance &amp; Security</a:t>
            </a:r>
            <a:r>
              <a:rPr lang="en-US" sz="900" dirty="0">
                <a:solidFill>
                  <a:srgbClr val="B3D7F2"/>
                </a:solidFill>
                <a:latin typeface="Aptos"/>
              </a:rPr>
              <a:t>        Microsoft Purview   ·   Key Vault   ·   Entra ID   ·   RBAC   ·   Unity Catalog   ·   Data Lineage</a:t>
            </a:r>
          </a:p>
        </p:txBody>
      </p:sp>
      <p:sp>
        <p:nvSpPr>
          <p:cNvPr id="799" name="mon"/>
          <p:cNvSpPr/>
          <p:nvPr/>
        </p:nvSpPr>
        <p:spPr>
          <a:xfrm>
            <a:off x="152400" y="5689600"/>
            <a:ext cx="11938000" cy="381000"/>
          </a:xfrm>
          <a:prstGeom prst="roundRect">
            <a:avLst>
              <a:gd name="adj" fmla="val 18000"/>
            </a:avLst>
          </a:prstGeom>
          <a:solidFill>
            <a:srgbClr val="1A1A2E"/>
          </a:solidFill>
          <a:ln>
            <a:noFill/>
          </a:ln>
        </p:spPr>
        <p:txBody>
          <a:bodyPr wrap="square" lIns="108000" tIns="0" rIns="36000" bIns="0" anchor="ctr"/>
          <a:lstStyle/>
          <a:p>
            <a:pPr algn="l"/>
            <a:r>
              <a:rPr lang="en-US" sz="1000" b="1" dirty="0">
                <a:solidFill>
                  <a:srgbClr val="FFFFFF"/>
                </a:solidFill>
                <a:latin typeface="Aptos"/>
              </a:rPr>
              <a:t>Monitoring &amp; Observability</a:t>
            </a:r>
            <a:r>
              <a:rPr lang="en-US" sz="900" dirty="0">
                <a:solidFill>
                  <a:srgbClr val="8899AA"/>
                </a:solidFill>
                <a:latin typeface="Aptos"/>
              </a:rPr>
              <a:t>        Azure Monitor   ·   Log Analytics   ·   App Insights   ·   Databricks Workflows   ·   CI/CD</a:t>
            </a:r>
          </a:p>
        </p:txBody>
      </p:sp>
      <p:cxnSp>
        <p:nvCxnSpPr>
          <p:cNvPr id="800" name="ar"/>
          <p:cNvCxnSpPr/>
          <p:nvPr/>
        </p:nvCxnSpPr>
        <p:spPr>
          <a:xfrm flipV="1">
            <a:off x="3175000" y="5143500"/>
            <a:ext cx="0" cy="114300"/>
          </a:xfrm>
          <a:prstGeom prst="straightConnector1">
            <a:avLst/>
          </a:prstGeom>
          <a:ln w="19050">
            <a:solidFill>
              <a:srgbClr val="002060"/>
            </a:solidFill>
            <a:prstDash val="sysDot"/>
            <a:tailEnd type="triangle" w="med" len="med"/>
          </a:ln>
        </p:spPr>
      </p:cxnSp>
      <p:cxnSp>
        <p:nvCxnSpPr>
          <p:cNvPr id="801" name="ar"/>
          <p:cNvCxnSpPr/>
          <p:nvPr/>
        </p:nvCxnSpPr>
        <p:spPr>
          <a:xfrm flipV="1">
            <a:off x="7366000" y="5143500"/>
            <a:ext cx="0" cy="114300"/>
          </a:xfrm>
          <a:prstGeom prst="straightConnector1">
            <a:avLst/>
          </a:prstGeom>
          <a:ln w="19050">
            <a:solidFill>
              <a:srgbClr val="002060"/>
            </a:solidFill>
            <a:prstDash val="sysDot"/>
            <a:tailEnd type="triangle" w="med" len="med"/>
          </a:ln>
        </p:spPr>
      </p:cxnSp>
      <p:cxnSp>
        <p:nvCxnSpPr>
          <p:cNvPr id="802" name="ar"/>
          <p:cNvCxnSpPr/>
          <p:nvPr/>
        </p:nvCxnSpPr>
        <p:spPr>
          <a:xfrm flipV="1">
            <a:off x="11176000" y="5143500"/>
            <a:ext cx="0" cy="114300"/>
          </a:xfrm>
          <a:prstGeom prst="straightConnector1">
            <a:avLst/>
          </a:prstGeom>
          <a:ln w="19050">
            <a:solidFill>
              <a:srgbClr val="002060"/>
            </a:solidFill>
            <a:prstDash val="sysDot"/>
            <a:tailEnd type="triangle" w="med" len="med"/>
          </a:ln>
        </p:spPr>
      </p:cxnSp>
      <p:cxnSp>
        <p:nvCxnSpPr>
          <p:cNvPr id="803" name="ar"/>
          <p:cNvCxnSpPr/>
          <p:nvPr/>
        </p:nvCxnSpPr>
        <p:spPr>
          <a:xfrm flipV="1">
            <a:off x="3175000" y="5638800"/>
            <a:ext cx="0" cy="50800"/>
          </a:xfrm>
          <a:prstGeom prst="straightConnector1">
            <a:avLst/>
          </a:prstGeom>
          <a:ln w="19050">
            <a:solidFill>
              <a:srgbClr val="002060"/>
            </a:solidFill>
            <a:prstDash val="sysDot"/>
            <a:tailEnd type="triangle" w="med" len="med"/>
          </a:ln>
        </p:spPr>
      </p:cxnSp>
      <p:cxnSp>
        <p:nvCxnSpPr>
          <p:cNvPr id="804" name="ar"/>
          <p:cNvCxnSpPr/>
          <p:nvPr/>
        </p:nvCxnSpPr>
        <p:spPr>
          <a:xfrm flipV="1">
            <a:off x="7366000" y="5638800"/>
            <a:ext cx="0" cy="50800"/>
          </a:xfrm>
          <a:prstGeom prst="straightConnector1">
            <a:avLst/>
          </a:prstGeom>
          <a:ln w="19050">
            <a:solidFill>
              <a:srgbClr val="002060"/>
            </a:solidFill>
            <a:prstDash val="sysDot"/>
            <a:tailEnd type="triangle" w="med" len="med"/>
          </a:ln>
        </p:spPr>
      </p:cxnSp>
      <p:cxnSp>
        <p:nvCxnSpPr>
          <p:cNvPr id="805" name="ar"/>
          <p:cNvCxnSpPr/>
          <p:nvPr/>
        </p:nvCxnSpPr>
        <p:spPr>
          <a:xfrm flipV="1">
            <a:off x="11176000" y="5638800"/>
            <a:ext cx="0" cy="50800"/>
          </a:xfrm>
          <a:prstGeom prst="straightConnector1">
            <a:avLst/>
          </a:prstGeom>
          <a:ln w="19050">
            <a:solidFill>
              <a:srgbClr val="002060"/>
            </a:solidFill>
            <a:prstDash val="sysDot"/>
            <a:tailEnd type="triangle" w="med" len="med"/>
          </a:ln>
        </p:spPr>
      </p:cxnSp>
      <p:pic>
        <p:nvPicPr>
          <p:cNvPr id="806" name="Graphic 806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66700" y="1066800"/>
            <a:ext cx="304800" cy="304800"/>
          </a:xfrm>
          <a:prstGeom prst="rect">
            <a:avLst/>
          </a:prstGeom>
        </p:spPr>
      </p:pic>
      <p:pic>
        <p:nvPicPr>
          <p:cNvPr id="807" name="Graphic 807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66700" y="1765300"/>
            <a:ext cx="304800" cy="304800"/>
          </a:xfrm>
          <a:prstGeom prst="rect">
            <a:avLst/>
          </a:prstGeom>
        </p:spPr>
      </p:pic>
      <p:pic>
        <p:nvPicPr>
          <p:cNvPr id="808" name="Graphic 808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955800" y="1066800"/>
            <a:ext cx="304800" cy="304800"/>
          </a:xfrm>
          <a:prstGeom prst="rect">
            <a:avLst/>
          </a:prstGeom>
        </p:spPr>
      </p:pic>
      <p:pic>
        <p:nvPicPr>
          <p:cNvPr id="809" name="Graphic 809"/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955800" y="1854200"/>
            <a:ext cx="304800" cy="304800"/>
          </a:xfrm>
          <a:prstGeom prst="rect">
            <a:avLst/>
          </a:prstGeom>
        </p:spPr>
      </p:pic>
      <p:pic>
        <p:nvPicPr>
          <p:cNvPr id="810" name="Graphic 810"/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955800" y="2641600"/>
            <a:ext cx="304800" cy="304800"/>
          </a:xfrm>
          <a:prstGeom prst="rect">
            <a:avLst/>
          </a:prstGeom>
        </p:spPr>
      </p:pic>
      <p:pic>
        <p:nvPicPr>
          <p:cNvPr id="811" name="Graphic 811"/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1955800" y="3429000"/>
            <a:ext cx="304800" cy="304800"/>
          </a:xfrm>
          <a:prstGeom prst="rect">
            <a:avLst/>
          </a:prstGeom>
        </p:spPr>
      </p:pic>
      <p:pic>
        <p:nvPicPr>
          <p:cNvPr id="812" name="Graphic 812"/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5295900" y="1066800"/>
            <a:ext cx="304800" cy="304800"/>
          </a:xfrm>
          <a:prstGeom prst="rect">
            <a:avLst/>
          </a:prstGeom>
        </p:spPr>
      </p:pic>
      <p:pic>
        <p:nvPicPr>
          <p:cNvPr id="813" name="Graphic 813"/>
          <p:cNvPicPr>
            <a:picLocks noChangeAspect="1"/>
          </p:cNvPicPr>
          <p:nvPr/>
        </p:nvPicPr>
        <p:blipFill>
          <a:blip r:embed="rId14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6908800" y="1066800"/>
            <a:ext cx="304800" cy="304800"/>
          </a:xfrm>
          <a:prstGeom prst="rect">
            <a:avLst/>
          </a:prstGeom>
        </p:spPr>
      </p:pic>
      <p:pic>
        <p:nvPicPr>
          <p:cNvPr id="814" name="Graphic 814"/>
          <p:cNvPicPr>
            <a:picLocks noChangeAspect="1"/>
          </p:cNvPicPr>
          <p:nvPr/>
        </p:nvPicPr>
        <p:blipFill>
          <a:blip r:embed="rId16"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8521700" y="1066800"/>
            <a:ext cx="304800" cy="304800"/>
          </a:xfrm>
          <a:prstGeom prst="rect">
            <a:avLst/>
          </a:prstGeom>
        </p:spPr>
      </p:pic>
      <p:pic>
        <p:nvPicPr>
          <p:cNvPr id="815" name="Graphic 815"/>
          <p:cNvPicPr>
            <a:picLocks noChangeAspect="1"/>
          </p:cNvPicPr>
          <p:nvPr/>
        </p:nvPicPr>
        <p:blipFill>
          <a:blip r:embed="rId18">
            <a:extLs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10922000" y="1066800"/>
            <a:ext cx="304800" cy="304800"/>
          </a:xfrm>
          <a:prstGeom prst="rect">
            <a:avLst/>
          </a:prstGeom>
        </p:spPr>
      </p:pic>
      <p:pic>
        <p:nvPicPr>
          <p:cNvPr id="816" name="Graphic 816"/>
          <p:cNvPicPr>
            <a:picLocks noChangeAspect="1"/>
          </p:cNvPicPr>
          <p:nvPr/>
        </p:nvPicPr>
        <p:blipFill>
          <a:blip r:embed="rId20">
            <a:extLst>
              <a:ext uri="{96DAC541-7B7A-43D3-8B79-37D633B846F1}">
                <asvg:svgBlip xmlns:asvg="http://schemas.microsoft.com/office/drawing/2016/SVG/main" r:embed="rId21"/>
              </a:ext>
            </a:extLst>
          </a:blip>
          <a:stretch>
            <a:fillRect/>
          </a:stretch>
        </p:blipFill>
        <p:spPr>
          <a:xfrm>
            <a:off x="266700" y="2463800"/>
            <a:ext cx="304800" cy="304800"/>
          </a:xfrm>
          <a:prstGeom prst="rect">
            <a:avLst/>
          </a:prstGeom>
        </p:spPr>
      </p:pic>
      <p:pic>
        <p:nvPicPr>
          <p:cNvPr id="817" name="Graphic 817"/>
          <p:cNvPicPr>
            <a:picLocks noChangeAspect="1"/>
          </p:cNvPicPr>
          <p:nvPr/>
        </p:nvPicPr>
        <p:blipFill>
          <a:blip r:embed="rId22">
            <a:extLst>
              <a:ext uri="{96DAC541-7B7A-43D3-8B79-37D633B846F1}">
                <asvg:svgBlip xmlns:asvg="http://schemas.microsoft.com/office/drawing/2016/SVG/main" r:embed="rId23"/>
              </a:ext>
            </a:extLst>
          </a:blip>
          <a:stretch>
            <a:fillRect/>
          </a:stretch>
        </p:blipFill>
        <p:spPr>
          <a:xfrm>
            <a:off x="266700" y="3162300"/>
            <a:ext cx="304800" cy="304800"/>
          </a:xfrm>
          <a:prstGeom prst="rect">
            <a:avLst/>
          </a:prstGeom>
        </p:spPr>
      </p:pic>
      <p:pic>
        <p:nvPicPr>
          <p:cNvPr id="818" name="Graphic 818"/>
          <p:cNvPicPr>
            <a:picLocks noChangeAspect="1"/>
          </p:cNvPicPr>
          <p:nvPr/>
        </p:nvPicPr>
        <p:blipFill>
          <a:blip r:embed="rId24">
            <a:extLst>
              <a:ext uri="{96DAC541-7B7A-43D3-8B79-37D633B846F1}">
                <asvg:svgBlip xmlns:asvg="http://schemas.microsoft.com/office/drawing/2016/SVG/main" r:embed="rId25"/>
              </a:ext>
            </a:extLst>
          </a:blip>
          <a:stretch>
            <a:fillRect/>
          </a:stretch>
        </p:blipFill>
        <p:spPr>
          <a:xfrm>
            <a:off x="266700" y="3860800"/>
            <a:ext cx="304800" cy="304800"/>
          </a:xfrm>
          <a:prstGeom prst="rect">
            <a:avLst/>
          </a:prstGeom>
        </p:spPr>
      </p:pic>
      <p:pic>
        <p:nvPicPr>
          <p:cNvPr id="819" name="Graphic 819"/>
          <p:cNvPicPr>
            <a:picLocks noChangeAspect="1"/>
          </p:cNvPicPr>
          <p:nvPr/>
        </p:nvPicPr>
        <p:blipFill>
          <a:blip r:embed="rId26">
            <a:extLst>
              <a:ext uri="{96DAC541-7B7A-43D3-8B79-37D633B846F1}">
                <asvg:svgBlip xmlns:asvg="http://schemas.microsoft.com/office/drawing/2016/SVG/main" r:embed="rId27"/>
              </a:ext>
            </a:extLst>
          </a:blip>
          <a:stretch>
            <a:fillRect/>
          </a:stretch>
        </p:blipFill>
        <p:spPr>
          <a:xfrm>
            <a:off x="266700" y="4559300"/>
            <a:ext cx="304800" cy="304800"/>
          </a:xfrm>
          <a:prstGeom prst="rect">
            <a:avLst/>
          </a:prstGeom>
        </p:spPr>
      </p:pic>
      <p:pic>
        <p:nvPicPr>
          <p:cNvPr id="820" name="Graphic 820"/>
          <p:cNvPicPr>
            <a:picLocks noChangeAspect="1"/>
          </p:cNvPicPr>
          <p:nvPr/>
        </p:nvPicPr>
        <p:blipFill>
          <a:blip r:embed="rId28">
            <a:extLst>
              <a:ext uri="{96DAC541-7B7A-43D3-8B79-37D633B846F1}">
                <asvg:svgBlip xmlns:asvg="http://schemas.microsoft.com/office/drawing/2016/SVG/main" r:embed="rId29"/>
              </a:ext>
            </a:extLst>
          </a:blip>
          <a:stretch>
            <a:fillRect/>
          </a:stretch>
        </p:blipFill>
        <p:spPr>
          <a:xfrm>
            <a:off x="254000" y="5308600"/>
            <a:ext cx="279400" cy="279400"/>
          </a:xfrm>
          <a:prstGeom prst="rect">
            <a:avLst/>
          </a:prstGeom>
        </p:spPr>
      </p:pic>
      <p:pic>
        <p:nvPicPr>
          <p:cNvPr id="821" name="Graphic 821"/>
          <p:cNvPicPr>
            <a:picLocks noChangeAspect="1"/>
          </p:cNvPicPr>
          <p:nvPr/>
        </p:nvPicPr>
        <p:blipFill>
          <a:blip r:embed="rId30">
            <a:extLst>
              <a:ext uri="{96DAC541-7B7A-43D3-8B79-37D633B846F1}">
                <asvg:svgBlip xmlns:asvg="http://schemas.microsoft.com/office/drawing/2016/SVG/main" r:embed="rId31"/>
              </a:ext>
            </a:extLst>
          </a:blip>
          <a:stretch>
            <a:fillRect/>
          </a:stretch>
        </p:blipFill>
        <p:spPr>
          <a:xfrm>
            <a:off x="254000" y="5740400"/>
            <a:ext cx="279400" cy="279400"/>
          </a:xfrm>
          <a:prstGeom prst="rect">
            <a:avLst/>
          </a:prstGeom>
        </p:spPr>
      </p:pic>
      <p:pic>
        <p:nvPicPr>
          <p:cNvPr id="822" name="Graphic 822"/>
          <p:cNvPicPr>
            <a:picLocks noChangeAspect="1"/>
          </p:cNvPicPr>
          <p:nvPr/>
        </p:nvPicPr>
        <p:blipFill>
          <a:blip r:embed="rId32">
            <a:extLst>
              <a:ext uri="{96DAC541-7B7A-43D3-8B79-37D633B846F1}">
                <asvg:svgBlip xmlns:asvg="http://schemas.microsoft.com/office/drawing/2016/SVG/main" r:embed="rId33"/>
              </a:ext>
            </a:extLst>
          </a:blip>
          <a:stretch>
            <a:fillRect/>
          </a:stretch>
        </p:blipFill>
        <p:spPr>
          <a:xfrm>
            <a:off x="10922000" y="2641600"/>
            <a:ext cx="304800" cy="304800"/>
          </a:xfrm>
          <a:prstGeom prst="rect">
            <a:avLst/>
          </a:prstGeom>
        </p:spPr>
      </p:pic>
      <p:pic>
        <p:nvPicPr>
          <p:cNvPr id="823" name="Graphic 823"/>
          <p:cNvPicPr>
            <a:picLocks noChangeAspect="1"/>
          </p:cNvPicPr>
          <p:nvPr/>
        </p:nvPicPr>
        <p:blipFill>
          <a:blip r:embed="rId34">
            <a:extLst>
              <a:ext uri="{96DAC541-7B7A-43D3-8B79-37D633B846F1}">
                <asvg:svgBlip xmlns:asvg="http://schemas.microsoft.com/office/drawing/2016/SVG/main" r:embed="rId35"/>
              </a:ext>
            </a:extLst>
          </a:blip>
          <a:stretch>
            <a:fillRect/>
          </a:stretch>
        </p:blipFill>
        <p:spPr>
          <a:xfrm>
            <a:off x="10922000" y="3429000"/>
            <a:ext cx="304800" cy="304800"/>
          </a:xfrm>
          <a:prstGeom prst="rect">
            <a:avLst/>
          </a:prstGeom>
        </p:spPr>
      </p:pic>
      <p:pic>
        <p:nvPicPr>
          <p:cNvPr id="824" name="Graphic 824"/>
          <p:cNvPicPr>
            <a:picLocks noChangeAspect="1"/>
          </p:cNvPicPr>
          <p:nvPr/>
        </p:nvPicPr>
        <p:blipFill>
          <a:blip r:embed="rId36">
            <a:extLst>
              <a:ext uri="{96DAC541-7B7A-43D3-8B79-37D633B846F1}">
                <asvg:svgBlip xmlns:asvg="http://schemas.microsoft.com/office/drawing/2016/SVG/main" r:embed="rId37"/>
              </a:ext>
            </a:extLst>
          </a:blip>
          <a:stretch>
            <a:fillRect/>
          </a:stretch>
        </p:blipFill>
        <p:spPr>
          <a:xfrm>
            <a:off x="10922000" y="4292600"/>
            <a:ext cx="304800" cy="304800"/>
          </a:xfrm>
          <a:prstGeom prst="rect">
            <a:avLst/>
          </a:prstGeom>
        </p:spPr>
      </p:pic>
      <p:pic>
        <p:nvPicPr>
          <p:cNvPr id="825" name="Graphic 825"/>
          <p:cNvPicPr>
            <a:picLocks noChangeAspect="1"/>
          </p:cNvPicPr>
          <p:nvPr/>
        </p:nvPicPr>
        <p:blipFill>
          <a:blip r:embed="rId38">
            <a:extLst>
              <a:ext uri="{96DAC541-7B7A-43D3-8B79-37D633B846F1}">
                <asvg:svgBlip xmlns:asvg="http://schemas.microsoft.com/office/drawing/2016/SVG/main" r:embed="rId39"/>
              </a:ext>
            </a:extLst>
          </a:blip>
          <a:stretch>
            <a:fillRect/>
          </a:stretch>
        </p:blipFill>
        <p:spPr>
          <a:xfrm>
            <a:off x="3695700" y="1219200"/>
            <a:ext cx="304800" cy="304800"/>
          </a:xfrm>
          <a:prstGeom prst="rect">
            <a:avLst/>
          </a:prstGeom>
        </p:spPr>
      </p:pic>
      <p:pic>
        <p:nvPicPr>
          <p:cNvPr id="826" name="Graphic 826"/>
          <p:cNvPicPr>
            <a:picLocks noChangeAspect="1"/>
          </p:cNvPicPr>
          <p:nvPr/>
        </p:nvPicPr>
        <p:blipFill>
          <a:blip r:embed="rId40">
            <a:extLst>
              <a:ext uri="{96DAC541-7B7A-43D3-8B79-37D633B846F1}">
                <asvg:svgBlip xmlns:asvg="http://schemas.microsoft.com/office/drawing/2016/SVG/main" r:embed="rId41"/>
              </a:ext>
            </a:extLst>
          </a:blip>
          <a:stretch>
            <a:fillRect/>
          </a:stretch>
        </p:blipFill>
        <p:spPr>
          <a:xfrm>
            <a:off x="10922000" y="1854200"/>
            <a:ext cx="304800" cy="304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898405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D39D8A-D649-187F-E12F-B952FA0B30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39518F20-C75F-DC41-5336-68CF3232AD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8703" y="162537"/>
            <a:ext cx="10668000" cy="746860"/>
          </a:xfrm>
        </p:spPr>
        <p:txBody>
          <a:bodyPr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ptos" panose="020B0004020202020204" pitchFamily="34" charset="0"/>
              <a:defRPr sz="1867" b="0" i="0" u="none" strike="noStrike" cap="none">
                <a:solidFill>
                  <a:srgbClr val="000000"/>
                </a:solidFill>
                <a:latin typeface="Aptos" panose="020B0004020202020204" pitchFamily="34" charset="0"/>
                <a:ea typeface="Aptos" panose="020B0004020202020204" pitchFamily="34" charset="0"/>
                <a:cs typeface="Aptos" panose="020B0004020202020204" pitchFamily="34" charset="0"/>
                <a:sym typeface="Aptos" panose="020B0004020202020204" pitchFamily="34" charset="0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ptos" panose="020B0004020202020204" pitchFamily="34" charset="0"/>
              <a:defRPr sz="1867" b="0" i="0" u="none" strike="noStrike" cap="none">
                <a:solidFill>
                  <a:srgbClr val="000000"/>
                </a:solidFill>
                <a:latin typeface="Aptos" panose="020B0004020202020204" pitchFamily="34" charset="0"/>
                <a:ea typeface="Aptos" panose="020B0004020202020204" pitchFamily="34" charset="0"/>
                <a:cs typeface="Aptos" panose="020B0004020202020204" pitchFamily="34" charset="0"/>
                <a:sym typeface="Aptos" panose="020B0004020202020204" pitchFamily="34" charset="0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ptos" panose="020B0004020202020204" pitchFamily="34" charset="0"/>
              <a:defRPr sz="1867" b="0" i="0" u="none" strike="noStrike" cap="none">
                <a:solidFill>
                  <a:srgbClr val="000000"/>
                </a:solidFill>
                <a:latin typeface="Aptos" panose="020B0004020202020204" pitchFamily="34" charset="0"/>
                <a:ea typeface="Aptos" panose="020B0004020202020204" pitchFamily="34" charset="0"/>
                <a:cs typeface="Aptos" panose="020B0004020202020204" pitchFamily="34" charset="0"/>
                <a:sym typeface="Aptos" panose="020B0004020202020204" pitchFamily="34" charset="0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ptos" panose="020B0004020202020204" pitchFamily="34" charset="0"/>
              <a:defRPr sz="1867" b="0" i="0" u="none" strike="noStrike" cap="none">
                <a:solidFill>
                  <a:srgbClr val="000000"/>
                </a:solidFill>
                <a:latin typeface="Aptos" panose="020B0004020202020204" pitchFamily="34" charset="0"/>
                <a:ea typeface="Aptos" panose="020B0004020202020204" pitchFamily="34" charset="0"/>
                <a:cs typeface="Aptos" panose="020B0004020202020204" pitchFamily="34" charset="0"/>
                <a:sym typeface="Aptos" panose="020B0004020202020204" pitchFamily="34" charset="0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ptos" panose="020B0004020202020204" pitchFamily="34" charset="0"/>
              <a:defRPr sz="1867" b="0" i="0" u="none" strike="noStrike" cap="none">
                <a:solidFill>
                  <a:srgbClr val="000000"/>
                </a:solidFill>
                <a:latin typeface="Aptos" panose="020B0004020202020204" pitchFamily="34" charset="0"/>
                <a:ea typeface="Aptos" panose="020B0004020202020204" pitchFamily="34" charset="0"/>
                <a:cs typeface="Aptos" panose="020B0004020202020204" pitchFamily="34" charset="0"/>
                <a:sym typeface="Aptos" panose="020B0004020202020204" pitchFamily="34" charset="0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ptos" panose="020B0004020202020204" pitchFamily="34" charset="0"/>
              <a:defRPr sz="1867" b="0" i="0" u="none" strike="noStrike" cap="none">
                <a:solidFill>
                  <a:srgbClr val="000000"/>
                </a:solidFill>
                <a:latin typeface="Aptos" panose="020B0004020202020204" pitchFamily="34" charset="0"/>
                <a:ea typeface="Aptos" panose="020B0004020202020204" pitchFamily="34" charset="0"/>
                <a:cs typeface="Aptos" panose="020B0004020202020204" pitchFamily="34" charset="0"/>
                <a:sym typeface="Aptos" panose="020B0004020202020204" pitchFamily="34" charset="0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ptos" panose="020B0004020202020204" pitchFamily="34" charset="0"/>
              <a:defRPr sz="1867" b="0" i="0" u="none" strike="noStrike" cap="none">
                <a:solidFill>
                  <a:srgbClr val="000000"/>
                </a:solidFill>
                <a:latin typeface="Aptos" panose="020B0004020202020204" pitchFamily="34" charset="0"/>
                <a:ea typeface="Aptos" panose="020B0004020202020204" pitchFamily="34" charset="0"/>
                <a:cs typeface="Aptos" panose="020B0004020202020204" pitchFamily="34" charset="0"/>
                <a:sym typeface="Aptos" panose="020B0004020202020204" pitchFamily="34" charset="0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ptos" panose="020B0004020202020204" pitchFamily="34" charset="0"/>
              <a:defRPr sz="1867" b="0" i="0" u="none" strike="noStrike" cap="none">
                <a:solidFill>
                  <a:srgbClr val="000000"/>
                </a:solidFill>
                <a:latin typeface="Aptos" panose="020B0004020202020204" pitchFamily="34" charset="0"/>
                <a:ea typeface="Aptos" panose="020B0004020202020204" pitchFamily="34" charset="0"/>
                <a:cs typeface="Aptos" panose="020B0004020202020204" pitchFamily="34" charset="0"/>
                <a:sym typeface="Aptos" panose="020B0004020202020204" pitchFamily="34" charset="0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ptos" panose="020B0004020202020204" pitchFamily="34" charset="0"/>
              <a:defRPr sz="1867" b="0" i="0" u="none" strike="noStrike" cap="none">
                <a:solidFill>
                  <a:srgbClr val="000000"/>
                </a:solidFill>
                <a:latin typeface="Aptos" panose="020B0004020202020204" pitchFamily="34" charset="0"/>
                <a:ea typeface="Aptos" panose="020B0004020202020204" pitchFamily="34" charset="0"/>
                <a:cs typeface="Aptos" panose="020B0004020202020204" pitchFamily="34" charset="0"/>
                <a:sym typeface="Aptos" panose="020B0004020202020204" pitchFamily="34" charset="0"/>
              </a:defRPr>
            </a:lvl9pPr>
          </a:lstStyle>
          <a:p>
            <a:r>
              <a:rPr lang="en-GB" sz="3600">
                <a:latin typeface="PP Neue Machina Plain Ultrabold" pitchFamily="2" charset="0"/>
              </a:rPr>
              <a:t>Reference Architecture</a:t>
            </a:r>
          </a:p>
        </p:txBody>
      </p:sp>
      <p:pic>
        <p:nvPicPr>
          <p:cNvPr id="4" name="Picture 3" descr="Screens screenshot of a phone&#10;&#10;AI-generated content may be incorrect.">
            <a:extLst>
              <a:ext uri="{FF2B5EF4-FFF2-40B4-BE49-F238E27FC236}">
                <a16:creationId xmlns:a16="http://schemas.microsoft.com/office/drawing/2014/main" id="{92D04B1F-CBDE-D17E-612A-F28996BF9D8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5373"/>
          <a:stretch>
            <a:fillRect/>
          </a:stretch>
        </p:blipFill>
        <p:spPr>
          <a:xfrm>
            <a:off x="-121140" y="909397"/>
            <a:ext cx="12313140" cy="53578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847900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E58FF5-06FE-5BBE-156D-1B7FAC2DE3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5BD102-DEF2-2A05-9304-A50E261F08B3}"/>
              </a:ext>
            </a:extLst>
          </p:cNvPr>
          <p:cNvSpPr txBox="1">
            <a:spLocks/>
          </p:cNvSpPr>
          <p:nvPr/>
        </p:nvSpPr>
        <p:spPr>
          <a:xfrm>
            <a:off x="105837" y="-44970"/>
            <a:ext cx="9066576" cy="763600"/>
          </a:xfrm>
          <a:prstGeom prst="rect">
            <a:avLst/>
          </a:prstGeom>
        </p:spPr>
        <p:txBody>
          <a:bodyPr spcFirstLastPara="1" vert="horz" wrap="square" lIns="91425" tIns="91425" rIns="91425" bIns="91425" rtlCol="0" anchor="ctr" anchorCtr="0">
            <a:noAutofit/>
          </a:bodyPr>
          <a:lstStyle>
            <a:lvl1pPr lvl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400" b="1" kern="1200">
                <a:solidFill>
                  <a:srgbClr val="2859C3"/>
                </a:solidFill>
                <a:latin typeface="+mj-lt"/>
                <a:ea typeface="+mj-ea"/>
                <a:cs typeface="+mj-c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pPr marR="0" lvl="0" indent="0" defTabSz="914377" fontAlgn="auto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tabLst/>
              <a:defRPr/>
            </a:pPr>
            <a:r>
              <a:rPr lang="en-US" sz="2600">
                <a:solidFill>
                  <a:schemeClr val="tx1"/>
                </a:solidFill>
                <a:latin typeface="PP Neue Machina Plain Ultrabold" pitchFamily="2" charset="77"/>
                <a:sym typeface="Arial"/>
              </a:rPr>
              <a:t>Solution Architecture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DAAFE000-2533-8DF2-ECE2-620E415655B9}"/>
              </a:ext>
            </a:extLst>
          </p:cNvPr>
          <p:cNvGrpSpPr/>
          <p:nvPr/>
        </p:nvGrpSpPr>
        <p:grpSpPr>
          <a:xfrm>
            <a:off x="268023" y="531140"/>
            <a:ext cx="11708355" cy="6287816"/>
            <a:chOff x="268023" y="531140"/>
            <a:chExt cx="11708355" cy="6287816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19B843AA-12E8-BD27-A837-EA688C187EFD}"/>
                </a:ext>
              </a:extLst>
            </p:cNvPr>
            <p:cNvSpPr/>
            <p:nvPr/>
          </p:nvSpPr>
          <p:spPr>
            <a:xfrm>
              <a:off x="7521058" y="3119780"/>
              <a:ext cx="1247747" cy="522327"/>
            </a:xfrm>
            <a:prstGeom prst="rect">
              <a:avLst/>
            </a:prstGeom>
            <a:noFill/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endParaRPr>
            </a:p>
          </p:txBody>
        </p:sp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A71C4860-14E5-A726-888E-2738D84B3BE0}"/>
                </a:ext>
              </a:extLst>
            </p:cNvPr>
            <p:cNvSpPr txBox="1"/>
            <p:nvPr/>
          </p:nvSpPr>
          <p:spPr>
            <a:xfrm>
              <a:off x="385937" y="2903796"/>
              <a:ext cx="923021" cy="34721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37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Input</a:t>
              </a:r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50504452-109E-8981-76EA-55E4A0F2084E}"/>
                </a:ext>
              </a:extLst>
            </p:cNvPr>
            <p:cNvSpPr txBox="1"/>
            <p:nvPr/>
          </p:nvSpPr>
          <p:spPr>
            <a:xfrm>
              <a:off x="300707" y="4139178"/>
              <a:ext cx="1085884" cy="31565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Queries</a:t>
              </a:r>
            </a:p>
          </p:txBody>
        </p:sp>
        <p:sp>
          <p:nvSpPr>
            <p:cNvPr id="7" name="Rectangle: Rounded Corners 116">
              <a:extLst>
                <a:ext uri="{FF2B5EF4-FFF2-40B4-BE49-F238E27FC236}">
                  <a16:creationId xmlns:a16="http://schemas.microsoft.com/office/drawing/2014/main" id="{87E79E7B-28F9-EB48-13B8-FAEA11E72BEF}"/>
                </a:ext>
              </a:extLst>
            </p:cNvPr>
            <p:cNvSpPr/>
            <p:nvPr/>
          </p:nvSpPr>
          <p:spPr>
            <a:xfrm>
              <a:off x="3262055" y="579236"/>
              <a:ext cx="1371825" cy="1293406"/>
            </a:xfrm>
            <a:prstGeom prst="round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"/>
                <a:ea typeface="+mn-ea"/>
                <a:cs typeface="+mn-cs"/>
              </a:endParaRPr>
            </a:p>
          </p:txBody>
        </p:sp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1BD8270E-EA96-151D-3803-CC4A59CBB84F}"/>
                </a:ext>
              </a:extLst>
            </p:cNvPr>
            <p:cNvGrpSpPr/>
            <p:nvPr/>
          </p:nvGrpSpPr>
          <p:grpSpPr>
            <a:xfrm>
              <a:off x="9648281" y="3853104"/>
              <a:ext cx="2328097" cy="2290525"/>
              <a:chOff x="2811003" y="4994567"/>
              <a:chExt cx="2320281" cy="1471307"/>
            </a:xfrm>
          </p:grpSpPr>
          <p:grpSp>
            <p:nvGrpSpPr>
              <p:cNvPr id="108" name="Group 107">
                <a:extLst>
                  <a:ext uri="{FF2B5EF4-FFF2-40B4-BE49-F238E27FC236}">
                    <a16:creationId xmlns:a16="http://schemas.microsoft.com/office/drawing/2014/main" id="{41127F51-E92D-2A7A-67FC-75A2D49B700E}"/>
                  </a:ext>
                </a:extLst>
              </p:cNvPr>
              <p:cNvGrpSpPr/>
              <p:nvPr/>
            </p:nvGrpSpPr>
            <p:grpSpPr>
              <a:xfrm>
                <a:off x="2811003" y="4994567"/>
                <a:ext cx="2320281" cy="1471307"/>
                <a:chOff x="6548344" y="4783215"/>
                <a:chExt cx="2320281" cy="1474679"/>
              </a:xfrm>
            </p:grpSpPr>
            <p:sp>
              <p:nvSpPr>
                <p:cNvPr id="110" name="Rectangle: Rounded Corners 120">
                  <a:extLst>
                    <a:ext uri="{FF2B5EF4-FFF2-40B4-BE49-F238E27FC236}">
                      <a16:creationId xmlns:a16="http://schemas.microsoft.com/office/drawing/2014/main" id="{0197F163-11B6-C8CB-5CBD-E058AD85497D}"/>
                    </a:ext>
                  </a:extLst>
                </p:cNvPr>
                <p:cNvSpPr/>
                <p:nvPr/>
              </p:nvSpPr>
              <p:spPr>
                <a:xfrm>
                  <a:off x="6548344" y="4783215"/>
                  <a:ext cx="2165721" cy="1474679"/>
                </a:xfrm>
                <a:prstGeom prst="roundRect">
                  <a:avLst/>
                </a:prstGeom>
                <a:noFill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endParaRPr>
                </a:p>
              </p:txBody>
            </p:sp>
            <p:pic>
              <p:nvPicPr>
                <p:cNvPr id="111" name="Picture 34" descr="GenAI application development with Pinecone Vector Database in AWS  Marketplace">
                  <a:extLst>
                    <a:ext uri="{FF2B5EF4-FFF2-40B4-BE49-F238E27FC236}">
                      <a16:creationId xmlns:a16="http://schemas.microsoft.com/office/drawing/2014/main" id="{303E1B40-224E-F659-76DD-18DA6B409C04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>
                <a:blip r:embed="rId2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6858064" y="4828430"/>
                  <a:ext cx="325205" cy="240575"/>
                </a:xfrm>
                <a:prstGeom prst="rect">
                  <a:avLst/>
                </a:prstGeom>
                <a:noFill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</p:pic>
            <p:sp>
              <p:nvSpPr>
                <p:cNvPr id="112" name="TextBox 111">
                  <a:extLst>
                    <a:ext uri="{FF2B5EF4-FFF2-40B4-BE49-F238E27FC236}">
                      <a16:creationId xmlns:a16="http://schemas.microsoft.com/office/drawing/2014/main" id="{44029442-D08E-4F6B-BFC0-E1241ACCE8E4}"/>
                    </a:ext>
                  </a:extLst>
                </p:cNvPr>
                <p:cNvSpPr txBox="1"/>
                <p:nvPr/>
              </p:nvSpPr>
              <p:spPr>
                <a:xfrm>
                  <a:off x="7154028" y="4869542"/>
                  <a:ext cx="1714597" cy="162578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000" b="1" i="0" u="none" strike="noStrike" kern="120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panose="020B0604020202020204" pitchFamily="34" charset="0"/>
                      <a:ea typeface="+mn-ea"/>
                      <a:cs typeface="Arial" panose="020B0604020202020204" pitchFamily="34" charset="0"/>
                    </a:rPr>
                    <a:t>OpenAI GPT 4.1</a:t>
                  </a:r>
                </a:p>
              </p:txBody>
            </p:sp>
            <p:sp>
              <p:nvSpPr>
                <p:cNvPr id="113" name="Rectangle 112">
                  <a:extLst>
                    <a:ext uri="{FF2B5EF4-FFF2-40B4-BE49-F238E27FC236}">
                      <a16:creationId xmlns:a16="http://schemas.microsoft.com/office/drawing/2014/main" id="{9CA4B7E5-8F55-7262-F3E8-3B8F67EA2D68}"/>
                    </a:ext>
                  </a:extLst>
                </p:cNvPr>
                <p:cNvSpPr/>
                <p:nvPr/>
              </p:nvSpPr>
              <p:spPr>
                <a:xfrm>
                  <a:off x="6792706" y="5169632"/>
                  <a:ext cx="1122992" cy="463163"/>
                </a:xfrm>
                <a:prstGeom prst="rect">
                  <a:avLst/>
                </a:prstGeom>
                <a:solidFill>
                  <a:schemeClr val="bg2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900" b="0" i="0" u="none" strike="noStrike" kern="120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panose="020B0604020202020204" pitchFamily="34" charset="0"/>
                      <a:ea typeface="+mn-ea"/>
                      <a:cs typeface="Arial" panose="020B0604020202020204" pitchFamily="34" charset="0"/>
                    </a:rPr>
                    <a:t>Generate NLP Response</a:t>
                  </a:r>
                </a:p>
              </p:txBody>
            </p:sp>
            <p:sp>
              <p:nvSpPr>
                <p:cNvPr id="114" name="Rectangle 113">
                  <a:extLst>
                    <a:ext uri="{FF2B5EF4-FFF2-40B4-BE49-F238E27FC236}">
                      <a16:creationId xmlns:a16="http://schemas.microsoft.com/office/drawing/2014/main" id="{40F8A5A2-2355-A419-19C7-473FCC72A43C}"/>
                    </a:ext>
                  </a:extLst>
                </p:cNvPr>
                <p:cNvSpPr/>
                <p:nvPr/>
              </p:nvSpPr>
              <p:spPr>
                <a:xfrm>
                  <a:off x="6818457" y="5721417"/>
                  <a:ext cx="1122992" cy="463163"/>
                </a:xfrm>
                <a:prstGeom prst="rect">
                  <a:avLst/>
                </a:prstGeom>
                <a:solidFill>
                  <a:schemeClr val="bg2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900" b="0" i="0" u="none" strike="noStrike" kern="120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panose="020B0604020202020204" pitchFamily="34" charset="0"/>
                      <a:ea typeface="+mn-ea"/>
                      <a:cs typeface="Arial" panose="020B0604020202020204" pitchFamily="34" charset="0"/>
                    </a:rPr>
                    <a:t>Generate Graph if applicable</a:t>
                  </a:r>
                </a:p>
              </p:txBody>
            </p:sp>
          </p:grpSp>
          <p:pic>
            <p:nvPicPr>
              <p:cNvPr id="109" name="Picture 52" descr="Large Language Models (LLMs) | TWIML">
                <a:extLst>
                  <a:ext uri="{FF2B5EF4-FFF2-40B4-BE49-F238E27FC236}">
                    <a16:creationId xmlns:a16="http://schemas.microsoft.com/office/drawing/2014/main" id="{8BCF263D-7393-BE07-13A3-FB385F0F8C4A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4122038" y="5686434"/>
                <a:ext cx="1001309" cy="702447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  <p:pic>
          <p:nvPicPr>
            <p:cNvPr id="9" name="Graphic 8" descr="Document outline">
              <a:extLst>
                <a:ext uri="{FF2B5EF4-FFF2-40B4-BE49-F238E27FC236}">
                  <a16:creationId xmlns:a16="http://schemas.microsoft.com/office/drawing/2014/main" id="{4B21521D-900A-A883-9A1E-0DBD770E402F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6355576" y="531140"/>
              <a:ext cx="496042" cy="507027"/>
            </a:xfrm>
            <a:prstGeom prst="rect">
              <a:avLst/>
            </a:prstGeom>
          </p:spPr>
        </p:pic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A8775AB2-EB13-8B98-7421-57E6D8ED84A3}"/>
                </a:ext>
              </a:extLst>
            </p:cNvPr>
            <p:cNvSpPr/>
            <p:nvPr/>
          </p:nvSpPr>
          <p:spPr>
            <a:xfrm>
              <a:off x="396485" y="3653728"/>
              <a:ext cx="889847" cy="1025179"/>
            </a:xfrm>
            <a:prstGeom prst="rect">
              <a:avLst/>
            </a:prstGeom>
            <a:noFill/>
            <a:ln w="28575">
              <a:solidFill>
                <a:schemeClr val="accent6">
                  <a:lumMod val="90000"/>
                  <a:lumOff val="10000"/>
                </a:schemeClr>
              </a:solidFill>
              <a:prstDash val="sys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37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endParaRPr>
            </a:p>
          </p:txBody>
        </p:sp>
        <p:pic>
          <p:nvPicPr>
            <p:cNvPr id="11" name="Picture 2" descr="Queries - Free animals icons">
              <a:extLst>
                <a:ext uri="{FF2B5EF4-FFF2-40B4-BE49-F238E27FC236}">
                  <a16:creationId xmlns:a16="http://schemas.microsoft.com/office/drawing/2014/main" id="{08FB4B88-91BC-E2AA-207E-778C8094C95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64317" y="3658563"/>
              <a:ext cx="592933" cy="60407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A42B2653-018B-46AC-5EBD-79F44C63F8F4}"/>
                </a:ext>
              </a:extLst>
            </p:cNvPr>
            <p:cNvSpPr txBox="1"/>
            <p:nvPr/>
          </p:nvSpPr>
          <p:spPr>
            <a:xfrm>
              <a:off x="3508889" y="4186731"/>
              <a:ext cx="1164527" cy="2525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Azure Open AI</a:t>
              </a:r>
            </a:p>
          </p:txBody>
        </p:sp>
        <p:cxnSp>
          <p:nvCxnSpPr>
            <p:cNvPr id="13" name="Straight Arrow Connector 12">
              <a:extLst>
                <a:ext uri="{FF2B5EF4-FFF2-40B4-BE49-F238E27FC236}">
                  <a16:creationId xmlns:a16="http://schemas.microsoft.com/office/drawing/2014/main" id="{ECD6385D-BFA9-29FA-04BE-F4BEF6895EEF}"/>
                </a:ext>
              </a:extLst>
            </p:cNvPr>
            <p:cNvCxnSpPr>
              <a:cxnSpLocks/>
            </p:cNvCxnSpPr>
            <p:nvPr/>
          </p:nvCxnSpPr>
          <p:spPr>
            <a:xfrm>
              <a:off x="2678532" y="4285561"/>
              <a:ext cx="863857" cy="4254"/>
            </a:xfrm>
            <a:prstGeom prst="straightConnector1">
              <a:avLst/>
            </a:prstGeom>
            <a:ln w="19050">
              <a:solidFill>
                <a:srgbClr val="00206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Arrow Connector 13">
              <a:extLst>
                <a:ext uri="{FF2B5EF4-FFF2-40B4-BE49-F238E27FC236}">
                  <a16:creationId xmlns:a16="http://schemas.microsoft.com/office/drawing/2014/main" id="{B0612105-ABFF-F4AC-B43B-BAC106A3F1EE}"/>
                </a:ext>
              </a:extLst>
            </p:cNvPr>
            <p:cNvCxnSpPr>
              <a:cxnSpLocks/>
            </p:cNvCxnSpPr>
            <p:nvPr/>
          </p:nvCxnSpPr>
          <p:spPr>
            <a:xfrm>
              <a:off x="4491371" y="4180216"/>
              <a:ext cx="2450090" cy="0"/>
            </a:xfrm>
            <a:prstGeom prst="straightConnector1">
              <a:avLst/>
            </a:prstGeom>
            <a:ln w="19050">
              <a:solidFill>
                <a:srgbClr val="00206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Arrow Connector 14">
              <a:extLst>
                <a:ext uri="{FF2B5EF4-FFF2-40B4-BE49-F238E27FC236}">
                  <a16:creationId xmlns:a16="http://schemas.microsoft.com/office/drawing/2014/main" id="{FEC0C462-3C22-76FB-AD23-25C021A6C9D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529595" y="4366311"/>
              <a:ext cx="2338905" cy="0"/>
            </a:xfrm>
            <a:prstGeom prst="straightConnector1">
              <a:avLst/>
            </a:prstGeom>
            <a:ln w="28575" cap="flat" cmpd="sng" algn="ctr">
              <a:solidFill>
                <a:srgbClr val="002060"/>
              </a:solidFill>
              <a:prstDash val="sysDot"/>
              <a:round/>
              <a:headEnd type="none" w="med" len="med"/>
              <a:tailEnd type="arrow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sp>
          <p:nvSpPr>
            <p:cNvPr id="16" name="Rectangle: Rounded Corners 134">
              <a:extLst>
                <a:ext uri="{FF2B5EF4-FFF2-40B4-BE49-F238E27FC236}">
                  <a16:creationId xmlns:a16="http://schemas.microsoft.com/office/drawing/2014/main" id="{C22084C5-41C9-AD4B-AA57-077A11220611}"/>
                </a:ext>
              </a:extLst>
            </p:cNvPr>
            <p:cNvSpPr/>
            <p:nvPr/>
          </p:nvSpPr>
          <p:spPr>
            <a:xfrm>
              <a:off x="3036912" y="5240862"/>
              <a:ext cx="3261180" cy="1088809"/>
            </a:xfrm>
            <a:prstGeom prst="round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endParaRPr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563BA7BE-4A22-47EB-BF13-D384B66A9934}"/>
                </a:ext>
              </a:extLst>
            </p:cNvPr>
            <p:cNvSpPr txBox="1"/>
            <p:nvPr/>
          </p:nvSpPr>
          <p:spPr>
            <a:xfrm>
              <a:off x="4102422" y="5364283"/>
              <a:ext cx="2069552" cy="25455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OpenAI GPT-4.1</a:t>
              </a:r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5827AB4F-31A3-74B3-A1DC-FEB17AA2E48F}"/>
                </a:ext>
              </a:extLst>
            </p:cNvPr>
            <p:cNvSpPr/>
            <p:nvPr/>
          </p:nvSpPr>
          <p:spPr>
            <a:xfrm>
              <a:off x="3250522" y="5722260"/>
              <a:ext cx="1083636" cy="478831"/>
            </a:xfrm>
            <a:prstGeom prst="rect">
              <a:avLst/>
            </a:prstGeom>
            <a:solidFill>
              <a:schemeClr val="bg2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9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Generate SQL Query</a:t>
              </a:r>
            </a:p>
          </p:txBody>
        </p: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B6B2911A-0BE0-A78C-B44B-2A62903264AC}"/>
                </a:ext>
              </a:extLst>
            </p:cNvPr>
            <p:cNvSpPr/>
            <p:nvPr/>
          </p:nvSpPr>
          <p:spPr>
            <a:xfrm>
              <a:off x="4995687" y="5725725"/>
              <a:ext cx="1083636" cy="478831"/>
            </a:xfrm>
            <a:prstGeom prst="rect">
              <a:avLst/>
            </a:prstGeom>
            <a:solidFill>
              <a:schemeClr val="bg2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9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Rectify SQL Queries</a:t>
              </a:r>
            </a:p>
          </p:txBody>
        </p:sp>
        <p:cxnSp>
          <p:nvCxnSpPr>
            <p:cNvPr id="20" name="Straight Arrow Connector 19">
              <a:extLst>
                <a:ext uri="{FF2B5EF4-FFF2-40B4-BE49-F238E27FC236}">
                  <a16:creationId xmlns:a16="http://schemas.microsoft.com/office/drawing/2014/main" id="{45AA2F61-EA9F-1E26-5C0A-BB42BCEA0EA1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151073" y="4730141"/>
              <a:ext cx="0" cy="485934"/>
            </a:xfrm>
            <a:prstGeom prst="straightConnector1">
              <a:avLst/>
            </a:prstGeom>
            <a:ln w="28575">
              <a:solidFill>
                <a:srgbClr val="00206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Arrow Connector 20">
              <a:extLst>
                <a:ext uri="{FF2B5EF4-FFF2-40B4-BE49-F238E27FC236}">
                  <a16:creationId xmlns:a16="http://schemas.microsoft.com/office/drawing/2014/main" id="{B44E767A-581E-5FD0-4AE6-A008C828C3D7}"/>
                </a:ext>
              </a:extLst>
            </p:cNvPr>
            <p:cNvCxnSpPr>
              <a:cxnSpLocks/>
            </p:cNvCxnSpPr>
            <p:nvPr/>
          </p:nvCxnSpPr>
          <p:spPr>
            <a:xfrm>
              <a:off x="3694971" y="4730141"/>
              <a:ext cx="0" cy="485934"/>
            </a:xfrm>
            <a:prstGeom prst="straightConnector1">
              <a:avLst/>
            </a:prstGeom>
            <a:ln w="28575">
              <a:solidFill>
                <a:srgbClr val="00206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Arrow Connector 21">
              <a:extLst>
                <a:ext uri="{FF2B5EF4-FFF2-40B4-BE49-F238E27FC236}">
                  <a16:creationId xmlns:a16="http://schemas.microsoft.com/office/drawing/2014/main" id="{13C5C6DD-AB39-8E6E-EBE0-0DA98D4D2BD2}"/>
                </a:ext>
              </a:extLst>
            </p:cNvPr>
            <p:cNvCxnSpPr>
              <a:cxnSpLocks/>
            </p:cNvCxnSpPr>
            <p:nvPr/>
          </p:nvCxnSpPr>
          <p:spPr>
            <a:xfrm>
              <a:off x="3932144" y="4730141"/>
              <a:ext cx="0" cy="485934"/>
            </a:xfrm>
            <a:prstGeom prst="straightConnector1">
              <a:avLst/>
            </a:prstGeom>
            <a:ln w="28575">
              <a:solidFill>
                <a:srgbClr val="002060"/>
              </a:solidFill>
              <a:prstDash val="sysDot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3" name="Rectangle: Rounded Corners 142">
              <a:extLst>
                <a:ext uri="{FF2B5EF4-FFF2-40B4-BE49-F238E27FC236}">
                  <a16:creationId xmlns:a16="http://schemas.microsoft.com/office/drawing/2014/main" id="{444B435A-E1F7-C48C-5758-477172CC59B7}"/>
                </a:ext>
              </a:extLst>
            </p:cNvPr>
            <p:cNvSpPr/>
            <p:nvPr/>
          </p:nvSpPr>
          <p:spPr>
            <a:xfrm>
              <a:off x="6949312" y="2374613"/>
              <a:ext cx="1996349" cy="3069746"/>
            </a:xfrm>
            <a:prstGeom prst="roundRect">
              <a:avLst/>
            </a:prstGeom>
            <a:noFill/>
            <a:ln w="38100">
              <a:solidFill>
                <a:schemeClr val="accent5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endParaRPr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6EEB0B21-58C5-C95F-190D-96B285FAC5DC}"/>
                </a:ext>
              </a:extLst>
            </p:cNvPr>
            <p:cNvSpPr txBox="1"/>
            <p:nvPr/>
          </p:nvSpPr>
          <p:spPr>
            <a:xfrm>
              <a:off x="7328040" y="2596019"/>
              <a:ext cx="1238749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Data Stores</a:t>
              </a:r>
            </a:p>
          </p:txBody>
        </p: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30577022-77AC-71C9-F726-9EADFAE7D244}"/>
                </a:ext>
              </a:extLst>
            </p:cNvPr>
            <p:cNvSpPr txBox="1"/>
            <p:nvPr/>
          </p:nvSpPr>
          <p:spPr>
            <a:xfrm>
              <a:off x="7357241" y="4720411"/>
              <a:ext cx="1271750" cy="41549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5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Azure Blob storage</a:t>
              </a:r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AC7132BC-30E0-8BC0-FB16-83672E5FB33D}"/>
                </a:ext>
              </a:extLst>
            </p:cNvPr>
            <p:cNvSpPr txBox="1"/>
            <p:nvPr/>
          </p:nvSpPr>
          <p:spPr>
            <a:xfrm>
              <a:off x="7505298" y="3796354"/>
              <a:ext cx="1238749" cy="41549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5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Azure  SQL Database</a:t>
              </a:r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ADEF767B-ADDF-C87D-CD5F-0524790D1408}"/>
                </a:ext>
              </a:extLst>
            </p:cNvPr>
            <p:cNvSpPr txBox="1"/>
            <p:nvPr/>
          </p:nvSpPr>
          <p:spPr>
            <a:xfrm>
              <a:off x="7415422" y="3151185"/>
              <a:ext cx="1426243" cy="415498"/>
            </a:xfrm>
            <a:prstGeom prst="rect">
              <a:avLst/>
            </a:prstGeom>
            <a:noFill/>
          </p:spPr>
          <p:txBody>
            <a:bodyPr wrap="square" lIns="91440" tIns="45720" rIns="91440" bIns="45720" rtlCol="0" anchor="t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5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+mn-ea"/>
                  <a:cs typeface="Arial"/>
                </a:rPr>
                <a:t>Azure Cosmos NoSQL DB</a:t>
              </a:r>
            </a:p>
          </p:txBody>
        </p:sp>
        <p:sp>
          <p:nvSpPr>
            <p:cNvPr id="28" name="Rectangle: Rounded Corners 149">
              <a:extLst>
                <a:ext uri="{FF2B5EF4-FFF2-40B4-BE49-F238E27FC236}">
                  <a16:creationId xmlns:a16="http://schemas.microsoft.com/office/drawing/2014/main" id="{5927F826-DE69-C924-86C9-F106A140653B}"/>
                </a:ext>
              </a:extLst>
            </p:cNvPr>
            <p:cNvSpPr/>
            <p:nvPr/>
          </p:nvSpPr>
          <p:spPr>
            <a:xfrm>
              <a:off x="7053913" y="4565143"/>
              <a:ext cx="1795796" cy="763601"/>
            </a:xfrm>
            <a:prstGeom prst="roundRect">
              <a:avLst/>
            </a:prstGeom>
            <a:noFill/>
            <a:ln>
              <a:prstDash val="lgDashDotDot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endParaRPr>
            </a:p>
          </p:txBody>
        </p:sp>
        <p:sp>
          <p:nvSpPr>
            <p:cNvPr id="29" name="Rectangle: Rounded Corners 151">
              <a:extLst>
                <a:ext uri="{FF2B5EF4-FFF2-40B4-BE49-F238E27FC236}">
                  <a16:creationId xmlns:a16="http://schemas.microsoft.com/office/drawing/2014/main" id="{F6884F7D-8159-F57E-8E90-AB2FB8E9807F}"/>
                </a:ext>
              </a:extLst>
            </p:cNvPr>
            <p:cNvSpPr/>
            <p:nvPr/>
          </p:nvSpPr>
          <p:spPr>
            <a:xfrm>
              <a:off x="7059151" y="3033546"/>
              <a:ext cx="1788343" cy="1286380"/>
            </a:xfrm>
            <a:prstGeom prst="roundRect">
              <a:avLst/>
            </a:prstGeom>
            <a:noFill/>
            <a:ln>
              <a:prstDash val="lgDashDotDot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endParaRPr>
            </a:p>
          </p:txBody>
        </p:sp>
        <p:cxnSp>
          <p:nvCxnSpPr>
            <p:cNvPr id="30" name="Connector: Elbow 153">
              <a:extLst>
                <a:ext uri="{FF2B5EF4-FFF2-40B4-BE49-F238E27FC236}">
                  <a16:creationId xmlns:a16="http://schemas.microsoft.com/office/drawing/2014/main" id="{F8E41CF7-5784-9E28-5447-1EB398DC0BF9}"/>
                </a:ext>
              </a:extLst>
            </p:cNvPr>
            <p:cNvCxnSpPr>
              <a:cxnSpLocks/>
              <a:stCxn id="24" idx="0"/>
              <a:endCxn id="73" idx="3"/>
            </p:cNvCxnSpPr>
            <p:nvPr/>
          </p:nvCxnSpPr>
          <p:spPr>
            <a:xfrm rot="16200000" flipV="1">
              <a:off x="7060526" y="1709129"/>
              <a:ext cx="1011249" cy="762531"/>
            </a:xfrm>
            <a:prstGeom prst="bentConnector2">
              <a:avLst/>
            </a:prstGeom>
            <a:ln w="19050">
              <a:solidFill>
                <a:srgbClr val="00206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A7D6B3AA-A36A-AECF-CA5B-0DF5CB392BA7}"/>
                </a:ext>
              </a:extLst>
            </p:cNvPr>
            <p:cNvSpPr txBox="1"/>
            <p:nvPr/>
          </p:nvSpPr>
          <p:spPr>
            <a:xfrm>
              <a:off x="7212426" y="1639833"/>
              <a:ext cx="833840" cy="31565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Catalog</a:t>
              </a:r>
            </a:p>
          </p:txBody>
        </p: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168D30E2-8389-CC37-D502-C62E0587E238}"/>
                </a:ext>
              </a:extLst>
            </p:cNvPr>
            <p:cNvSpPr txBox="1"/>
            <p:nvPr/>
          </p:nvSpPr>
          <p:spPr>
            <a:xfrm>
              <a:off x="4613987" y="1585693"/>
              <a:ext cx="1666391" cy="41034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Meta-Data (schema) / </a:t>
              </a:r>
              <a:r>
                <a:rPr kumimoji="0" lang="en-US" sz="1000" b="0" i="0" u="none" strike="noStrike" kern="1200" cap="none" spc="0" normalizeH="0" baseline="0" noProof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TableDesc</a:t>
              </a:r>
              <a:r>
                <a:rPr kumimoji="0" lang="en-US" sz="10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 / </a:t>
              </a:r>
              <a:r>
                <a:rPr kumimoji="0" lang="en-US" sz="1000" b="0" i="0" u="none" strike="noStrike" kern="1200" cap="none" spc="0" normalizeH="0" baseline="0" noProof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TableNames</a:t>
              </a:r>
              <a:r>
                <a:rPr kumimoji="0" lang="en-US" sz="10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 </a:t>
              </a:r>
            </a:p>
          </p:txBody>
        </p: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B962DDB2-DC85-B2AA-EC2A-BCDC8D479684}"/>
                </a:ext>
              </a:extLst>
            </p:cNvPr>
            <p:cNvSpPr txBox="1"/>
            <p:nvPr/>
          </p:nvSpPr>
          <p:spPr>
            <a:xfrm>
              <a:off x="3317342" y="1292616"/>
              <a:ext cx="1306297" cy="5050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OpenAI Embedding </a:t>
              </a:r>
              <a:r>
                <a:rPr kumimoji="0" lang="en-US" sz="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(Convert to Embeddings)</a:t>
              </a:r>
            </a:p>
          </p:txBody>
        </p:sp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8F7FC53B-871E-D9D0-7F90-FF72E7F97BD9}"/>
                </a:ext>
              </a:extLst>
            </p:cNvPr>
            <p:cNvSpPr txBox="1"/>
            <p:nvPr/>
          </p:nvSpPr>
          <p:spPr>
            <a:xfrm>
              <a:off x="5975018" y="1486657"/>
              <a:ext cx="1466032" cy="2525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Azure Data Factory</a:t>
              </a:r>
            </a:p>
          </p:txBody>
        </p:sp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F3C84C99-3119-3A91-4EC0-1D7C0805A89E}"/>
                </a:ext>
              </a:extLst>
            </p:cNvPr>
            <p:cNvSpPr txBox="1"/>
            <p:nvPr/>
          </p:nvSpPr>
          <p:spPr>
            <a:xfrm>
              <a:off x="3935205" y="3486638"/>
              <a:ext cx="1235252" cy="23673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9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Context (Meta-Data)</a:t>
              </a:r>
            </a:p>
          </p:txBody>
        </p:sp>
        <p:grpSp>
          <p:nvGrpSpPr>
            <p:cNvPr id="36" name="Group 35">
              <a:extLst>
                <a:ext uri="{FF2B5EF4-FFF2-40B4-BE49-F238E27FC236}">
                  <a16:creationId xmlns:a16="http://schemas.microsoft.com/office/drawing/2014/main" id="{8BD5EC98-7800-1767-CE4F-B454822A6554}"/>
                </a:ext>
              </a:extLst>
            </p:cNvPr>
            <p:cNvGrpSpPr/>
            <p:nvPr/>
          </p:nvGrpSpPr>
          <p:grpSpPr>
            <a:xfrm>
              <a:off x="4268669" y="2133613"/>
              <a:ext cx="1588779" cy="901980"/>
              <a:chOff x="3503910" y="1734924"/>
              <a:chExt cx="1625107" cy="905594"/>
            </a:xfrm>
          </p:grpSpPr>
          <p:sp>
            <p:nvSpPr>
              <p:cNvPr id="106" name="TextBox 105">
                <a:extLst>
                  <a:ext uri="{FF2B5EF4-FFF2-40B4-BE49-F238E27FC236}">
                    <a16:creationId xmlns:a16="http://schemas.microsoft.com/office/drawing/2014/main" id="{2A30F283-30DF-5CFD-8C0F-D27ABB51B8A4}"/>
                  </a:ext>
                </a:extLst>
              </p:cNvPr>
              <p:cNvSpPr txBox="1"/>
              <p:nvPr/>
            </p:nvSpPr>
            <p:spPr>
              <a:xfrm>
                <a:off x="3503910" y="2228526"/>
                <a:ext cx="1625107" cy="41199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0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rPr>
                  <a:t>Cosmos </a:t>
                </a:r>
                <a:br>
                  <a:rPr kumimoji="0" lang="en-US" sz="10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rPr>
                </a:br>
                <a:r>
                  <a:rPr kumimoji="0" lang="en-US" sz="10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rPr>
                  <a:t>(Schema)</a:t>
                </a:r>
              </a:p>
            </p:txBody>
          </p:sp>
          <p:pic>
            <p:nvPicPr>
              <p:cNvPr id="107" name="Picture 106">
                <a:extLst>
                  <a:ext uri="{FF2B5EF4-FFF2-40B4-BE49-F238E27FC236}">
                    <a16:creationId xmlns:a16="http://schemas.microsoft.com/office/drawing/2014/main" id="{12776843-7EC9-EE29-3B4C-B1315984D25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4067366" y="1734924"/>
                <a:ext cx="517090" cy="517090"/>
              </a:xfrm>
              <a:prstGeom prst="rect">
                <a:avLst/>
              </a:prstGeom>
            </p:spPr>
          </p:pic>
        </p:grpSp>
        <p:grpSp>
          <p:nvGrpSpPr>
            <p:cNvPr id="37" name="Group 36">
              <a:extLst>
                <a:ext uri="{FF2B5EF4-FFF2-40B4-BE49-F238E27FC236}">
                  <a16:creationId xmlns:a16="http://schemas.microsoft.com/office/drawing/2014/main" id="{09374DA3-D2F4-ED9B-7B36-1F36A5D586B2}"/>
                </a:ext>
              </a:extLst>
            </p:cNvPr>
            <p:cNvGrpSpPr/>
            <p:nvPr/>
          </p:nvGrpSpPr>
          <p:grpSpPr>
            <a:xfrm>
              <a:off x="9942818" y="1369002"/>
              <a:ext cx="1759012" cy="1706550"/>
              <a:chOff x="9901838" y="4294032"/>
              <a:chExt cx="1799237" cy="1713388"/>
            </a:xfrm>
          </p:grpSpPr>
          <p:grpSp>
            <p:nvGrpSpPr>
              <p:cNvPr id="99" name="Group 98">
                <a:extLst>
                  <a:ext uri="{FF2B5EF4-FFF2-40B4-BE49-F238E27FC236}">
                    <a16:creationId xmlns:a16="http://schemas.microsoft.com/office/drawing/2014/main" id="{C5C14D54-32F3-EBFA-F037-969507F99D57}"/>
                  </a:ext>
                </a:extLst>
              </p:cNvPr>
              <p:cNvGrpSpPr/>
              <p:nvPr/>
            </p:nvGrpSpPr>
            <p:grpSpPr>
              <a:xfrm>
                <a:off x="9901838" y="4294032"/>
                <a:ext cx="1799237" cy="1713388"/>
                <a:chOff x="8897744" y="2883791"/>
                <a:chExt cx="1799237" cy="1713388"/>
              </a:xfrm>
            </p:grpSpPr>
            <p:pic>
              <p:nvPicPr>
                <p:cNvPr id="101" name="Picture 6" descr="Respond Icons - Free SVG &amp; PNG Respond Images - Noun Project">
                  <a:extLst>
                    <a:ext uri="{FF2B5EF4-FFF2-40B4-BE49-F238E27FC236}">
                      <a16:creationId xmlns:a16="http://schemas.microsoft.com/office/drawing/2014/main" id="{62845A29-F4BE-1CCD-61EC-FEB1ADEDF289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>
                <a:blip r:embed="rId8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9069062" y="3627493"/>
                  <a:ext cx="403376" cy="403376"/>
                </a:xfrm>
                <a:prstGeom prst="rect">
                  <a:avLst/>
                </a:prstGeom>
                <a:noFill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</p:pic>
            <p:sp>
              <p:nvSpPr>
                <p:cNvPr id="102" name="Rectangle 101">
                  <a:extLst>
                    <a:ext uri="{FF2B5EF4-FFF2-40B4-BE49-F238E27FC236}">
                      <a16:creationId xmlns:a16="http://schemas.microsoft.com/office/drawing/2014/main" id="{5DEF8354-3CCB-32EB-634B-9910883EBB0A}"/>
                    </a:ext>
                  </a:extLst>
                </p:cNvPr>
                <p:cNvSpPr/>
                <p:nvPr/>
              </p:nvSpPr>
              <p:spPr>
                <a:xfrm>
                  <a:off x="8897744" y="3246687"/>
                  <a:ext cx="1606399" cy="1350492"/>
                </a:xfrm>
                <a:prstGeom prst="rect">
                  <a:avLst/>
                </a:prstGeom>
                <a:noFill/>
                <a:ln w="28575">
                  <a:solidFill>
                    <a:srgbClr val="00B050"/>
                  </a:solidFill>
                  <a:prstDash val="sysDash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377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24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03" name="TextBox 102">
                  <a:extLst>
                    <a:ext uri="{FF2B5EF4-FFF2-40B4-BE49-F238E27FC236}">
                      <a16:creationId xmlns:a16="http://schemas.microsoft.com/office/drawing/2014/main" id="{30427951-91B1-4F9C-7D19-4601331B1198}"/>
                    </a:ext>
                  </a:extLst>
                </p:cNvPr>
                <p:cNvSpPr txBox="1"/>
                <p:nvPr/>
              </p:nvSpPr>
              <p:spPr>
                <a:xfrm>
                  <a:off x="8920066" y="4069798"/>
                  <a:ext cx="778499" cy="253533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000" b="0" i="0" u="none" strike="noStrike" kern="120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panose="020B0604020202020204" pitchFamily="34" charset="0"/>
                      <a:ea typeface="+mn-ea"/>
                      <a:cs typeface="Arial" panose="020B0604020202020204" pitchFamily="34" charset="0"/>
                    </a:rPr>
                    <a:t>Response</a:t>
                  </a:r>
                  <a:endParaRPr kumimoji="0" lang="en-US" sz="14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04" name="TextBox 103">
                  <a:extLst>
                    <a:ext uri="{FF2B5EF4-FFF2-40B4-BE49-F238E27FC236}">
                      <a16:creationId xmlns:a16="http://schemas.microsoft.com/office/drawing/2014/main" id="{237C2D66-5D7A-1D1F-3526-590772BB1357}"/>
                    </a:ext>
                  </a:extLst>
                </p:cNvPr>
                <p:cNvSpPr txBox="1"/>
                <p:nvPr/>
              </p:nvSpPr>
              <p:spPr>
                <a:xfrm>
                  <a:off x="9090584" y="2883791"/>
                  <a:ext cx="1606397" cy="348608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marL="0" marR="0" lvl="0" indent="0" algn="ctr" defTabSz="914377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600" b="1" i="0" u="none" strike="noStrike" kern="120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panose="020B0604020202020204" pitchFamily="34" charset="0"/>
                      <a:ea typeface="+mn-ea"/>
                      <a:cs typeface="Arial" panose="020B0604020202020204" pitchFamily="34" charset="0"/>
                    </a:rPr>
                    <a:t>Output</a:t>
                  </a:r>
                </a:p>
              </p:txBody>
            </p:sp>
            <p:sp>
              <p:nvSpPr>
                <p:cNvPr id="105" name="TextBox 104">
                  <a:extLst>
                    <a:ext uri="{FF2B5EF4-FFF2-40B4-BE49-F238E27FC236}">
                      <a16:creationId xmlns:a16="http://schemas.microsoft.com/office/drawing/2014/main" id="{5E5D8144-B7F0-D2AC-F6AD-3DFD83D35A41}"/>
                    </a:ext>
                  </a:extLst>
                </p:cNvPr>
                <p:cNvSpPr txBox="1"/>
                <p:nvPr/>
              </p:nvSpPr>
              <p:spPr>
                <a:xfrm>
                  <a:off x="9861178" y="4072049"/>
                  <a:ext cx="553110" cy="253533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000" b="0" i="0" u="none" strike="noStrike" kern="120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panose="020B0604020202020204" pitchFamily="34" charset="0"/>
                      <a:ea typeface="+mn-ea"/>
                      <a:cs typeface="Arial" panose="020B0604020202020204" pitchFamily="34" charset="0"/>
                    </a:rPr>
                    <a:t>Graph</a:t>
                  </a:r>
                  <a:endParaRPr kumimoji="0" lang="en-US" sz="14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endParaRPr>
                </a:p>
              </p:txBody>
            </p:sp>
          </p:grpSp>
          <p:pic>
            <p:nvPicPr>
              <p:cNvPr id="100" name="Graphic 99" descr="Upward trend with solid fill">
                <a:extLst>
                  <a:ext uri="{FF2B5EF4-FFF2-40B4-BE49-F238E27FC236}">
                    <a16:creationId xmlns:a16="http://schemas.microsoft.com/office/drawing/2014/main" id="{0D30C959-AAB8-01C2-EA7B-8E7028111C7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9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10"/>
                  </a:ext>
                </a:extLst>
              </a:blip>
              <a:stretch>
                <a:fillRect/>
              </a:stretch>
            </p:blipFill>
            <p:spPr>
              <a:xfrm>
                <a:off x="10916339" y="5037734"/>
                <a:ext cx="403376" cy="403376"/>
              </a:xfrm>
              <a:prstGeom prst="rect">
                <a:avLst/>
              </a:prstGeom>
            </p:spPr>
          </p:pic>
        </p:grpSp>
        <p:cxnSp>
          <p:nvCxnSpPr>
            <p:cNvPr id="38" name="Connector: Elbow 172">
              <a:extLst>
                <a:ext uri="{FF2B5EF4-FFF2-40B4-BE49-F238E27FC236}">
                  <a16:creationId xmlns:a16="http://schemas.microsoft.com/office/drawing/2014/main" id="{18C37349-CEA0-8D69-6FA1-A49FEBF4132A}"/>
                </a:ext>
              </a:extLst>
            </p:cNvPr>
            <p:cNvCxnSpPr>
              <a:cxnSpLocks/>
            </p:cNvCxnSpPr>
            <p:nvPr/>
          </p:nvCxnSpPr>
          <p:spPr>
            <a:xfrm>
              <a:off x="8755047" y="5052293"/>
              <a:ext cx="860612" cy="1"/>
            </a:xfrm>
            <a:prstGeom prst="bentConnector3">
              <a:avLst>
                <a:gd name="adj1" fmla="val 50000"/>
              </a:avLst>
            </a:prstGeom>
            <a:ln w="19050">
              <a:solidFill>
                <a:srgbClr val="00206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E995FA71-3A0C-E640-9350-9F6BB6AA5580}"/>
                </a:ext>
              </a:extLst>
            </p:cNvPr>
            <p:cNvSpPr txBox="1"/>
            <p:nvPr/>
          </p:nvSpPr>
          <p:spPr>
            <a:xfrm>
              <a:off x="2835051" y="3832246"/>
              <a:ext cx="670561" cy="3787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9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Modify Question</a:t>
              </a:r>
            </a:p>
          </p:txBody>
        </p:sp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7BABFF6A-0269-9C1D-8C2A-B882980BE5F9}"/>
                </a:ext>
              </a:extLst>
            </p:cNvPr>
            <p:cNvSpPr txBox="1"/>
            <p:nvPr/>
          </p:nvSpPr>
          <p:spPr>
            <a:xfrm>
              <a:off x="4629900" y="3868821"/>
              <a:ext cx="797684" cy="23673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9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SQL Query</a:t>
              </a:r>
            </a:p>
          </p:txBody>
        </p:sp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9A6B9C9B-34D1-4ADE-4CCF-B2D6937E580F}"/>
                </a:ext>
              </a:extLst>
            </p:cNvPr>
            <p:cNvSpPr txBox="1"/>
            <p:nvPr/>
          </p:nvSpPr>
          <p:spPr>
            <a:xfrm>
              <a:off x="4653984" y="4424453"/>
              <a:ext cx="85412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900" b="0" i="0" u="none" strike="noStrike" kern="1200" cap="none" spc="0" normalizeH="0" baseline="0" noProof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Error Message</a:t>
              </a:r>
            </a:p>
          </p:txBody>
        </p:sp>
        <p:sp>
          <p:nvSpPr>
            <p:cNvPr id="42" name="TextBox 41">
              <a:extLst>
                <a:ext uri="{FF2B5EF4-FFF2-40B4-BE49-F238E27FC236}">
                  <a16:creationId xmlns:a16="http://schemas.microsoft.com/office/drawing/2014/main" id="{DA8E42D8-7E94-E812-0C65-287B4C6533DD}"/>
                </a:ext>
              </a:extLst>
            </p:cNvPr>
            <p:cNvSpPr txBox="1"/>
            <p:nvPr/>
          </p:nvSpPr>
          <p:spPr>
            <a:xfrm>
              <a:off x="4156742" y="4805670"/>
              <a:ext cx="797684" cy="23673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9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SQL Query</a:t>
              </a:r>
            </a:p>
          </p:txBody>
        </p:sp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002C72B9-5ED7-53A0-931E-41A1D08DB42A}"/>
                </a:ext>
              </a:extLst>
            </p:cNvPr>
            <p:cNvSpPr txBox="1"/>
            <p:nvPr/>
          </p:nvSpPr>
          <p:spPr>
            <a:xfrm>
              <a:off x="6282095" y="3898909"/>
              <a:ext cx="797684" cy="23673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9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E</a:t>
              </a:r>
              <a:r>
                <a:rPr kumimoji="0" lang="en-US" sz="900" b="0" i="0" u="none" strike="noStrike" kern="1200" cap="none" spc="0" normalizeH="0" baseline="0" noProof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xecute</a:t>
              </a:r>
              <a:endParaRPr kumimoji="0" lang="en-US" sz="9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endParaRPr>
            </a:p>
          </p:txBody>
        </p:sp>
        <p:sp>
          <p:nvSpPr>
            <p:cNvPr id="44" name="TextBox 43">
              <a:extLst>
                <a:ext uri="{FF2B5EF4-FFF2-40B4-BE49-F238E27FC236}">
                  <a16:creationId xmlns:a16="http://schemas.microsoft.com/office/drawing/2014/main" id="{69023D4A-451E-BBF4-D1C6-89DEA614C64F}"/>
                </a:ext>
              </a:extLst>
            </p:cNvPr>
            <p:cNvSpPr txBox="1"/>
            <p:nvPr/>
          </p:nvSpPr>
          <p:spPr>
            <a:xfrm>
              <a:off x="2809454" y="4766772"/>
              <a:ext cx="1238749" cy="3787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9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NLQ + Context (Meta-Data)</a:t>
              </a:r>
            </a:p>
          </p:txBody>
        </p:sp>
        <p:sp>
          <p:nvSpPr>
            <p:cNvPr id="45" name="TextBox 44">
              <a:extLst>
                <a:ext uri="{FF2B5EF4-FFF2-40B4-BE49-F238E27FC236}">
                  <a16:creationId xmlns:a16="http://schemas.microsoft.com/office/drawing/2014/main" id="{D7801DA6-B6D3-6684-A251-DA695D66C7E5}"/>
                </a:ext>
              </a:extLst>
            </p:cNvPr>
            <p:cNvSpPr txBox="1"/>
            <p:nvPr/>
          </p:nvSpPr>
          <p:spPr>
            <a:xfrm>
              <a:off x="8842153" y="4590804"/>
              <a:ext cx="935850" cy="3787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9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SQL Result / User Query</a:t>
              </a:r>
            </a:p>
          </p:txBody>
        </p:sp>
        <p:sp>
          <p:nvSpPr>
            <p:cNvPr id="46" name="TextBox 45">
              <a:extLst>
                <a:ext uri="{FF2B5EF4-FFF2-40B4-BE49-F238E27FC236}">
                  <a16:creationId xmlns:a16="http://schemas.microsoft.com/office/drawing/2014/main" id="{9449AB1A-4EE0-1D97-ED76-AD910FE7928E}"/>
                </a:ext>
              </a:extLst>
            </p:cNvPr>
            <p:cNvSpPr txBox="1"/>
            <p:nvPr/>
          </p:nvSpPr>
          <p:spPr>
            <a:xfrm>
              <a:off x="3846129" y="4774179"/>
              <a:ext cx="324254" cy="455861"/>
            </a:xfrm>
            <a:prstGeom prst="rect">
              <a:avLst/>
            </a:prstGeom>
            <a:noFill/>
          </p:spPr>
          <p:txBody>
            <a:bodyPr vert="vert"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900" b="0" i="0" u="none" strike="noStrike" kern="1200" cap="none" spc="0" normalizeH="0" baseline="0" noProof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Error </a:t>
              </a:r>
            </a:p>
          </p:txBody>
        </p:sp>
        <p:pic>
          <p:nvPicPr>
            <p:cNvPr id="47" name="Graphic 46" descr="Repeat outline">
              <a:extLst>
                <a:ext uri="{FF2B5EF4-FFF2-40B4-BE49-F238E27FC236}">
                  <a16:creationId xmlns:a16="http://schemas.microsoft.com/office/drawing/2014/main" id="{06197088-3651-0BDC-9E4E-9EC7B33FE903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p:blipFill>
          <p:spPr>
            <a:xfrm>
              <a:off x="4497857" y="5858707"/>
              <a:ext cx="289005" cy="294434"/>
            </a:xfrm>
            <a:prstGeom prst="rect">
              <a:avLst/>
            </a:prstGeom>
          </p:spPr>
        </p:pic>
        <p:grpSp>
          <p:nvGrpSpPr>
            <p:cNvPr id="48" name="Group 47">
              <a:extLst>
                <a:ext uri="{FF2B5EF4-FFF2-40B4-BE49-F238E27FC236}">
                  <a16:creationId xmlns:a16="http://schemas.microsoft.com/office/drawing/2014/main" id="{4BFC9D01-3647-794E-C685-1963F6E45E21}"/>
                </a:ext>
              </a:extLst>
            </p:cNvPr>
            <p:cNvGrpSpPr/>
            <p:nvPr/>
          </p:nvGrpSpPr>
          <p:grpSpPr>
            <a:xfrm>
              <a:off x="1025380" y="913315"/>
              <a:ext cx="1430425" cy="729143"/>
              <a:chOff x="0" y="703264"/>
              <a:chExt cx="1463132" cy="732064"/>
            </a:xfrm>
          </p:grpSpPr>
          <p:pic>
            <p:nvPicPr>
              <p:cNvPr id="97" name="Graphic 96" descr="Document outline">
                <a:extLst>
                  <a:ext uri="{FF2B5EF4-FFF2-40B4-BE49-F238E27FC236}">
                    <a16:creationId xmlns:a16="http://schemas.microsoft.com/office/drawing/2014/main" id="{2A5E3776-470E-C28E-D9A4-6E46A04B0AD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p:blipFill>
            <p:spPr>
              <a:xfrm>
                <a:off x="363463" y="703264"/>
                <a:ext cx="494377" cy="494377"/>
              </a:xfrm>
              <a:prstGeom prst="rect">
                <a:avLst/>
              </a:prstGeom>
            </p:spPr>
          </p:pic>
          <p:sp>
            <p:nvSpPr>
              <p:cNvPr id="98" name="TextBox 97">
                <a:extLst>
                  <a:ext uri="{FF2B5EF4-FFF2-40B4-BE49-F238E27FC236}">
                    <a16:creationId xmlns:a16="http://schemas.microsoft.com/office/drawing/2014/main" id="{87F7BB7D-71A6-DF1E-356F-28D2DEFC5E1E}"/>
                  </a:ext>
                </a:extLst>
              </p:cNvPr>
              <p:cNvSpPr txBox="1"/>
              <p:nvPr/>
            </p:nvSpPr>
            <p:spPr>
              <a:xfrm>
                <a:off x="0" y="1197641"/>
                <a:ext cx="1463132" cy="23768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9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rPr>
                  <a:t>Domain Knowledge DB</a:t>
                </a:r>
              </a:p>
            </p:txBody>
          </p:sp>
        </p:grpSp>
        <p:grpSp>
          <p:nvGrpSpPr>
            <p:cNvPr id="49" name="Group 48">
              <a:extLst>
                <a:ext uri="{FF2B5EF4-FFF2-40B4-BE49-F238E27FC236}">
                  <a16:creationId xmlns:a16="http://schemas.microsoft.com/office/drawing/2014/main" id="{F1079EC3-487C-6753-D955-7F3F3D9F6889}"/>
                </a:ext>
              </a:extLst>
            </p:cNvPr>
            <p:cNvGrpSpPr/>
            <p:nvPr/>
          </p:nvGrpSpPr>
          <p:grpSpPr>
            <a:xfrm>
              <a:off x="2233140" y="2143255"/>
              <a:ext cx="1588779" cy="901980"/>
              <a:chOff x="3503910" y="1734924"/>
              <a:chExt cx="1625107" cy="905594"/>
            </a:xfrm>
          </p:grpSpPr>
          <p:sp>
            <p:nvSpPr>
              <p:cNvPr id="95" name="TextBox 94">
                <a:extLst>
                  <a:ext uri="{FF2B5EF4-FFF2-40B4-BE49-F238E27FC236}">
                    <a16:creationId xmlns:a16="http://schemas.microsoft.com/office/drawing/2014/main" id="{7847D163-00A8-88DF-C183-0A372E97EA5A}"/>
                  </a:ext>
                </a:extLst>
              </p:cNvPr>
              <p:cNvSpPr txBox="1"/>
              <p:nvPr/>
            </p:nvSpPr>
            <p:spPr>
              <a:xfrm>
                <a:off x="3503910" y="2228526"/>
                <a:ext cx="1625107" cy="41199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0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rPr>
                  <a:t>Cosmos </a:t>
                </a:r>
                <a:br>
                  <a:rPr kumimoji="0" lang="en-US" sz="10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rPr>
                </a:br>
                <a:r>
                  <a:rPr kumimoji="0" lang="en-US" sz="10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rPr>
                  <a:t>(Domain KB)</a:t>
                </a:r>
              </a:p>
            </p:txBody>
          </p:sp>
          <p:pic>
            <p:nvPicPr>
              <p:cNvPr id="96" name="Picture 95">
                <a:extLst>
                  <a:ext uri="{FF2B5EF4-FFF2-40B4-BE49-F238E27FC236}">
                    <a16:creationId xmlns:a16="http://schemas.microsoft.com/office/drawing/2014/main" id="{246E8730-3E5D-F639-CB63-0681EED7E0D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4067366" y="1734924"/>
                <a:ext cx="517090" cy="517090"/>
              </a:xfrm>
              <a:prstGeom prst="rect">
                <a:avLst/>
              </a:prstGeom>
            </p:spPr>
          </p:pic>
        </p:grpSp>
        <p:sp>
          <p:nvSpPr>
            <p:cNvPr id="50" name="TextBox 49">
              <a:extLst>
                <a:ext uri="{FF2B5EF4-FFF2-40B4-BE49-F238E27FC236}">
                  <a16:creationId xmlns:a16="http://schemas.microsoft.com/office/drawing/2014/main" id="{21BCCA56-A56D-85BC-FEFA-5826607A6ADA}"/>
                </a:ext>
              </a:extLst>
            </p:cNvPr>
            <p:cNvSpPr txBox="1"/>
            <p:nvPr/>
          </p:nvSpPr>
          <p:spPr>
            <a:xfrm>
              <a:off x="2988861" y="3472496"/>
              <a:ext cx="896754" cy="23673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9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Context (KB)</a:t>
              </a:r>
            </a:p>
          </p:txBody>
        </p:sp>
        <p:cxnSp>
          <p:nvCxnSpPr>
            <p:cNvPr id="51" name="Connector: Elbow 191">
              <a:extLst>
                <a:ext uri="{FF2B5EF4-FFF2-40B4-BE49-F238E27FC236}">
                  <a16:creationId xmlns:a16="http://schemas.microsoft.com/office/drawing/2014/main" id="{58C177DB-62F5-BEB2-0B78-E36E13C59010}"/>
                </a:ext>
              </a:extLst>
            </p:cNvPr>
            <p:cNvCxnSpPr>
              <a:cxnSpLocks/>
              <a:stCxn id="104" idx="0"/>
            </p:cNvCxnSpPr>
            <p:nvPr/>
          </p:nvCxnSpPr>
          <p:spPr>
            <a:xfrm rot="16200000" flipV="1">
              <a:off x="8632173" y="-915435"/>
              <a:ext cx="565634" cy="4003251"/>
            </a:xfrm>
            <a:prstGeom prst="bentConnector2">
              <a:avLst/>
            </a:prstGeom>
            <a:ln w="19050">
              <a:solidFill>
                <a:srgbClr val="00206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Straight Arrow Connector 51">
              <a:extLst>
                <a:ext uri="{FF2B5EF4-FFF2-40B4-BE49-F238E27FC236}">
                  <a16:creationId xmlns:a16="http://schemas.microsoft.com/office/drawing/2014/main" id="{0099F647-B4E0-ABA2-66B8-DB1B01A78FC8}"/>
                </a:ext>
              </a:extLst>
            </p:cNvPr>
            <p:cNvCxnSpPr>
              <a:cxnSpLocks/>
              <a:stCxn id="110" idx="0"/>
              <a:endCxn id="102" idx="2"/>
            </p:cNvCxnSpPr>
            <p:nvPr/>
          </p:nvCxnSpPr>
          <p:spPr>
            <a:xfrm flipH="1" flipV="1">
              <a:off x="10728061" y="3075552"/>
              <a:ext cx="6728" cy="777552"/>
            </a:xfrm>
            <a:prstGeom prst="straightConnector1">
              <a:avLst/>
            </a:prstGeom>
            <a:ln w="19050">
              <a:solidFill>
                <a:srgbClr val="00206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3" name="TextBox 52">
              <a:extLst>
                <a:ext uri="{FF2B5EF4-FFF2-40B4-BE49-F238E27FC236}">
                  <a16:creationId xmlns:a16="http://schemas.microsoft.com/office/drawing/2014/main" id="{F88AB624-094D-555D-03A8-0BEBE7DFBEBB}"/>
                </a:ext>
              </a:extLst>
            </p:cNvPr>
            <p:cNvSpPr txBox="1"/>
            <p:nvPr/>
          </p:nvSpPr>
          <p:spPr>
            <a:xfrm>
              <a:off x="8264743" y="896206"/>
              <a:ext cx="1238749" cy="3787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9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Feedback</a:t>
              </a: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9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(Positive/ Negative)</a:t>
              </a:r>
            </a:p>
          </p:txBody>
        </p:sp>
        <p:grpSp>
          <p:nvGrpSpPr>
            <p:cNvPr id="54" name="Group 53">
              <a:extLst>
                <a:ext uri="{FF2B5EF4-FFF2-40B4-BE49-F238E27FC236}">
                  <a16:creationId xmlns:a16="http://schemas.microsoft.com/office/drawing/2014/main" id="{25BEA5BA-8595-9377-CC99-2B060A5BC5DC}"/>
                </a:ext>
              </a:extLst>
            </p:cNvPr>
            <p:cNvGrpSpPr/>
            <p:nvPr/>
          </p:nvGrpSpPr>
          <p:grpSpPr>
            <a:xfrm>
              <a:off x="3176265" y="2142939"/>
              <a:ext cx="1588779" cy="947015"/>
              <a:chOff x="3527262" y="1734924"/>
              <a:chExt cx="1625107" cy="950809"/>
            </a:xfrm>
          </p:grpSpPr>
          <p:sp>
            <p:nvSpPr>
              <p:cNvPr id="93" name="TextBox 92">
                <a:extLst>
                  <a:ext uri="{FF2B5EF4-FFF2-40B4-BE49-F238E27FC236}">
                    <a16:creationId xmlns:a16="http://schemas.microsoft.com/office/drawing/2014/main" id="{E81D64DB-42D0-A5BE-85EA-476AF0DA306F}"/>
                  </a:ext>
                </a:extLst>
              </p:cNvPr>
              <p:cNvSpPr txBox="1"/>
              <p:nvPr/>
            </p:nvSpPr>
            <p:spPr>
              <a:xfrm>
                <a:off x="3527262" y="2273741"/>
                <a:ext cx="1625107" cy="41199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0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rPr>
                  <a:t>Cosmos </a:t>
                </a:r>
                <a:br>
                  <a:rPr kumimoji="0" lang="en-US" sz="10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rPr>
                </a:br>
                <a:r>
                  <a:rPr kumimoji="0" lang="en-US" sz="10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rPr>
                  <a:t>(Feedback)</a:t>
                </a:r>
              </a:p>
            </p:txBody>
          </p:sp>
          <p:pic>
            <p:nvPicPr>
              <p:cNvPr id="94" name="Picture 93">
                <a:extLst>
                  <a:ext uri="{FF2B5EF4-FFF2-40B4-BE49-F238E27FC236}">
                    <a16:creationId xmlns:a16="http://schemas.microsoft.com/office/drawing/2014/main" id="{AB972B63-F00B-8317-A7F5-438C370A182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4067366" y="1734924"/>
                <a:ext cx="517090" cy="517090"/>
              </a:xfrm>
              <a:prstGeom prst="rect">
                <a:avLst/>
              </a:prstGeom>
            </p:spPr>
          </p:pic>
        </p:grpSp>
        <p:cxnSp>
          <p:nvCxnSpPr>
            <p:cNvPr id="55" name="Straight Arrow Connector 54">
              <a:extLst>
                <a:ext uri="{FF2B5EF4-FFF2-40B4-BE49-F238E27FC236}">
                  <a16:creationId xmlns:a16="http://schemas.microsoft.com/office/drawing/2014/main" id="{FDCEF527-A878-4EA5-AF71-7F931869B6DC}"/>
                </a:ext>
              </a:extLst>
            </p:cNvPr>
            <p:cNvCxnSpPr>
              <a:cxnSpLocks/>
              <a:stCxn id="7" idx="2"/>
              <a:endCxn id="94" idx="0"/>
            </p:cNvCxnSpPr>
            <p:nvPr/>
          </p:nvCxnSpPr>
          <p:spPr>
            <a:xfrm>
              <a:off x="3947968" y="1872642"/>
              <a:ext cx="9094" cy="270297"/>
            </a:xfrm>
            <a:prstGeom prst="straightConnector1">
              <a:avLst/>
            </a:prstGeom>
            <a:ln w="28575">
              <a:solidFill>
                <a:srgbClr val="00206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Straight Arrow Connector 55">
              <a:extLst>
                <a:ext uri="{FF2B5EF4-FFF2-40B4-BE49-F238E27FC236}">
                  <a16:creationId xmlns:a16="http://schemas.microsoft.com/office/drawing/2014/main" id="{4A163B9F-47FB-1631-6EFE-2B475FB2E76F}"/>
                </a:ext>
              </a:extLst>
            </p:cNvPr>
            <p:cNvCxnSpPr>
              <a:cxnSpLocks/>
              <a:stCxn id="93" idx="2"/>
            </p:cNvCxnSpPr>
            <p:nvPr/>
          </p:nvCxnSpPr>
          <p:spPr>
            <a:xfrm>
              <a:off x="3970655" y="3089954"/>
              <a:ext cx="29553" cy="996143"/>
            </a:xfrm>
            <a:prstGeom prst="straightConnector1">
              <a:avLst/>
            </a:prstGeom>
            <a:ln w="19050">
              <a:solidFill>
                <a:srgbClr val="00206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Straight Arrow Connector 56">
              <a:extLst>
                <a:ext uri="{FF2B5EF4-FFF2-40B4-BE49-F238E27FC236}">
                  <a16:creationId xmlns:a16="http://schemas.microsoft.com/office/drawing/2014/main" id="{27C25DDC-A25C-EDC6-4340-42F0B1D7DF19}"/>
                </a:ext>
              </a:extLst>
            </p:cNvPr>
            <p:cNvCxnSpPr>
              <a:cxnSpLocks/>
            </p:cNvCxnSpPr>
            <p:nvPr/>
          </p:nvCxnSpPr>
          <p:spPr>
            <a:xfrm>
              <a:off x="2000101" y="1226947"/>
              <a:ext cx="1267963" cy="0"/>
            </a:xfrm>
            <a:prstGeom prst="straightConnector1">
              <a:avLst/>
            </a:prstGeom>
            <a:ln w="19050">
              <a:solidFill>
                <a:srgbClr val="00206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Straight Arrow Connector 57">
              <a:extLst>
                <a:ext uri="{FF2B5EF4-FFF2-40B4-BE49-F238E27FC236}">
                  <a16:creationId xmlns:a16="http://schemas.microsoft.com/office/drawing/2014/main" id="{2C6979F6-8D50-5E4E-8F0F-A9DE785696E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709503" y="875865"/>
              <a:ext cx="1494887" cy="0"/>
            </a:xfrm>
            <a:prstGeom prst="straightConnector1">
              <a:avLst/>
            </a:prstGeom>
            <a:ln w="19050">
              <a:solidFill>
                <a:srgbClr val="00206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Straight Arrow Connector 58">
              <a:extLst>
                <a:ext uri="{FF2B5EF4-FFF2-40B4-BE49-F238E27FC236}">
                  <a16:creationId xmlns:a16="http://schemas.microsoft.com/office/drawing/2014/main" id="{AA37003C-4F24-6929-2689-ACC763E4E4AF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709503" y="1562804"/>
              <a:ext cx="1299634" cy="4157"/>
            </a:xfrm>
            <a:prstGeom prst="straightConnector1">
              <a:avLst/>
            </a:prstGeom>
            <a:ln w="19050">
              <a:solidFill>
                <a:srgbClr val="00206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0" name="TextBox 59">
              <a:extLst>
                <a:ext uri="{FF2B5EF4-FFF2-40B4-BE49-F238E27FC236}">
                  <a16:creationId xmlns:a16="http://schemas.microsoft.com/office/drawing/2014/main" id="{32EA5506-103A-030E-AC1A-A0139A4C3B51}"/>
                </a:ext>
              </a:extLst>
            </p:cNvPr>
            <p:cNvSpPr txBox="1"/>
            <p:nvPr/>
          </p:nvSpPr>
          <p:spPr>
            <a:xfrm>
              <a:off x="6052026" y="996914"/>
              <a:ext cx="1013694" cy="2525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Feedback DB</a:t>
              </a:r>
            </a:p>
          </p:txBody>
        </p:sp>
        <mc:AlternateContent xmlns:mc="http://schemas.openxmlformats.org/markup-compatibility/2006" xmlns:p14="http://schemas.microsoft.com/office/powerpoint/2010/main">
          <mc:Choice Requires="p14">
            <p:contentPart p14:bwMode="auto" r:id="rId13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37E3B755-2CEE-1832-CEED-C83ADC47D2AF}"/>
                    </a:ext>
                  </a:extLst>
                </p14:cNvPr>
                <p14:cNvContentPartPr/>
                <p14:nvPr/>
              </p14:nvContentPartPr>
              <p14:xfrm>
                <a:off x="10806178" y="1148549"/>
                <a:ext cx="352" cy="359"/>
              </p14:xfrm>
            </p:contentPart>
          </mc:Choice>
          <mc:Fallback xmlns=""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37E3B755-2CEE-1832-CEED-C83ADC47D2AF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10800194" y="1142446"/>
                  <a:ext cx="12320" cy="12565"/>
                </a:xfrm>
                <a:prstGeom prst="rect">
                  <a:avLst/>
                </a:prstGeom>
              </p:spPr>
            </p:pic>
          </mc:Fallback>
        </mc:AlternateContent>
        <p:sp>
          <p:nvSpPr>
            <p:cNvPr id="62" name="Rectangle: Rounded Corners 204">
              <a:extLst>
                <a:ext uri="{FF2B5EF4-FFF2-40B4-BE49-F238E27FC236}">
                  <a16:creationId xmlns:a16="http://schemas.microsoft.com/office/drawing/2014/main" id="{3FDA677F-B2FB-4076-1B88-8DE02CD86000}"/>
                </a:ext>
              </a:extLst>
            </p:cNvPr>
            <p:cNvSpPr/>
            <p:nvPr/>
          </p:nvSpPr>
          <p:spPr>
            <a:xfrm>
              <a:off x="1582195" y="3518274"/>
              <a:ext cx="1085884" cy="1249314"/>
            </a:xfrm>
            <a:prstGeom prst="round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endParaRPr>
            </a:p>
          </p:txBody>
        </p:sp>
        <p:cxnSp>
          <p:nvCxnSpPr>
            <p:cNvPr id="63" name="Straight Arrow Connector 62">
              <a:extLst>
                <a:ext uri="{FF2B5EF4-FFF2-40B4-BE49-F238E27FC236}">
                  <a16:creationId xmlns:a16="http://schemas.microsoft.com/office/drawing/2014/main" id="{DDF14218-C516-2653-A54D-74461C173C17}"/>
                </a:ext>
              </a:extLst>
            </p:cNvPr>
            <p:cNvCxnSpPr>
              <a:cxnSpLocks/>
            </p:cNvCxnSpPr>
            <p:nvPr/>
          </p:nvCxnSpPr>
          <p:spPr>
            <a:xfrm>
              <a:off x="1148784" y="4262634"/>
              <a:ext cx="433411" cy="0"/>
            </a:xfrm>
            <a:prstGeom prst="straightConnector1">
              <a:avLst/>
            </a:prstGeom>
            <a:ln w="19050">
              <a:solidFill>
                <a:srgbClr val="00206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4" name="Rectangle 63">
              <a:extLst>
                <a:ext uri="{FF2B5EF4-FFF2-40B4-BE49-F238E27FC236}">
                  <a16:creationId xmlns:a16="http://schemas.microsoft.com/office/drawing/2014/main" id="{F11662A8-522F-27D0-0457-9943569B6D22}"/>
                </a:ext>
              </a:extLst>
            </p:cNvPr>
            <p:cNvSpPr/>
            <p:nvPr/>
          </p:nvSpPr>
          <p:spPr>
            <a:xfrm>
              <a:off x="1704851" y="4265149"/>
              <a:ext cx="881192" cy="395942"/>
            </a:xfrm>
            <a:prstGeom prst="rect">
              <a:avLst/>
            </a:prstGeom>
            <a:solidFill>
              <a:schemeClr val="bg2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9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Modify Question</a:t>
              </a:r>
            </a:p>
          </p:txBody>
        </p:sp>
        <p:sp>
          <p:nvSpPr>
            <p:cNvPr id="65" name="TextBox 64">
              <a:extLst>
                <a:ext uri="{FF2B5EF4-FFF2-40B4-BE49-F238E27FC236}">
                  <a16:creationId xmlns:a16="http://schemas.microsoft.com/office/drawing/2014/main" id="{0AD150DE-B086-0D8E-1CBE-76D8105EDC29}"/>
                </a:ext>
              </a:extLst>
            </p:cNvPr>
            <p:cNvSpPr txBox="1"/>
            <p:nvPr/>
          </p:nvSpPr>
          <p:spPr>
            <a:xfrm>
              <a:off x="1530244" y="3750958"/>
              <a:ext cx="1192200" cy="2525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OpenAI GPT-4.1</a:t>
              </a:r>
            </a:p>
          </p:txBody>
        </p:sp>
        <p:sp>
          <p:nvSpPr>
            <p:cNvPr id="66" name="TextBox 65">
              <a:extLst>
                <a:ext uri="{FF2B5EF4-FFF2-40B4-BE49-F238E27FC236}">
                  <a16:creationId xmlns:a16="http://schemas.microsoft.com/office/drawing/2014/main" id="{7485A7D6-AE35-C753-37CB-FCE3F49A3049}"/>
                </a:ext>
              </a:extLst>
            </p:cNvPr>
            <p:cNvSpPr txBox="1"/>
            <p:nvPr/>
          </p:nvSpPr>
          <p:spPr>
            <a:xfrm>
              <a:off x="1621586" y="5993916"/>
              <a:ext cx="908494" cy="23673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9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Chat History</a:t>
              </a:r>
            </a:p>
          </p:txBody>
        </p:sp>
        <p:cxnSp>
          <p:nvCxnSpPr>
            <p:cNvPr id="67" name="Straight Arrow Connector 66">
              <a:extLst>
                <a:ext uri="{FF2B5EF4-FFF2-40B4-BE49-F238E27FC236}">
                  <a16:creationId xmlns:a16="http://schemas.microsoft.com/office/drawing/2014/main" id="{AA4DD179-B328-BB68-7014-47C073E955E6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059111" y="4880244"/>
              <a:ext cx="0" cy="485934"/>
            </a:xfrm>
            <a:prstGeom prst="straightConnector1">
              <a:avLst/>
            </a:prstGeom>
            <a:ln w="19050">
              <a:solidFill>
                <a:srgbClr val="00206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8" name="TextBox 67">
              <a:extLst>
                <a:ext uri="{FF2B5EF4-FFF2-40B4-BE49-F238E27FC236}">
                  <a16:creationId xmlns:a16="http://schemas.microsoft.com/office/drawing/2014/main" id="{2D401A40-2058-B4A7-A37E-86995AC519FC}"/>
                </a:ext>
              </a:extLst>
            </p:cNvPr>
            <p:cNvSpPr txBox="1"/>
            <p:nvPr/>
          </p:nvSpPr>
          <p:spPr>
            <a:xfrm>
              <a:off x="1687830" y="3156094"/>
              <a:ext cx="908494" cy="3787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9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Follow up Questions</a:t>
              </a:r>
            </a:p>
          </p:txBody>
        </p:sp>
        <p:pic>
          <p:nvPicPr>
            <p:cNvPr id="69" name="Graphic 68" descr="Chat outline">
              <a:extLst>
                <a:ext uri="{FF2B5EF4-FFF2-40B4-BE49-F238E27FC236}">
                  <a16:creationId xmlns:a16="http://schemas.microsoft.com/office/drawing/2014/main" id="{013370BA-09C4-19CE-5C5C-D472917EDF69}"/>
                </a:ext>
              </a:extLst>
            </p:cNvPr>
            <p:cNvPicPr>
              <a:picLocks noChangeAspect="1"/>
            </p:cNvPicPr>
            <p:nvPr/>
          </p:nvPicPr>
          <p:blipFill>
            <a:blip r:embed="rId15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/>
            </a:stretch>
          </p:blipFill>
          <p:spPr>
            <a:xfrm>
              <a:off x="1755696" y="5378614"/>
              <a:ext cx="716793" cy="730257"/>
            </a:xfrm>
            <a:prstGeom prst="rect">
              <a:avLst/>
            </a:prstGeom>
          </p:spPr>
        </p:pic>
        <p:sp>
          <p:nvSpPr>
            <p:cNvPr id="70" name="Rectangle 69">
              <a:extLst>
                <a:ext uri="{FF2B5EF4-FFF2-40B4-BE49-F238E27FC236}">
                  <a16:creationId xmlns:a16="http://schemas.microsoft.com/office/drawing/2014/main" id="{105CA780-43A9-F032-B764-EBFEDB378BCD}"/>
                </a:ext>
              </a:extLst>
            </p:cNvPr>
            <p:cNvSpPr/>
            <p:nvPr/>
          </p:nvSpPr>
          <p:spPr>
            <a:xfrm>
              <a:off x="3519342" y="4086096"/>
              <a:ext cx="961732" cy="410343"/>
            </a:xfrm>
            <a:prstGeom prst="rect">
              <a:avLst/>
            </a:prstGeom>
            <a:noFill/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endParaRPr>
            </a:p>
          </p:txBody>
        </p:sp>
        <p:sp>
          <p:nvSpPr>
            <p:cNvPr id="71" name="Rectangle 70">
              <a:extLst>
                <a:ext uri="{FF2B5EF4-FFF2-40B4-BE49-F238E27FC236}">
                  <a16:creationId xmlns:a16="http://schemas.microsoft.com/office/drawing/2014/main" id="{6B31CB0F-F8DD-DAFE-61FB-A7D8E188BF46}"/>
                </a:ext>
              </a:extLst>
            </p:cNvPr>
            <p:cNvSpPr/>
            <p:nvPr/>
          </p:nvSpPr>
          <p:spPr>
            <a:xfrm>
              <a:off x="7651686" y="3798036"/>
              <a:ext cx="961732" cy="410343"/>
            </a:xfrm>
            <a:prstGeom prst="rect">
              <a:avLst/>
            </a:prstGeom>
            <a:noFill/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endParaRPr>
            </a:p>
          </p:txBody>
        </p:sp>
        <p:sp>
          <p:nvSpPr>
            <p:cNvPr id="72" name="Rectangle 71">
              <a:extLst>
                <a:ext uri="{FF2B5EF4-FFF2-40B4-BE49-F238E27FC236}">
                  <a16:creationId xmlns:a16="http://schemas.microsoft.com/office/drawing/2014/main" id="{0493F4D3-C00F-04F3-8679-6AB5D75A21C7}"/>
                </a:ext>
              </a:extLst>
            </p:cNvPr>
            <p:cNvSpPr/>
            <p:nvPr/>
          </p:nvSpPr>
          <p:spPr>
            <a:xfrm>
              <a:off x="7231116" y="4656086"/>
              <a:ext cx="1366344" cy="490331"/>
            </a:xfrm>
            <a:prstGeom prst="rect">
              <a:avLst/>
            </a:prstGeom>
            <a:noFill/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endParaRPr>
            </a:p>
          </p:txBody>
        </p:sp>
        <p:sp>
          <p:nvSpPr>
            <p:cNvPr id="73" name="Rectangle 72">
              <a:extLst>
                <a:ext uri="{FF2B5EF4-FFF2-40B4-BE49-F238E27FC236}">
                  <a16:creationId xmlns:a16="http://schemas.microsoft.com/office/drawing/2014/main" id="{32E92F67-4D7E-DE48-60EC-1EBBD49FC457}"/>
                </a:ext>
              </a:extLst>
            </p:cNvPr>
            <p:cNvSpPr/>
            <p:nvPr/>
          </p:nvSpPr>
          <p:spPr>
            <a:xfrm>
              <a:off x="6009137" y="1369009"/>
              <a:ext cx="1175747" cy="431523"/>
            </a:xfrm>
            <a:prstGeom prst="rect">
              <a:avLst/>
            </a:prstGeom>
            <a:noFill/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endParaRPr>
            </a:p>
          </p:txBody>
        </p:sp>
        <p:sp>
          <p:nvSpPr>
            <p:cNvPr id="74" name="Rectangle 73">
              <a:extLst>
                <a:ext uri="{FF2B5EF4-FFF2-40B4-BE49-F238E27FC236}">
                  <a16:creationId xmlns:a16="http://schemas.microsoft.com/office/drawing/2014/main" id="{5F4706EE-AE29-90B5-E339-EF6756317A97}"/>
                </a:ext>
              </a:extLst>
            </p:cNvPr>
            <p:cNvSpPr/>
            <p:nvPr/>
          </p:nvSpPr>
          <p:spPr>
            <a:xfrm>
              <a:off x="3342479" y="1254029"/>
              <a:ext cx="1237388" cy="507566"/>
            </a:xfrm>
            <a:prstGeom prst="rect">
              <a:avLst/>
            </a:prstGeom>
            <a:noFill/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endParaRPr>
            </a:p>
          </p:txBody>
        </p:sp>
        <p:pic>
          <p:nvPicPr>
            <p:cNvPr id="75" name="Picture 2" descr="Azure Data Factory Logo PNG Transparent | SVG - FREE Vector ...">
              <a:extLst>
                <a:ext uri="{FF2B5EF4-FFF2-40B4-BE49-F238E27FC236}">
                  <a16:creationId xmlns:a16="http://schemas.microsoft.com/office/drawing/2014/main" id="{BDF43CA1-EDF2-1271-377B-71E1A6D7E016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523455" y="1011699"/>
              <a:ext cx="451563" cy="461563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76" name="Picture 10" descr="SQL Database (generic) | Microsoft Azure Color">
              <a:extLst>
                <a:ext uri="{FF2B5EF4-FFF2-40B4-BE49-F238E27FC236}">
                  <a16:creationId xmlns:a16="http://schemas.microsoft.com/office/drawing/2014/main" id="{964397B5-716D-1C83-270B-6B106764E8C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094060" y="3768083"/>
              <a:ext cx="426999" cy="43645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77" name="Picture 12" descr="Storage - Blob | Microsoft Azure Mono">
              <a:extLst>
                <a:ext uri="{FF2B5EF4-FFF2-40B4-BE49-F238E27FC236}">
                  <a16:creationId xmlns:a16="http://schemas.microsoft.com/office/drawing/2014/main" id="{F3815EBD-2D4C-2450-4610-D212D25D891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145514" y="4754340"/>
              <a:ext cx="533712" cy="48593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81" name="Picture 16" descr="openai&quot; Icon - Download for free – Iconduck">
              <a:extLst>
                <a:ext uri="{FF2B5EF4-FFF2-40B4-BE49-F238E27FC236}">
                  <a16:creationId xmlns:a16="http://schemas.microsoft.com/office/drawing/2014/main" id="{781AED5A-CB4D-B836-3B73-12DF174DD698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895692" y="850730"/>
              <a:ext cx="345879" cy="35826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82" name="Picture 6" descr="SQL Database (SQL Azure)&quot; Icon - Download for free – Iconduck">
              <a:extLst>
                <a:ext uri="{FF2B5EF4-FFF2-40B4-BE49-F238E27FC236}">
                  <a16:creationId xmlns:a16="http://schemas.microsoft.com/office/drawing/2014/main" id="{1226D807-5060-BEF2-DA67-597B46149BF3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116875" y="3228067"/>
              <a:ext cx="407210" cy="43600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cxnSp>
          <p:nvCxnSpPr>
            <p:cNvPr id="83" name="Connector: Elbow 8">
              <a:extLst>
                <a:ext uri="{FF2B5EF4-FFF2-40B4-BE49-F238E27FC236}">
                  <a16:creationId xmlns:a16="http://schemas.microsoft.com/office/drawing/2014/main" id="{63400C80-39DE-DCDB-4C0E-131BB9A4559F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4164888" y="2832710"/>
              <a:ext cx="672987" cy="1078753"/>
            </a:xfrm>
            <a:prstGeom prst="bentConnector2">
              <a:avLst/>
            </a:prstGeom>
            <a:ln w="19050">
              <a:solidFill>
                <a:srgbClr val="00206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4" name="Connector: Elbow 10">
              <a:extLst>
                <a:ext uri="{FF2B5EF4-FFF2-40B4-BE49-F238E27FC236}">
                  <a16:creationId xmlns:a16="http://schemas.microsoft.com/office/drawing/2014/main" id="{63913692-4A09-6269-0520-A4993687C500}"/>
                </a:ext>
              </a:extLst>
            </p:cNvPr>
            <p:cNvCxnSpPr>
              <a:cxnSpLocks/>
              <a:stCxn id="95" idx="2"/>
            </p:cNvCxnSpPr>
            <p:nvPr/>
          </p:nvCxnSpPr>
          <p:spPr>
            <a:xfrm rot="16200000" flipH="1">
              <a:off x="3203433" y="2869331"/>
              <a:ext cx="657149" cy="1008955"/>
            </a:xfrm>
            <a:prstGeom prst="bentConnector2">
              <a:avLst/>
            </a:prstGeom>
            <a:ln w="19050">
              <a:solidFill>
                <a:srgbClr val="00206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85" name="Picture 84">
              <a:extLst>
                <a:ext uri="{FF2B5EF4-FFF2-40B4-BE49-F238E27FC236}">
                  <a16:creationId xmlns:a16="http://schemas.microsoft.com/office/drawing/2014/main" id="{D79C6F16-44E0-C786-7428-C3FA910AF331}"/>
                </a:ext>
              </a:extLst>
            </p:cNvPr>
            <p:cNvPicPr>
              <a:picLocks noChangeAspect="1"/>
            </p:cNvPicPr>
            <p:nvPr/>
          </p:nvPicPr>
          <p:blipFill>
            <a:blip r:embed="rId22"/>
            <a:stretch>
              <a:fillRect/>
            </a:stretch>
          </p:blipFill>
          <p:spPr>
            <a:xfrm>
              <a:off x="7434132" y="5795108"/>
              <a:ext cx="1212558" cy="772383"/>
            </a:xfrm>
            <a:prstGeom prst="rect">
              <a:avLst/>
            </a:prstGeom>
          </p:spPr>
        </p:pic>
        <p:sp>
          <p:nvSpPr>
            <p:cNvPr id="86" name="Rectangle: Rounded Corners 9">
              <a:extLst>
                <a:ext uri="{FF2B5EF4-FFF2-40B4-BE49-F238E27FC236}">
                  <a16:creationId xmlns:a16="http://schemas.microsoft.com/office/drawing/2014/main" id="{DCA5492C-E0A8-F652-5C53-8ADDDB8BA141}"/>
                </a:ext>
              </a:extLst>
            </p:cNvPr>
            <p:cNvSpPr/>
            <p:nvPr/>
          </p:nvSpPr>
          <p:spPr>
            <a:xfrm>
              <a:off x="6827789" y="6498281"/>
              <a:ext cx="2476434" cy="320675"/>
            </a:xfrm>
            <a:prstGeom prst="rect">
              <a:avLst/>
            </a:prstGeom>
            <a:solidFill>
              <a:schemeClr val="accent2">
                <a:lumMod val="50000"/>
              </a:scheme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lIns="91440" tIns="45720" rIns="91440" bIns="45720"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IN" sz="9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Helvetica"/>
                  <a:ea typeface="+mn-ea"/>
                  <a:cs typeface="+mn-cs"/>
                </a:rPr>
                <a:t>Documents [PDF, Presentation, CSV/Excels]</a:t>
              </a:r>
              <a:endParaRPr kumimoji="0" lang="en-GB" sz="9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Helvetica"/>
                <a:ea typeface="+mn-ea"/>
                <a:cs typeface="+mn-cs"/>
              </a:endParaRPr>
            </a:p>
          </p:txBody>
        </p:sp>
        <p:cxnSp>
          <p:nvCxnSpPr>
            <p:cNvPr id="87" name="Straight Arrow Connector 86">
              <a:extLst>
                <a:ext uri="{FF2B5EF4-FFF2-40B4-BE49-F238E27FC236}">
                  <a16:creationId xmlns:a16="http://schemas.microsoft.com/office/drawing/2014/main" id="{430F78BF-43D5-8EB9-ABB9-ABF1A56076D4}"/>
                </a:ext>
              </a:extLst>
            </p:cNvPr>
            <p:cNvCxnSpPr>
              <a:stCxn id="85" idx="0"/>
            </p:cNvCxnSpPr>
            <p:nvPr/>
          </p:nvCxnSpPr>
          <p:spPr>
            <a:xfrm flipV="1">
              <a:off x="8040411" y="5129048"/>
              <a:ext cx="0" cy="666060"/>
            </a:xfrm>
            <a:prstGeom prst="straightConnector1">
              <a:avLst/>
            </a:prstGeom>
            <a:ln w="19050">
              <a:solidFill>
                <a:schemeClr val="tx1">
                  <a:lumMod val="95000"/>
                  <a:lumOff val="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8" name="Rectangle 87">
              <a:extLst>
                <a:ext uri="{FF2B5EF4-FFF2-40B4-BE49-F238E27FC236}">
                  <a16:creationId xmlns:a16="http://schemas.microsoft.com/office/drawing/2014/main" id="{7A067091-8ADB-E3A1-D662-DEC345B07B68}"/>
                </a:ext>
              </a:extLst>
            </p:cNvPr>
            <p:cNvSpPr/>
            <p:nvPr/>
          </p:nvSpPr>
          <p:spPr>
            <a:xfrm>
              <a:off x="333758" y="3191750"/>
              <a:ext cx="1019119" cy="430887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100" b="0" i="0" u="none" strike="noStrike" kern="1200" cap="none" spc="0" normalizeH="0" baseline="0" noProof="0">
                  <a:ln w="0"/>
                  <a:solidFill>
                    <a:srgbClr val="6DB081"/>
                  </a:solidFill>
                  <a:effectLst>
                    <a:outerShdw blurRad="38100" dist="25400" dir="5400000" algn="ctr" rotWithShape="0">
                      <a:srgbClr val="6E747A">
                        <a:alpha val="43000"/>
                      </a:srgbClr>
                    </a:outerShdw>
                  </a:effectLst>
                  <a:uLnTx/>
                  <a:uFillTx/>
                  <a:latin typeface="Calibri" panose="020F0502020204030204"/>
                  <a:ea typeface="+mn-ea"/>
                  <a:cs typeface="+mn-cs"/>
                </a:rPr>
                <a:t>Preconfigured Personas UI</a:t>
              </a:r>
            </a:p>
          </p:txBody>
        </p:sp>
        <p:sp>
          <p:nvSpPr>
            <p:cNvPr id="89" name="Rectangle: Rounded Corners 88">
              <a:extLst>
                <a:ext uri="{FF2B5EF4-FFF2-40B4-BE49-F238E27FC236}">
                  <a16:creationId xmlns:a16="http://schemas.microsoft.com/office/drawing/2014/main" id="{4F1EDFF3-4982-05BF-01BB-F63726BBD054}"/>
                </a:ext>
              </a:extLst>
            </p:cNvPr>
            <p:cNvSpPr/>
            <p:nvPr/>
          </p:nvSpPr>
          <p:spPr>
            <a:xfrm flipH="1">
              <a:off x="268023" y="4755030"/>
              <a:ext cx="1151245" cy="315653"/>
            </a:xfrm>
            <a:prstGeom prst="roundRect">
              <a:avLst>
                <a:gd name="adj" fmla="val 50000"/>
              </a:avLst>
            </a:prstGeom>
            <a:solidFill>
              <a:schemeClr val="accent5">
                <a:lumMod val="75000"/>
              </a:schemeClr>
            </a:solidFill>
            <a:ln w="50800" cap="flat" cmpd="sng" algn="ctr">
              <a:noFill/>
              <a:prstDash val="solid"/>
              <a:miter lim="800000"/>
            </a:ln>
            <a:effectLst>
              <a:outerShdw blurRad="698500" dist="190500" dir="2700000" algn="tl" rotWithShape="0">
                <a:srgbClr val="6070FF">
                  <a:lumMod val="75000"/>
                  <a:alpha val="22000"/>
                </a:srgbClr>
              </a:outerShdw>
            </a:effectLst>
          </p:spPr>
          <p:txBody>
            <a:bodyPr rtlCol="0" anchor="ctr"/>
            <a:lstStyle/>
            <a:p>
              <a:pPr marL="0" marR="0" lvl="0" indent="0" algn="ctr" defTabSz="22855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9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Presentation Layer</a:t>
              </a:r>
              <a:endParaRPr kumimoji="0" lang="en-US" sz="9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endParaRPr>
            </a:p>
          </p:txBody>
        </p:sp>
        <p:sp>
          <p:nvSpPr>
            <p:cNvPr id="90" name="Rectangle: Rounded Corners 89">
              <a:extLst>
                <a:ext uri="{FF2B5EF4-FFF2-40B4-BE49-F238E27FC236}">
                  <a16:creationId xmlns:a16="http://schemas.microsoft.com/office/drawing/2014/main" id="{56090995-243E-BC5F-6017-A08832944DF5}"/>
                </a:ext>
              </a:extLst>
            </p:cNvPr>
            <p:cNvSpPr/>
            <p:nvPr/>
          </p:nvSpPr>
          <p:spPr>
            <a:xfrm flipH="1">
              <a:off x="4579867" y="6369436"/>
              <a:ext cx="1151245" cy="315653"/>
            </a:xfrm>
            <a:prstGeom prst="roundRect">
              <a:avLst>
                <a:gd name="adj" fmla="val 50000"/>
              </a:avLst>
            </a:prstGeom>
            <a:solidFill>
              <a:schemeClr val="accent5">
                <a:lumMod val="75000"/>
              </a:schemeClr>
            </a:solidFill>
            <a:ln w="50800" cap="flat" cmpd="sng" algn="ctr">
              <a:noFill/>
              <a:prstDash val="solid"/>
              <a:miter lim="800000"/>
            </a:ln>
            <a:effectLst>
              <a:outerShdw blurRad="698500" dist="190500" dir="2700000" algn="tl" rotWithShape="0">
                <a:srgbClr val="6070FF">
                  <a:lumMod val="75000"/>
                  <a:alpha val="22000"/>
                </a:srgbClr>
              </a:outerShdw>
            </a:effectLst>
          </p:spPr>
          <p:txBody>
            <a:bodyPr rtlCol="0" anchor="ctr"/>
            <a:lstStyle/>
            <a:p>
              <a:pPr marL="0" marR="0" lvl="0" indent="0" algn="ctr" defTabSz="22855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9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Application Layer</a:t>
              </a:r>
              <a:endParaRPr kumimoji="0" lang="en-US" sz="9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endParaRPr>
            </a:p>
          </p:txBody>
        </p:sp>
        <p:sp>
          <p:nvSpPr>
            <p:cNvPr id="91" name="Rectangle: Rounded Corners 90">
              <a:extLst>
                <a:ext uri="{FF2B5EF4-FFF2-40B4-BE49-F238E27FC236}">
                  <a16:creationId xmlns:a16="http://schemas.microsoft.com/office/drawing/2014/main" id="{7195E6F6-9850-ECD4-9BD6-8327EB9D55A2}"/>
                </a:ext>
              </a:extLst>
            </p:cNvPr>
            <p:cNvSpPr/>
            <p:nvPr/>
          </p:nvSpPr>
          <p:spPr>
            <a:xfrm flipH="1">
              <a:off x="5654768" y="2604541"/>
              <a:ext cx="1151245" cy="315653"/>
            </a:xfrm>
            <a:prstGeom prst="roundRect">
              <a:avLst>
                <a:gd name="adj" fmla="val 50000"/>
              </a:avLst>
            </a:prstGeom>
            <a:solidFill>
              <a:schemeClr val="accent5">
                <a:lumMod val="75000"/>
              </a:schemeClr>
            </a:solidFill>
            <a:ln w="50800" cap="flat" cmpd="sng" algn="ctr">
              <a:noFill/>
              <a:prstDash val="solid"/>
              <a:miter lim="800000"/>
            </a:ln>
            <a:effectLst>
              <a:outerShdw blurRad="698500" dist="190500" dir="2700000" algn="tl" rotWithShape="0">
                <a:srgbClr val="6070FF">
                  <a:lumMod val="75000"/>
                  <a:alpha val="22000"/>
                </a:srgbClr>
              </a:outerShdw>
            </a:effectLst>
          </p:spPr>
          <p:txBody>
            <a:bodyPr rtlCol="0" anchor="ctr"/>
            <a:lstStyle/>
            <a:p>
              <a:pPr marL="0" marR="0" lvl="0" indent="0" algn="ctr" defTabSz="22855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9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Data Layer</a:t>
              </a:r>
              <a:endParaRPr kumimoji="0" lang="en-US" sz="9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endParaRPr>
            </a:p>
          </p:txBody>
        </p:sp>
        <p:sp>
          <p:nvSpPr>
            <p:cNvPr id="92" name="Rectangle: Rounded Corners 91">
              <a:extLst>
                <a:ext uri="{FF2B5EF4-FFF2-40B4-BE49-F238E27FC236}">
                  <a16:creationId xmlns:a16="http://schemas.microsoft.com/office/drawing/2014/main" id="{15273172-8A9D-B8A5-1970-2A7E286FF610}"/>
                </a:ext>
              </a:extLst>
            </p:cNvPr>
            <p:cNvSpPr/>
            <p:nvPr/>
          </p:nvSpPr>
          <p:spPr>
            <a:xfrm flipH="1">
              <a:off x="9399960" y="3472496"/>
              <a:ext cx="1151245" cy="315653"/>
            </a:xfrm>
            <a:prstGeom prst="roundRect">
              <a:avLst>
                <a:gd name="adj" fmla="val 50000"/>
              </a:avLst>
            </a:prstGeom>
            <a:solidFill>
              <a:schemeClr val="accent5">
                <a:lumMod val="75000"/>
              </a:schemeClr>
            </a:solidFill>
            <a:ln w="50800" cap="flat" cmpd="sng" algn="ctr">
              <a:noFill/>
              <a:prstDash val="solid"/>
              <a:miter lim="800000"/>
            </a:ln>
            <a:effectLst>
              <a:outerShdw blurRad="698500" dist="190500" dir="2700000" algn="tl" rotWithShape="0">
                <a:srgbClr val="6070FF">
                  <a:lumMod val="75000"/>
                  <a:alpha val="22000"/>
                </a:srgbClr>
              </a:outerShdw>
            </a:effectLst>
          </p:spPr>
          <p:txBody>
            <a:bodyPr rtlCol="0" anchor="ctr"/>
            <a:lstStyle/>
            <a:p>
              <a:pPr marL="0" marR="0" lvl="0" indent="0" algn="ctr" defTabSz="22855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9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Integration Layer</a:t>
              </a:r>
              <a:endParaRPr kumimoji="0" lang="en-US" sz="9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endParaRPr>
            </a:p>
          </p:txBody>
        </p:sp>
      </p:grpSp>
      <p:pic>
        <p:nvPicPr>
          <p:cNvPr id="1026" name="Picture 2" descr="Build AI Agents Using GPT-4.1">
            <a:extLst>
              <a:ext uri="{FF2B5EF4-FFF2-40B4-BE49-F238E27FC236}">
                <a16:creationId xmlns:a16="http://schemas.microsoft.com/office/drawing/2014/main" id="{713C5F43-39E4-EFCD-2D54-0D8E1BAFA67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345" t="33773" r="20021" b="35107"/>
          <a:stretch>
            <a:fillRect/>
          </a:stretch>
        </p:blipFill>
        <p:spPr bwMode="auto">
          <a:xfrm>
            <a:off x="11065790" y="4684230"/>
            <a:ext cx="720000" cy="2172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5" name="Picture 2" descr="Build AI Agents Using GPT-4.1">
            <a:extLst>
              <a:ext uri="{FF2B5EF4-FFF2-40B4-BE49-F238E27FC236}">
                <a16:creationId xmlns:a16="http://schemas.microsoft.com/office/drawing/2014/main" id="{20EDDBB2-8F46-44E9-05BC-BD2B6F595C8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345" t="33773" r="20021" b="35107"/>
          <a:stretch>
            <a:fillRect/>
          </a:stretch>
        </p:blipFill>
        <p:spPr bwMode="auto">
          <a:xfrm>
            <a:off x="1903709" y="3984223"/>
            <a:ext cx="720000" cy="2172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7" name="Picture 2" descr="Build AI Agents Using GPT-4.1">
            <a:extLst>
              <a:ext uri="{FF2B5EF4-FFF2-40B4-BE49-F238E27FC236}">
                <a16:creationId xmlns:a16="http://schemas.microsoft.com/office/drawing/2014/main" id="{C7ED7247-D702-1F2F-30E5-C58AC2C261A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345" t="33773" r="20021" b="35107"/>
          <a:stretch>
            <a:fillRect/>
          </a:stretch>
        </p:blipFill>
        <p:spPr bwMode="auto">
          <a:xfrm>
            <a:off x="5190020" y="5379070"/>
            <a:ext cx="720000" cy="2172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5422561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6384E0A9-05A9-0D40-AB59-A1066A1311DA}"/>
              </a:ext>
            </a:extLst>
          </p:cNvPr>
          <p:cNvSpPr/>
          <p:nvPr/>
        </p:nvSpPr>
        <p:spPr>
          <a:xfrm>
            <a:off x="0" y="0"/>
            <a:ext cx="12192000" cy="889000"/>
          </a:xfrm>
          <a:prstGeom prst="rect">
            <a:avLst/>
          </a:prstGeom>
          <a:solidFill>
            <a:srgbClr val="0E2841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A61630D-517F-BE46-A922-8767CCEC3505}"/>
              </a:ext>
            </a:extLst>
          </p:cNvPr>
          <p:cNvSpPr txBox="1"/>
          <p:nvPr/>
        </p:nvSpPr>
        <p:spPr>
          <a:xfrm>
            <a:off x="508000" y="190500"/>
            <a:ext cx="8890000" cy="52322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2800" b="1">
                <a:solidFill>
                  <a:srgbClr val="FFFFFF"/>
                </a:solidFill>
                <a:latin typeface="Aptos Display"/>
              </a:rPr>
              <a:t>How This Differs from Tool Licenses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D13969D-1DCC-264D-B0B2-258AB0C89B24}"/>
              </a:ext>
            </a:extLst>
          </p:cNvPr>
          <p:cNvSpPr/>
          <p:nvPr/>
        </p:nvSpPr>
        <p:spPr>
          <a:xfrm>
            <a:off x="0" y="889000"/>
            <a:ext cx="12192000" cy="38100"/>
          </a:xfrm>
          <a:prstGeom prst="rect">
            <a:avLst/>
          </a:prstGeom>
          <a:solidFill>
            <a:srgbClr val="4EA72E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4858E1F-AA83-6F40-B60C-D3EF9256D581}"/>
              </a:ext>
            </a:extLst>
          </p:cNvPr>
          <p:cNvSpPr/>
          <p:nvPr/>
        </p:nvSpPr>
        <p:spPr>
          <a:xfrm>
            <a:off x="508000" y="1143000"/>
            <a:ext cx="2095500" cy="482600"/>
          </a:xfrm>
          <a:prstGeom prst="rect">
            <a:avLst/>
          </a:prstGeom>
          <a:solidFill>
            <a:srgbClr val="0E2841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>
            <a:noAutofit/>
          </a:bodyPr>
          <a:lstStyle/>
          <a:p>
            <a:pPr algn="l"/>
            <a:r>
              <a:rPr lang="en-US" sz="1400" b="1">
                <a:solidFill>
                  <a:srgbClr val="FFFFFF"/>
                </a:solidFill>
                <a:latin typeface="Aptos Display"/>
              </a:rPr>
              <a:t>Dimension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85F8FB9-817C-AD4A-BBAD-55785AF873AE}"/>
              </a:ext>
            </a:extLst>
          </p:cNvPr>
          <p:cNvSpPr/>
          <p:nvPr/>
        </p:nvSpPr>
        <p:spPr>
          <a:xfrm>
            <a:off x="2730500" y="1143000"/>
            <a:ext cx="4508500" cy="482600"/>
          </a:xfrm>
          <a:prstGeom prst="rect">
            <a:avLst/>
          </a:prstGeom>
          <a:solidFill>
            <a:srgbClr val="0E2841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>
            <a:noAutofit/>
          </a:bodyPr>
          <a:lstStyle/>
          <a:p>
            <a:pPr algn="l"/>
            <a:r>
              <a:rPr lang="en-US" sz="1400" b="1">
                <a:solidFill>
                  <a:srgbClr val="FFFFFF"/>
                </a:solidFill>
                <a:latin typeface="Aptos Display"/>
              </a:rPr>
              <a:t>Tool License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8B2F5D3-A2FC-BD4C-800A-A9AF39667F3A}"/>
              </a:ext>
            </a:extLst>
          </p:cNvPr>
          <p:cNvSpPr/>
          <p:nvPr/>
        </p:nvSpPr>
        <p:spPr>
          <a:xfrm>
            <a:off x="7366000" y="1143000"/>
            <a:ext cx="4318000" cy="482600"/>
          </a:xfrm>
          <a:prstGeom prst="rect">
            <a:avLst/>
          </a:prstGeom>
          <a:solidFill>
            <a:srgbClr val="0E2841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>
            <a:noAutofit/>
          </a:bodyPr>
          <a:lstStyle/>
          <a:p>
            <a:pPr algn="l"/>
            <a:r>
              <a:rPr lang="en-US" sz="1400" b="1">
                <a:solidFill>
                  <a:srgbClr val="FFFFFF"/>
                </a:solidFill>
                <a:latin typeface="Aptos Display"/>
              </a:rPr>
              <a:t>X-Ray &amp; Navigator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4826A86-4FEC-2149-B203-EAA8DC9972BF}"/>
              </a:ext>
            </a:extLst>
          </p:cNvPr>
          <p:cNvSpPr/>
          <p:nvPr/>
        </p:nvSpPr>
        <p:spPr>
          <a:xfrm>
            <a:off x="508000" y="1676400"/>
            <a:ext cx="2095500" cy="889000"/>
          </a:xfrm>
          <a:prstGeom prst="rect">
            <a:avLst/>
          </a:prstGeom>
          <a:solidFill>
            <a:srgbClr val="F5F7FA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>
            <a:noAutofit/>
          </a:bodyPr>
          <a:lstStyle/>
          <a:p>
            <a:pPr algn="l"/>
            <a:r>
              <a:rPr lang="en-US" sz="1400" b="1">
                <a:solidFill>
                  <a:srgbClr val="0E2841"/>
                </a:solidFill>
                <a:latin typeface="Aptos Display"/>
              </a:rPr>
              <a:t>Knowledge
Model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0189869-B879-2F4E-BE7B-4ECEB56026F0}"/>
              </a:ext>
            </a:extLst>
          </p:cNvPr>
          <p:cNvSpPr/>
          <p:nvPr/>
        </p:nvSpPr>
        <p:spPr>
          <a:xfrm>
            <a:off x="2730500" y="1676400"/>
            <a:ext cx="4508500" cy="889000"/>
          </a:xfrm>
          <a:prstGeom prst="rect">
            <a:avLst/>
          </a:prstGeom>
          <a:solidFill>
            <a:srgbClr val="FAFAFA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ctr" anchorCtr="0">
            <a:noAutofit/>
          </a:bodyPr>
          <a:lstStyle/>
          <a:p>
            <a:pPr algn="l"/>
            <a:r>
              <a:rPr lang="en-US" sz="1400">
                <a:solidFill>
                  <a:srgbClr val="888888"/>
                </a:solidFill>
                <a:latin typeface="Aptos"/>
              </a:rPr>
              <a:t>Ad-hoc file summaries that are ephemeral and individual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F973642-602C-1B4A-9195-67BF3E772AD0}"/>
              </a:ext>
            </a:extLst>
          </p:cNvPr>
          <p:cNvSpPr/>
          <p:nvPr/>
        </p:nvSpPr>
        <p:spPr>
          <a:xfrm>
            <a:off x="7366000" y="1676400"/>
            <a:ext cx="4318000" cy="889000"/>
          </a:xfrm>
          <a:prstGeom prst="rect">
            <a:avLst/>
          </a:prstGeom>
          <a:solidFill>
            <a:srgbClr val="FFF3ED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ctr" anchorCtr="0">
            <a:noAutofit/>
          </a:bodyPr>
          <a:lstStyle/>
          <a:p>
            <a:pPr algn="l"/>
            <a:r>
              <a:rPr lang="en-US" sz="1400" b="1">
                <a:solidFill>
                  <a:srgbClr val="196B24"/>
                </a:solidFill>
                <a:latin typeface="Aptos"/>
              </a:rPr>
              <a:t>Persistent system model: call graphs, data flows, entity maps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CED477D-5BE8-FC40-9BAA-DC7D8DAC010F}"/>
              </a:ext>
            </a:extLst>
          </p:cNvPr>
          <p:cNvSpPr/>
          <p:nvPr/>
        </p:nvSpPr>
        <p:spPr>
          <a:xfrm>
            <a:off x="7366000" y="1676400"/>
            <a:ext cx="50800" cy="889000"/>
          </a:xfrm>
          <a:prstGeom prst="rect">
            <a:avLst/>
          </a:prstGeom>
          <a:solidFill>
            <a:srgbClr val="E97132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7644753-EA8B-8540-B455-1A74CAB27FBF}"/>
              </a:ext>
            </a:extLst>
          </p:cNvPr>
          <p:cNvSpPr/>
          <p:nvPr/>
        </p:nvSpPr>
        <p:spPr>
          <a:xfrm>
            <a:off x="508000" y="2628900"/>
            <a:ext cx="2095500" cy="889000"/>
          </a:xfrm>
          <a:prstGeom prst="rect">
            <a:avLst/>
          </a:prstGeom>
          <a:solidFill>
            <a:srgbClr val="F5F7FA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>
            <a:noAutofit/>
          </a:bodyPr>
          <a:lstStyle/>
          <a:p>
            <a:pPr algn="l"/>
            <a:r>
              <a:rPr lang="en-US" sz="1400" b="1">
                <a:solidFill>
                  <a:srgbClr val="0E2841"/>
                </a:solidFill>
                <a:latin typeface="Aptos Display"/>
              </a:rPr>
              <a:t>Governance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2564AD66-D624-D641-930D-DB66089F2C44}"/>
              </a:ext>
            </a:extLst>
          </p:cNvPr>
          <p:cNvSpPr/>
          <p:nvPr/>
        </p:nvSpPr>
        <p:spPr>
          <a:xfrm>
            <a:off x="2730500" y="2628900"/>
            <a:ext cx="4508500" cy="889000"/>
          </a:xfrm>
          <a:prstGeom prst="rect">
            <a:avLst/>
          </a:prstGeom>
          <a:solidFill>
            <a:srgbClr val="FAFAFA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ctr" anchorCtr="0">
            <a:noAutofit/>
          </a:bodyPr>
          <a:lstStyle/>
          <a:p>
            <a:pPr algn="l"/>
            <a:r>
              <a:rPr lang="en-US" sz="1400">
                <a:solidFill>
                  <a:srgbClr val="888888"/>
                </a:solidFill>
                <a:latin typeface="Aptos"/>
              </a:rPr>
              <a:t>Individual use with no shared context across teams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52D2C01B-96E6-404B-874A-2ABF0A2CF777}"/>
              </a:ext>
            </a:extLst>
          </p:cNvPr>
          <p:cNvSpPr/>
          <p:nvPr/>
        </p:nvSpPr>
        <p:spPr>
          <a:xfrm>
            <a:off x="7366000" y="2628900"/>
            <a:ext cx="4318000" cy="889000"/>
          </a:xfrm>
          <a:prstGeom prst="rect">
            <a:avLst/>
          </a:prstGeom>
          <a:solidFill>
            <a:srgbClr val="EDF3F7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ctr" anchorCtr="0">
            <a:noAutofit/>
          </a:bodyPr>
          <a:lstStyle/>
          <a:p>
            <a:pPr algn="l"/>
            <a:r>
              <a:rPr lang="en-US" sz="1400" b="1">
                <a:solidFill>
                  <a:srgbClr val="196B24"/>
                </a:solidFill>
                <a:latin typeface="Aptos"/>
              </a:rPr>
              <a:t>Shared across teams: onboarding tours, impact reports, dashboards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A0AB4BF0-C025-514C-82C0-3A12578E33F5}"/>
              </a:ext>
            </a:extLst>
          </p:cNvPr>
          <p:cNvSpPr/>
          <p:nvPr/>
        </p:nvSpPr>
        <p:spPr>
          <a:xfrm>
            <a:off x="7366000" y="2628900"/>
            <a:ext cx="50800" cy="889000"/>
          </a:xfrm>
          <a:prstGeom prst="rect">
            <a:avLst/>
          </a:prstGeom>
          <a:solidFill>
            <a:srgbClr val="156082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99509441-F400-C14F-9B4A-C317FF3D6834}"/>
              </a:ext>
            </a:extLst>
          </p:cNvPr>
          <p:cNvSpPr/>
          <p:nvPr/>
        </p:nvSpPr>
        <p:spPr>
          <a:xfrm>
            <a:off x="508000" y="3581400"/>
            <a:ext cx="2095500" cy="889000"/>
          </a:xfrm>
          <a:prstGeom prst="rect">
            <a:avLst/>
          </a:prstGeom>
          <a:solidFill>
            <a:srgbClr val="F5F7FA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>
            <a:noAutofit/>
          </a:bodyPr>
          <a:lstStyle/>
          <a:p>
            <a:pPr algn="l"/>
            <a:r>
              <a:rPr lang="en-US" sz="1400" b="1">
                <a:solidFill>
                  <a:srgbClr val="0E2841"/>
                </a:solidFill>
                <a:latin typeface="Aptos Display"/>
              </a:rPr>
              <a:t>Deployment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D1D29205-6CA3-AF45-B568-1B9DF3C2BA7C}"/>
              </a:ext>
            </a:extLst>
          </p:cNvPr>
          <p:cNvSpPr/>
          <p:nvPr/>
        </p:nvSpPr>
        <p:spPr>
          <a:xfrm>
            <a:off x="2730500" y="3581400"/>
            <a:ext cx="4508500" cy="889000"/>
          </a:xfrm>
          <a:prstGeom prst="rect">
            <a:avLst/>
          </a:prstGeom>
          <a:solidFill>
            <a:srgbClr val="FAFAFA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ctr" anchorCtr="0">
            <a:noAutofit/>
          </a:bodyPr>
          <a:lstStyle/>
          <a:p>
            <a:pPr algn="l"/>
            <a:r>
              <a:rPr lang="en-US" sz="1400">
                <a:solidFill>
                  <a:srgbClr val="888888"/>
                </a:solidFill>
                <a:latin typeface="Aptos"/>
              </a:rPr>
              <a:t>Cloud-hosted, vendor-controlled infrastructure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8811E7BE-51FF-ED4A-BA17-4DADB136D101}"/>
              </a:ext>
            </a:extLst>
          </p:cNvPr>
          <p:cNvSpPr/>
          <p:nvPr/>
        </p:nvSpPr>
        <p:spPr>
          <a:xfrm>
            <a:off x="7366000" y="3581400"/>
            <a:ext cx="4318000" cy="889000"/>
          </a:xfrm>
          <a:prstGeom prst="rect">
            <a:avLst/>
          </a:prstGeom>
          <a:solidFill>
            <a:srgbClr val="EDF5F0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ctr" anchorCtr="0">
            <a:noAutofit/>
          </a:bodyPr>
          <a:lstStyle/>
          <a:p>
            <a:pPr algn="l"/>
            <a:r>
              <a:rPr lang="en-US" sz="1400" b="1">
                <a:solidFill>
                  <a:srgbClr val="196B24"/>
                </a:solidFill>
                <a:latin typeface="Aptos"/>
              </a:rPr>
              <a:t>Client environment (on-prem / VPC) with full audit trail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59406A59-773A-B145-B288-84713A023970}"/>
              </a:ext>
            </a:extLst>
          </p:cNvPr>
          <p:cNvSpPr/>
          <p:nvPr/>
        </p:nvSpPr>
        <p:spPr>
          <a:xfrm>
            <a:off x="7366000" y="3581400"/>
            <a:ext cx="50800" cy="889000"/>
          </a:xfrm>
          <a:prstGeom prst="rect">
            <a:avLst/>
          </a:prstGeom>
          <a:solidFill>
            <a:srgbClr val="4EA72E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0" name="Rounded Rectangle 19">
            <a:extLst>
              <a:ext uri="{FF2B5EF4-FFF2-40B4-BE49-F238E27FC236}">
                <a16:creationId xmlns:a16="http://schemas.microsoft.com/office/drawing/2014/main" id="{A330EAB3-9001-A04D-9DD3-1E5A172645BD}"/>
              </a:ext>
            </a:extLst>
          </p:cNvPr>
          <p:cNvSpPr/>
          <p:nvPr/>
        </p:nvSpPr>
        <p:spPr>
          <a:xfrm>
            <a:off x="508000" y="5080000"/>
            <a:ext cx="11176000" cy="762000"/>
          </a:xfrm>
          <a:prstGeom prst="roundRect">
            <a:avLst/>
          </a:prstGeom>
          <a:solidFill>
            <a:srgbClr val="0E2841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1118A48B-9ADD-754C-9B95-D4B0C0F93348}"/>
              </a:ext>
            </a:extLst>
          </p:cNvPr>
          <p:cNvSpPr txBox="1"/>
          <p:nvPr/>
        </p:nvSpPr>
        <p:spPr>
          <a:xfrm>
            <a:off x="762000" y="5143500"/>
            <a:ext cx="2540000" cy="307777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00" b="1">
                <a:solidFill>
                  <a:srgbClr val="4EA72E"/>
                </a:solidFill>
                <a:latin typeface="Aptos"/>
              </a:rPr>
              <a:t>NON-NEGOTIABLES</a:t>
            </a:r>
          </a:p>
        </p:txBody>
      </p:sp>
      <p:sp>
        <p:nvSpPr>
          <p:cNvPr id="22" name="Rounded Rectangle 21">
            <a:extLst>
              <a:ext uri="{FF2B5EF4-FFF2-40B4-BE49-F238E27FC236}">
                <a16:creationId xmlns:a16="http://schemas.microsoft.com/office/drawing/2014/main" id="{080F255A-CA3F-8E41-A60F-E1B6779EB1AA}"/>
              </a:ext>
            </a:extLst>
          </p:cNvPr>
          <p:cNvSpPr/>
          <p:nvPr/>
        </p:nvSpPr>
        <p:spPr>
          <a:xfrm>
            <a:off x="3556000" y="5435600"/>
            <a:ext cx="2476500" cy="355600"/>
          </a:xfrm>
          <a:prstGeom prst="roundRect">
            <a:avLst/>
          </a:prstGeom>
          <a:solidFill>
            <a:srgbClr val="4EA72E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sz="1400" b="1">
                <a:solidFill>
                  <a:srgbClr val="FFFFFF"/>
                </a:solidFill>
                <a:latin typeface="Aptos"/>
              </a:rPr>
              <a:t>Traceable</a:t>
            </a:r>
          </a:p>
        </p:txBody>
      </p:sp>
      <p:sp>
        <p:nvSpPr>
          <p:cNvPr id="23" name="Rounded Rectangle 22">
            <a:extLst>
              <a:ext uri="{FF2B5EF4-FFF2-40B4-BE49-F238E27FC236}">
                <a16:creationId xmlns:a16="http://schemas.microsoft.com/office/drawing/2014/main" id="{05ABD596-884E-A048-8F03-16AA20420499}"/>
              </a:ext>
            </a:extLst>
          </p:cNvPr>
          <p:cNvSpPr/>
          <p:nvPr/>
        </p:nvSpPr>
        <p:spPr>
          <a:xfrm>
            <a:off x="6286500" y="5435600"/>
            <a:ext cx="2476500" cy="355600"/>
          </a:xfrm>
          <a:prstGeom prst="roundRect">
            <a:avLst/>
          </a:prstGeom>
          <a:solidFill>
            <a:srgbClr val="156082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sz="1400" b="1">
                <a:solidFill>
                  <a:srgbClr val="FFFFFF"/>
                </a:solidFill>
                <a:latin typeface="Aptos"/>
              </a:rPr>
              <a:t>Auditable</a:t>
            </a:r>
          </a:p>
        </p:txBody>
      </p:sp>
      <p:sp>
        <p:nvSpPr>
          <p:cNvPr id="24" name="Rounded Rectangle 23">
            <a:extLst>
              <a:ext uri="{FF2B5EF4-FFF2-40B4-BE49-F238E27FC236}">
                <a16:creationId xmlns:a16="http://schemas.microsoft.com/office/drawing/2014/main" id="{B905261E-3747-3341-BB19-559F504FDF33}"/>
              </a:ext>
            </a:extLst>
          </p:cNvPr>
          <p:cNvSpPr/>
          <p:nvPr/>
        </p:nvSpPr>
        <p:spPr>
          <a:xfrm>
            <a:off x="9017000" y="5435600"/>
            <a:ext cx="2476500" cy="355600"/>
          </a:xfrm>
          <a:prstGeom prst="roundRect">
            <a:avLst/>
          </a:prstGeom>
          <a:solidFill>
            <a:srgbClr val="E97132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sz="1400" b="1">
                <a:solidFill>
                  <a:srgbClr val="FFFFFF"/>
                </a:solidFill>
                <a:latin typeface="Aptos"/>
              </a:rPr>
              <a:t>VPC / On-Prem</a:t>
            </a:r>
          </a:p>
        </p:txBody>
      </p:sp>
      <p:pic>
        <p:nvPicPr>
          <p:cNvPr id="25" name="Graphic 25" descr="Shield icon for non-negotiables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62000" y="5435600"/>
            <a:ext cx="355600" cy="355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445369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DF5922C5-39FF-B749-A648-4387BBAA47B6}"/>
              </a:ext>
            </a:extLst>
          </p:cNvPr>
          <p:cNvSpPr/>
          <p:nvPr/>
        </p:nvSpPr>
        <p:spPr>
          <a:xfrm>
            <a:off x="0" y="0"/>
            <a:ext cx="12192000" cy="889000"/>
          </a:xfrm>
          <a:prstGeom prst="rect">
            <a:avLst/>
          </a:prstGeom>
          <a:solidFill>
            <a:srgbClr val="0E2841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0F1E396-2052-114B-8CC0-FF8E1B827990}"/>
              </a:ext>
            </a:extLst>
          </p:cNvPr>
          <p:cNvSpPr txBox="1"/>
          <p:nvPr/>
        </p:nvSpPr>
        <p:spPr>
          <a:xfrm>
            <a:off x="508000" y="190500"/>
            <a:ext cx="6350000" cy="52322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2800" b="1">
                <a:solidFill>
                  <a:srgbClr val="FFFFFF"/>
                </a:solidFill>
                <a:latin typeface="Aptos Display"/>
              </a:rPr>
              <a:t>Business Outcomes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F9C46AF-94B7-D94D-A9FE-B14CC23A6664}"/>
              </a:ext>
            </a:extLst>
          </p:cNvPr>
          <p:cNvSpPr/>
          <p:nvPr/>
        </p:nvSpPr>
        <p:spPr>
          <a:xfrm>
            <a:off x="0" y="889000"/>
            <a:ext cx="12192000" cy="38100"/>
          </a:xfrm>
          <a:prstGeom prst="rect">
            <a:avLst/>
          </a:prstGeom>
          <a:solidFill>
            <a:srgbClr val="4EA72E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34A12784-5D57-994A-9BB2-57CC02C3C7B7}"/>
              </a:ext>
            </a:extLst>
          </p:cNvPr>
          <p:cNvSpPr/>
          <p:nvPr/>
        </p:nvSpPr>
        <p:spPr>
          <a:xfrm>
            <a:off x="635000" y="1270000"/>
            <a:ext cx="3429000" cy="2794000"/>
          </a:xfrm>
          <a:prstGeom prst="roundRect">
            <a:avLst/>
          </a:prstGeom>
          <a:solidFill>
            <a:srgbClr val="FFF3ED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7D88412-85EA-E340-85C2-6940D2A1CF49}"/>
              </a:ext>
            </a:extLst>
          </p:cNvPr>
          <p:cNvSpPr/>
          <p:nvPr/>
        </p:nvSpPr>
        <p:spPr>
          <a:xfrm>
            <a:off x="635000" y="1270000"/>
            <a:ext cx="3429000" cy="63500"/>
          </a:xfrm>
          <a:prstGeom prst="rect">
            <a:avLst/>
          </a:prstGeom>
          <a:solidFill>
            <a:srgbClr val="E97132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7EE15D8-CA4F-724A-9D49-C221ADB77227}"/>
              </a:ext>
            </a:extLst>
          </p:cNvPr>
          <p:cNvSpPr txBox="1"/>
          <p:nvPr/>
        </p:nvSpPr>
        <p:spPr>
          <a:xfrm>
            <a:off x="825500" y="1524000"/>
            <a:ext cx="1397000" cy="52322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2800" b="1">
                <a:solidFill>
                  <a:srgbClr val="CCCCCC"/>
                </a:solidFill>
                <a:latin typeface="Aptos Display"/>
              </a:rPr>
              <a:t>Months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822B9D1-52D7-8C4D-AEC8-4079F0983707}"/>
              </a:ext>
            </a:extLst>
          </p:cNvPr>
          <p:cNvSpPr txBox="1"/>
          <p:nvPr/>
        </p:nvSpPr>
        <p:spPr>
          <a:xfrm>
            <a:off x="2095500" y="1524000"/>
            <a:ext cx="508000" cy="52322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2800">
                <a:solidFill>
                  <a:srgbClr val="E97132"/>
                </a:solidFill>
                <a:latin typeface="Aptos"/>
              </a:rPr>
              <a:t>→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29B69D7-5D17-6943-99A5-441070565320}"/>
              </a:ext>
            </a:extLst>
          </p:cNvPr>
          <p:cNvSpPr txBox="1"/>
          <p:nvPr/>
        </p:nvSpPr>
        <p:spPr>
          <a:xfrm>
            <a:off x="2540000" y="1524000"/>
            <a:ext cx="1397000" cy="52322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2800" b="1">
                <a:solidFill>
                  <a:srgbClr val="E97132"/>
                </a:solidFill>
                <a:latin typeface="Aptos Display"/>
              </a:rPr>
              <a:t>Weeks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8F27D18-E67C-C74A-A29F-72ED357DD331}"/>
              </a:ext>
            </a:extLst>
          </p:cNvPr>
          <p:cNvSpPr txBox="1"/>
          <p:nvPr/>
        </p:nvSpPr>
        <p:spPr>
          <a:xfrm>
            <a:off x="825500" y="2286000"/>
            <a:ext cx="3048000" cy="584775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600">
                <a:solidFill>
                  <a:srgbClr val="0E2841"/>
                </a:solidFill>
                <a:latin typeface="Aptos"/>
              </a:rPr>
              <a:t>Onboarding Time
on Legacy Systems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D5E8CDF-97F5-7C4E-A84D-0DE618465274}"/>
              </a:ext>
            </a:extLst>
          </p:cNvPr>
          <p:cNvSpPr/>
          <p:nvPr/>
        </p:nvSpPr>
        <p:spPr>
          <a:xfrm>
            <a:off x="825500" y="3175000"/>
            <a:ext cx="3048000" cy="25400"/>
          </a:xfrm>
          <a:prstGeom prst="rect">
            <a:avLst/>
          </a:prstGeom>
          <a:solidFill>
            <a:srgbClr val="E97132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62627B8-87D4-0A4A-B4EF-F9906385FFBD}"/>
              </a:ext>
            </a:extLst>
          </p:cNvPr>
          <p:cNvSpPr txBox="1"/>
          <p:nvPr/>
        </p:nvSpPr>
        <p:spPr>
          <a:xfrm>
            <a:off x="825500" y="3302000"/>
            <a:ext cx="3048000" cy="3175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00">
                <a:solidFill>
                  <a:srgbClr val="999999"/>
                </a:solidFill>
                <a:latin typeface="Aptos"/>
              </a:rPr>
              <a:t>Tailor to client baseline</a:t>
            </a:r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A327C245-523C-144B-BAB3-D6B476161B5E}"/>
              </a:ext>
            </a:extLst>
          </p:cNvPr>
          <p:cNvSpPr/>
          <p:nvPr/>
        </p:nvSpPr>
        <p:spPr>
          <a:xfrm>
            <a:off x="4381500" y="1270000"/>
            <a:ext cx="3429000" cy="2794000"/>
          </a:xfrm>
          <a:prstGeom prst="roundRect">
            <a:avLst/>
          </a:prstGeom>
          <a:solidFill>
            <a:srgbClr val="EDF3F7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470ECDC-7013-DA49-83F8-5ADE678831E2}"/>
              </a:ext>
            </a:extLst>
          </p:cNvPr>
          <p:cNvSpPr/>
          <p:nvPr/>
        </p:nvSpPr>
        <p:spPr>
          <a:xfrm>
            <a:off x="4381500" y="1270000"/>
            <a:ext cx="3429000" cy="63500"/>
          </a:xfrm>
          <a:prstGeom prst="rect">
            <a:avLst/>
          </a:prstGeom>
          <a:solidFill>
            <a:srgbClr val="156082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4453857-465B-6842-93AD-D4D458501DB3}"/>
              </a:ext>
            </a:extLst>
          </p:cNvPr>
          <p:cNvSpPr txBox="1"/>
          <p:nvPr/>
        </p:nvSpPr>
        <p:spPr>
          <a:xfrm>
            <a:off x="4572000" y="1524000"/>
            <a:ext cx="1397000" cy="52322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2800" b="1">
                <a:solidFill>
                  <a:srgbClr val="CCCCCC"/>
                </a:solidFill>
                <a:latin typeface="Aptos Display"/>
              </a:rPr>
              <a:t>Days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CD0379E-F195-CF42-BC27-2A1206528454}"/>
              </a:ext>
            </a:extLst>
          </p:cNvPr>
          <p:cNvSpPr txBox="1"/>
          <p:nvPr/>
        </p:nvSpPr>
        <p:spPr>
          <a:xfrm>
            <a:off x="5842000" y="1524000"/>
            <a:ext cx="508000" cy="52322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2800">
                <a:solidFill>
                  <a:srgbClr val="156082"/>
                </a:solidFill>
                <a:latin typeface="Aptos"/>
              </a:rPr>
              <a:t>→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1EB0B2BA-C6C9-E846-829D-C2BE4807CF3B}"/>
              </a:ext>
            </a:extLst>
          </p:cNvPr>
          <p:cNvSpPr txBox="1"/>
          <p:nvPr/>
        </p:nvSpPr>
        <p:spPr>
          <a:xfrm>
            <a:off x="6286500" y="1524000"/>
            <a:ext cx="1397000" cy="52322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2800" b="1">
                <a:solidFill>
                  <a:srgbClr val="156082"/>
                </a:solidFill>
                <a:latin typeface="Aptos Display"/>
              </a:rPr>
              <a:t>Hours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F7DCFE89-8F0C-A445-9881-940351AB2356}"/>
              </a:ext>
            </a:extLst>
          </p:cNvPr>
          <p:cNvSpPr txBox="1"/>
          <p:nvPr/>
        </p:nvSpPr>
        <p:spPr>
          <a:xfrm>
            <a:off x="4572000" y="2286000"/>
            <a:ext cx="3048000" cy="584775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600">
                <a:solidFill>
                  <a:srgbClr val="0E2841"/>
                </a:solidFill>
                <a:latin typeface="Aptos"/>
              </a:rPr>
              <a:t>Impact Analysis
Effort for Changes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CCF37EFA-D570-C449-A4E1-93B6ABE681D8}"/>
              </a:ext>
            </a:extLst>
          </p:cNvPr>
          <p:cNvSpPr/>
          <p:nvPr/>
        </p:nvSpPr>
        <p:spPr>
          <a:xfrm>
            <a:off x="4572000" y="3175000"/>
            <a:ext cx="3048000" cy="25400"/>
          </a:xfrm>
          <a:prstGeom prst="rect">
            <a:avLst/>
          </a:prstGeom>
          <a:solidFill>
            <a:srgbClr val="156082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245C20BB-C32D-224F-BC88-9C80EF169981}"/>
              </a:ext>
            </a:extLst>
          </p:cNvPr>
          <p:cNvSpPr txBox="1"/>
          <p:nvPr/>
        </p:nvSpPr>
        <p:spPr>
          <a:xfrm>
            <a:off x="4572000" y="3302000"/>
            <a:ext cx="3048000" cy="3175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00">
                <a:solidFill>
                  <a:srgbClr val="999999"/>
                </a:solidFill>
                <a:latin typeface="Aptos"/>
              </a:rPr>
              <a:t>Tailor to client baseline</a:t>
            </a:r>
          </a:p>
        </p:txBody>
      </p:sp>
      <p:sp>
        <p:nvSpPr>
          <p:cNvPr id="21" name="Rounded Rectangle 20">
            <a:extLst>
              <a:ext uri="{FF2B5EF4-FFF2-40B4-BE49-F238E27FC236}">
                <a16:creationId xmlns:a16="http://schemas.microsoft.com/office/drawing/2014/main" id="{36AF70AC-4656-5049-B78E-922AAECE7E7A}"/>
              </a:ext>
            </a:extLst>
          </p:cNvPr>
          <p:cNvSpPr/>
          <p:nvPr/>
        </p:nvSpPr>
        <p:spPr>
          <a:xfrm>
            <a:off x="8128000" y="1270000"/>
            <a:ext cx="3429000" cy="2794000"/>
          </a:xfrm>
          <a:prstGeom prst="roundRect">
            <a:avLst/>
          </a:prstGeom>
          <a:solidFill>
            <a:srgbClr val="EDF5F0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5BD2563D-F315-5643-8507-B2FFCEFD2566}"/>
              </a:ext>
            </a:extLst>
          </p:cNvPr>
          <p:cNvSpPr/>
          <p:nvPr/>
        </p:nvSpPr>
        <p:spPr>
          <a:xfrm>
            <a:off x="8128000" y="1270000"/>
            <a:ext cx="3429000" cy="63500"/>
          </a:xfrm>
          <a:prstGeom prst="rect">
            <a:avLst/>
          </a:prstGeom>
          <a:solidFill>
            <a:srgbClr val="4EA72E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8D8DAAF1-1F0F-FB47-9101-222A6AEBBE17}"/>
              </a:ext>
            </a:extLst>
          </p:cNvPr>
          <p:cNvSpPr txBox="1"/>
          <p:nvPr/>
        </p:nvSpPr>
        <p:spPr>
          <a:xfrm>
            <a:off x="8318500" y="1524000"/>
            <a:ext cx="1397000" cy="52322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2800" b="1">
                <a:solidFill>
                  <a:srgbClr val="CCCCCC"/>
                </a:solidFill>
                <a:latin typeface="Aptos Display"/>
              </a:rPr>
              <a:t>High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7B19C606-5CC3-F144-8F3C-D1D3E9207174}"/>
              </a:ext>
            </a:extLst>
          </p:cNvPr>
          <p:cNvSpPr txBox="1"/>
          <p:nvPr/>
        </p:nvSpPr>
        <p:spPr>
          <a:xfrm>
            <a:off x="9588500" y="1524000"/>
            <a:ext cx="508000" cy="52322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2800">
                <a:solidFill>
                  <a:srgbClr val="4EA72E"/>
                </a:solidFill>
                <a:latin typeface="Aptos"/>
              </a:rPr>
              <a:t>→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23E027D5-3294-734B-ACC8-62838A8AF216}"/>
              </a:ext>
            </a:extLst>
          </p:cNvPr>
          <p:cNvSpPr txBox="1"/>
          <p:nvPr/>
        </p:nvSpPr>
        <p:spPr>
          <a:xfrm>
            <a:off x="10033000" y="1524000"/>
            <a:ext cx="1397000" cy="52322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2800" b="1">
                <a:solidFill>
                  <a:srgbClr val="4EA72E"/>
                </a:solidFill>
                <a:latin typeface="Aptos Display"/>
              </a:rPr>
              <a:t>Lower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A15F71DF-A02C-0F4D-A996-C1F210AD461B}"/>
              </a:ext>
            </a:extLst>
          </p:cNvPr>
          <p:cNvSpPr txBox="1"/>
          <p:nvPr/>
        </p:nvSpPr>
        <p:spPr>
          <a:xfrm>
            <a:off x="8318500" y="2286000"/>
            <a:ext cx="3048000" cy="584775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600">
                <a:solidFill>
                  <a:srgbClr val="0E2841"/>
                </a:solidFill>
                <a:latin typeface="Aptos"/>
              </a:rPr>
              <a:t>Dependency on
Legacy SMEs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19671272-C529-E543-B43F-AA4AABF55FC6}"/>
              </a:ext>
            </a:extLst>
          </p:cNvPr>
          <p:cNvSpPr/>
          <p:nvPr/>
        </p:nvSpPr>
        <p:spPr>
          <a:xfrm>
            <a:off x="8318500" y="3175000"/>
            <a:ext cx="3048000" cy="25400"/>
          </a:xfrm>
          <a:prstGeom prst="rect">
            <a:avLst/>
          </a:prstGeom>
          <a:solidFill>
            <a:srgbClr val="4EA72E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9F55B923-9DFA-3F4A-A623-0CF3DBB4F8D3}"/>
              </a:ext>
            </a:extLst>
          </p:cNvPr>
          <p:cNvSpPr txBox="1"/>
          <p:nvPr/>
        </p:nvSpPr>
        <p:spPr>
          <a:xfrm>
            <a:off x="8318500" y="3302000"/>
            <a:ext cx="3048000" cy="3175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00">
                <a:solidFill>
                  <a:srgbClr val="999999"/>
                </a:solidFill>
                <a:latin typeface="Aptos"/>
              </a:rPr>
              <a:t>Tailor to client baseline</a:t>
            </a:r>
          </a:p>
        </p:txBody>
      </p:sp>
      <p:sp>
        <p:nvSpPr>
          <p:cNvPr id="29" name="Rounded Rectangle 28">
            <a:extLst>
              <a:ext uri="{FF2B5EF4-FFF2-40B4-BE49-F238E27FC236}">
                <a16:creationId xmlns:a16="http://schemas.microsoft.com/office/drawing/2014/main" id="{0109459F-3DC2-4045-8B64-3093C1B9EE22}"/>
              </a:ext>
            </a:extLst>
          </p:cNvPr>
          <p:cNvSpPr/>
          <p:nvPr/>
        </p:nvSpPr>
        <p:spPr>
          <a:xfrm>
            <a:off x="2540000" y="4572000"/>
            <a:ext cx="7112000" cy="762000"/>
          </a:xfrm>
          <a:prstGeom prst="roundRect">
            <a:avLst/>
          </a:prstGeom>
          <a:solidFill>
            <a:srgbClr val="F5F7FA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152220D7-F158-494B-92CC-7430482594BD}"/>
              </a:ext>
            </a:extLst>
          </p:cNvPr>
          <p:cNvSpPr txBox="1"/>
          <p:nvPr/>
        </p:nvSpPr>
        <p:spPr>
          <a:xfrm>
            <a:off x="2794000" y="4597400"/>
            <a:ext cx="3175000" cy="307777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00" b="1">
                <a:solidFill>
                  <a:srgbClr val="0E2841"/>
                </a:solidFill>
                <a:latin typeface="Aptos"/>
              </a:rPr>
              <a:t>KNOWLEDGE FLYWHEEL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CE7F45A6-0004-6042-B328-95A586125810}"/>
              </a:ext>
            </a:extLst>
          </p:cNvPr>
          <p:cNvSpPr txBox="1"/>
          <p:nvPr/>
        </p:nvSpPr>
        <p:spPr>
          <a:xfrm>
            <a:off x="2794000" y="4914900"/>
            <a:ext cx="6604000" cy="323165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500" b="1">
                <a:solidFill>
                  <a:srgbClr val="4EA72E"/>
                </a:solidFill>
                <a:latin typeface="Aptos"/>
              </a:rPr>
              <a:t>Learn  →  Document  →  Query  →  Improve  →  Modernize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E9098C4A-0375-AB49-94AC-05CACBC17368}"/>
              </a:ext>
            </a:extLst>
          </p:cNvPr>
          <p:cNvSpPr txBox="1"/>
          <p:nvPr/>
        </p:nvSpPr>
        <p:spPr>
          <a:xfrm>
            <a:off x="2540000" y="5524500"/>
            <a:ext cx="7112000" cy="338554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600" b="1">
                <a:solidFill>
                  <a:srgbClr val="0E2841"/>
                </a:solidFill>
                <a:latin typeface="Aptos Display"/>
              </a:rPr>
              <a:t>Create a living knowledge base for future modernization</a:t>
            </a:r>
          </a:p>
        </p:txBody>
      </p:sp>
    </p:spTree>
    <p:extLst>
      <p:ext uri="{BB962C8B-B14F-4D97-AF65-F5344CB8AC3E}">
        <p14:creationId xmlns:p14="http://schemas.microsoft.com/office/powerpoint/2010/main" val="418329568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9AF2287D-4CDF-9444-B914-98D2F893E591}"/>
              </a:ext>
            </a:extLst>
          </p:cNvPr>
          <p:cNvSpPr/>
          <p:nvPr/>
        </p:nvSpPr>
        <p:spPr>
          <a:xfrm>
            <a:off x="0" y="0"/>
            <a:ext cx="12192000" cy="889000"/>
          </a:xfrm>
          <a:prstGeom prst="rect">
            <a:avLst/>
          </a:prstGeom>
          <a:solidFill>
            <a:srgbClr val="0E2841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2036C9D-D918-E648-9DF4-B83715EBB667}"/>
              </a:ext>
            </a:extLst>
          </p:cNvPr>
          <p:cNvSpPr txBox="1"/>
          <p:nvPr/>
        </p:nvSpPr>
        <p:spPr>
          <a:xfrm>
            <a:off x="508000" y="190500"/>
            <a:ext cx="6350000" cy="52322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2800" b="1">
                <a:solidFill>
                  <a:srgbClr val="FFFFFF"/>
                </a:solidFill>
                <a:latin typeface="Aptos Display"/>
              </a:rPr>
              <a:t>Engagement Approach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EDA2A2A-29C7-7B49-BCA2-3EF6A5F9AAB4}"/>
              </a:ext>
            </a:extLst>
          </p:cNvPr>
          <p:cNvSpPr txBox="1"/>
          <p:nvPr/>
        </p:nvSpPr>
        <p:spPr>
          <a:xfrm>
            <a:off x="8890000" y="279400"/>
            <a:ext cx="2794000" cy="338554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600">
                <a:solidFill>
                  <a:srgbClr val="A8C4E0"/>
                </a:solidFill>
                <a:latin typeface="Aptos"/>
              </a:rPr>
              <a:t>Typical Timeline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E388517-B974-4A40-BC4D-FC4515CED989}"/>
              </a:ext>
            </a:extLst>
          </p:cNvPr>
          <p:cNvSpPr/>
          <p:nvPr/>
        </p:nvSpPr>
        <p:spPr>
          <a:xfrm>
            <a:off x="0" y="889000"/>
            <a:ext cx="12192000" cy="38100"/>
          </a:xfrm>
          <a:prstGeom prst="rect">
            <a:avLst/>
          </a:prstGeom>
          <a:solidFill>
            <a:srgbClr val="4EA72E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7DB3FEFA-A426-CB43-9678-6C021A3AE71B}"/>
              </a:ext>
            </a:extLst>
          </p:cNvPr>
          <p:cNvSpPr/>
          <p:nvPr/>
        </p:nvSpPr>
        <p:spPr>
          <a:xfrm>
            <a:off x="571500" y="1206500"/>
            <a:ext cx="3556000" cy="2413000"/>
          </a:xfrm>
          <a:prstGeom prst="roundRect">
            <a:avLst/>
          </a:prstGeom>
          <a:solidFill>
            <a:srgbClr val="F5F7FA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8FA7E7D-C183-604F-8A5B-FFCE5355B989}"/>
              </a:ext>
            </a:extLst>
          </p:cNvPr>
          <p:cNvSpPr/>
          <p:nvPr/>
        </p:nvSpPr>
        <p:spPr>
          <a:xfrm>
            <a:off x="571500" y="1206500"/>
            <a:ext cx="3556000" cy="63500"/>
          </a:xfrm>
          <a:prstGeom prst="rect">
            <a:avLst/>
          </a:prstGeom>
          <a:solidFill>
            <a:srgbClr val="E97132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914089B8-5C4E-D246-9233-310AB42E9B0E}"/>
              </a:ext>
            </a:extLst>
          </p:cNvPr>
          <p:cNvSpPr/>
          <p:nvPr/>
        </p:nvSpPr>
        <p:spPr>
          <a:xfrm>
            <a:off x="762000" y="1435100"/>
            <a:ext cx="1397000" cy="355600"/>
          </a:xfrm>
          <a:prstGeom prst="roundRect">
            <a:avLst/>
          </a:prstGeom>
          <a:solidFill>
            <a:srgbClr val="E97132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sz="1400" b="1">
                <a:solidFill>
                  <a:srgbClr val="FFFFFF"/>
                </a:solidFill>
                <a:latin typeface="Aptos"/>
              </a:rPr>
              <a:t>Week 0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2DBEB7A-98AA-034F-90F6-5D0003BA116B}"/>
              </a:ext>
            </a:extLst>
          </p:cNvPr>
          <p:cNvSpPr txBox="1"/>
          <p:nvPr/>
        </p:nvSpPr>
        <p:spPr>
          <a:xfrm>
            <a:off x="762000" y="1943100"/>
            <a:ext cx="3175000" cy="40011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2000" b="1">
                <a:solidFill>
                  <a:srgbClr val="0E2841"/>
                </a:solidFill>
                <a:latin typeface="Aptos Display"/>
              </a:rPr>
              <a:t>Setup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C92AA9C-C181-3A4A-AE9B-15E514D41D31}"/>
              </a:ext>
            </a:extLst>
          </p:cNvPr>
          <p:cNvSpPr txBox="1"/>
          <p:nvPr/>
        </p:nvSpPr>
        <p:spPr>
          <a:xfrm>
            <a:off x="762000" y="2413000"/>
            <a:ext cx="3175000" cy="52322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00">
                <a:solidFill>
                  <a:srgbClr val="444444"/>
                </a:solidFill>
                <a:latin typeface="Aptos"/>
              </a:rPr>
              <a:t>Scope, access, success criteria, guardrails (security, audit, residency)</a:t>
            </a:r>
          </a:p>
        </p:txBody>
      </p:sp>
      <p:sp>
        <p:nvSpPr>
          <p:cNvPr id="11" name="Right Arrow 10">
            <a:extLst>
              <a:ext uri="{FF2B5EF4-FFF2-40B4-BE49-F238E27FC236}">
                <a16:creationId xmlns:a16="http://schemas.microsoft.com/office/drawing/2014/main" id="{E5684526-1721-7C4D-B039-94856F181838}"/>
              </a:ext>
            </a:extLst>
          </p:cNvPr>
          <p:cNvSpPr/>
          <p:nvPr/>
        </p:nvSpPr>
        <p:spPr>
          <a:xfrm>
            <a:off x="4140200" y="2222500"/>
            <a:ext cx="190500" cy="317500"/>
          </a:xfrm>
          <a:prstGeom prst="rightArrow">
            <a:avLst/>
          </a:prstGeom>
          <a:solidFill>
            <a:srgbClr val="0E2841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6AA8DDF8-AE06-3645-B7BA-404316D38244}"/>
              </a:ext>
            </a:extLst>
          </p:cNvPr>
          <p:cNvSpPr/>
          <p:nvPr/>
        </p:nvSpPr>
        <p:spPr>
          <a:xfrm>
            <a:off x="4318000" y="1206500"/>
            <a:ext cx="3556000" cy="2413000"/>
          </a:xfrm>
          <a:prstGeom prst="roundRect">
            <a:avLst/>
          </a:prstGeom>
          <a:solidFill>
            <a:srgbClr val="F5F7FA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6332645-29FD-014B-A139-778ED4C13328}"/>
              </a:ext>
            </a:extLst>
          </p:cNvPr>
          <p:cNvSpPr/>
          <p:nvPr/>
        </p:nvSpPr>
        <p:spPr>
          <a:xfrm>
            <a:off x="4318000" y="1206500"/>
            <a:ext cx="3556000" cy="63500"/>
          </a:xfrm>
          <a:prstGeom prst="rect">
            <a:avLst/>
          </a:prstGeom>
          <a:solidFill>
            <a:srgbClr val="156082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9ABEAD1E-3E91-D443-B2EB-2436C8074042}"/>
              </a:ext>
            </a:extLst>
          </p:cNvPr>
          <p:cNvSpPr/>
          <p:nvPr/>
        </p:nvSpPr>
        <p:spPr>
          <a:xfrm>
            <a:off x="4508500" y="1435100"/>
            <a:ext cx="1397000" cy="355600"/>
          </a:xfrm>
          <a:prstGeom prst="roundRect">
            <a:avLst/>
          </a:prstGeom>
          <a:solidFill>
            <a:srgbClr val="156082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sz="1400" b="1">
                <a:solidFill>
                  <a:srgbClr val="FFFFFF"/>
                </a:solidFill>
                <a:latin typeface="Aptos"/>
              </a:rPr>
              <a:t>Weeks 1–2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24EDEA4-5A1A-5740-B379-A89BA57B4378}"/>
              </a:ext>
            </a:extLst>
          </p:cNvPr>
          <p:cNvSpPr txBox="1"/>
          <p:nvPr/>
        </p:nvSpPr>
        <p:spPr>
          <a:xfrm>
            <a:off x="4508500" y="1943100"/>
            <a:ext cx="3175000" cy="40011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2000" b="1">
                <a:solidFill>
                  <a:srgbClr val="0E2841"/>
                </a:solidFill>
                <a:latin typeface="Aptos Display"/>
              </a:rPr>
              <a:t>Build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DE423D7-D4F7-724D-96D9-2214F0347B19}"/>
              </a:ext>
            </a:extLst>
          </p:cNvPr>
          <p:cNvSpPr txBox="1"/>
          <p:nvPr/>
        </p:nvSpPr>
        <p:spPr>
          <a:xfrm>
            <a:off x="4508500" y="2413000"/>
            <a:ext cx="3175000" cy="52322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00">
                <a:solidFill>
                  <a:srgbClr val="444444"/>
                </a:solidFill>
                <a:latin typeface="Aptos"/>
              </a:rPr>
              <a:t>Ingestion + initial system map + first impact maps</a:t>
            </a:r>
          </a:p>
        </p:txBody>
      </p:sp>
      <p:sp>
        <p:nvSpPr>
          <p:cNvPr id="17" name="Right Arrow 16">
            <a:extLst>
              <a:ext uri="{FF2B5EF4-FFF2-40B4-BE49-F238E27FC236}">
                <a16:creationId xmlns:a16="http://schemas.microsoft.com/office/drawing/2014/main" id="{166637FC-C52F-2D42-86DE-43A4583F8B52}"/>
              </a:ext>
            </a:extLst>
          </p:cNvPr>
          <p:cNvSpPr/>
          <p:nvPr/>
        </p:nvSpPr>
        <p:spPr>
          <a:xfrm>
            <a:off x="7886700" y="2222500"/>
            <a:ext cx="190500" cy="317500"/>
          </a:xfrm>
          <a:prstGeom prst="rightArrow">
            <a:avLst/>
          </a:prstGeom>
          <a:solidFill>
            <a:srgbClr val="0E2841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8" name="Rounded Rectangle 17">
            <a:extLst>
              <a:ext uri="{FF2B5EF4-FFF2-40B4-BE49-F238E27FC236}">
                <a16:creationId xmlns:a16="http://schemas.microsoft.com/office/drawing/2014/main" id="{1D0C5DB3-1ABF-6142-B2CA-1C390EFDE982}"/>
              </a:ext>
            </a:extLst>
          </p:cNvPr>
          <p:cNvSpPr/>
          <p:nvPr/>
        </p:nvSpPr>
        <p:spPr>
          <a:xfrm>
            <a:off x="8064500" y="1206500"/>
            <a:ext cx="3556000" cy="2413000"/>
          </a:xfrm>
          <a:prstGeom prst="roundRect">
            <a:avLst/>
          </a:prstGeom>
          <a:solidFill>
            <a:srgbClr val="F5F7FA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9ECD848-39AF-AC48-B6D4-47C89C4233DB}"/>
              </a:ext>
            </a:extLst>
          </p:cNvPr>
          <p:cNvSpPr/>
          <p:nvPr/>
        </p:nvSpPr>
        <p:spPr>
          <a:xfrm>
            <a:off x="8064500" y="1206500"/>
            <a:ext cx="3556000" cy="63500"/>
          </a:xfrm>
          <a:prstGeom prst="rect">
            <a:avLst/>
          </a:prstGeom>
          <a:solidFill>
            <a:srgbClr val="4EA72E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0" name="Rounded Rectangle 19">
            <a:extLst>
              <a:ext uri="{FF2B5EF4-FFF2-40B4-BE49-F238E27FC236}">
                <a16:creationId xmlns:a16="http://schemas.microsoft.com/office/drawing/2014/main" id="{11A76D1D-907F-B345-BE44-D2FC5138A730}"/>
              </a:ext>
            </a:extLst>
          </p:cNvPr>
          <p:cNvSpPr/>
          <p:nvPr/>
        </p:nvSpPr>
        <p:spPr>
          <a:xfrm>
            <a:off x="8255000" y="1435100"/>
            <a:ext cx="1397000" cy="355600"/>
          </a:xfrm>
          <a:prstGeom prst="roundRect">
            <a:avLst/>
          </a:prstGeom>
          <a:solidFill>
            <a:srgbClr val="4EA72E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sz="1400" b="1">
                <a:solidFill>
                  <a:srgbClr val="FFFFFF"/>
                </a:solidFill>
                <a:latin typeface="Aptos"/>
              </a:rPr>
              <a:t>Weeks 3–4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BA502923-FD8A-514E-80F7-963F4B33B914}"/>
              </a:ext>
            </a:extLst>
          </p:cNvPr>
          <p:cNvSpPr txBox="1"/>
          <p:nvPr/>
        </p:nvSpPr>
        <p:spPr>
          <a:xfrm>
            <a:off x="8255000" y="1943100"/>
            <a:ext cx="3175000" cy="40011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2000" b="1">
                <a:solidFill>
                  <a:srgbClr val="0E2841"/>
                </a:solidFill>
                <a:latin typeface="Aptos Display"/>
              </a:rPr>
              <a:t>Deliver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84C96151-7AC1-6545-A0F0-5269D78AA823}"/>
              </a:ext>
            </a:extLst>
          </p:cNvPr>
          <p:cNvSpPr txBox="1"/>
          <p:nvPr/>
        </p:nvSpPr>
        <p:spPr>
          <a:xfrm>
            <a:off x="8255000" y="2413000"/>
            <a:ext cx="3175000" cy="52322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00">
                <a:solidFill>
                  <a:srgbClr val="444444"/>
                </a:solidFill>
                <a:latin typeface="Aptos"/>
              </a:rPr>
              <a:t>Traceable Q&amp;A demo + findings readout + tiered roadmap</a:t>
            </a:r>
          </a:p>
        </p:txBody>
      </p:sp>
      <p:sp>
        <p:nvSpPr>
          <p:cNvPr id="23" name="Rounded Rectangle 22">
            <a:extLst>
              <a:ext uri="{FF2B5EF4-FFF2-40B4-BE49-F238E27FC236}">
                <a16:creationId xmlns:a16="http://schemas.microsoft.com/office/drawing/2014/main" id="{9BF313B8-0CB5-0746-9DF8-4B1F1C45ABE4}"/>
              </a:ext>
            </a:extLst>
          </p:cNvPr>
          <p:cNvSpPr/>
          <p:nvPr/>
        </p:nvSpPr>
        <p:spPr>
          <a:xfrm>
            <a:off x="508000" y="3937000"/>
            <a:ext cx="11176000" cy="698500"/>
          </a:xfrm>
          <a:prstGeom prst="roundRect">
            <a:avLst/>
          </a:prstGeom>
          <a:solidFill>
            <a:srgbClr val="EDF3F7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D48C2B7F-723E-1445-BE06-A1805A04EA1D}"/>
              </a:ext>
            </a:extLst>
          </p:cNvPr>
          <p:cNvSpPr txBox="1"/>
          <p:nvPr/>
        </p:nvSpPr>
        <p:spPr>
          <a:xfrm>
            <a:off x="762000" y="4000500"/>
            <a:ext cx="2540000" cy="307777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00" b="1">
                <a:solidFill>
                  <a:srgbClr val="156082"/>
                </a:solidFill>
                <a:latin typeface="Aptos"/>
              </a:rPr>
              <a:t>RISK CONTROLS</a:t>
            </a:r>
          </a:p>
        </p:txBody>
      </p:sp>
      <p:sp>
        <p:nvSpPr>
          <p:cNvPr id="25" name="Rounded Rectangle 24">
            <a:extLst>
              <a:ext uri="{FF2B5EF4-FFF2-40B4-BE49-F238E27FC236}">
                <a16:creationId xmlns:a16="http://schemas.microsoft.com/office/drawing/2014/main" id="{DE1B5042-FEC4-6C42-8A2B-08B49052185E}"/>
              </a:ext>
            </a:extLst>
          </p:cNvPr>
          <p:cNvSpPr/>
          <p:nvPr/>
        </p:nvSpPr>
        <p:spPr>
          <a:xfrm>
            <a:off x="762000" y="4292600"/>
            <a:ext cx="3302000" cy="304800"/>
          </a:xfrm>
          <a:prstGeom prst="roundRect">
            <a:avLst/>
          </a:prstGeom>
          <a:solidFill>
            <a:srgbClr val="E97132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sz="1400" b="1">
                <a:solidFill>
                  <a:srgbClr val="FFFFFF"/>
                </a:solidFill>
                <a:latin typeface="Aptos"/>
              </a:rPr>
              <a:t>Data Residency</a:t>
            </a:r>
          </a:p>
        </p:txBody>
      </p:sp>
      <p:sp>
        <p:nvSpPr>
          <p:cNvPr id="26" name="Rounded Rectangle 25">
            <a:extLst>
              <a:ext uri="{FF2B5EF4-FFF2-40B4-BE49-F238E27FC236}">
                <a16:creationId xmlns:a16="http://schemas.microsoft.com/office/drawing/2014/main" id="{9A33BE59-D137-2B4B-AF3B-C6AF0C6068AB}"/>
              </a:ext>
            </a:extLst>
          </p:cNvPr>
          <p:cNvSpPr/>
          <p:nvPr/>
        </p:nvSpPr>
        <p:spPr>
          <a:xfrm>
            <a:off x="4445000" y="4292600"/>
            <a:ext cx="3302000" cy="304800"/>
          </a:xfrm>
          <a:prstGeom prst="roundRect">
            <a:avLst/>
          </a:prstGeom>
          <a:solidFill>
            <a:srgbClr val="156082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sz="1400" b="1">
                <a:solidFill>
                  <a:srgbClr val="FFFFFF"/>
                </a:solidFill>
                <a:latin typeface="Aptos"/>
              </a:rPr>
              <a:t>Access Control</a:t>
            </a:r>
          </a:p>
        </p:txBody>
      </p:sp>
      <p:sp>
        <p:nvSpPr>
          <p:cNvPr id="27" name="Rounded Rectangle 26">
            <a:extLst>
              <a:ext uri="{FF2B5EF4-FFF2-40B4-BE49-F238E27FC236}">
                <a16:creationId xmlns:a16="http://schemas.microsoft.com/office/drawing/2014/main" id="{1711B355-FEBB-6940-98D7-91EFC8F23C34}"/>
              </a:ext>
            </a:extLst>
          </p:cNvPr>
          <p:cNvSpPr/>
          <p:nvPr/>
        </p:nvSpPr>
        <p:spPr>
          <a:xfrm>
            <a:off x="8128000" y="4292600"/>
            <a:ext cx="3302000" cy="304800"/>
          </a:xfrm>
          <a:prstGeom prst="roundRect">
            <a:avLst/>
          </a:prstGeom>
          <a:solidFill>
            <a:srgbClr val="4EA72E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sz="1400" b="1">
                <a:solidFill>
                  <a:srgbClr val="FFFFFF"/>
                </a:solidFill>
                <a:latin typeface="Aptos"/>
              </a:rPr>
              <a:t>Audit Logs</a:t>
            </a:r>
          </a:p>
        </p:txBody>
      </p:sp>
      <p:sp>
        <p:nvSpPr>
          <p:cNvPr id="28" name="Rounded Rectangle 27">
            <a:extLst>
              <a:ext uri="{FF2B5EF4-FFF2-40B4-BE49-F238E27FC236}">
                <a16:creationId xmlns:a16="http://schemas.microsoft.com/office/drawing/2014/main" id="{3749645D-982E-074D-AD7C-4F7DF38CB3ED}"/>
              </a:ext>
            </a:extLst>
          </p:cNvPr>
          <p:cNvSpPr/>
          <p:nvPr/>
        </p:nvSpPr>
        <p:spPr>
          <a:xfrm>
            <a:off x="508000" y="4953000"/>
            <a:ext cx="11176000" cy="1270000"/>
          </a:xfrm>
          <a:prstGeom prst="roundRect">
            <a:avLst/>
          </a:prstGeom>
          <a:solidFill>
            <a:srgbClr val="0E2841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4152077F-577E-5F4F-A943-136C0DCCEC7B}"/>
              </a:ext>
            </a:extLst>
          </p:cNvPr>
          <p:cNvSpPr txBox="1"/>
          <p:nvPr/>
        </p:nvSpPr>
        <p:spPr>
          <a:xfrm>
            <a:off x="762000" y="5016500"/>
            <a:ext cx="5080000" cy="307777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00" b="1">
                <a:solidFill>
                  <a:srgbClr val="4EA72E"/>
                </a:solidFill>
                <a:latin typeface="Aptos"/>
              </a:rPr>
              <a:t>DELIVERABLES — STARTER KIT</a:t>
            </a:r>
          </a:p>
        </p:txBody>
      </p:sp>
      <p:sp>
        <p:nvSpPr>
          <p:cNvPr id="30" name="Rounded Rectangle 29">
            <a:extLst>
              <a:ext uri="{FF2B5EF4-FFF2-40B4-BE49-F238E27FC236}">
                <a16:creationId xmlns:a16="http://schemas.microsoft.com/office/drawing/2014/main" id="{363ACE14-871D-7F49-9488-1D5697234861}"/>
              </a:ext>
            </a:extLst>
          </p:cNvPr>
          <p:cNvSpPr/>
          <p:nvPr/>
        </p:nvSpPr>
        <p:spPr>
          <a:xfrm>
            <a:off x="762000" y="5397500"/>
            <a:ext cx="2476500" cy="635000"/>
          </a:xfrm>
          <a:prstGeom prst="roundRect">
            <a:avLst/>
          </a:prstGeom>
          <a:solidFill>
            <a:srgbClr val="E97132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sz="1600" b="1">
                <a:solidFill>
                  <a:srgbClr val="FFFFFF"/>
                </a:solidFill>
                <a:latin typeface="Aptos"/>
              </a:rPr>
              <a:t>System Atlas</a:t>
            </a:r>
          </a:p>
        </p:txBody>
      </p:sp>
      <p:sp>
        <p:nvSpPr>
          <p:cNvPr id="31" name="Rounded Rectangle 30">
            <a:extLst>
              <a:ext uri="{FF2B5EF4-FFF2-40B4-BE49-F238E27FC236}">
                <a16:creationId xmlns:a16="http://schemas.microsoft.com/office/drawing/2014/main" id="{0B043A3A-32F5-D44F-90A4-A43FF17C7163}"/>
              </a:ext>
            </a:extLst>
          </p:cNvPr>
          <p:cNvSpPr/>
          <p:nvPr/>
        </p:nvSpPr>
        <p:spPr>
          <a:xfrm>
            <a:off x="3492500" y="5397500"/>
            <a:ext cx="2476500" cy="635000"/>
          </a:xfrm>
          <a:prstGeom prst="roundRect">
            <a:avLst/>
          </a:prstGeom>
          <a:solidFill>
            <a:srgbClr val="156082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sz="1600" b="1">
                <a:solidFill>
                  <a:srgbClr val="FFFFFF"/>
                </a:solidFill>
                <a:latin typeface="Aptos"/>
              </a:rPr>
              <a:t>Impact Maps</a:t>
            </a:r>
          </a:p>
        </p:txBody>
      </p:sp>
      <p:sp>
        <p:nvSpPr>
          <p:cNvPr id="32" name="Rounded Rectangle 31">
            <a:extLst>
              <a:ext uri="{FF2B5EF4-FFF2-40B4-BE49-F238E27FC236}">
                <a16:creationId xmlns:a16="http://schemas.microsoft.com/office/drawing/2014/main" id="{B1BA2276-8E50-6A47-9175-F26DBE68FB43}"/>
              </a:ext>
            </a:extLst>
          </p:cNvPr>
          <p:cNvSpPr/>
          <p:nvPr/>
        </p:nvSpPr>
        <p:spPr>
          <a:xfrm>
            <a:off x="6223000" y="5397500"/>
            <a:ext cx="2476500" cy="635000"/>
          </a:xfrm>
          <a:prstGeom prst="roundRect">
            <a:avLst/>
          </a:prstGeom>
          <a:solidFill>
            <a:srgbClr val="0F9ED5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sz="1600" b="1">
                <a:solidFill>
                  <a:srgbClr val="FFFFFF"/>
                </a:solidFill>
                <a:latin typeface="Aptos"/>
              </a:rPr>
              <a:t>Query Recipes</a:t>
            </a:r>
          </a:p>
        </p:txBody>
      </p:sp>
      <p:sp>
        <p:nvSpPr>
          <p:cNvPr id="33" name="Rounded Rectangle 32">
            <a:extLst>
              <a:ext uri="{FF2B5EF4-FFF2-40B4-BE49-F238E27FC236}">
                <a16:creationId xmlns:a16="http://schemas.microsoft.com/office/drawing/2014/main" id="{488A18C6-F6D1-A843-96F6-2358F8DA9EA5}"/>
              </a:ext>
            </a:extLst>
          </p:cNvPr>
          <p:cNvSpPr/>
          <p:nvPr/>
        </p:nvSpPr>
        <p:spPr>
          <a:xfrm>
            <a:off x="8953500" y="5397500"/>
            <a:ext cx="2476500" cy="635000"/>
          </a:xfrm>
          <a:prstGeom prst="roundRect">
            <a:avLst/>
          </a:prstGeom>
          <a:solidFill>
            <a:srgbClr val="4EA72E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sz="1600" b="1">
                <a:solidFill>
                  <a:srgbClr val="FFFFFF"/>
                </a:solidFill>
                <a:latin typeface="Aptos"/>
              </a:rPr>
              <a:t>Deployment Plan</a:t>
            </a:r>
          </a:p>
        </p:txBody>
      </p:sp>
    </p:spTree>
    <p:extLst>
      <p:ext uri="{BB962C8B-B14F-4D97-AF65-F5344CB8AC3E}">
        <p14:creationId xmlns:p14="http://schemas.microsoft.com/office/powerpoint/2010/main" val="327454720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0A504C71-43E0-B54F-B96B-A2FF9EC222D1}">
  <we:reference id="wa200010001" version="1.0.0.0" store="en-US" storeType="OMEX"/>
  <we:alternateReferences>
    <we:reference id="WA200010001" version="1.0.0.0" store="en-US" storeType="OMEX"/>
  </we:alternateReferences>
  <we:properties>
    <we:property name="Office.AutoShowTaskpaneWithDocument" value="true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20156</TotalTime>
  <Words>1350</Words>
  <Application>Microsoft Macintosh PowerPoint</Application>
  <PresentationFormat>Widescreen</PresentationFormat>
  <Paragraphs>292</Paragraphs>
  <Slides>14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2" baseType="lpstr">
      <vt:lpstr>Aptos</vt:lpstr>
      <vt:lpstr>Aptos Display</vt:lpstr>
      <vt:lpstr>Arial</vt:lpstr>
      <vt:lpstr>Calibri</vt:lpstr>
      <vt:lpstr>Helvetica</vt:lpstr>
      <vt:lpstr>PP Neue Machina Plain Ultrabold</vt:lpstr>
      <vt:lpstr>Verdana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Reference Architecture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Srinidhi Ramanujam</dc:creator>
  <cp:lastModifiedBy>Srinidhi Ramanujam</cp:lastModifiedBy>
  <cp:revision>4</cp:revision>
  <dcterms:created xsi:type="dcterms:W3CDTF">2026-03-04T08:45:23Z</dcterms:created>
  <dcterms:modified xsi:type="dcterms:W3CDTF">2026-03-18T09:31:21Z</dcterms:modified>
</cp:coreProperties>
</file>