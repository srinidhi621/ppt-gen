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5" r:id="rId5"/>
  </p:sldMasterIdLst>
  <p:notesMasterIdLst>
    <p:notesMasterId r:id="rId9"/>
  </p:notesMasterIdLst>
  <p:sldIdLst>
    <p:sldId id="2147483517" r:id="rId6"/>
    <p:sldId id="257" r:id="rId7"/>
    <p:sldId id="78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265F02-6459-E038-D3C0-E1F1FFECB610}" name="Suprotim Dutta" initials="SD" userId="S::suprotim.dutta@ascendion.com::e287ff66-55d5-4dfc-859f-427c23152420" providerId="AD"/>
  <p188:author id="{37C7D314-7C44-D49B-9DD9-491EB55BC9A0}" name="Prince Khatick" initials="PK" userId="S::prince.khatick@ascendion.com::01801ccf-366d-4cfc-b7b0-390abb7f1396" providerId="AD"/>
  <p188:author id="{57ABF8B8-1B86-C584-86F6-577647844C2C}" name="Srinidhi Ramanujam" initials="" userId="S::srinidhi.ramanujam@ascendion.com::5f8f3704-feaa-4dac-be63-cc4dff5bcdb3" providerId="AD"/>
  <p188:author id="{C9228BD5-71FE-045B-4FFD-113C3763D1D8}" name="Mukund Kaushal" initials="MK" userId="S::mukund.kaushal@ascendion.com::e9074881-c34a-4cf6-8f4e-e997d1e0aa1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CC583"/>
    <a:srgbClr val="E55753"/>
    <a:srgbClr val="1EABDA"/>
    <a:srgbClr val="E0CB15"/>
    <a:srgbClr val="DE8431"/>
    <a:srgbClr val="DE58A9"/>
    <a:srgbClr val="272626"/>
    <a:srgbClr val="BFD740"/>
    <a:srgbClr val="239CFC"/>
    <a:srgbClr val="E0E0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58"/>
  </p:normalViewPr>
  <p:slideViewPr>
    <p:cSldViewPr snapToGrid="0">
      <p:cViewPr varScale="1">
        <p:scale>
          <a:sx n="115" d="100"/>
          <a:sy n="115" d="100"/>
        </p:scale>
        <p:origin x="7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972A6-52A5-4CB9-B121-AD76A2ED20C3}" type="datetimeFigureOut">
              <a:rPr lang="en-IN" smtClean="0"/>
              <a:t>27/02/26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2E2167-FE4E-4C4E-B8D7-9D2CDD5BA0BB}" type="slidenum">
              <a:rPr lang="en-IN" smtClean="0"/>
              <a:t>‹#›</a:t>
            </a:fld>
            <a:endParaRPr lang="en-IN"/>
          </a:p>
        </p:txBody>
      </p:sp>
    </p:spTree>
    <p:extLst>
      <p:ext uri="{BB962C8B-B14F-4D97-AF65-F5344CB8AC3E}">
        <p14:creationId xmlns:p14="http://schemas.microsoft.com/office/powerpoint/2010/main" val="2947571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ptos" panose="020B0004020202020204" pitchFamily="34" charset="0"/>
              <a:buNone/>
              <a:tabLst/>
              <a:defRPr/>
            </a:pPr>
            <a:fld id="{8759DC7E-E758-5842-B145-82C949C0E235}" type="slidenum">
              <a:rPr kumimoji="0" lang="en-US" sz="1200" b="0" i="0" u="none" strike="noStrike" kern="0" cap="none" spc="0" normalizeH="0" baseline="0" noProof="0" smtClean="0">
                <a:ln>
                  <a:noFill/>
                </a:ln>
                <a:solidFill>
                  <a:srgbClr val="000000"/>
                </a:solidFill>
                <a:effectLst/>
                <a:uLnTx/>
                <a:uFillTx/>
                <a:latin typeface="Century Gothic" panose="020B0502020202020204" pitchFamily="34" charset="0"/>
                <a:sym typeface="Aptos" panose="020B0004020202020204" pitchFamily="34" charset="0"/>
              </a:rPr>
              <a:pPr marL="0" marR="0" lvl="0" indent="0" algn="r" defTabSz="914400" rtl="0" eaLnBrk="1" fontAlgn="auto" latinLnBrk="0" hangingPunct="1">
                <a:lnSpc>
                  <a:spcPct val="100000"/>
                </a:lnSpc>
                <a:spcBef>
                  <a:spcPts val="0"/>
                </a:spcBef>
                <a:spcAft>
                  <a:spcPts val="0"/>
                </a:spcAft>
                <a:buClr>
                  <a:srgbClr val="000000"/>
                </a:buClr>
                <a:buSzTx/>
                <a:buFont typeface="Aptos" panose="020B0004020202020204" pitchFamily="34" charset="0"/>
                <a:buNone/>
                <a:tabLst/>
                <a:defRPr/>
              </a:pPr>
              <a:t>1</a:t>
            </a:fld>
            <a:endParaRPr kumimoji="0" lang="en-US" sz="1200" b="0" i="0" u="none" strike="noStrike" kern="0" cap="none" spc="0" normalizeH="0" baseline="0" noProof="0">
              <a:ln>
                <a:noFill/>
              </a:ln>
              <a:solidFill>
                <a:srgbClr val="000000"/>
              </a:solidFill>
              <a:effectLst/>
              <a:uLnTx/>
              <a:uFillTx/>
              <a:latin typeface="Century Gothic" panose="020B0502020202020204" pitchFamily="34" charset="0"/>
              <a:sym typeface="Aptos" panose="020B0004020202020204" pitchFamily="34" charset="0"/>
            </a:endParaRPr>
          </a:p>
        </p:txBody>
      </p:sp>
    </p:spTree>
    <p:extLst>
      <p:ext uri="{BB962C8B-B14F-4D97-AF65-F5344CB8AC3E}">
        <p14:creationId xmlns:p14="http://schemas.microsoft.com/office/powerpoint/2010/main" val="713676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1.xml"/><Relationship Id="rId4" Type="http://schemas.openxmlformats.org/officeDocument/2006/relationships/hyperlink" Target="https://www.youtube.com/@ascendioninc"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938531"/>
            <a:ext cx="12195175" cy="5919469"/>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52396" indent="0">
              <a:buNone/>
              <a:defRPr/>
            </a:lvl1pPr>
          </a:lstStyle>
          <a:p>
            <a:r>
              <a:rPr lang="en-IN"/>
              <a:t> </a:t>
            </a:r>
            <a:endParaRPr lang="en-AU"/>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415611" y="2570018"/>
            <a:ext cx="5680389" cy="139699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br>
              <a:rPr lang="en-IN"/>
            </a:br>
            <a:r>
              <a:rPr lang="en-IN"/>
              <a:t>Click here to </a:t>
            </a:r>
            <a:br>
              <a:rPr lang="en-IN"/>
            </a:br>
            <a:r>
              <a:rPr lang="en-IN"/>
              <a:t>add title</a:t>
            </a:r>
            <a:endParaRPr/>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406400" y="3992417"/>
            <a:ext cx="5680389" cy="6096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2400">
                <a:solidFill>
                  <a:schemeClr val="accent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GB"/>
              <a:t>Click to edit Master subtitle style</a:t>
            </a:r>
            <a:endParaRPr/>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12192000" cy="114300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10054144" y="582866"/>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sz="2400"/>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248284" y="864934"/>
            <a:ext cx="985709" cy="97980"/>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sz="2400"/>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sz="2400"/>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sz="2400"/>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sz="2400"/>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sz="2400"/>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sz="2400"/>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sz="2400"/>
            </a:p>
          </p:txBody>
        </p:sp>
      </p:grpSp>
    </p:spTree>
    <p:extLst>
      <p:ext uri="{BB962C8B-B14F-4D97-AF65-F5344CB8AC3E}">
        <p14:creationId xmlns:p14="http://schemas.microsoft.com/office/powerpoint/2010/main" val="1166833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16AEA7-9F8A-D525-41AE-E30521ED8164}"/>
              </a:ext>
            </a:extLst>
          </p:cNvPr>
          <p:cNvSpPr>
            <a:spLocks noGrp="1"/>
          </p:cNvSpPr>
          <p:nvPr>
            <p:ph type="pic" sz="quarter" idx="13" hasCustomPrompt="1"/>
          </p:nvPr>
        </p:nvSpPr>
        <p:spPr>
          <a:xfrm>
            <a:off x="-10879" y="-1694"/>
            <a:ext cx="12203513" cy="595037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8239" y="4306571"/>
                </a:lnTo>
                <a:lnTo>
                  <a:pt x="7559290" y="4462015"/>
                </a:lnTo>
                <a:lnTo>
                  <a:pt x="1232" y="4461299"/>
                </a:lnTo>
                <a:cubicBezTo>
                  <a:pt x="-4926" y="2974199"/>
                  <a:pt x="14317" y="1487100"/>
                  <a:pt x="8159" y="0"/>
                </a:cubicBezTo>
                <a:close/>
              </a:path>
            </a:pathLst>
          </a:custGeom>
          <a:noFill/>
        </p:spPr>
        <p:txBody>
          <a:bodyPr/>
          <a:lstStyle>
            <a:lvl1pPr marL="15239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705190"/>
            <a:ext cx="4610203" cy="742784"/>
          </a:xfrm>
          <a:prstGeom prst="rect">
            <a:avLst/>
          </a:prstGeom>
        </p:spPr>
        <p:txBody>
          <a:bodyPr spcFirstLastPara="1" wrap="square" lIns="90000" tIns="90000" rIns="90000" bIns="36000" anchor="t" anchorCtr="0">
            <a:spAutoFit/>
          </a:bodyPr>
          <a:lstStyle>
            <a:lvl1pPr lvl="0" algn="l">
              <a:spcBef>
                <a:spcPts val="0"/>
              </a:spcBef>
              <a:spcAft>
                <a:spcPts val="0"/>
              </a:spcAft>
              <a:buSzPts val="5200"/>
              <a:buNone/>
              <a:defRPr sz="4000"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505885" y="1986280"/>
            <a:ext cx="1763183" cy="689187"/>
          </a:xfrm>
          <a:noFill/>
        </p:spPr>
        <p:txBody>
          <a:bodyPr anchor="ctr">
            <a:noAutofit/>
          </a:bodyPr>
          <a:lstStyle>
            <a:lvl1pPr marL="0" indent="0" algn="l">
              <a:buNone/>
              <a:defRPr sz="7200" b="1">
                <a:solidFill>
                  <a:schemeClr val="accent1"/>
                </a:solidFill>
              </a:defRPr>
            </a:lvl1pPr>
          </a:lstStyle>
          <a:p>
            <a:pPr lvl="0"/>
            <a:r>
              <a:rPr lang="en-IN"/>
              <a:t>01</a:t>
            </a:r>
            <a:endParaRPr lang="en-AU"/>
          </a:p>
        </p:txBody>
      </p:sp>
    </p:spTree>
    <p:extLst>
      <p:ext uri="{BB962C8B-B14F-4D97-AF65-F5344CB8AC3E}">
        <p14:creationId xmlns:p14="http://schemas.microsoft.com/office/powerpoint/2010/main" val="183460862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p:nvGrpSpPr>
        <p:grpSpPr>
          <a:xfrm>
            <a:off x="-25401" y="4318000"/>
            <a:ext cx="12217400" cy="2540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293584" y="4573623"/>
              <a:ext cx="2365091" cy="192409"/>
            </a:xfrm>
            <a:prstGeom prst="rect">
              <a:avLst/>
            </a:prstGeom>
            <a:noFill/>
          </p:spPr>
          <p:txBody>
            <a:bodyPr wrap="square" rtlCol="0">
              <a:spAutoFit/>
            </a:bodyPr>
            <a:lstStyle/>
            <a:p>
              <a:r>
                <a:rPr lang="en-US" sz="1067" b="0" i="0">
                  <a:solidFill>
                    <a:schemeClr val="bg1"/>
                  </a:solidFill>
                  <a:effectLst/>
                  <a:latin typeface="Aptos" panose="020B0004020202020204" pitchFamily="34" charset="0"/>
                </a:rPr>
                <a:t>Copyright </a:t>
              </a:r>
              <a:r>
                <a:rPr lang="en-US" sz="1067" b="0" i="0">
                  <a:solidFill>
                    <a:schemeClr val="bg1"/>
                  </a:solidFill>
                  <a:effectLst/>
                  <a:latin typeface="Aptos" panose="020B0004020202020204" pitchFamily="34" charset="0"/>
                  <a:cs typeface="Aptos" panose="020B0004020202020204" pitchFamily="34" charset="0"/>
                </a:rPr>
                <a:t>© </a:t>
              </a:r>
              <a:r>
                <a:rPr lang="en-US" sz="1067" b="0" i="0">
                  <a:solidFill>
                    <a:schemeClr val="bg1"/>
                  </a:solidFill>
                  <a:effectLst/>
                  <a:latin typeface="Aptos" panose="020B0004020202020204" pitchFamily="34" charset="0"/>
                </a:rPr>
                <a:t>2025 Ascendion. All Rights Reserved.</a:t>
              </a:r>
              <a:endParaRPr lang="en-US" sz="1067" b="0" i="0">
                <a:solidFill>
                  <a:schemeClr val="bg1"/>
                </a:solidFill>
                <a:latin typeface="Aptos" panose="020B000402020202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2400"/>
            </a:p>
          </p:txBody>
        </p:sp>
        <p:sp>
          <p:nvSpPr>
            <p:cNvPr id="9" name="TextBox 8">
              <a:extLst>
                <a:ext uri="{FF2B5EF4-FFF2-40B4-BE49-F238E27FC236}">
                  <a16:creationId xmlns:a16="http://schemas.microsoft.com/office/drawing/2014/main" id="{4C022F62-B967-ACD0-F1C1-4BCF678F8D51}"/>
                </a:ext>
              </a:extLst>
            </p:cNvPr>
            <p:cNvSpPr txBox="1"/>
            <p:nvPr/>
          </p:nvSpPr>
          <p:spPr>
            <a:xfrm>
              <a:off x="3337075" y="3521839"/>
              <a:ext cx="4139489" cy="1585530"/>
            </a:xfrm>
            <a:prstGeom prst="rect">
              <a:avLst/>
            </a:prstGeom>
            <a:noFill/>
          </p:spPr>
          <p:txBody>
            <a:bodyPr wrap="square">
              <a:spAutoFit/>
            </a:bodyPr>
            <a:lstStyle/>
            <a:p>
              <a:pPr>
                <a:lnSpc>
                  <a:spcPct val="110000"/>
                </a:lnSpc>
              </a:pPr>
              <a:r>
                <a:rPr lang="en-US" sz="1333">
                  <a:solidFill>
                    <a:schemeClr val="bg1"/>
                  </a:solidFill>
                </a:rPr>
                <a:t>Ascendion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a:t>
              </a:r>
              <a:r>
                <a:rPr lang="en-US" sz="1333" err="1">
                  <a:solidFill>
                    <a:schemeClr val="bg1"/>
                  </a:solidFill>
                </a:rPr>
                <a:t>EngineeringAI</a:t>
              </a:r>
              <a:r>
                <a:rPr lang="en-US" sz="1333">
                  <a:solidFill>
                    <a:schemeClr val="bg1"/>
                  </a:solidFill>
                </a:rPr>
                <a:t>] methodology, we integrate AI into software engineering, enterprise operations, and talent orchestration, to address critical challenges of trust, speed, and capital.</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1" y="4670137"/>
            <a:ext cx="3749989"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bg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9746" y="-1693"/>
            <a:ext cx="12201751" cy="45299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52396" indent="0">
              <a:buNone/>
              <a:defRPr/>
            </a:lvl1pPr>
          </a:lstStyle>
          <a:p>
            <a:r>
              <a:rPr lang="en-IN"/>
              <a:t> </a:t>
            </a:r>
            <a:endParaRPr lang="en-AU"/>
          </a:p>
        </p:txBody>
      </p:sp>
      <p:sp>
        <p:nvSpPr>
          <p:cNvPr id="2" name="TextBox 1">
            <a:hlinkClick r:id="rId2"/>
            <a:extLst>
              <a:ext uri="{FF2B5EF4-FFF2-40B4-BE49-F238E27FC236}">
                <a16:creationId xmlns:a16="http://schemas.microsoft.com/office/drawing/2014/main" id="{190201DC-5F24-6420-68C6-50B3CF7CB395}"/>
              </a:ext>
            </a:extLst>
          </p:cNvPr>
          <p:cNvSpPr txBox="1"/>
          <p:nvPr/>
        </p:nvSpPr>
        <p:spPr>
          <a:xfrm>
            <a:off x="430977" y="5671352"/>
            <a:ext cx="388809" cy="461665"/>
          </a:xfrm>
          <a:prstGeom prst="rect">
            <a:avLst/>
          </a:prstGeom>
          <a:noFill/>
        </p:spPr>
        <p:txBody>
          <a:bodyPr wrap="square" rtlCol="0">
            <a:spAutoFit/>
          </a:bodyPr>
          <a:lstStyle/>
          <a:p>
            <a:endParaRPr lang="en-US" sz="2400"/>
          </a:p>
        </p:txBody>
      </p:sp>
      <p:sp>
        <p:nvSpPr>
          <p:cNvPr id="3" name="TextBox 2">
            <a:hlinkClick r:id="rId3"/>
            <a:extLst>
              <a:ext uri="{FF2B5EF4-FFF2-40B4-BE49-F238E27FC236}">
                <a16:creationId xmlns:a16="http://schemas.microsoft.com/office/drawing/2014/main" id="{F4EF365B-F9EB-1574-A258-BC653F1E2F07}"/>
              </a:ext>
            </a:extLst>
          </p:cNvPr>
          <p:cNvSpPr txBox="1"/>
          <p:nvPr/>
        </p:nvSpPr>
        <p:spPr>
          <a:xfrm>
            <a:off x="1015819" y="5705838"/>
            <a:ext cx="184731" cy="461665"/>
          </a:xfrm>
          <a:prstGeom prst="rect">
            <a:avLst/>
          </a:prstGeom>
          <a:noFill/>
        </p:spPr>
        <p:txBody>
          <a:bodyPr wrap="none" rtlCol="0">
            <a:spAutoFit/>
          </a:bodyPr>
          <a:lstStyle/>
          <a:p>
            <a:endParaRPr lang="en-US" sz="2400"/>
          </a:p>
        </p:txBody>
      </p:sp>
      <p:sp>
        <p:nvSpPr>
          <p:cNvPr id="4" name="TextBox 3">
            <a:hlinkClick r:id="rId4"/>
            <a:extLst>
              <a:ext uri="{FF2B5EF4-FFF2-40B4-BE49-F238E27FC236}">
                <a16:creationId xmlns:a16="http://schemas.microsoft.com/office/drawing/2014/main" id="{1B6CCD81-F1BE-B482-7C6F-B16F054CE17E}"/>
              </a:ext>
            </a:extLst>
          </p:cNvPr>
          <p:cNvSpPr txBox="1"/>
          <p:nvPr/>
        </p:nvSpPr>
        <p:spPr>
          <a:xfrm>
            <a:off x="1548938" y="5705837"/>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2002972795"/>
      </p:ext>
    </p:extLst>
  </p:cSld>
  <p:clrMapOvr>
    <a:masterClrMapping/>
  </p:clrMapOvr>
  <p:extLst>
    <p:ext uri="{DCECCB84-F9BA-43D5-87BE-67443E8EF086}">
      <p15:sldGuideLst xmlns:p15="http://schemas.microsoft.com/office/powerpoint/2012/main">
        <p15:guide id="1" orient="horz" pos="213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p:nvSpPr>
        <p:spPr>
          <a:xfrm>
            <a:off x="0" y="2813116"/>
            <a:ext cx="2071688" cy="34290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p:nvSpPr>
        <p:spPr>
          <a:xfrm>
            <a:off x="2071688" y="1141278"/>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7413" y="1801907"/>
            <a:ext cx="2786062" cy="4429562"/>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3" name="TextBox 32">
            <a:extLst>
              <a:ext uri="{FF2B5EF4-FFF2-40B4-BE49-F238E27FC236}">
                <a16:creationId xmlns:a16="http://schemas.microsoft.com/office/drawing/2014/main" id="{63B28BD4-B927-D5D7-3E8E-3B8E9CDB9CE1}"/>
              </a:ext>
            </a:extLst>
          </p:cNvPr>
          <p:cNvSpPr txBox="1"/>
          <p:nvPr/>
        </p:nvSpPr>
        <p:spPr>
          <a:xfrm>
            <a:off x="2267385" y="1253674"/>
            <a:ext cx="2160356"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Requirements</a:t>
            </a:r>
          </a:p>
        </p:txBody>
      </p:sp>
      <p:sp>
        <p:nvSpPr>
          <p:cNvPr id="35" name="TextBox 34">
            <a:extLst>
              <a:ext uri="{FF2B5EF4-FFF2-40B4-BE49-F238E27FC236}">
                <a16:creationId xmlns:a16="http://schemas.microsoft.com/office/drawing/2014/main" id="{2D57DCEF-1560-9AF1-7A04-418461ED32AF}"/>
              </a:ext>
            </a:extLst>
          </p:cNvPr>
          <p:cNvSpPr txBox="1"/>
          <p:nvPr/>
        </p:nvSpPr>
        <p:spPr>
          <a:xfrm>
            <a:off x="9531734" y="1272586"/>
            <a:ext cx="2134599"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Benefits</a:t>
            </a:r>
          </a:p>
        </p:txBody>
      </p:sp>
      <p:cxnSp>
        <p:nvCxnSpPr>
          <p:cNvPr id="30" name="Straight Connector 29">
            <a:extLst>
              <a:ext uri="{FF2B5EF4-FFF2-40B4-BE49-F238E27FC236}">
                <a16:creationId xmlns:a16="http://schemas.microsoft.com/office/drawing/2014/main" id="{CDE24740-BF49-13A2-D93B-760FA193E090}"/>
              </a:ext>
            </a:extLst>
          </p:cNvPr>
          <p:cNvCxnSpPr>
            <a:cxnSpLocks/>
          </p:cNvCxnSpPr>
          <p:nvPr/>
        </p:nvCxnSpPr>
        <p:spPr>
          <a:xfrm>
            <a:off x="5018523" y="125367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5100639" y="1801907"/>
            <a:ext cx="4243386" cy="4429562"/>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9501188" y="1801907"/>
            <a:ext cx="2571750" cy="4429562"/>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p:nvCxnSpPr>
        <p:spPr>
          <a:xfrm>
            <a:off x="9381217" y="1249957"/>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p:nvSpPr>
        <p:spPr>
          <a:xfrm>
            <a:off x="5200650" y="1253674"/>
            <a:ext cx="2412099"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Ascendion’s Solution</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219276"/>
            <a:ext cx="9445985" cy="430887"/>
          </a:xfrm>
        </p:spPr>
        <p:txBody>
          <a:bodyPr>
            <a:spAutoFit/>
          </a:bodyPr>
          <a:lstStyle/>
          <a:p>
            <a:r>
              <a:rPr lang="en-US"/>
              <a:t>Click To Edit Master Title Style</a:t>
            </a:r>
            <a:endParaRPr lang="en-AU"/>
          </a:p>
        </p:txBody>
      </p:sp>
      <p:grpSp>
        <p:nvGrpSpPr>
          <p:cNvPr id="8" name="Group 7">
            <a:extLst>
              <a:ext uri="{FF2B5EF4-FFF2-40B4-BE49-F238E27FC236}">
                <a16:creationId xmlns:a16="http://schemas.microsoft.com/office/drawing/2014/main" id="{3965D76F-2E4C-FDAE-FCF1-EEE18A3176A5}"/>
              </a:ext>
            </a:extLst>
          </p:cNvPr>
          <p:cNvGrpSpPr/>
          <p:nvPr userDrawn="1"/>
        </p:nvGrpSpPr>
        <p:grpSpPr>
          <a:xfrm>
            <a:off x="5018523" y="1817657"/>
            <a:ext cx="4393762" cy="1770668"/>
            <a:chOff x="5018523" y="2442116"/>
            <a:chExt cx="4393762" cy="154258"/>
          </a:xfrm>
        </p:grpSpPr>
        <p:cxnSp>
          <p:nvCxnSpPr>
            <p:cNvPr id="4" name="Straight Connector 3">
              <a:extLst>
                <a:ext uri="{FF2B5EF4-FFF2-40B4-BE49-F238E27FC236}">
                  <a16:creationId xmlns:a16="http://schemas.microsoft.com/office/drawing/2014/main" id="{223C57D4-5C85-F4FA-C49E-ED1DA689AFB2}"/>
                </a:ext>
              </a:extLst>
            </p:cNvPr>
            <p:cNvCxnSpPr>
              <a:cxnSpLocks/>
            </p:cNvCxnSpPr>
            <p:nvPr userDrawn="1"/>
          </p:nvCxnSpPr>
          <p:spPr>
            <a:xfrm>
              <a:off x="5018523" y="2442116"/>
              <a:ext cx="0" cy="15425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BC8B0CA-2B40-31D2-C112-BF3F37715F1D}"/>
                </a:ext>
              </a:extLst>
            </p:cNvPr>
            <p:cNvCxnSpPr>
              <a:cxnSpLocks/>
            </p:cNvCxnSpPr>
            <p:nvPr userDrawn="1"/>
          </p:nvCxnSpPr>
          <p:spPr>
            <a:xfrm>
              <a:off x="9412285" y="2442116"/>
              <a:ext cx="0" cy="15425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92AE697-B6BA-7ED2-4A28-3D699CA66FB9}"/>
              </a:ext>
            </a:extLst>
          </p:cNvPr>
          <p:cNvSpPr txBox="1"/>
          <p:nvPr userDrawn="1"/>
        </p:nvSpPr>
        <p:spPr>
          <a:xfrm>
            <a:off x="76200" y="2814638"/>
            <a:ext cx="1695450" cy="369332"/>
          </a:xfrm>
          <a:prstGeom prst="rect">
            <a:avLst/>
          </a:prstGeom>
          <a:noFill/>
        </p:spPr>
        <p:txBody>
          <a:bodyPr wrap="square" lIns="0" tIns="0" rIns="0" bIns="0" anchor="ctr">
            <a:normAutofit/>
          </a:bodyPr>
          <a:lstStyle/>
          <a:p>
            <a:pPr algn="l"/>
            <a:r>
              <a:rPr lang="en-US" sz="1200" b="1">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Tree>
    <p:extLst>
      <p:ext uri="{BB962C8B-B14F-4D97-AF65-F5344CB8AC3E}">
        <p14:creationId xmlns:p14="http://schemas.microsoft.com/office/powerpoint/2010/main" val="4146533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2" name="Title Placeholder 1">
            <a:extLst>
              <a:ext uri="{FF2B5EF4-FFF2-40B4-BE49-F238E27FC236}">
                <a16:creationId xmlns:a16="http://schemas.microsoft.com/office/drawing/2014/main" id="{27150ADE-C5D0-BEB3-3947-F5EC3974E308}"/>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4256699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ACC5C8FF-D6B7-6677-E5C0-B3495A3909A8}"/>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563440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62F9-A334-3693-A53B-7505AECE4B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CB32E0-37B1-0E7A-27D5-B5C6B430B0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C976C4-FE85-0EA3-1D97-72E398BAE332}"/>
              </a:ext>
            </a:extLst>
          </p:cNvPr>
          <p:cNvSpPr>
            <a:spLocks noGrp="1"/>
          </p:cNvSpPr>
          <p:nvPr>
            <p:ph type="dt" sz="half" idx="10"/>
          </p:nvPr>
        </p:nvSpPr>
        <p:spPr/>
        <p:txBody>
          <a:bodyPr/>
          <a:lstStyle/>
          <a:p>
            <a:fld id="{208ED146-2465-4743-98E0-5AD136E9431F}" type="datetimeFigureOut">
              <a:rPr lang="en-IN" smtClean="0"/>
              <a:t>27/02/26</a:t>
            </a:fld>
            <a:endParaRPr lang="en-IN"/>
          </a:p>
        </p:txBody>
      </p:sp>
      <p:sp>
        <p:nvSpPr>
          <p:cNvPr id="5" name="Footer Placeholder 4">
            <a:extLst>
              <a:ext uri="{FF2B5EF4-FFF2-40B4-BE49-F238E27FC236}">
                <a16:creationId xmlns:a16="http://schemas.microsoft.com/office/drawing/2014/main" id="{36865B8D-B5A4-779B-3412-40588C9DE3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41BBD3-40FC-A943-DAC6-291019B0D224}"/>
              </a:ext>
            </a:extLst>
          </p:cNvPr>
          <p:cNvSpPr>
            <a:spLocks noGrp="1"/>
          </p:cNvSpPr>
          <p:nvPr>
            <p:ph type="sldNum" sz="quarter" idx="12"/>
          </p:nvPr>
        </p:nvSpPr>
        <p:spPr/>
        <p:txBody>
          <a:bodyPr/>
          <a:lstStyle/>
          <a:p>
            <a:fld id="{E0BD8452-7E40-4757-BDE6-778A8A7E76CC}" type="slidenum">
              <a:rPr lang="en-IN" smtClean="0"/>
              <a:t>‹#›</a:t>
            </a:fld>
            <a:endParaRPr lang="en-IN"/>
          </a:p>
        </p:txBody>
      </p:sp>
    </p:spTree>
    <p:extLst>
      <p:ext uri="{BB962C8B-B14F-4D97-AF65-F5344CB8AC3E}">
        <p14:creationId xmlns:p14="http://schemas.microsoft.com/office/powerpoint/2010/main" val="1215348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091" y="365083"/>
            <a:ext cx="10514231" cy="1325410"/>
          </a:xfrm>
          <a:prstGeom prst="rect">
            <a:avLst/>
          </a:prstGeom>
        </p:spPr>
        <p:txBody>
          <a:bodyPr vert="horz" lIns="91440" tIns="45720" rIns="91440" bIns="45720" rtlCol="0" anchor="ctr">
            <a:normAutofit/>
          </a:bodyPr>
          <a:lstStyle>
            <a:lvl1pPr algn="ctr" defTabSz="914217" rtl="0" eaLnBrk="1" latinLnBrk="0" hangingPunct="1">
              <a:lnSpc>
                <a:spcPct val="90000"/>
              </a:lnSpc>
              <a:spcBef>
                <a:spcPct val="0"/>
              </a:spcBef>
              <a:buNone/>
              <a:defRPr sz="4399" kern="1200">
                <a:solidFill>
                  <a:schemeClr val="tx1"/>
                </a:solidFill>
                <a:latin typeface="+mj-lt"/>
                <a:ea typeface="+mj-ea"/>
                <a:cs typeface="+mj-cs"/>
              </a:defRPr>
            </a:lvl1pPr>
          </a:lstStyle>
          <a:p>
            <a:r>
              <a:rPr lang="en-US"/>
              <a:t>Click to edit Master title style</a:t>
            </a:r>
          </a:p>
        </p:txBody>
      </p:sp>
    </p:spTree>
    <p:custDataLst>
      <p:tags r:id="rId1"/>
    </p:custDataLst>
    <p:extLst>
      <p:ext uri="{BB962C8B-B14F-4D97-AF65-F5344CB8AC3E}">
        <p14:creationId xmlns:p14="http://schemas.microsoft.com/office/powerpoint/2010/main" val="11786300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3" cy="492443"/>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84184"/>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00114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p:txStyles>
    <p:titleStyle>
      <a:lvl1pPr algn="l" defTabSz="914377" rtl="0" eaLnBrk="1" latinLnBrk="0" hangingPunct="1">
        <a:lnSpc>
          <a:spcPct val="100000"/>
        </a:lnSpc>
        <a:spcBef>
          <a:spcPct val="0"/>
        </a:spcBef>
        <a:spcAft>
          <a:spcPts val="600"/>
        </a:spcAft>
        <a:buNone/>
        <a:defRPr sz="3200" b="1" i="0" kern="1200">
          <a:solidFill>
            <a:schemeClr val="tx1"/>
          </a:solidFill>
          <a:latin typeface="PP Neue Machina Plain Ultrabold" pitchFamily="2" charset="77"/>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81">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68">
          <p15:clr>
            <a:srgbClr val="F26B43"/>
          </p15:clr>
        </p15:guide>
        <p15:guide id="8" orient="horz" pos="64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838618" y="6362699"/>
            <a:ext cx="419100" cy="246221"/>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0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0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362693"/>
            <a:ext cx="1663700" cy="246221"/>
          </a:xfrm>
          <a:prstGeom prst="rect">
            <a:avLst/>
          </a:prstGeom>
          <a:noFill/>
        </p:spPr>
        <p:txBody>
          <a:bodyPr wrap="square">
            <a:spAutoFit/>
          </a:bodyPr>
          <a:lstStyle/>
          <a:p>
            <a:pPr algn="l"/>
            <a:r>
              <a:rPr lang="en-US" sz="10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356339" y="633742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1867"/>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73267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81" r:id="rId3"/>
    <p:sldLayoutId id="2147483682" r:id="rId4"/>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8.xml"/><Relationship Id="rId1" Type="http://schemas.openxmlformats.org/officeDocument/2006/relationships/tags" Target="../tags/tag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14704438-E7D9-30B5-7908-5041D75C0A37}"/>
              </a:ext>
            </a:extLst>
          </p:cNvPr>
          <p:cNvPicPr>
            <a:picLocks noGrp="1" noChangeAspect="1"/>
          </p:cNvPicPr>
          <p:nvPr>
            <p:ph type="pic" sz="quarter" idx="13"/>
          </p:nvPr>
        </p:nvPicPr>
        <p:blipFill>
          <a:blip r:embed="rId3"/>
          <a:srcRect t="217" b="217"/>
          <a:stretch/>
        </p:blipFill>
        <p:spPr>
          <a:xfrm>
            <a:off x="0" y="938525"/>
            <a:ext cx="12195175" cy="5919469"/>
          </a:xfrm>
        </p:spPr>
      </p:pic>
      <p:sp>
        <p:nvSpPr>
          <p:cNvPr id="18" name="Rectangle 17">
            <a:extLst>
              <a:ext uri="{FF2B5EF4-FFF2-40B4-BE49-F238E27FC236}">
                <a16:creationId xmlns:a16="http://schemas.microsoft.com/office/drawing/2014/main" id="{155AC928-235E-BDB4-B7C5-94B69DD3B86D}"/>
              </a:ext>
            </a:extLst>
          </p:cNvPr>
          <p:cNvSpPr/>
          <p:nvPr/>
        </p:nvSpPr>
        <p:spPr>
          <a:xfrm>
            <a:off x="0" y="1106729"/>
            <a:ext cx="7008446" cy="5751265"/>
          </a:xfrm>
          <a:prstGeom prst="rect">
            <a:avLst/>
          </a:prstGeom>
          <a:gradFill>
            <a:gsLst>
              <a:gs pos="0">
                <a:srgbClr val="000000">
                  <a:alpha val="76000"/>
                </a:srgbClr>
              </a:gs>
              <a:gs pos="100000">
                <a:srgbClr val="000000">
                  <a:alpha val="0"/>
                </a:srgb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Verdana"/>
              <a:ea typeface="+mn-ea"/>
              <a:cs typeface="+mn-cs"/>
              <a:sym typeface="Aptos" panose="020B0004020202020204" pitchFamily="34" charset="0"/>
            </a:endParaRPr>
          </a:p>
        </p:txBody>
      </p:sp>
      <p:sp>
        <p:nvSpPr>
          <p:cNvPr id="20" name="Title 19">
            <a:extLst>
              <a:ext uri="{FF2B5EF4-FFF2-40B4-BE49-F238E27FC236}">
                <a16:creationId xmlns:a16="http://schemas.microsoft.com/office/drawing/2014/main" id="{F7326108-69A1-FD3D-D5B8-1752F7F5A65D}"/>
              </a:ext>
            </a:extLst>
          </p:cNvPr>
          <p:cNvSpPr>
            <a:spLocks noGrp="1"/>
          </p:cNvSpPr>
          <p:nvPr>
            <p:ph type="ctrTitle"/>
          </p:nvPr>
        </p:nvSpPr>
        <p:spPr>
          <a:xfrm>
            <a:off x="406399" y="2203554"/>
            <a:ext cx="6234244" cy="1923945"/>
          </a:xfrm>
        </p:spPr>
        <p:txBody>
          <a:bodyPr/>
          <a:lstStyle/>
          <a:p>
            <a:r>
              <a:rPr lang="en-US">
                <a:solidFill>
                  <a:schemeClr val="bg1"/>
                </a:solidFill>
              </a:rPr>
              <a:t>Ascendion -  </a:t>
            </a:r>
            <a:br>
              <a:rPr lang="en-US">
                <a:solidFill>
                  <a:schemeClr val="bg1"/>
                </a:solidFill>
              </a:rPr>
            </a:br>
            <a:r>
              <a:rPr lang="en-US">
                <a:solidFill>
                  <a:schemeClr val="bg1"/>
                </a:solidFill>
              </a:rPr>
              <a:t>Legacy System X-Ray &amp; Navigator</a:t>
            </a:r>
          </a:p>
        </p:txBody>
      </p:sp>
      <p:sp>
        <p:nvSpPr>
          <p:cNvPr id="22" name="Subtitle 21">
            <a:extLst>
              <a:ext uri="{FF2B5EF4-FFF2-40B4-BE49-F238E27FC236}">
                <a16:creationId xmlns:a16="http://schemas.microsoft.com/office/drawing/2014/main" id="{FEEE9641-BDFE-786C-B353-7F49BD0463F2}"/>
              </a:ext>
            </a:extLst>
          </p:cNvPr>
          <p:cNvSpPr>
            <a:spLocks noGrp="1"/>
          </p:cNvSpPr>
          <p:nvPr>
            <p:ph type="subTitle" idx="1"/>
          </p:nvPr>
        </p:nvSpPr>
        <p:spPr>
          <a:xfrm>
            <a:off x="406400" y="4354272"/>
            <a:ext cx="5680389" cy="609600"/>
          </a:xfrm>
        </p:spPr>
        <p:txBody>
          <a:bodyPr/>
          <a:lstStyle/>
          <a:p>
            <a:r>
              <a:rPr lang="en-US"/>
              <a:t>December 2025</a:t>
            </a:r>
          </a:p>
        </p:txBody>
      </p:sp>
    </p:spTree>
    <p:extLst>
      <p:ext uri="{BB962C8B-B14F-4D97-AF65-F5344CB8AC3E}">
        <p14:creationId xmlns:p14="http://schemas.microsoft.com/office/powerpoint/2010/main" val="1809566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77C3-60EE-B7C7-981A-EE1074CEBC1C}"/>
            </a:ext>
          </a:extLst>
        </p:cNvPr>
        <p:cNvGrpSpPr/>
        <p:nvPr/>
      </p:nvGrpSpPr>
      <p:grpSpPr>
        <a:xfrm>
          <a:off x="0" y="0"/>
          <a:ext cx="0" cy="0"/>
          <a:chOff x="0" y="0"/>
          <a:chExt cx="0" cy="0"/>
        </a:xfrm>
      </p:grpSpPr>
      <p:sp>
        <p:nvSpPr>
          <p:cNvPr id="7" name="Google Shape;1307;p76">
            <a:extLst>
              <a:ext uri="{FF2B5EF4-FFF2-40B4-BE49-F238E27FC236}">
                <a16:creationId xmlns:a16="http://schemas.microsoft.com/office/drawing/2014/main" id="{EE7CA31D-C40A-182D-5AAB-776E268187BA}"/>
              </a:ext>
            </a:extLst>
          </p:cNvPr>
          <p:cNvSpPr txBox="1">
            <a:spLocks noGrp="1"/>
          </p:cNvSpPr>
          <p:nvPr>
            <p:ph type="title"/>
          </p:nvPr>
        </p:nvSpPr>
        <p:spPr>
          <a:xfrm>
            <a:off x="58947" y="-94527"/>
            <a:ext cx="11933184" cy="971165"/>
          </a:xfrm>
          <a:noFill/>
          <a:ln>
            <a:noFill/>
          </a:ln>
        </p:spPr>
        <p:txBody>
          <a:bodyPr spcFirstLastPara="1" vert="horz" wrap="square" lIns="91425" tIns="45700" rIns="91425" bIns="45700" rtlCol="0" anchor="ctr" anchorCtr="0">
            <a:normAutofit/>
          </a:bodyPr>
          <a:lstStyle/>
          <a:p>
            <a:pPr>
              <a:lnSpc>
                <a:spcPct val="90000"/>
              </a:lnSpc>
              <a:spcBef>
                <a:spcPts val="0"/>
              </a:spcBef>
              <a:spcAft>
                <a:spcPts val="0"/>
              </a:spcAft>
              <a:buClr>
                <a:schemeClr val="dk1"/>
              </a:buClr>
              <a:buSzPts val="3600"/>
              <a:buFont typeface="Arial"/>
            </a:pPr>
            <a:r>
              <a:rPr lang="en-US" sz="3100"/>
              <a:t>Exec Summary: Legacy Systems X-ray + Navigator</a:t>
            </a:r>
            <a:endParaRPr lang="en-US" sz="3100">
              <a:solidFill>
                <a:schemeClr val="dk1"/>
              </a:solidFill>
              <a:latin typeface="PP Neue Machina Plain Ultrabold" pitchFamily="2" charset="0"/>
              <a:cs typeface="Arial"/>
              <a:sym typeface="Arial"/>
            </a:endParaRPr>
          </a:p>
        </p:txBody>
      </p:sp>
      <p:sp>
        <p:nvSpPr>
          <p:cNvPr id="4" name="Arrow: Right 3">
            <a:extLst>
              <a:ext uri="{FF2B5EF4-FFF2-40B4-BE49-F238E27FC236}">
                <a16:creationId xmlns:a16="http://schemas.microsoft.com/office/drawing/2014/main" id="{EAFAD20F-895F-E16A-4993-DA69A78FDFFB}"/>
              </a:ext>
            </a:extLst>
          </p:cNvPr>
          <p:cNvSpPr/>
          <p:nvPr/>
        </p:nvSpPr>
        <p:spPr>
          <a:xfrm>
            <a:off x="226216" y="2873896"/>
            <a:ext cx="11582108" cy="462778"/>
          </a:xfrm>
          <a:prstGeom prst="rightArrow">
            <a:avLst/>
          </a:prstGeom>
          <a:solidFill>
            <a:schemeClr val="bg1">
              <a:lumMod val="95000"/>
            </a:schemeClr>
          </a:solidFill>
          <a:ln>
            <a:gradFill>
              <a:gsLst>
                <a:gs pos="0">
                  <a:srgbClr val="CF4627"/>
                </a:gs>
                <a:gs pos="100000">
                  <a:schemeClr val="accent5">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cs typeface="Segoe UI" panose="020B0502040204020203" pitchFamily="34" charset="0"/>
            </a:endParaRPr>
          </a:p>
        </p:txBody>
      </p:sp>
      <p:grpSp>
        <p:nvGrpSpPr>
          <p:cNvPr id="5" name="Group 4">
            <a:extLst>
              <a:ext uri="{FF2B5EF4-FFF2-40B4-BE49-F238E27FC236}">
                <a16:creationId xmlns:a16="http://schemas.microsoft.com/office/drawing/2014/main" id="{AA4333EF-CE7B-E526-BECA-35C8A414ED08}"/>
              </a:ext>
            </a:extLst>
          </p:cNvPr>
          <p:cNvGrpSpPr/>
          <p:nvPr/>
        </p:nvGrpSpPr>
        <p:grpSpPr>
          <a:xfrm>
            <a:off x="2028321" y="2810827"/>
            <a:ext cx="606357" cy="555333"/>
            <a:chOff x="885458" y="1496700"/>
            <a:chExt cx="640080" cy="640080"/>
          </a:xfrm>
        </p:grpSpPr>
        <p:sp>
          <p:nvSpPr>
            <p:cNvPr id="29" name="Flowchart: Connector 28">
              <a:extLst>
                <a:ext uri="{FF2B5EF4-FFF2-40B4-BE49-F238E27FC236}">
                  <a16:creationId xmlns:a16="http://schemas.microsoft.com/office/drawing/2014/main" id="{35E1741F-A501-2669-A577-7912B452841C}"/>
                </a:ext>
              </a:extLst>
            </p:cNvPr>
            <p:cNvSpPr/>
            <p:nvPr/>
          </p:nvSpPr>
          <p:spPr>
            <a:xfrm>
              <a:off x="885458" y="1496700"/>
              <a:ext cx="640080" cy="640080"/>
            </a:xfrm>
            <a:prstGeom prst="flowChartConnector">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cs typeface="Segoe UI" panose="020B0502040204020203" pitchFamily="34" charset="0"/>
              </a:endParaRPr>
            </a:p>
          </p:txBody>
        </p:sp>
        <p:sp>
          <p:nvSpPr>
            <p:cNvPr id="30" name="Freeform 97">
              <a:extLst>
                <a:ext uri="{FF2B5EF4-FFF2-40B4-BE49-F238E27FC236}">
                  <a16:creationId xmlns:a16="http://schemas.microsoft.com/office/drawing/2014/main" id="{9CB1A10E-E32D-F89F-C835-9F6C6A14B7A2}"/>
                </a:ext>
              </a:extLst>
            </p:cNvPr>
            <p:cNvSpPr>
              <a:spLocks noEditPoints="1"/>
            </p:cNvSpPr>
            <p:nvPr/>
          </p:nvSpPr>
          <p:spPr bwMode="auto">
            <a:xfrm>
              <a:off x="919739" y="1646742"/>
              <a:ext cx="457200" cy="457200"/>
            </a:xfrm>
            <a:custGeom>
              <a:avLst/>
              <a:gdLst>
                <a:gd name="T0" fmla="*/ 146 w 335"/>
                <a:gd name="T1" fmla="*/ 0 h 424"/>
                <a:gd name="T2" fmla="*/ 104 w 335"/>
                <a:gd name="T3" fmla="*/ 23 h 424"/>
                <a:gd name="T4" fmla="*/ 102 w 335"/>
                <a:gd name="T5" fmla="*/ 26 h 424"/>
                <a:gd name="T6" fmla="*/ 50 w 335"/>
                <a:gd name="T7" fmla="*/ 5 h 424"/>
                <a:gd name="T8" fmla="*/ 13 w 335"/>
                <a:gd name="T9" fmla="*/ 27 h 424"/>
                <a:gd name="T10" fmla="*/ 0 w 335"/>
                <a:gd name="T11" fmla="*/ 73 h 424"/>
                <a:gd name="T12" fmla="*/ 13 w 335"/>
                <a:gd name="T13" fmla="*/ 120 h 424"/>
                <a:gd name="T14" fmla="*/ 50 w 335"/>
                <a:gd name="T15" fmla="*/ 142 h 424"/>
                <a:gd name="T16" fmla="*/ 112 w 335"/>
                <a:gd name="T17" fmla="*/ 132 h 424"/>
                <a:gd name="T18" fmla="*/ 146 w 335"/>
                <a:gd name="T19" fmla="*/ 146 h 424"/>
                <a:gd name="T20" fmla="*/ 154 w 335"/>
                <a:gd name="T21" fmla="*/ 146 h 424"/>
                <a:gd name="T22" fmla="*/ 200 w 335"/>
                <a:gd name="T23" fmla="*/ 197 h 424"/>
                <a:gd name="T24" fmla="*/ 239 w 335"/>
                <a:gd name="T25" fmla="*/ 203 h 424"/>
                <a:gd name="T26" fmla="*/ 235 w 335"/>
                <a:gd name="T27" fmla="*/ 276 h 424"/>
                <a:gd name="T28" fmla="*/ 229 w 335"/>
                <a:gd name="T29" fmla="*/ 424 h 424"/>
                <a:gd name="T30" fmla="*/ 266 w 335"/>
                <a:gd name="T31" fmla="*/ 424 h 424"/>
                <a:gd name="T32" fmla="*/ 273 w 335"/>
                <a:gd name="T33" fmla="*/ 298 h 424"/>
                <a:gd name="T34" fmla="*/ 290 w 335"/>
                <a:gd name="T35" fmla="*/ 298 h 424"/>
                <a:gd name="T36" fmla="*/ 296 w 335"/>
                <a:gd name="T37" fmla="*/ 424 h 424"/>
                <a:gd name="T38" fmla="*/ 335 w 335"/>
                <a:gd name="T39" fmla="*/ 424 h 424"/>
                <a:gd name="T40" fmla="*/ 327 w 335"/>
                <a:gd name="T41" fmla="*/ 276 h 424"/>
                <a:gd name="T42" fmla="*/ 333 w 335"/>
                <a:gd name="T43" fmla="*/ 145 h 424"/>
                <a:gd name="T44" fmla="*/ 261 w 335"/>
                <a:gd name="T45" fmla="*/ 145 h 424"/>
                <a:gd name="T46" fmla="*/ 247 w 335"/>
                <a:gd name="T47" fmla="*/ 124 h 424"/>
                <a:gd name="T48" fmla="*/ 252 w 335"/>
                <a:gd name="T49" fmla="*/ 123 h 424"/>
                <a:gd name="T50" fmla="*/ 281 w 335"/>
                <a:gd name="T51" fmla="*/ 134 h 424"/>
                <a:gd name="T52" fmla="*/ 323 w 335"/>
                <a:gd name="T53" fmla="*/ 92 h 424"/>
                <a:gd name="T54" fmla="*/ 281 w 335"/>
                <a:gd name="T55" fmla="*/ 49 h 424"/>
                <a:gd name="T56" fmla="*/ 250 w 335"/>
                <a:gd name="T57" fmla="*/ 63 h 424"/>
                <a:gd name="T58" fmla="*/ 172 w 335"/>
                <a:gd name="T59" fmla="*/ 8 h 424"/>
                <a:gd name="T60" fmla="*/ 146 w 335"/>
                <a:gd name="T61" fmla="*/ 0 h 424"/>
                <a:gd name="T62" fmla="*/ 230 w 335"/>
                <a:gd name="T63" fmla="*/ 151 h 424"/>
                <a:gd name="T64" fmla="*/ 206 w 335"/>
                <a:gd name="T65" fmla="*/ 162 h 424"/>
                <a:gd name="T66" fmla="*/ 181 w 335"/>
                <a:gd name="T67" fmla="*/ 138 h 424"/>
                <a:gd name="T68" fmla="*/ 219 w 335"/>
                <a:gd name="T69" fmla="*/ 130 h 424"/>
                <a:gd name="T70" fmla="*/ 230 w 335"/>
                <a:gd name="T71" fmla="*/ 151 h 424"/>
                <a:gd name="T72" fmla="*/ 35 w 335"/>
                <a:gd name="T73" fmla="*/ 42 h 424"/>
                <a:gd name="T74" fmla="*/ 50 w 335"/>
                <a:gd name="T75" fmla="*/ 32 h 424"/>
                <a:gd name="T76" fmla="*/ 65 w 335"/>
                <a:gd name="T77" fmla="*/ 42 h 424"/>
                <a:gd name="T78" fmla="*/ 73 w 335"/>
                <a:gd name="T79" fmla="*/ 73 h 424"/>
                <a:gd name="T80" fmla="*/ 65 w 335"/>
                <a:gd name="T81" fmla="*/ 105 h 424"/>
                <a:gd name="T82" fmla="*/ 50 w 335"/>
                <a:gd name="T83" fmla="*/ 115 h 424"/>
                <a:gd name="T84" fmla="*/ 35 w 335"/>
                <a:gd name="T85" fmla="*/ 105 h 424"/>
                <a:gd name="T86" fmla="*/ 27 w 335"/>
                <a:gd name="T87" fmla="*/ 73 h 424"/>
                <a:gd name="T88" fmla="*/ 35 w 335"/>
                <a:gd name="T89" fmla="*/ 42 h 424"/>
                <a:gd name="T90" fmla="*/ 126 w 335"/>
                <a:gd name="T91" fmla="*/ 39 h 424"/>
                <a:gd name="T92" fmla="*/ 146 w 335"/>
                <a:gd name="T93" fmla="*/ 27 h 424"/>
                <a:gd name="T94" fmla="*/ 167 w 335"/>
                <a:gd name="T95" fmla="*/ 39 h 424"/>
                <a:gd name="T96" fmla="*/ 177 w 335"/>
                <a:gd name="T97" fmla="*/ 73 h 424"/>
                <a:gd name="T98" fmla="*/ 167 w 335"/>
                <a:gd name="T99" fmla="*/ 107 h 424"/>
                <a:gd name="T100" fmla="*/ 146 w 335"/>
                <a:gd name="T101" fmla="*/ 119 h 424"/>
                <a:gd name="T102" fmla="*/ 126 w 335"/>
                <a:gd name="T103" fmla="*/ 107 h 424"/>
                <a:gd name="T104" fmla="*/ 116 w 335"/>
                <a:gd name="T105" fmla="*/ 73 h 424"/>
                <a:gd name="T106" fmla="*/ 126 w 335"/>
                <a:gd name="T107" fmla="*/ 39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5" h="424">
                  <a:moveTo>
                    <a:pt x="146" y="0"/>
                  </a:moveTo>
                  <a:cubicBezTo>
                    <a:pt x="130" y="0"/>
                    <a:pt x="115" y="9"/>
                    <a:pt x="104" y="23"/>
                  </a:cubicBezTo>
                  <a:cubicBezTo>
                    <a:pt x="104" y="24"/>
                    <a:pt x="103" y="25"/>
                    <a:pt x="102" y="26"/>
                  </a:cubicBezTo>
                  <a:cubicBezTo>
                    <a:pt x="89" y="20"/>
                    <a:pt x="64" y="5"/>
                    <a:pt x="50" y="5"/>
                  </a:cubicBezTo>
                  <a:cubicBezTo>
                    <a:pt x="35" y="5"/>
                    <a:pt x="22" y="13"/>
                    <a:pt x="13" y="27"/>
                  </a:cubicBezTo>
                  <a:cubicBezTo>
                    <a:pt x="5" y="39"/>
                    <a:pt x="0" y="55"/>
                    <a:pt x="0" y="73"/>
                  </a:cubicBezTo>
                  <a:cubicBezTo>
                    <a:pt x="0" y="91"/>
                    <a:pt x="5" y="108"/>
                    <a:pt x="13" y="120"/>
                  </a:cubicBezTo>
                  <a:cubicBezTo>
                    <a:pt x="22" y="133"/>
                    <a:pt x="35" y="142"/>
                    <a:pt x="50" y="142"/>
                  </a:cubicBezTo>
                  <a:cubicBezTo>
                    <a:pt x="65" y="142"/>
                    <a:pt x="96" y="134"/>
                    <a:pt x="112" y="132"/>
                  </a:cubicBezTo>
                  <a:cubicBezTo>
                    <a:pt x="121" y="141"/>
                    <a:pt x="133" y="146"/>
                    <a:pt x="146" y="146"/>
                  </a:cubicBezTo>
                  <a:cubicBezTo>
                    <a:pt x="149" y="146"/>
                    <a:pt x="151" y="146"/>
                    <a:pt x="154" y="146"/>
                  </a:cubicBezTo>
                  <a:cubicBezTo>
                    <a:pt x="200" y="197"/>
                    <a:pt x="200" y="197"/>
                    <a:pt x="200" y="197"/>
                  </a:cubicBezTo>
                  <a:cubicBezTo>
                    <a:pt x="239" y="203"/>
                    <a:pt x="239" y="203"/>
                    <a:pt x="239" y="203"/>
                  </a:cubicBezTo>
                  <a:cubicBezTo>
                    <a:pt x="235" y="276"/>
                    <a:pt x="235" y="276"/>
                    <a:pt x="235" y="276"/>
                  </a:cubicBezTo>
                  <a:cubicBezTo>
                    <a:pt x="229" y="424"/>
                    <a:pt x="229" y="424"/>
                    <a:pt x="229" y="424"/>
                  </a:cubicBezTo>
                  <a:cubicBezTo>
                    <a:pt x="266" y="424"/>
                    <a:pt x="266" y="424"/>
                    <a:pt x="266" y="424"/>
                  </a:cubicBezTo>
                  <a:cubicBezTo>
                    <a:pt x="273" y="298"/>
                    <a:pt x="273" y="298"/>
                    <a:pt x="273" y="298"/>
                  </a:cubicBezTo>
                  <a:cubicBezTo>
                    <a:pt x="290" y="298"/>
                    <a:pt x="290" y="298"/>
                    <a:pt x="290" y="298"/>
                  </a:cubicBezTo>
                  <a:cubicBezTo>
                    <a:pt x="296" y="424"/>
                    <a:pt x="296" y="424"/>
                    <a:pt x="296" y="424"/>
                  </a:cubicBezTo>
                  <a:cubicBezTo>
                    <a:pt x="335" y="424"/>
                    <a:pt x="335" y="424"/>
                    <a:pt x="335" y="424"/>
                  </a:cubicBezTo>
                  <a:cubicBezTo>
                    <a:pt x="327" y="276"/>
                    <a:pt x="327" y="276"/>
                    <a:pt x="327" y="276"/>
                  </a:cubicBezTo>
                  <a:cubicBezTo>
                    <a:pt x="333" y="145"/>
                    <a:pt x="333" y="145"/>
                    <a:pt x="333" y="145"/>
                  </a:cubicBezTo>
                  <a:cubicBezTo>
                    <a:pt x="261" y="145"/>
                    <a:pt x="261" y="145"/>
                    <a:pt x="261" y="145"/>
                  </a:cubicBezTo>
                  <a:cubicBezTo>
                    <a:pt x="247" y="124"/>
                    <a:pt x="247" y="124"/>
                    <a:pt x="247" y="124"/>
                  </a:cubicBezTo>
                  <a:cubicBezTo>
                    <a:pt x="252" y="123"/>
                    <a:pt x="252" y="123"/>
                    <a:pt x="252" y="123"/>
                  </a:cubicBezTo>
                  <a:cubicBezTo>
                    <a:pt x="259" y="130"/>
                    <a:pt x="270" y="134"/>
                    <a:pt x="281" y="134"/>
                  </a:cubicBezTo>
                  <a:cubicBezTo>
                    <a:pt x="304" y="134"/>
                    <a:pt x="323" y="115"/>
                    <a:pt x="323" y="92"/>
                  </a:cubicBezTo>
                  <a:cubicBezTo>
                    <a:pt x="323" y="68"/>
                    <a:pt x="304" y="49"/>
                    <a:pt x="281" y="49"/>
                  </a:cubicBezTo>
                  <a:cubicBezTo>
                    <a:pt x="269" y="49"/>
                    <a:pt x="258" y="54"/>
                    <a:pt x="250" y="63"/>
                  </a:cubicBezTo>
                  <a:cubicBezTo>
                    <a:pt x="172" y="8"/>
                    <a:pt x="172" y="8"/>
                    <a:pt x="172" y="8"/>
                  </a:cubicBezTo>
                  <a:cubicBezTo>
                    <a:pt x="164" y="3"/>
                    <a:pt x="155" y="0"/>
                    <a:pt x="146" y="0"/>
                  </a:cubicBezTo>
                  <a:close/>
                  <a:moveTo>
                    <a:pt x="230" y="151"/>
                  </a:moveTo>
                  <a:cubicBezTo>
                    <a:pt x="206" y="162"/>
                    <a:pt x="206" y="162"/>
                    <a:pt x="206" y="162"/>
                  </a:cubicBezTo>
                  <a:cubicBezTo>
                    <a:pt x="181" y="138"/>
                    <a:pt x="181" y="138"/>
                    <a:pt x="181" y="138"/>
                  </a:cubicBezTo>
                  <a:cubicBezTo>
                    <a:pt x="219" y="130"/>
                    <a:pt x="219" y="130"/>
                    <a:pt x="219" y="130"/>
                  </a:cubicBezTo>
                  <a:cubicBezTo>
                    <a:pt x="230" y="151"/>
                    <a:pt x="230" y="151"/>
                    <a:pt x="230" y="151"/>
                  </a:cubicBezTo>
                  <a:close/>
                  <a:moveTo>
                    <a:pt x="35" y="42"/>
                  </a:moveTo>
                  <a:cubicBezTo>
                    <a:pt x="40" y="35"/>
                    <a:pt x="45" y="32"/>
                    <a:pt x="50" y="32"/>
                  </a:cubicBezTo>
                  <a:cubicBezTo>
                    <a:pt x="55" y="32"/>
                    <a:pt x="61" y="35"/>
                    <a:pt x="65" y="42"/>
                  </a:cubicBezTo>
                  <a:cubicBezTo>
                    <a:pt x="70" y="50"/>
                    <a:pt x="73" y="61"/>
                    <a:pt x="73" y="73"/>
                  </a:cubicBezTo>
                  <a:cubicBezTo>
                    <a:pt x="73" y="86"/>
                    <a:pt x="70" y="97"/>
                    <a:pt x="65" y="105"/>
                  </a:cubicBezTo>
                  <a:cubicBezTo>
                    <a:pt x="61" y="111"/>
                    <a:pt x="55" y="115"/>
                    <a:pt x="50" y="115"/>
                  </a:cubicBezTo>
                  <a:cubicBezTo>
                    <a:pt x="45" y="115"/>
                    <a:pt x="40" y="111"/>
                    <a:pt x="35" y="105"/>
                  </a:cubicBezTo>
                  <a:cubicBezTo>
                    <a:pt x="30" y="97"/>
                    <a:pt x="27" y="86"/>
                    <a:pt x="27" y="73"/>
                  </a:cubicBezTo>
                  <a:cubicBezTo>
                    <a:pt x="27" y="61"/>
                    <a:pt x="30" y="50"/>
                    <a:pt x="35" y="42"/>
                  </a:cubicBezTo>
                  <a:close/>
                  <a:moveTo>
                    <a:pt x="126" y="39"/>
                  </a:moveTo>
                  <a:cubicBezTo>
                    <a:pt x="131" y="32"/>
                    <a:pt x="139" y="27"/>
                    <a:pt x="146" y="27"/>
                  </a:cubicBezTo>
                  <a:cubicBezTo>
                    <a:pt x="154" y="27"/>
                    <a:pt x="161" y="32"/>
                    <a:pt x="167" y="39"/>
                  </a:cubicBezTo>
                  <a:cubicBezTo>
                    <a:pt x="173" y="48"/>
                    <a:pt x="177" y="60"/>
                    <a:pt x="177" y="73"/>
                  </a:cubicBezTo>
                  <a:cubicBezTo>
                    <a:pt x="177" y="87"/>
                    <a:pt x="173" y="99"/>
                    <a:pt x="167" y="107"/>
                  </a:cubicBezTo>
                  <a:cubicBezTo>
                    <a:pt x="161" y="115"/>
                    <a:pt x="154" y="119"/>
                    <a:pt x="146" y="119"/>
                  </a:cubicBezTo>
                  <a:cubicBezTo>
                    <a:pt x="139" y="119"/>
                    <a:pt x="131" y="115"/>
                    <a:pt x="126" y="107"/>
                  </a:cubicBezTo>
                  <a:cubicBezTo>
                    <a:pt x="120" y="99"/>
                    <a:pt x="116" y="87"/>
                    <a:pt x="116" y="73"/>
                  </a:cubicBezTo>
                  <a:cubicBezTo>
                    <a:pt x="116" y="60"/>
                    <a:pt x="120" y="48"/>
                    <a:pt x="126" y="39"/>
                  </a:cubicBez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sz="1400">
                <a:solidFill>
                  <a:prstClr val="black"/>
                </a:solidFill>
                <a:latin typeface="+mj-lt"/>
                <a:cs typeface="Segoe UI" panose="020B0502040204020203" pitchFamily="34" charset="0"/>
              </a:endParaRPr>
            </a:p>
          </p:txBody>
        </p:sp>
      </p:grpSp>
      <p:grpSp>
        <p:nvGrpSpPr>
          <p:cNvPr id="6" name="Group 5">
            <a:extLst>
              <a:ext uri="{FF2B5EF4-FFF2-40B4-BE49-F238E27FC236}">
                <a16:creationId xmlns:a16="http://schemas.microsoft.com/office/drawing/2014/main" id="{4BC6FA65-7E6A-5F30-76E0-192143DD7545}"/>
              </a:ext>
            </a:extLst>
          </p:cNvPr>
          <p:cNvGrpSpPr/>
          <p:nvPr/>
        </p:nvGrpSpPr>
        <p:grpSpPr>
          <a:xfrm>
            <a:off x="5674373" y="2810827"/>
            <a:ext cx="606357" cy="555333"/>
            <a:chOff x="4107212" y="1496700"/>
            <a:chExt cx="640080" cy="640080"/>
          </a:xfrm>
        </p:grpSpPr>
        <p:sp>
          <p:nvSpPr>
            <p:cNvPr id="27" name="Flowchart: Connector 26">
              <a:extLst>
                <a:ext uri="{FF2B5EF4-FFF2-40B4-BE49-F238E27FC236}">
                  <a16:creationId xmlns:a16="http://schemas.microsoft.com/office/drawing/2014/main" id="{2A954F31-27EC-C663-38A9-C43CB396CE4D}"/>
                </a:ext>
              </a:extLst>
            </p:cNvPr>
            <p:cNvSpPr/>
            <p:nvPr/>
          </p:nvSpPr>
          <p:spPr>
            <a:xfrm>
              <a:off x="4107212" y="1496700"/>
              <a:ext cx="640080" cy="640080"/>
            </a:xfrm>
            <a:prstGeom prst="flowChartConnector">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cs typeface="Segoe UI" panose="020B0502040204020203" pitchFamily="34" charset="0"/>
              </a:endParaRPr>
            </a:p>
          </p:txBody>
        </p:sp>
        <p:sp>
          <p:nvSpPr>
            <p:cNvPr id="28" name="Freeform 14">
              <a:extLst>
                <a:ext uri="{FF2B5EF4-FFF2-40B4-BE49-F238E27FC236}">
                  <a16:creationId xmlns:a16="http://schemas.microsoft.com/office/drawing/2014/main" id="{9BBD5219-D207-42C3-E278-5C642F073347}"/>
                </a:ext>
              </a:extLst>
            </p:cNvPr>
            <p:cNvSpPr>
              <a:spLocks noEditPoints="1"/>
            </p:cNvSpPr>
            <p:nvPr/>
          </p:nvSpPr>
          <p:spPr bwMode="auto">
            <a:xfrm>
              <a:off x="4202102" y="1646742"/>
              <a:ext cx="457200" cy="457200"/>
            </a:xfrm>
            <a:custGeom>
              <a:avLst/>
              <a:gdLst>
                <a:gd name="T0" fmla="*/ 256 w 273"/>
                <a:gd name="T1" fmla="*/ 0 h 252"/>
                <a:gd name="T2" fmla="*/ 273 w 273"/>
                <a:gd name="T3" fmla="*/ 168 h 252"/>
                <a:gd name="T4" fmla="*/ 245 w 273"/>
                <a:gd name="T5" fmla="*/ 185 h 252"/>
                <a:gd name="T6" fmla="*/ 252 w 273"/>
                <a:gd name="T7" fmla="*/ 167 h 252"/>
                <a:gd name="T8" fmla="*/ 22 w 273"/>
                <a:gd name="T9" fmla="*/ 16 h 252"/>
                <a:gd name="T10" fmla="*/ 105 w 273"/>
                <a:gd name="T11" fmla="*/ 167 h 252"/>
                <a:gd name="T12" fmla="*/ 119 w 273"/>
                <a:gd name="T13" fmla="*/ 185 h 252"/>
                <a:gd name="T14" fmla="*/ 0 w 273"/>
                <a:gd name="T15" fmla="*/ 168 h 252"/>
                <a:gd name="T16" fmla="*/ 17 w 273"/>
                <a:gd name="T17" fmla="*/ 0 h 252"/>
                <a:gd name="T18" fmla="*/ 187 w 273"/>
                <a:gd name="T19" fmla="*/ 104 h 252"/>
                <a:gd name="T20" fmla="*/ 240 w 273"/>
                <a:gd name="T21" fmla="*/ 100 h 252"/>
                <a:gd name="T22" fmla="*/ 187 w 273"/>
                <a:gd name="T23" fmla="*/ 84 h 252"/>
                <a:gd name="T24" fmla="*/ 240 w 273"/>
                <a:gd name="T25" fmla="*/ 88 h 252"/>
                <a:gd name="T26" fmla="*/ 187 w 273"/>
                <a:gd name="T27" fmla="*/ 84 h 252"/>
                <a:gd name="T28" fmla="*/ 215 w 273"/>
                <a:gd name="T29" fmla="*/ 68 h 252"/>
                <a:gd name="T30" fmla="*/ 240 w 273"/>
                <a:gd name="T31" fmla="*/ 64 h 252"/>
                <a:gd name="T32" fmla="*/ 215 w 273"/>
                <a:gd name="T33" fmla="*/ 49 h 252"/>
                <a:gd name="T34" fmla="*/ 240 w 273"/>
                <a:gd name="T35" fmla="*/ 54 h 252"/>
                <a:gd name="T36" fmla="*/ 215 w 273"/>
                <a:gd name="T37" fmla="*/ 49 h 252"/>
                <a:gd name="T38" fmla="*/ 215 w 273"/>
                <a:gd name="T39" fmla="*/ 39 h 252"/>
                <a:gd name="T40" fmla="*/ 240 w 273"/>
                <a:gd name="T41" fmla="*/ 35 h 252"/>
                <a:gd name="T42" fmla="*/ 158 w 273"/>
                <a:gd name="T43" fmla="*/ 35 h 252"/>
                <a:gd name="T44" fmla="*/ 206 w 273"/>
                <a:gd name="T45" fmla="*/ 74 h 252"/>
                <a:gd name="T46" fmla="*/ 158 w 273"/>
                <a:gd name="T47" fmla="*/ 35 h 252"/>
                <a:gd name="T48" fmla="*/ 80 w 273"/>
                <a:gd name="T49" fmla="*/ 123 h 252"/>
                <a:gd name="T50" fmla="*/ 67 w 273"/>
                <a:gd name="T51" fmla="*/ 86 h 252"/>
                <a:gd name="T52" fmla="*/ 37 w 273"/>
                <a:gd name="T53" fmla="*/ 84 h 252"/>
                <a:gd name="T54" fmla="*/ 69 w 273"/>
                <a:gd name="T55" fmla="*/ 74 h 252"/>
                <a:gd name="T56" fmla="*/ 91 w 273"/>
                <a:gd name="T57" fmla="*/ 83 h 252"/>
                <a:gd name="T58" fmla="*/ 93 w 273"/>
                <a:gd name="T59" fmla="*/ 84 h 252"/>
                <a:gd name="T60" fmla="*/ 111 w 273"/>
                <a:gd name="T61" fmla="*/ 90 h 252"/>
                <a:gd name="T62" fmla="*/ 116 w 273"/>
                <a:gd name="T63" fmla="*/ 60 h 252"/>
                <a:gd name="T64" fmla="*/ 126 w 273"/>
                <a:gd name="T65" fmla="*/ 66 h 252"/>
                <a:gd name="T66" fmla="*/ 145 w 273"/>
                <a:gd name="T67" fmla="*/ 48 h 252"/>
                <a:gd name="T68" fmla="*/ 120 w 273"/>
                <a:gd name="T69" fmla="*/ 41 h 252"/>
                <a:gd name="T70" fmla="*/ 109 w 273"/>
                <a:gd name="T71" fmla="*/ 52 h 252"/>
                <a:gd name="T72" fmla="*/ 107 w 273"/>
                <a:gd name="T73" fmla="*/ 56 h 252"/>
                <a:gd name="T74" fmla="*/ 97 w 273"/>
                <a:gd name="T75" fmla="*/ 75 h 252"/>
                <a:gd name="T76" fmla="*/ 89 w 273"/>
                <a:gd name="T77" fmla="*/ 66 h 252"/>
                <a:gd name="T78" fmla="*/ 68 w 273"/>
                <a:gd name="T79" fmla="*/ 63 h 252"/>
                <a:gd name="T80" fmla="*/ 48 w 273"/>
                <a:gd name="T81" fmla="*/ 123 h 252"/>
                <a:gd name="T82" fmla="*/ 61 w 273"/>
                <a:gd name="T83" fmla="*/ 95 h 252"/>
                <a:gd name="T84" fmla="*/ 48 w 273"/>
                <a:gd name="T85" fmla="*/ 123 h 252"/>
                <a:gd name="T86" fmla="*/ 137 w 273"/>
                <a:gd name="T87" fmla="*/ 123 h 252"/>
                <a:gd name="T88" fmla="*/ 124 w 273"/>
                <a:gd name="T89" fmla="*/ 69 h 252"/>
                <a:gd name="T90" fmla="*/ 105 w 273"/>
                <a:gd name="T91" fmla="*/ 123 h 252"/>
                <a:gd name="T92" fmla="*/ 118 w 273"/>
                <a:gd name="T93" fmla="*/ 99 h 252"/>
                <a:gd name="T94" fmla="*/ 105 w 273"/>
                <a:gd name="T95" fmla="*/ 123 h 252"/>
                <a:gd name="T96" fmla="*/ 98 w 273"/>
                <a:gd name="T97" fmla="*/ 123 h 252"/>
                <a:gd name="T98" fmla="*/ 86 w 273"/>
                <a:gd name="T99" fmla="*/ 93 h 252"/>
                <a:gd name="T100" fmla="*/ 179 w 273"/>
                <a:gd name="T101" fmla="*/ 145 h 252"/>
                <a:gd name="T102" fmla="*/ 159 w 273"/>
                <a:gd name="T103" fmla="*/ 89 h 252"/>
                <a:gd name="T104" fmla="*/ 133 w 273"/>
                <a:gd name="T105" fmla="*/ 154 h 252"/>
                <a:gd name="T106" fmla="*/ 144 w 273"/>
                <a:gd name="T107" fmla="*/ 200 h 252"/>
                <a:gd name="T108" fmla="*/ 158 w 273"/>
                <a:gd name="T109" fmla="*/ 252 h 252"/>
                <a:gd name="T110" fmla="*/ 220 w 273"/>
                <a:gd name="T111" fmla="*/ 237 h 252"/>
                <a:gd name="T112" fmla="*/ 213 w 273"/>
                <a:gd name="T113" fmla="*/ 142 h 252"/>
                <a:gd name="T114" fmla="*/ 209 w 273"/>
                <a:gd name="T115" fmla="*/ 133 h 252"/>
                <a:gd name="T116" fmla="*/ 194 w 273"/>
                <a:gd name="T117" fmla="*/ 136 h 252"/>
                <a:gd name="T118" fmla="*/ 180 w 273"/>
                <a:gd name="T119" fmla="*/ 124 h 252"/>
                <a:gd name="T120" fmla="*/ 7 w 273"/>
                <a:gd name="T121" fmla="*/ 66 h 252"/>
                <a:gd name="T122" fmla="*/ 15 w 273"/>
                <a:gd name="T123" fmla="*/ 114 h 252"/>
                <a:gd name="T124" fmla="*/ 7 w 273"/>
                <a:gd name="T125" fmla="*/ 6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3" h="252">
                  <a:moveTo>
                    <a:pt x="17" y="0"/>
                  </a:moveTo>
                  <a:cubicBezTo>
                    <a:pt x="256" y="0"/>
                    <a:pt x="256" y="0"/>
                    <a:pt x="256" y="0"/>
                  </a:cubicBezTo>
                  <a:cubicBezTo>
                    <a:pt x="265" y="0"/>
                    <a:pt x="273" y="8"/>
                    <a:pt x="273" y="17"/>
                  </a:cubicBezTo>
                  <a:cubicBezTo>
                    <a:pt x="273" y="168"/>
                    <a:pt x="273" y="168"/>
                    <a:pt x="273" y="168"/>
                  </a:cubicBezTo>
                  <a:cubicBezTo>
                    <a:pt x="273" y="177"/>
                    <a:pt x="265" y="185"/>
                    <a:pt x="256" y="185"/>
                  </a:cubicBezTo>
                  <a:cubicBezTo>
                    <a:pt x="245" y="185"/>
                    <a:pt x="245" y="185"/>
                    <a:pt x="245" y="185"/>
                  </a:cubicBezTo>
                  <a:cubicBezTo>
                    <a:pt x="245" y="179"/>
                    <a:pt x="246" y="173"/>
                    <a:pt x="246" y="167"/>
                  </a:cubicBezTo>
                  <a:cubicBezTo>
                    <a:pt x="252" y="167"/>
                    <a:pt x="252" y="167"/>
                    <a:pt x="252" y="167"/>
                  </a:cubicBezTo>
                  <a:cubicBezTo>
                    <a:pt x="252" y="16"/>
                    <a:pt x="252" y="16"/>
                    <a:pt x="252" y="16"/>
                  </a:cubicBezTo>
                  <a:cubicBezTo>
                    <a:pt x="22" y="16"/>
                    <a:pt x="22" y="16"/>
                    <a:pt x="22" y="16"/>
                  </a:cubicBezTo>
                  <a:cubicBezTo>
                    <a:pt x="22" y="167"/>
                    <a:pt x="22" y="167"/>
                    <a:pt x="22" y="167"/>
                  </a:cubicBezTo>
                  <a:cubicBezTo>
                    <a:pt x="105" y="167"/>
                    <a:pt x="105" y="167"/>
                    <a:pt x="105" y="167"/>
                  </a:cubicBezTo>
                  <a:cubicBezTo>
                    <a:pt x="111" y="174"/>
                    <a:pt x="111" y="174"/>
                    <a:pt x="111" y="174"/>
                  </a:cubicBezTo>
                  <a:cubicBezTo>
                    <a:pt x="114" y="177"/>
                    <a:pt x="117" y="181"/>
                    <a:pt x="119" y="185"/>
                  </a:cubicBezTo>
                  <a:cubicBezTo>
                    <a:pt x="17" y="185"/>
                    <a:pt x="17" y="185"/>
                    <a:pt x="17" y="185"/>
                  </a:cubicBezTo>
                  <a:cubicBezTo>
                    <a:pt x="8" y="185"/>
                    <a:pt x="0" y="177"/>
                    <a:pt x="0" y="168"/>
                  </a:cubicBezTo>
                  <a:cubicBezTo>
                    <a:pt x="0" y="17"/>
                    <a:pt x="0" y="17"/>
                    <a:pt x="0" y="17"/>
                  </a:cubicBezTo>
                  <a:cubicBezTo>
                    <a:pt x="0" y="8"/>
                    <a:pt x="8" y="0"/>
                    <a:pt x="17" y="0"/>
                  </a:cubicBezTo>
                  <a:close/>
                  <a:moveTo>
                    <a:pt x="187" y="100"/>
                  </a:moveTo>
                  <a:cubicBezTo>
                    <a:pt x="187" y="104"/>
                    <a:pt x="187" y="104"/>
                    <a:pt x="187" y="104"/>
                  </a:cubicBezTo>
                  <a:cubicBezTo>
                    <a:pt x="240" y="104"/>
                    <a:pt x="240" y="104"/>
                    <a:pt x="240" y="104"/>
                  </a:cubicBezTo>
                  <a:cubicBezTo>
                    <a:pt x="240" y="100"/>
                    <a:pt x="240" y="100"/>
                    <a:pt x="240" y="100"/>
                  </a:cubicBezTo>
                  <a:cubicBezTo>
                    <a:pt x="187" y="100"/>
                    <a:pt x="187" y="100"/>
                    <a:pt x="187" y="100"/>
                  </a:cubicBezTo>
                  <a:close/>
                  <a:moveTo>
                    <a:pt x="187" y="84"/>
                  </a:moveTo>
                  <a:cubicBezTo>
                    <a:pt x="187" y="88"/>
                    <a:pt x="187" y="88"/>
                    <a:pt x="187" y="88"/>
                  </a:cubicBezTo>
                  <a:cubicBezTo>
                    <a:pt x="240" y="88"/>
                    <a:pt x="240" y="88"/>
                    <a:pt x="240" y="88"/>
                  </a:cubicBezTo>
                  <a:cubicBezTo>
                    <a:pt x="240" y="84"/>
                    <a:pt x="240" y="84"/>
                    <a:pt x="240" y="84"/>
                  </a:cubicBezTo>
                  <a:cubicBezTo>
                    <a:pt x="187" y="84"/>
                    <a:pt x="187" y="84"/>
                    <a:pt x="187" y="84"/>
                  </a:cubicBezTo>
                  <a:close/>
                  <a:moveTo>
                    <a:pt x="215" y="64"/>
                  </a:moveTo>
                  <a:cubicBezTo>
                    <a:pt x="215" y="68"/>
                    <a:pt x="215" y="68"/>
                    <a:pt x="215" y="68"/>
                  </a:cubicBezTo>
                  <a:cubicBezTo>
                    <a:pt x="240" y="68"/>
                    <a:pt x="240" y="68"/>
                    <a:pt x="240" y="68"/>
                  </a:cubicBezTo>
                  <a:cubicBezTo>
                    <a:pt x="240" y="64"/>
                    <a:pt x="240" y="64"/>
                    <a:pt x="240" y="64"/>
                  </a:cubicBezTo>
                  <a:cubicBezTo>
                    <a:pt x="215" y="64"/>
                    <a:pt x="215" y="64"/>
                    <a:pt x="215" y="64"/>
                  </a:cubicBezTo>
                  <a:close/>
                  <a:moveTo>
                    <a:pt x="215" y="49"/>
                  </a:moveTo>
                  <a:cubicBezTo>
                    <a:pt x="215" y="54"/>
                    <a:pt x="215" y="54"/>
                    <a:pt x="215" y="54"/>
                  </a:cubicBezTo>
                  <a:cubicBezTo>
                    <a:pt x="240" y="54"/>
                    <a:pt x="240" y="54"/>
                    <a:pt x="240" y="54"/>
                  </a:cubicBezTo>
                  <a:cubicBezTo>
                    <a:pt x="240" y="49"/>
                    <a:pt x="240" y="49"/>
                    <a:pt x="240" y="49"/>
                  </a:cubicBezTo>
                  <a:cubicBezTo>
                    <a:pt x="215" y="49"/>
                    <a:pt x="215" y="49"/>
                    <a:pt x="215" y="49"/>
                  </a:cubicBezTo>
                  <a:close/>
                  <a:moveTo>
                    <a:pt x="215" y="35"/>
                  </a:moveTo>
                  <a:cubicBezTo>
                    <a:pt x="215" y="39"/>
                    <a:pt x="215" y="39"/>
                    <a:pt x="215" y="39"/>
                  </a:cubicBezTo>
                  <a:cubicBezTo>
                    <a:pt x="240" y="39"/>
                    <a:pt x="240" y="39"/>
                    <a:pt x="240" y="39"/>
                  </a:cubicBezTo>
                  <a:cubicBezTo>
                    <a:pt x="240" y="35"/>
                    <a:pt x="240" y="35"/>
                    <a:pt x="240" y="35"/>
                  </a:cubicBezTo>
                  <a:cubicBezTo>
                    <a:pt x="215" y="35"/>
                    <a:pt x="215" y="35"/>
                    <a:pt x="215" y="35"/>
                  </a:cubicBezTo>
                  <a:close/>
                  <a:moveTo>
                    <a:pt x="158" y="35"/>
                  </a:moveTo>
                  <a:cubicBezTo>
                    <a:pt x="158" y="74"/>
                    <a:pt x="158" y="74"/>
                    <a:pt x="158" y="74"/>
                  </a:cubicBezTo>
                  <a:cubicBezTo>
                    <a:pt x="206" y="74"/>
                    <a:pt x="206" y="74"/>
                    <a:pt x="206" y="74"/>
                  </a:cubicBezTo>
                  <a:cubicBezTo>
                    <a:pt x="206" y="35"/>
                    <a:pt x="206" y="35"/>
                    <a:pt x="206" y="35"/>
                  </a:cubicBezTo>
                  <a:cubicBezTo>
                    <a:pt x="158" y="35"/>
                    <a:pt x="158" y="35"/>
                    <a:pt x="158" y="35"/>
                  </a:cubicBezTo>
                  <a:close/>
                  <a:moveTo>
                    <a:pt x="67" y="123"/>
                  </a:moveTo>
                  <a:cubicBezTo>
                    <a:pt x="80" y="123"/>
                    <a:pt x="80" y="123"/>
                    <a:pt x="80" y="123"/>
                  </a:cubicBezTo>
                  <a:cubicBezTo>
                    <a:pt x="80" y="86"/>
                    <a:pt x="80" y="86"/>
                    <a:pt x="80" y="86"/>
                  </a:cubicBezTo>
                  <a:cubicBezTo>
                    <a:pt x="67" y="86"/>
                    <a:pt x="67" y="86"/>
                    <a:pt x="67" y="86"/>
                  </a:cubicBezTo>
                  <a:cubicBezTo>
                    <a:pt x="67" y="123"/>
                    <a:pt x="67" y="123"/>
                    <a:pt x="67" y="123"/>
                  </a:cubicBezTo>
                  <a:close/>
                  <a:moveTo>
                    <a:pt x="37" y="84"/>
                  </a:moveTo>
                  <a:cubicBezTo>
                    <a:pt x="43" y="92"/>
                    <a:pt x="43" y="92"/>
                    <a:pt x="43" y="92"/>
                  </a:cubicBezTo>
                  <a:cubicBezTo>
                    <a:pt x="69" y="74"/>
                    <a:pt x="69" y="74"/>
                    <a:pt x="69" y="74"/>
                  </a:cubicBezTo>
                  <a:cubicBezTo>
                    <a:pt x="83" y="74"/>
                    <a:pt x="83" y="74"/>
                    <a:pt x="83" y="74"/>
                  </a:cubicBezTo>
                  <a:cubicBezTo>
                    <a:pt x="91" y="83"/>
                    <a:pt x="91" y="83"/>
                    <a:pt x="91" y="83"/>
                  </a:cubicBezTo>
                  <a:cubicBezTo>
                    <a:pt x="92" y="84"/>
                    <a:pt x="92" y="84"/>
                    <a:pt x="92" y="84"/>
                  </a:cubicBezTo>
                  <a:cubicBezTo>
                    <a:pt x="93" y="84"/>
                    <a:pt x="93" y="84"/>
                    <a:pt x="93" y="84"/>
                  </a:cubicBezTo>
                  <a:cubicBezTo>
                    <a:pt x="105" y="88"/>
                    <a:pt x="105" y="88"/>
                    <a:pt x="105" y="88"/>
                  </a:cubicBezTo>
                  <a:cubicBezTo>
                    <a:pt x="111" y="90"/>
                    <a:pt x="111" y="90"/>
                    <a:pt x="111" y="90"/>
                  </a:cubicBezTo>
                  <a:cubicBezTo>
                    <a:pt x="112" y="84"/>
                    <a:pt x="112" y="84"/>
                    <a:pt x="112" y="84"/>
                  </a:cubicBezTo>
                  <a:cubicBezTo>
                    <a:pt x="116" y="60"/>
                    <a:pt x="116" y="60"/>
                    <a:pt x="116" y="60"/>
                  </a:cubicBezTo>
                  <a:cubicBezTo>
                    <a:pt x="124" y="58"/>
                    <a:pt x="124" y="58"/>
                    <a:pt x="124" y="58"/>
                  </a:cubicBezTo>
                  <a:cubicBezTo>
                    <a:pt x="126" y="66"/>
                    <a:pt x="126" y="66"/>
                    <a:pt x="126" y="66"/>
                  </a:cubicBezTo>
                  <a:cubicBezTo>
                    <a:pt x="135" y="57"/>
                    <a:pt x="135" y="57"/>
                    <a:pt x="135" y="57"/>
                  </a:cubicBezTo>
                  <a:cubicBezTo>
                    <a:pt x="145" y="48"/>
                    <a:pt x="145" y="48"/>
                    <a:pt x="145" y="48"/>
                  </a:cubicBezTo>
                  <a:cubicBezTo>
                    <a:pt x="132" y="45"/>
                    <a:pt x="132" y="45"/>
                    <a:pt x="132" y="45"/>
                  </a:cubicBezTo>
                  <a:cubicBezTo>
                    <a:pt x="120" y="41"/>
                    <a:pt x="120" y="41"/>
                    <a:pt x="120" y="41"/>
                  </a:cubicBezTo>
                  <a:cubicBezTo>
                    <a:pt x="122" y="49"/>
                    <a:pt x="122" y="49"/>
                    <a:pt x="122" y="49"/>
                  </a:cubicBezTo>
                  <a:cubicBezTo>
                    <a:pt x="109" y="52"/>
                    <a:pt x="109" y="52"/>
                    <a:pt x="109" y="52"/>
                  </a:cubicBezTo>
                  <a:cubicBezTo>
                    <a:pt x="107" y="54"/>
                    <a:pt x="107" y="54"/>
                    <a:pt x="107" y="54"/>
                  </a:cubicBezTo>
                  <a:cubicBezTo>
                    <a:pt x="107" y="56"/>
                    <a:pt x="107" y="56"/>
                    <a:pt x="107" y="56"/>
                  </a:cubicBezTo>
                  <a:cubicBezTo>
                    <a:pt x="103" y="77"/>
                    <a:pt x="103" y="77"/>
                    <a:pt x="103" y="77"/>
                  </a:cubicBezTo>
                  <a:cubicBezTo>
                    <a:pt x="97" y="75"/>
                    <a:pt x="97" y="75"/>
                    <a:pt x="97" y="75"/>
                  </a:cubicBezTo>
                  <a:cubicBezTo>
                    <a:pt x="89" y="67"/>
                    <a:pt x="89" y="67"/>
                    <a:pt x="89" y="67"/>
                  </a:cubicBezTo>
                  <a:cubicBezTo>
                    <a:pt x="89" y="66"/>
                    <a:pt x="89" y="66"/>
                    <a:pt x="89" y="66"/>
                  </a:cubicBezTo>
                  <a:cubicBezTo>
                    <a:pt x="87" y="65"/>
                    <a:pt x="87" y="65"/>
                    <a:pt x="87" y="65"/>
                  </a:cubicBezTo>
                  <a:cubicBezTo>
                    <a:pt x="68" y="63"/>
                    <a:pt x="68" y="63"/>
                    <a:pt x="68" y="63"/>
                  </a:cubicBezTo>
                  <a:cubicBezTo>
                    <a:pt x="37" y="84"/>
                    <a:pt x="37" y="84"/>
                    <a:pt x="37" y="84"/>
                  </a:cubicBezTo>
                  <a:close/>
                  <a:moveTo>
                    <a:pt x="48" y="123"/>
                  </a:moveTo>
                  <a:cubicBezTo>
                    <a:pt x="61" y="123"/>
                    <a:pt x="61" y="123"/>
                    <a:pt x="61" y="123"/>
                  </a:cubicBezTo>
                  <a:cubicBezTo>
                    <a:pt x="61" y="95"/>
                    <a:pt x="61" y="95"/>
                    <a:pt x="61" y="95"/>
                  </a:cubicBezTo>
                  <a:cubicBezTo>
                    <a:pt x="48" y="95"/>
                    <a:pt x="48" y="95"/>
                    <a:pt x="48" y="95"/>
                  </a:cubicBezTo>
                  <a:cubicBezTo>
                    <a:pt x="48" y="123"/>
                    <a:pt x="48" y="123"/>
                    <a:pt x="48" y="123"/>
                  </a:cubicBezTo>
                  <a:close/>
                  <a:moveTo>
                    <a:pt x="124" y="123"/>
                  </a:moveTo>
                  <a:cubicBezTo>
                    <a:pt x="137" y="123"/>
                    <a:pt x="137" y="123"/>
                    <a:pt x="137" y="123"/>
                  </a:cubicBezTo>
                  <a:cubicBezTo>
                    <a:pt x="137" y="69"/>
                    <a:pt x="137" y="69"/>
                    <a:pt x="137" y="69"/>
                  </a:cubicBezTo>
                  <a:cubicBezTo>
                    <a:pt x="124" y="69"/>
                    <a:pt x="124" y="69"/>
                    <a:pt x="124" y="69"/>
                  </a:cubicBezTo>
                  <a:cubicBezTo>
                    <a:pt x="124" y="123"/>
                    <a:pt x="124" y="123"/>
                    <a:pt x="124" y="123"/>
                  </a:cubicBezTo>
                  <a:close/>
                  <a:moveTo>
                    <a:pt x="105" y="123"/>
                  </a:moveTo>
                  <a:cubicBezTo>
                    <a:pt x="118" y="123"/>
                    <a:pt x="118" y="123"/>
                    <a:pt x="118" y="123"/>
                  </a:cubicBezTo>
                  <a:cubicBezTo>
                    <a:pt x="118" y="99"/>
                    <a:pt x="118" y="99"/>
                    <a:pt x="118" y="99"/>
                  </a:cubicBezTo>
                  <a:cubicBezTo>
                    <a:pt x="105" y="99"/>
                    <a:pt x="105" y="99"/>
                    <a:pt x="105" y="99"/>
                  </a:cubicBezTo>
                  <a:cubicBezTo>
                    <a:pt x="105" y="123"/>
                    <a:pt x="105" y="123"/>
                    <a:pt x="105" y="123"/>
                  </a:cubicBezTo>
                  <a:close/>
                  <a:moveTo>
                    <a:pt x="86" y="123"/>
                  </a:moveTo>
                  <a:cubicBezTo>
                    <a:pt x="98" y="123"/>
                    <a:pt x="98" y="123"/>
                    <a:pt x="98" y="123"/>
                  </a:cubicBezTo>
                  <a:cubicBezTo>
                    <a:pt x="98" y="93"/>
                    <a:pt x="98" y="93"/>
                    <a:pt x="98" y="93"/>
                  </a:cubicBezTo>
                  <a:cubicBezTo>
                    <a:pt x="86" y="93"/>
                    <a:pt x="86" y="93"/>
                    <a:pt x="86" y="93"/>
                  </a:cubicBezTo>
                  <a:cubicBezTo>
                    <a:pt x="86" y="123"/>
                    <a:pt x="86" y="123"/>
                    <a:pt x="86" y="123"/>
                  </a:cubicBezTo>
                  <a:close/>
                  <a:moveTo>
                    <a:pt x="179" y="145"/>
                  </a:moveTo>
                  <a:cubicBezTo>
                    <a:pt x="177" y="127"/>
                    <a:pt x="176" y="108"/>
                    <a:pt x="174" y="90"/>
                  </a:cubicBezTo>
                  <a:cubicBezTo>
                    <a:pt x="170" y="89"/>
                    <a:pt x="163" y="89"/>
                    <a:pt x="159" y="89"/>
                  </a:cubicBezTo>
                  <a:cubicBezTo>
                    <a:pt x="157" y="118"/>
                    <a:pt x="158" y="147"/>
                    <a:pt x="157" y="176"/>
                  </a:cubicBezTo>
                  <a:cubicBezTo>
                    <a:pt x="153" y="167"/>
                    <a:pt x="147" y="158"/>
                    <a:pt x="133" y="154"/>
                  </a:cubicBezTo>
                  <a:cubicBezTo>
                    <a:pt x="130" y="157"/>
                    <a:pt x="129" y="158"/>
                    <a:pt x="126" y="161"/>
                  </a:cubicBezTo>
                  <a:cubicBezTo>
                    <a:pt x="136" y="172"/>
                    <a:pt x="141" y="187"/>
                    <a:pt x="144" y="200"/>
                  </a:cubicBezTo>
                  <a:cubicBezTo>
                    <a:pt x="148" y="231"/>
                    <a:pt x="148" y="231"/>
                    <a:pt x="148" y="231"/>
                  </a:cubicBezTo>
                  <a:cubicBezTo>
                    <a:pt x="151" y="238"/>
                    <a:pt x="154" y="245"/>
                    <a:pt x="158" y="252"/>
                  </a:cubicBezTo>
                  <a:cubicBezTo>
                    <a:pt x="178" y="251"/>
                    <a:pt x="194" y="251"/>
                    <a:pt x="214" y="250"/>
                  </a:cubicBezTo>
                  <a:cubicBezTo>
                    <a:pt x="216" y="246"/>
                    <a:pt x="218" y="241"/>
                    <a:pt x="220" y="237"/>
                  </a:cubicBezTo>
                  <a:cubicBezTo>
                    <a:pt x="223" y="214"/>
                    <a:pt x="228" y="169"/>
                    <a:pt x="228" y="146"/>
                  </a:cubicBezTo>
                  <a:cubicBezTo>
                    <a:pt x="222" y="144"/>
                    <a:pt x="219" y="143"/>
                    <a:pt x="213" y="142"/>
                  </a:cubicBezTo>
                  <a:cubicBezTo>
                    <a:pt x="212" y="144"/>
                    <a:pt x="211" y="155"/>
                    <a:pt x="210" y="157"/>
                  </a:cubicBezTo>
                  <a:cubicBezTo>
                    <a:pt x="210" y="149"/>
                    <a:pt x="210" y="141"/>
                    <a:pt x="209" y="133"/>
                  </a:cubicBezTo>
                  <a:cubicBezTo>
                    <a:pt x="205" y="132"/>
                    <a:pt x="200" y="131"/>
                    <a:pt x="195" y="130"/>
                  </a:cubicBezTo>
                  <a:cubicBezTo>
                    <a:pt x="195" y="132"/>
                    <a:pt x="194" y="134"/>
                    <a:pt x="194" y="136"/>
                  </a:cubicBezTo>
                  <a:cubicBezTo>
                    <a:pt x="194" y="133"/>
                    <a:pt x="193" y="129"/>
                    <a:pt x="193" y="126"/>
                  </a:cubicBezTo>
                  <a:cubicBezTo>
                    <a:pt x="189" y="125"/>
                    <a:pt x="184" y="125"/>
                    <a:pt x="180" y="124"/>
                  </a:cubicBezTo>
                  <a:cubicBezTo>
                    <a:pt x="180" y="131"/>
                    <a:pt x="179" y="138"/>
                    <a:pt x="179" y="145"/>
                  </a:cubicBezTo>
                  <a:close/>
                  <a:moveTo>
                    <a:pt x="7" y="66"/>
                  </a:moveTo>
                  <a:cubicBezTo>
                    <a:pt x="7" y="114"/>
                    <a:pt x="7" y="114"/>
                    <a:pt x="7" y="114"/>
                  </a:cubicBezTo>
                  <a:cubicBezTo>
                    <a:pt x="15" y="114"/>
                    <a:pt x="15" y="114"/>
                    <a:pt x="15" y="114"/>
                  </a:cubicBezTo>
                  <a:cubicBezTo>
                    <a:pt x="15" y="66"/>
                    <a:pt x="15" y="66"/>
                    <a:pt x="15" y="66"/>
                  </a:cubicBezTo>
                  <a:lnTo>
                    <a:pt x="7" y="66"/>
                  </a:ln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sz="1400">
                <a:solidFill>
                  <a:prstClr val="black"/>
                </a:solidFill>
                <a:latin typeface="+mj-lt"/>
                <a:cs typeface="Segoe UI" panose="020B0502040204020203" pitchFamily="34" charset="0"/>
              </a:endParaRPr>
            </a:p>
          </p:txBody>
        </p:sp>
      </p:grpSp>
      <p:grpSp>
        <p:nvGrpSpPr>
          <p:cNvPr id="8" name="Group 7">
            <a:extLst>
              <a:ext uri="{FF2B5EF4-FFF2-40B4-BE49-F238E27FC236}">
                <a16:creationId xmlns:a16="http://schemas.microsoft.com/office/drawing/2014/main" id="{39EB1612-1FEC-0F4A-12C1-E03F99FF9C06}"/>
              </a:ext>
            </a:extLst>
          </p:cNvPr>
          <p:cNvGrpSpPr/>
          <p:nvPr/>
        </p:nvGrpSpPr>
        <p:grpSpPr>
          <a:xfrm>
            <a:off x="9828306" y="2810827"/>
            <a:ext cx="606357" cy="555333"/>
            <a:chOff x="7428118" y="1555302"/>
            <a:chExt cx="640080" cy="640080"/>
          </a:xfrm>
        </p:grpSpPr>
        <p:sp>
          <p:nvSpPr>
            <p:cNvPr id="25" name="Flowchart: Connector 24">
              <a:extLst>
                <a:ext uri="{FF2B5EF4-FFF2-40B4-BE49-F238E27FC236}">
                  <a16:creationId xmlns:a16="http://schemas.microsoft.com/office/drawing/2014/main" id="{3D5E03A1-DA46-7944-15DA-174CE69A11C8}"/>
                </a:ext>
              </a:extLst>
            </p:cNvPr>
            <p:cNvSpPr/>
            <p:nvPr/>
          </p:nvSpPr>
          <p:spPr>
            <a:xfrm>
              <a:off x="7428118" y="1555302"/>
              <a:ext cx="640080" cy="640080"/>
            </a:xfrm>
            <a:prstGeom prst="flowChartConnector">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mj-lt"/>
                <a:cs typeface="Segoe UI" panose="020B0502040204020203" pitchFamily="34" charset="0"/>
              </a:endParaRPr>
            </a:p>
          </p:txBody>
        </p:sp>
        <p:sp>
          <p:nvSpPr>
            <p:cNvPr id="26" name="Freeform 68">
              <a:extLst>
                <a:ext uri="{FF2B5EF4-FFF2-40B4-BE49-F238E27FC236}">
                  <a16:creationId xmlns:a16="http://schemas.microsoft.com/office/drawing/2014/main" id="{A90BB976-47B1-EED0-B401-EFD75E223BAA}"/>
                </a:ext>
              </a:extLst>
            </p:cNvPr>
            <p:cNvSpPr>
              <a:spLocks noEditPoints="1"/>
            </p:cNvSpPr>
            <p:nvPr/>
          </p:nvSpPr>
          <p:spPr bwMode="auto">
            <a:xfrm>
              <a:off x="7484464" y="1646742"/>
              <a:ext cx="457200" cy="457200"/>
            </a:xfrm>
            <a:custGeom>
              <a:avLst/>
              <a:gdLst>
                <a:gd name="T0" fmla="*/ 126 w 357"/>
                <a:gd name="T1" fmla="*/ 291 h 381"/>
                <a:gd name="T2" fmla="*/ 321 w 357"/>
                <a:gd name="T3" fmla="*/ 63 h 381"/>
                <a:gd name="T4" fmla="*/ 332 w 357"/>
                <a:gd name="T5" fmla="*/ 113 h 381"/>
                <a:gd name="T6" fmla="*/ 335 w 357"/>
                <a:gd name="T7" fmla="*/ 178 h 381"/>
                <a:gd name="T8" fmla="*/ 337 w 357"/>
                <a:gd name="T9" fmla="*/ 245 h 381"/>
                <a:gd name="T10" fmla="*/ 321 w 357"/>
                <a:gd name="T11" fmla="*/ 313 h 381"/>
                <a:gd name="T12" fmla="*/ 271 w 357"/>
                <a:gd name="T13" fmla="*/ 381 h 381"/>
                <a:gd name="T14" fmla="*/ 172 w 357"/>
                <a:gd name="T15" fmla="*/ 225 h 381"/>
                <a:gd name="T16" fmla="*/ 122 w 357"/>
                <a:gd name="T17" fmla="*/ 197 h 381"/>
                <a:gd name="T18" fmla="*/ 125 w 357"/>
                <a:gd name="T19" fmla="*/ 207 h 381"/>
                <a:gd name="T20" fmla="*/ 174 w 357"/>
                <a:gd name="T21" fmla="*/ 236 h 381"/>
                <a:gd name="T22" fmla="*/ 172 w 357"/>
                <a:gd name="T23" fmla="*/ 225 h 381"/>
                <a:gd name="T24" fmla="*/ 288 w 357"/>
                <a:gd name="T25" fmla="*/ 136 h 381"/>
                <a:gd name="T26" fmla="*/ 263 w 357"/>
                <a:gd name="T27" fmla="*/ 124 h 381"/>
                <a:gd name="T28" fmla="*/ 170 w 357"/>
                <a:gd name="T29" fmla="*/ 69 h 381"/>
                <a:gd name="T30" fmla="*/ 148 w 357"/>
                <a:gd name="T31" fmla="*/ 53 h 381"/>
                <a:gd name="T32" fmla="*/ 170 w 357"/>
                <a:gd name="T33" fmla="*/ 69 h 381"/>
                <a:gd name="T34" fmla="*/ 204 w 357"/>
                <a:gd name="T35" fmla="*/ 39 h 381"/>
                <a:gd name="T36" fmla="*/ 192 w 357"/>
                <a:gd name="T37" fmla="*/ 64 h 381"/>
                <a:gd name="T38" fmla="*/ 257 w 357"/>
                <a:gd name="T39" fmla="*/ 102 h 381"/>
                <a:gd name="T40" fmla="*/ 273 w 357"/>
                <a:gd name="T41" fmla="*/ 80 h 381"/>
                <a:gd name="T42" fmla="*/ 257 w 357"/>
                <a:gd name="T43" fmla="*/ 102 h 381"/>
                <a:gd name="T44" fmla="*/ 248 w 357"/>
                <a:gd name="T45" fmla="*/ 54 h 381"/>
                <a:gd name="T46" fmla="*/ 226 w 357"/>
                <a:gd name="T47" fmla="*/ 70 h 381"/>
                <a:gd name="T48" fmla="*/ 182 w 357"/>
                <a:gd name="T49" fmla="*/ 208 h 381"/>
                <a:gd name="T50" fmla="*/ 132 w 357"/>
                <a:gd name="T51" fmla="*/ 180 h 381"/>
                <a:gd name="T52" fmla="*/ 135 w 357"/>
                <a:gd name="T53" fmla="*/ 190 h 381"/>
                <a:gd name="T54" fmla="*/ 184 w 357"/>
                <a:gd name="T55" fmla="*/ 218 h 381"/>
                <a:gd name="T56" fmla="*/ 182 w 357"/>
                <a:gd name="T57" fmla="*/ 208 h 381"/>
                <a:gd name="T58" fmla="*/ 156 w 357"/>
                <a:gd name="T59" fmla="*/ 104 h 381"/>
                <a:gd name="T60" fmla="*/ 185 w 357"/>
                <a:gd name="T61" fmla="*/ 194 h 381"/>
                <a:gd name="T62" fmla="*/ 222 w 357"/>
                <a:gd name="T63" fmla="*/ 89 h 381"/>
                <a:gd name="T64" fmla="*/ 135 w 357"/>
                <a:gd name="T65" fmla="*/ 237 h 381"/>
                <a:gd name="T66" fmla="*/ 129 w 357"/>
                <a:gd name="T67" fmla="*/ 215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381">
                  <a:moveTo>
                    <a:pt x="130" y="381"/>
                  </a:moveTo>
                  <a:cubicBezTo>
                    <a:pt x="135" y="351"/>
                    <a:pt x="135" y="319"/>
                    <a:pt x="126" y="291"/>
                  </a:cubicBezTo>
                  <a:cubicBezTo>
                    <a:pt x="0" y="220"/>
                    <a:pt x="33" y="55"/>
                    <a:pt x="140" y="22"/>
                  </a:cubicBezTo>
                  <a:cubicBezTo>
                    <a:pt x="195" y="0"/>
                    <a:pt x="272" y="13"/>
                    <a:pt x="321" y="63"/>
                  </a:cubicBezTo>
                  <a:cubicBezTo>
                    <a:pt x="357" y="99"/>
                    <a:pt x="340" y="108"/>
                    <a:pt x="340" y="108"/>
                  </a:cubicBezTo>
                  <a:cubicBezTo>
                    <a:pt x="332" y="113"/>
                    <a:pt x="332" y="113"/>
                    <a:pt x="332" y="113"/>
                  </a:cubicBezTo>
                  <a:cubicBezTo>
                    <a:pt x="337" y="130"/>
                    <a:pt x="344" y="161"/>
                    <a:pt x="343" y="166"/>
                  </a:cubicBezTo>
                  <a:cubicBezTo>
                    <a:pt x="342" y="172"/>
                    <a:pt x="335" y="178"/>
                    <a:pt x="335" y="178"/>
                  </a:cubicBezTo>
                  <a:cubicBezTo>
                    <a:pt x="353" y="238"/>
                    <a:pt x="353" y="238"/>
                    <a:pt x="353" y="238"/>
                  </a:cubicBezTo>
                  <a:cubicBezTo>
                    <a:pt x="337" y="245"/>
                    <a:pt x="337" y="245"/>
                    <a:pt x="337" y="245"/>
                  </a:cubicBezTo>
                  <a:cubicBezTo>
                    <a:pt x="341" y="264"/>
                    <a:pt x="343" y="280"/>
                    <a:pt x="341" y="300"/>
                  </a:cubicBezTo>
                  <a:cubicBezTo>
                    <a:pt x="341" y="303"/>
                    <a:pt x="330" y="313"/>
                    <a:pt x="321" y="313"/>
                  </a:cubicBezTo>
                  <a:cubicBezTo>
                    <a:pt x="267" y="317"/>
                    <a:pt x="267" y="317"/>
                    <a:pt x="267" y="317"/>
                  </a:cubicBezTo>
                  <a:cubicBezTo>
                    <a:pt x="271" y="381"/>
                    <a:pt x="271" y="381"/>
                    <a:pt x="271" y="381"/>
                  </a:cubicBezTo>
                  <a:cubicBezTo>
                    <a:pt x="130" y="381"/>
                    <a:pt x="130" y="381"/>
                    <a:pt x="130" y="381"/>
                  </a:cubicBezTo>
                  <a:close/>
                  <a:moveTo>
                    <a:pt x="172" y="225"/>
                  </a:moveTo>
                  <a:cubicBezTo>
                    <a:pt x="131" y="195"/>
                    <a:pt x="131" y="195"/>
                    <a:pt x="131" y="195"/>
                  </a:cubicBezTo>
                  <a:cubicBezTo>
                    <a:pt x="128" y="193"/>
                    <a:pt x="124" y="194"/>
                    <a:pt x="122" y="197"/>
                  </a:cubicBezTo>
                  <a:cubicBezTo>
                    <a:pt x="122" y="197"/>
                    <a:pt x="122" y="197"/>
                    <a:pt x="122" y="197"/>
                  </a:cubicBezTo>
                  <a:cubicBezTo>
                    <a:pt x="121" y="200"/>
                    <a:pt x="122" y="205"/>
                    <a:pt x="125" y="207"/>
                  </a:cubicBezTo>
                  <a:cubicBezTo>
                    <a:pt x="165" y="237"/>
                    <a:pt x="165" y="237"/>
                    <a:pt x="165" y="237"/>
                  </a:cubicBezTo>
                  <a:cubicBezTo>
                    <a:pt x="168" y="240"/>
                    <a:pt x="172" y="239"/>
                    <a:pt x="174" y="236"/>
                  </a:cubicBezTo>
                  <a:cubicBezTo>
                    <a:pt x="174" y="236"/>
                    <a:pt x="174" y="236"/>
                    <a:pt x="174" y="236"/>
                  </a:cubicBezTo>
                  <a:cubicBezTo>
                    <a:pt x="176" y="232"/>
                    <a:pt x="175" y="228"/>
                    <a:pt x="172" y="225"/>
                  </a:cubicBezTo>
                  <a:close/>
                  <a:moveTo>
                    <a:pt x="263" y="136"/>
                  </a:moveTo>
                  <a:cubicBezTo>
                    <a:pt x="288" y="136"/>
                    <a:pt x="288" y="136"/>
                    <a:pt x="288" y="136"/>
                  </a:cubicBezTo>
                  <a:cubicBezTo>
                    <a:pt x="288" y="124"/>
                    <a:pt x="288" y="124"/>
                    <a:pt x="288" y="124"/>
                  </a:cubicBezTo>
                  <a:cubicBezTo>
                    <a:pt x="263" y="124"/>
                    <a:pt x="263" y="124"/>
                    <a:pt x="263" y="124"/>
                  </a:cubicBezTo>
                  <a:cubicBezTo>
                    <a:pt x="263" y="136"/>
                    <a:pt x="263" y="136"/>
                    <a:pt x="263" y="136"/>
                  </a:cubicBezTo>
                  <a:close/>
                  <a:moveTo>
                    <a:pt x="170" y="69"/>
                  </a:moveTo>
                  <a:cubicBezTo>
                    <a:pt x="158" y="48"/>
                    <a:pt x="158" y="48"/>
                    <a:pt x="158" y="48"/>
                  </a:cubicBezTo>
                  <a:cubicBezTo>
                    <a:pt x="148" y="53"/>
                    <a:pt x="148" y="53"/>
                    <a:pt x="148" y="53"/>
                  </a:cubicBezTo>
                  <a:cubicBezTo>
                    <a:pt x="160" y="75"/>
                    <a:pt x="160" y="75"/>
                    <a:pt x="160" y="75"/>
                  </a:cubicBezTo>
                  <a:cubicBezTo>
                    <a:pt x="170" y="69"/>
                    <a:pt x="170" y="69"/>
                    <a:pt x="170" y="69"/>
                  </a:cubicBezTo>
                  <a:close/>
                  <a:moveTo>
                    <a:pt x="204" y="64"/>
                  </a:moveTo>
                  <a:cubicBezTo>
                    <a:pt x="204" y="39"/>
                    <a:pt x="204" y="39"/>
                    <a:pt x="204" y="39"/>
                  </a:cubicBezTo>
                  <a:cubicBezTo>
                    <a:pt x="192" y="39"/>
                    <a:pt x="192" y="39"/>
                    <a:pt x="192" y="39"/>
                  </a:cubicBezTo>
                  <a:cubicBezTo>
                    <a:pt x="192" y="64"/>
                    <a:pt x="192" y="64"/>
                    <a:pt x="192" y="64"/>
                  </a:cubicBezTo>
                  <a:cubicBezTo>
                    <a:pt x="204" y="64"/>
                    <a:pt x="204" y="64"/>
                    <a:pt x="204" y="64"/>
                  </a:cubicBezTo>
                  <a:close/>
                  <a:moveTo>
                    <a:pt x="257" y="102"/>
                  </a:moveTo>
                  <a:cubicBezTo>
                    <a:pt x="279" y="90"/>
                    <a:pt x="279" y="90"/>
                    <a:pt x="279" y="90"/>
                  </a:cubicBezTo>
                  <a:cubicBezTo>
                    <a:pt x="273" y="80"/>
                    <a:pt x="273" y="80"/>
                    <a:pt x="273" y="80"/>
                  </a:cubicBezTo>
                  <a:cubicBezTo>
                    <a:pt x="251" y="92"/>
                    <a:pt x="251" y="92"/>
                    <a:pt x="251" y="92"/>
                  </a:cubicBezTo>
                  <a:cubicBezTo>
                    <a:pt x="257" y="102"/>
                    <a:pt x="257" y="102"/>
                    <a:pt x="257" y="102"/>
                  </a:cubicBezTo>
                  <a:close/>
                  <a:moveTo>
                    <a:pt x="236" y="76"/>
                  </a:moveTo>
                  <a:cubicBezTo>
                    <a:pt x="248" y="54"/>
                    <a:pt x="248" y="54"/>
                    <a:pt x="248" y="54"/>
                  </a:cubicBezTo>
                  <a:cubicBezTo>
                    <a:pt x="238" y="48"/>
                    <a:pt x="238" y="48"/>
                    <a:pt x="238" y="48"/>
                  </a:cubicBezTo>
                  <a:cubicBezTo>
                    <a:pt x="226" y="70"/>
                    <a:pt x="226" y="70"/>
                    <a:pt x="226" y="70"/>
                  </a:cubicBezTo>
                  <a:cubicBezTo>
                    <a:pt x="236" y="76"/>
                    <a:pt x="236" y="76"/>
                    <a:pt x="236" y="76"/>
                  </a:cubicBezTo>
                  <a:close/>
                  <a:moveTo>
                    <a:pt x="182" y="208"/>
                  </a:moveTo>
                  <a:cubicBezTo>
                    <a:pt x="141" y="178"/>
                    <a:pt x="141" y="178"/>
                    <a:pt x="141" y="178"/>
                  </a:cubicBezTo>
                  <a:cubicBezTo>
                    <a:pt x="138" y="175"/>
                    <a:pt x="134" y="176"/>
                    <a:pt x="132" y="180"/>
                  </a:cubicBezTo>
                  <a:cubicBezTo>
                    <a:pt x="132" y="180"/>
                    <a:pt x="132" y="180"/>
                    <a:pt x="132" y="180"/>
                  </a:cubicBezTo>
                  <a:cubicBezTo>
                    <a:pt x="131" y="183"/>
                    <a:pt x="131" y="187"/>
                    <a:pt x="135" y="190"/>
                  </a:cubicBezTo>
                  <a:cubicBezTo>
                    <a:pt x="175" y="220"/>
                    <a:pt x="175" y="220"/>
                    <a:pt x="175" y="220"/>
                  </a:cubicBezTo>
                  <a:cubicBezTo>
                    <a:pt x="178" y="222"/>
                    <a:pt x="182" y="222"/>
                    <a:pt x="184" y="218"/>
                  </a:cubicBezTo>
                  <a:cubicBezTo>
                    <a:pt x="184" y="218"/>
                    <a:pt x="184" y="218"/>
                    <a:pt x="184" y="218"/>
                  </a:cubicBezTo>
                  <a:cubicBezTo>
                    <a:pt x="186" y="215"/>
                    <a:pt x="185" y="211"/>
                    <a:pt x="182" y="208"/>
                  </a:cubicBezTo>
                  <a:close/>
                  <a:moveTo>
                    <a:pt x="222" y="89"/>
                  </a:moveTo>
                  <a:cubicBezTo>
                    <a:pt x="198" y="76"/>
                    <a:pt x="169" y="82"/>
                    <a:pt x="156" y="104"/>
                  </a:cubicBezTo>
                  <a:cubicBezTo>
                    <a:pt x="143" y="126"/>
                    <a:pt x="160" y="150"/>
                    <a:pt x="148" y="173"/>
                  </a:cubicBezTo>
                  <a:cubicBezTo>
                    <a:pt x="185" y="194"/>
                    <a:pt x="185" y="194"/>
                    <a:pt x="185" y="194"/>
                  </a:cubicBezTo>
                  <a:cubicBezTo>
                    <a:pt x="199" y="173"/>
                    <a:pt x="229" y="175"/>
                    <a:pt x="242" y="153"/>
                  </a:cubicBezTo>
                  <a:cubicBezTo>
                    <a:pt x="254" y="132"/>
                    <a:pt x="245" y="103"/>
                    <a:pt x="222" y="89"/>
                  </a:cubicBezTo>
                  <a:close/>
                  <a:moveTo>
                    <a:pt x="129" y="215"/>
                  </a:moveTo>
                  <a:cubicBezTo>
                    <a:pt x="125" y="223"/>
                    <a:pt x="128" y="233"/>
                    <a:pt x="135" y="237"/>
                  </a:cubicBezTo>
                  <a:cubicBezTo>
                    <a:pt x="142" y="241"/>
                    <a:pt x="150" y="240"/>
                    <a:pt x="155" y="235"/>
                  </a:cubicBezTo>
                  <a:lnTo>
                    <a:pt x="129" y="215"/>
                  </a:ln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sz="1400">
                <a:solidFill>
                  <a:prstClr val="black"/>
                </a:solidFill>
                <a:latin typeface="+mj-lt"/>
                <a:cs typeface="Segoe UI" panose="020B0502040204020203" pitchFamily="34" charset="0"/>
              </a:endParaRPr>
            </a:p>
          </p:txBody>
        </p:sp>
      </p:grpSp>
      <p:sp>
        <p:nvSpPr>
          <p:cNvPr id="9" name="TextBox 8">
            <a:extLst>
              <a:ext uri="{FF2B5EF4-FFF2-40B4-BE49-F238E27FC236}">
                <a16:creationId xmlns:a16="http://schemas.microsoft.com/office/drawing/2014/main" id="{131383DF-A112-CBEB-6111-04C55D8AB1B2}"/>
              </a:ext>
            </a:extLst>
          </p:cNvPr>
          <p:cNvSpPr txBox="1"/>
          <p:nvPr/>
        </p:nvSpPr>
        <p:spPr>
          <a:xfrm>
            <a:off x="771378" y="3374658"/>
            <a:ext cx="3119612" cy="323165"/>
          </a:xfrm>
          <a:prstGeom prst="rect">
            <a:avLst/>
          </a:prstGeom>
          <a:noFill/>
        </p:spPr>
        <p:txBody>
          <a:bodyPr wrap="square">
            <a:spAutoFit/>
          </a:bodyPr>
          <a:lstStyle/>
          <a:p>
            <a:pPr algn="ctr"/>
            <a:r>
              <a:rPr lang="pl-PL" sz="1500" b="1">
                <a:solidFill>
                  <a:srgbClr val="00B050"/>
                </a:solidFill>
              </a:rPr>
              <a:t>Tier 1 – Legacy System X-Ray</a:t>
            </a:r>
            <a:endParaRPr lang="en-US" sz="1500" b="1">
              <a:solidFill>
                <a:srgbClr val="00B050"/>
              </a:solidFill>
              <a:latin typeface="+mj-lt"/>
              <a:cs typeface="Segoe UI" panose="020B0502040204020203" pitchFamily="34" charset="0"/>
            </a:endParaRPr>
          </a:p>
        </p:txBody>
      </p:sp>
      <p:sp>
        <p:nvSpPr>
          <p:cNvPr id="10" name="TextBox 9">
            <a:extLst>
              <a:ext uri="{FF2B5EF4-FFF2-40B4-BE49-F238E27FC236}">
                <a16:creationId xmlns:a16="http://schemas.microsoft.com/office/drawing/2014/main" id="{2344E47B-0490-17DD-88BA-2E1F4D60EA51}"/>
              </a:ext>
            </a:extLst>
          </p:cNvPr>
          <p:cNvSpPr txBox="1"/>
          <p:nvPr/>
        </p:nvSpPr>
        <p:spPr>
          <a:xfrm>
            <a:off x="4292678" y="3353948"/>
            <a:ext cx="3427159" cy="538609"/>
          </a:xfrm>
          <a:prstGeom prst="rect">
            <a:avLst/>
          </a:prstGeom>
          <a:noFill/>
        </p:spPr>
        <p:txBody>
          <a:bodyPr wrap="square">
            <a:spAutoFit/>
          </a:bodyPr>
          <a:lstStyle/>
          <a:p>
            <a:pPr algn="ctr"/>
            <a:r>
              <a:rPr lang="en-US" sz="1500" b="1">
                <a:solidFill>
                  <a:srgbClr val="00B050"/>
                </a:solidFill>
              </a:rPr>
              <a:t>Tier 2 – Legacy Code Navigator </a:t>
            </a:r>
          </a:p>
          <a:p>
            <a:pPr algn="ctr"/>
            <a:r>
              <a:rPr lang="en-US" sz="1400" b="1">
                <a:solidFill>
                  <a:schemeClr val="accent4"/>
                </a:solidFill>
                <a:latin typeface="+mj-lt"/>
              </a:rPr>
              <a:t>(Team Copilot: 8-10 weeks)</a:t>
            </a:r>
          </a:p>
        </p:txBody>
      </p:sp>
      <p:sp>
        <p:nvSpPr>
          <p:cNvPr id="11" name="TextBox 10">
            <a:extLst>
              <a:ext uri="{FF2B5EF4-FFF2-40B4-BE49-F238E27FC236}">
                <a16:creationId xmlns:a16="http://schemas.microsoft.com/office/drawing/2014/main" id="{C9C9A87F-B8DF-76FD-C0E5-341AD5775192}"/>
              </a:ext>
            </a:extLst>
          </p:cNvPr>
          <p:cNvSpPr txBox="1"/>
          <p:nvPr/>
        </p:nvSpPr>
        <p:spPr>
          <a:xfrm>
            <a:off x="8575386" y="3374651"/>
            <a:ext cx="3045706" cy="569387"/>
          </a:xfrm>
          <a:prstGeom prst="rect">
            <a:avLst/>
          </a:prstGeom>
          <a:noFill/>
        </p:spPr>
        <p:txBody>
          <a:bodyPr wrap="square">
            <a:spAutoFit/>
          </a:bodyPr>
          <a:lstStyle/>
          <a:p>
            <a:pPr algn="ctr"/>
            <a:r>
              <a:rPr lang="en-US" sz="1500" b="1">
                <a:solidFill>
                  <a:srgbClr val="00B050"/>
                </a:solidFill>
                <a:latin typeface="+mj-lt"/>
                <a:cs typeface="Segoe UI" panose="020B0502040204020203" pitchFamily="34" charset="0"/>
              </a:rPr>
              <a:t>Tier 3 – Modernization Accelerator</a:t>
            </a:r>
            <a:r>
              <a:rPr lang="en-US" sz="1400" b="1">
                <a:solidFill>
                  <a:schemeClr val="accent4"/>
                </a:solidFill>
                <a:latin typeface="+mj-lt"/>
              </a:rPr>
              <a:t>(10-12 weeks)</a:t>
            </a:r>
            <a:r>
              <a:rPr lang="en-US" sz="1400" b="1">
                <a:solidFill>
                  <a:srgbClr val="00B050"/>
                </a:solidFill>
                <a:latin typeface="+mj-lt"/>
                <a:cs typeface="Segoe UI" panose="020B0502040204020203" pitchFamily="34" charset="0"/>
              </a:rPr>
              <a:t> </a:t>
            </a:r>
            <a:endParaRPr lang="en-US" sz="1500" b="1">
              <a:solidFill>
                <a:srgbClr val="00B050"/>
              </a:solidFill>
              <a:latin typeface="+mj-lt"/>
              <a:cs typeface="Segoe UI" panose="020B0502040204020203" pitchFamily="34" charset="0"/>
            </a:endParaRPr>
          </a:p>
        </p:txBody>
      </p:sp>
      <p:sp>
        <p:nvSpPr>
          <p:cNvPr id="13" name="TextBox 12">
            <a:extLst>
              <a:ext uri="{FF2B5EF4-FFF2-40B4-BE49-F238E27FC236}">
                <a16:creationId xmlns:a16="http://schemas.microsoft.com/office/drawing/2014/main" id="{0F99BEC3-6124-D1F5-B6E6-EFC96F03F3C5}"/>
              </a:ext>
            </a:extLst>
          </p:cNvPr>
          <p:cNvSpPr txBox="1"/>
          <p:nvPr/>
        </p:nvSpPr>
        <p:spPr>
          <a:xfrm>
            <a:off x="383676" y="3826866"/>
            <a:ext cx="2357471" cy="2403877"/>
          </a:xfrm>
          <a:prstGeom prst="rect">
            <a:avLst/>
          </a:prstGeom>
          <a:noFill/>
        </p:spPr>
        <p:txBody>
          <a:bodyPr wrap="square" rtlCol="0">
            <a:noAutofit/>
          </a:bodyPr>
          <a:lstStyle/>
          <a:p>
            <a:pPr algn="ctr">
              <a:spcBef>
                <a:spcPts val="300"/>
              </a:spcBef>
              <a:spcAft>
                <a:spcPts val="600"/>
              </a:spcAft>
            </a:pPr>
            <a:endParaRPr lang="en-US" sz="1200">
              <a:solidFill>
                <a:schemeClr val="dk1"/>
              </a:solidFill>
              <a:latin typeface="+mj-lt"/>
              <a:ea typeface="Lato Light"/>
              <a:cs typeface="Segoe UI" panose="020B0502040204020203" pitchFamily="34" charset="0"/>
              <a:sym typeface="Lato Light"/>
            </a:endParaRPr>
          </a:p>
        </p:txBody>
      </p:sp>
      <p:grpSp>
        <p:nvGrpSpPr>
          <p:cNvPr id="42" name="Group 41">
            <a:extLst>
              <a:ext uri="{FF2B5EF4-FFF2-40B4-BE49-F238E27FC236}">
                <a16:creationId xmlns:a16="http://schemas.microsoft.com/office/drawing/2014/main" id="{D7D09A47-DE6A-CCE7-78A5-5F0AAD399F4A}"/>
              </a:ext>
            </a:extLst>
          </p:cNvPr>
          <p:cNvGrpSpPr/>
          <p:nvPr/>
        </p:nvGrpSpPr>
        <p:grpSpPr>
          <a:xfrm>
            <a:off x="216384" y="3542772"/>
            <a:ext cx="11649916" cy="2772632"/>
            <a:chOff x="216384" y="3317922"/>
            <a:chExt cx="11649916" cy="2772632"/>
          </a:xfrm>
        </p:grpSpPr>
        <p:sp>
          <p:nvSpPr>
            <p:cNvPr id="12" name="Rectangle: Rounded Corners 11">
              <a:extLst>
                <a:ext uri="{FF2B5EF4-FFF2-40B4-BE49-F238E27FC236}">
                  <a16:creationId xmlns:a16="http://schemas.microsoft.com/office/drawing/2014/main" id="{12EB3222-C212-43CA-13DD-915F47B84B60}"/>
                </a:ext>
              </a:extLst>
            </p:cNvPr>
            <p:cNvSpPr/>
            <p:nvPr/>
          </p:nvSpPr>
          <p:spPr>
            <a:xfrm>
              <a:off x="216384" y="3706816"/>
              <a:ext cx="11591940" cy="2383733"/>
            </a:xfrm>
            <a:prstGeom prst="roundRect">
              <a:avLst>
                <a:gd name="adj" fmla="val 5269"/>
              </a:avLst>
            </a:prstGeom>
            <a:solidFill>
              <a:schemeClr val="bg1">
                <a:lumMod val="95000"/>
              </a:schemeClr>
            </a:solidFill>
            <a:ln>
              <a:gradFill>
                <a:gsLst>
                  <a:gs pos="0">
                    <a:srgbClr val="CF4627"/>
                  </a:gs>
                  <a:gs pos="100000">
                    <a:schemeClr val="accent5">
                      <a:lumMod val="7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latin typeface="+mj-lt"/>
              </a:endParaRPr>
            </a:p>
          </p:txBody>
        </p:sp>
        <p:sp>
          <p:nvSpPr>
            <p:cNvPr id="14" name="TextBox 13">
              <a:extLst>
                <a:ext uri="{FF2B5EF4-FFF2-40B4-BE49-F238E27FC236}">
                  <a16:creationId xmlns:a16="http://schemas.microsoft.com/office/drawing/2014/main" id="{3B894BA2-4E26-3432-E4D5-083350821269}"/>
                </a:ext>
              </a:extLst>
            </p:cNvPr>
            <p:cNvSpPr txBox="1"/>
            <p:nvPr/>
          </p:nvSpPr>
          <p:spPr>
            <a:xfrm>
              <a:off x="6893993" y="3317922"/>
              <a:ext cx="2930727" cy="2772632"/>
            </a:xfrm>
            <a:prstGeom prst="rect">
              <a:avLst/>
            </a:prstGeom>
            <a:noFill/>
          </p:spPr>
          <p:txBody>
            <a:bodyPr wrap="square" rtlCol="0">
              <a:noAutofit/>
            </a:bodyPr>
            <a:lstStyle/>
            <a:p>
              <a:pPr algn="ctr">
                <a:spcBef>
                  <a:spcPts val="300"/>
                </a:spcBef>
              </a:pPr>
              <a:endParaRPr lang="en-US" sz="1200">
                <a:solidFill>
                  <a:schemeClr val="dk1"/>
                </a:solidFill>
                <a:latin typeface="+mj-lt"/>
                <a:ea typeface="Lato Light"/>
                <a:cs typeface="Segoe UI" panose="020B0502040204020203" pitchFamily="34" charset="0"/>
                <a:sym typeface="Lato Light"/>
              </a:endParaRPr>
            </a:p>
          </p:txBody>
        </p:sp>
        <p:grpSp>
          <p:nvGrpSpPr>
            <p:cNvPr id="19" name="Group 18">
              <a:extLst>
                <a:ext uri="{FF2B5EF4-FFF2-40B4-BE49-F238E27FC236}">
                  <a16:creationId xmlns:a16="http://schemas.microsoft.com/office/drawing/2014/main" id="{FD288906-C5BD-084F-82FC-A8249EA798BE}"/>
                </a:ext>
              </a:extLst>
            </p:cNvPr>
            <p:cNvGrpSpPr/>
            <p:nvPr/>
          </p:nvGrpSpPr>
          <p:grpSpPr>
            <a:xfrm>
              <a:off x="4072531" y="4239970"/>
              <a:ext cx="2945" cy="1208201"/>
              <a:chOff x="4879854" y="1401989"/>
              <a:chExt cx="3407" cy="1193638"/>
            </a:xfrm>
          </p:grpSpPr>
          <p:cxnSp>
            <p:nvCxnSpPr>
              <p:cNvPr id="23" name="Straight Connector 22">
                <a:extLst>
                  <a:ext uri="{FF2B5EF4-FFF2-40B4-BE49-F238E27FC236}">
                    <a16:creationId xmlns:a16="http://schemas.microsoft.com/office/drawing/2014/main" id="{141BE597-C41E-EE30-682E-D4912B6C6D1D}"/>
                  </a:ext>
                </a:extLst>
              </p:cNvPr>
              <p:cNvCxnSpPr>
                <a:cxnSpLocks/>
              </p:cNvCxnSpPr>
              <p:nvPr/>
            </p:nvCxnSpPr>
            <p:spPr>
              <a:xfrm>
                <a:off x="4879854" y="1401989"/>
                <a:ext cx="0" cy="1193638"/>
              </a:xfrm>
              <a:prstGeom prst="line">
                <a:avLst/>
              </a:prstGeom>
              <a:ln w="12700" cap="rnd">
                <a:gradFill>
                  <a:gsLst>
                    <a:gs pos="0">
                      <a:srgbClr val="CF4627"/>
                    </a:gs>
                    <a:gs pos="100000">
                      <a:schemeClr val="accent5">
                        <a:lumMod val="75000"/>
                      </a:schemeClr>
                    </a:gs>
                  </a:gsLst>
                  <a:lin ang="5400000" scaled="1"/>
                </a:gradFill>
                <a:prstDash val="sysDash"/>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E70D530-5B48-30F6-37CE-D954A9BA9345}"/>
                  </a:ext>
                </a:extLst>
              </p:cNvPr>
              <p:cNvCxnSpPr>
                <a:cxnSpLocks/>
              </p:cNvCxnSpPr>
              <p:nvPr/>
            </p:nvCxnSpPr>
            <p:spPr>
              <a:xfrm>
                <a:off x="4883261" y="1808856"/>
                <a:ext cx="0" cy="342521"/>
              </a:xfrm>
              <a:prstGeom prst="line">
                <a:avLst/>
              </a:prstGeom>
              <a:ln w="38100" cap="rnd">
                <a:gradFill>
                  <a:gsLst>
                    <a:gs pos="0">
                      <a:srgbClr val="CF4627"/>
                    </a:gs>
                    <a:gs pos="100000">
                      <a:schemeClr val="accent5">
                        <a:lumMod val="75000"/>
                      </a:schemeClr>
                    </a:gs>
                  </a:gsLst>
                  <a:lin ang="5400000" scaled="1"/>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A83DAB9C-C32D-3508-740A-B2161F7FCA41}"/>
                </a:ext>
              </a:extLst>
            </p:cNvPr>
            <p:cNvGrpSpPr/>
            <p:nvPr/>
          </p:nvGrpSpPr>
          <p:grpSpPr>
            <a:xfrm>
              <a:off x="8470153" y="4254960"/>
              <a:ext cx="3508" cy="1208201"/>
              <a:chOff x="6184034" y="1416798"/>
              <a:chExt cx="4058" cy="1193638"/>
            </a:xfrm>
          </p:grpSpPr>
          <p:cxnSp>
            <p:nvCxnSpPr>
              <p:cNvPr id="21" name="Straight Connector 20">
                <a:extLst>
                  <a:ext uri="{FF2B5EF4-FFF2-40B4-BE49-F238E27FC236}">
                    <a16:creationId xmlns:a16="http://schemas.microsoft.com/office/drawing/2014/main" id="{EDD5E0C7-73E9-1698-8812-900544FF7FB5}"/>
                  </a:ext>
                </a:extLst>
              </p:cNvPr>
              <p:cNvCxnSpPr>
                <a:cxnSpLocks/>
              </p:cNvCxnSpPr>
              <p:nvPr/>
            </p:nvCxnSpPr>
            <p:spPr>
              <a:xfrm>
                <a:off x="6188092" y="1416798"/>
                <a:ext cx="0" cy="1193638"/>
              </a:xfrm>
              <a:prstGeom prst="line">
                <a:avLst/>
              </a:prstGeom>
              <a:ln w="12700" cap="rnd">
                <a:gradFill>
                  <a:gsLst>
                    <a:gs pos="0">
                      <a:srgbClr val="CF4627"/>
                    </a:gs>
                    <a:gs pos="100000">
                      <a:schemeClr val="accent5">
                        <a:lumMod val="75000"/>
                      </a:schemeClr>
                    </a:gs>
                  </a:gsLst>
                  <a:lin ang="5400000" scaled="1"/>
                </a:gradFill>
                <a:prstDash val="sysDash"/>
                <a:roun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ACC8406-1143-0DD4-AF17-D2B219964A8E}"/>
                  </a:ext>
                </a:extLst>
              </p:cNvPr>
              <p:cNvCxnSpPr>
                <a:cxnSpLocks/>
              </p:cNvCxnSpPr>
              <p:nvPr/>
            </p:nvCxnSpPr>
            <p:spPr>
              <a:xfrm>
                <a:off x="6184034" y="1823665"/>
                <a:ext cx="0" cy="342521"/>
              </a:xfrm>
              <a:prstGeom prst="line">
                <a:avLst/>
              </a:prstGeom>
              <a:ln w="38100" cap="rnd">
                <a:gradFill>
                  <a:gsLst>
                    <a:gs pos="0">
                      <a:srgbClr val="CF4627"/>
                    </a:gs>
                    <a:gs pos="100000">
                      <a:schemeClr val="accent5">
                        <a:lumMod val="75000"/>
                      </a:schemeClr>
                    </a:gs>
                  </a:gsLst>
                  <a:lin ang="5400000" scaled="1"/>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B7B59623-D3C5-D0D6-097A-A02CEFCE06BF}"/>
                </a:ext>
              </a:extLst>
            </p:cNvPr>
            <p:cNvSpPr txBox="1"/>
            <p:nvPr/>
          </p:nvSpPr>
          <p:spPr>
            <a:xfrm>
              <a:off x="243015" y="3913843"/>
              <a:ext cx="3771540" cy="1952779"/>
            </a:xfrm>
            <a:prstGeom prst="rect">
              <a:avLst/>
            </a:prstGeom>
            <a:noFill/>
          </p:spPr>
          <p:txBody>
            <a:bodyPr wrap="square" rtlCol="0">
              <a:noAutofit/>
            </a:bodyPr>
            <a:lstStyle/>
            <a:p>
              <a:pPr marL="228594" lvl="0"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Parse legacy code, jobs, and schemas into a system map: modules, interfaces, key business entities. </a:t>
              </a:r>
            </a:p>
            <a:p>
              <a:pPr marL="228594" lvl="0"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Produce entity-to-code impact maps (e.g., Customer, Account, Policy) and hot-spot analysis. </a:t>
              </a:r>
            </a:p>
            <a:p>
              <a:pPr marL="228594" lvl="0"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Ship a lightweight “Ask Your Legacy System” demo to query flows and rules with traceable code references. </a:t>
              </a:r>
              <a:endParaRPr lang="en-IN" sz="1200" b="1">
                <a:solidFill>
                  <a:schemeClr val="dk1"/>
                </a:solidFill>
                <a:latin typeface="+mj-lt"/>
                <a:ea typeface="Lato Light"/>
                <a:cs typeface="Segoe UI" panose="020B0502040204020203" pitchFamily="34" charset="0"/>
              </a:endParaRPr>
            </a:p>
          </p:txBody>
        </p:sp>
        <p:sp>
          <p:nvSpPr>
            <p:cNvPr id="35" name="TextBox 34">
              <a:extLst>
                <a:ext uri="{FF2B5EF4-FFF2-40B4-BE49-F238E27FC236}">
                  <a16:creationId xmlns:a16="http://schemas.microsoft.com/office/drawing/2014/main" id="{C4D0403B-7EAB-D2E0-3F2F-D4C70609904C}"/>
                </a:ext>
              </a:extLst>
            </p:cNvPr>
            <p:cNvSpPr txBox="1"/>
            <p:nvPr/>
          </p:nvSpPr>
          <p:spPr>
            <a:xfrm>
              <a:off x="4140227" y="3917017"/>
              <a:ext cx="4095772" cy="1850805"/>
            </a:xfrm>
            <a:prstGeom prst="rect">
              <a:avLst/>
            </a:prstGeom>
            <a:noFill/>
          </p:spPr>
          <p:txBody>
            <a:bodyPr wrap="square" rtlCol="0">
              <a:noAutofit/>
            </a:bodyPr>
            <a:lstStyle/>
            <a:p>
              <a:pPr marL="228594"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Turn the X-Ray into a production-grade knowledge layer for daily engineering work. </a:t>
              </a:r>
            </a:p>
            <a:p>
              <a:pPr marL="228594"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Pre-built “query recipes” for impact analysis, business flow tracing, and “explain this program” – always with file paths and line numbers. </a:t>
              </a:r>
            </a:p>
            <a:p>
              <a:pPr marL="228594"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Provide guided onboarding walkthroughs for new engineers; optional IDE/web integration, deployed in client VPC. </a:t>
              </a:r>
              <a:endParaRPr lang="en-IN" sz="1200" b="1">
                <a:solidFill>
                  <a:schemeClr val="dk1"/>
                </a:solidFill>
                <a:latin typeface="+mj-lt"/>
                <a:ea typeface="Lato Light"/>
                <a:cs typeface="Segoe UI" panose="020B0502040204020203" pitchFamily="34" charset="0"/>
              </a:endParaRPr>
            </a:p>
          </p:txBody>
        </p:sp>
        <p:sp>
          <p:nvSpPr>
            <p:cNvPr id="36" name="TextBox 35">
              <a:extLst>
                <a:ext uri="{FF2B5EF4-FFF2-40B4-BE49-F238E27FC236}">
                  <a16:creationId xmlns:a16="http://schemas.microsoft.com/office/drawing/2014/main" id="{EAA17121-39F1-F898-862E-EBF30CB588AB}"/>
                </a:ext>
              </a:extLst>
            </p:cNvPr>
            <p:cNvSpPr txBox="1"/>
            <p:nvPr/>
          </p:nvSpPr>
          <p:spPr>
            <a:xfrm>
              <a:off x="8530518" y="3851498"/>
              <a:ext cx="3335782" cy="2015124"/>
            </a:xfrm>
            <a:prstGeom prst="rect">
              <a:avLst/>
            </a:prstGeom>
            <a:noFill/>
          </p:spPr>
          <p:txBody>
            <a:bodyPr wrap="square" rtlCol="0">
              <a:noAutofit/>
            </a:bodyPr>
            <a:lstStyle/>
            <a:p>
              <a:pPr marL="228594" lvl="0"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Use the knowledge layer to prioritize and de-risk modernization (strangler pattern, refactors, re-platforming). </a:t>
              </a:r>
            </a:p>
            <a:p>
              <a:pPr marL="228594" lvl="0"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Generate candidate interface specs, sequence diagrams, and test suggestions from existing flows. </a:t>
              </a:r>
            </a:p>
            <a:p>
              <a:pPr marL="228594" lvl="0" indent="-228594">
                <a:spcBef>
                  <a:spcPts val="300"/>
                </a:spcBef>
                <a:spcAft>
                  <a:spcPts val="600"/>
                </a:spcAft>
                <a:buFont typeface="Arial" panose="020B0604020202020204" pitchFamily="34" charset="0"/>
                <a:buChar char="•"/>
              </a:pPr>
              <a:r>
                <a:rPr lang="en-US" sz="1200" b="1">
                  <a:solidFill>
                    <a:schemeClr val="dk1"/>
                  </a:solidFill>
                  <a:latin typeface="+mj-lt"/>
                  <a:ea typeface="Lato Light"/>
                  <a:cs typeface="Segoe UI" panose="020B0502040204020203" pitchFamily="34" charset="0"/>
                </a:rPr>
                <a:t>Support teams with AI-assisted refactoring, so new code preserves legacy semantics while moving to modern stacks. </a:t>
              </a:r>
              <a:endParaRPr lang="en-IN" sz="1200" b="1">
                <a:solidFill>
                  <a:schemeClr val="dk1"/>
                </a:solidFill>
                <a:latin typeface="+mj-lt"/>
                <a:ea typeface="Lato Light"/>
                <a:cs typeface="Segoe UI" panose="020B0502040204020203" pitchFamily="34" charset="0"/>
              </a:endParaRPr>
            </a:p>
          </p:txBody>
        </p:sp>
      </p:grpSp>
      <p:sp>
        <p:nvSpPr>
          <p:cNvPr id="32" name="object 8">
            <a:extLst>
              <a:ext uri="{FF2B5EF4-FFF2-40B4-BE49-F238E27FC236}">
                <a16:creationId xmlns:a16="http://schemas.microsoft.com/office/drawing/2014/main" id="{649E772A-3C25-CB34-3348-1B7708AD77F7}"/>
              </a:ext>
            </a:extLst>
          </p:cNvPr>
          <p:cNvSpPr txBox="1"/>
          <p:nvPr/>
        </p:nvSpPr>
        <p:spPr>
          <a:xfrm>
            <a:off x="304950" y="756488"/>
            <a:ext cx="10915650" cy="311624"/>
          </a:xfrm>
          <a:prstGeom prst="rect">
            <a:avLst/>
          </a:prstGeom>
          <a:solidFill>
            <a:srgbClr val="F1F1F1"/>
          </a:solidFill>
          <a:ln w="9525">
            <a:solidFill>
              <a:srgbClr val="D9D9D9"/>
            </a:solidFill>
          </a:ln>
        </p:spPr>
        <p:txBody>
          <a:bodyPr vert="horz" wrap="square" lIns="0" tIns="34290" rIns="0" bIns="0" rtlCol="0">
            <a:spAutoFit/>
          </a:bodyPr>
          <a:lstStyle/>
          <a:p>
            <a:pPr marL="83820" algn="ctr">
              <a:lnSpc>
                <a:spcPct val="100000"/>
              </a:lnSpc>
              <a:spcBef>
                <a:spcPts val="270"/>
              </a:spcBef>
            </a:pPr>
            <a:r>
              <a:rPr lang="en-US" spc="10">
                <a:latin typeface="+mj-lt"/>
                <a:cs typeface="Calibri"/>
              </a:rPr>
              <a:t>AI-assisted understanding for mainframes and monoliths</a:t>
            </a:r>
            <a:endParaRPr>
              <a:latin typeface="+mj-lt"/>
              <a:cs typeface="Calibri"/>
            </a:endParaRPr>
          </a:p>
        </p:txBody>
      </p:sp>
      <p:grpSp>
        <p:nvGrpSpPr>
          <p:cNvPr id="38" name="Group 37">
            <a:extLst>
              <a:ext uri="{FF2B5EF4-FFF2-40B4-BE49-F238E27FC236}">
                <a16:creationId xmlns:a16="http://schemas.microsoft.com/office/drawing/2014/main" id="{412506D0-0D4A-13F7-86BF-D75EC05A8655}"/>
              </a:ext>
            </a:extLst>
          </p:cNvPr>
          <p:cNvGrpSpPr/>
          <p:nvPr/>
        </p:nvGrpSpPr>
        <p:grpSpPr>
          <a:xfrm>
            <a:off x="304950" y="1355184"/>
            <a:ext cx="11210198" cy="1582460"/>
            <a:chOff x="3044952" y="3700516"/>
            <a:chExt cx="8631112" cy="2477415"/>
          </a:xfrm>
        </p:grpSpPr>
        <p:sp>
          <p:nvSpPr>
            <p:cNvPr id="39" name="Content Placeholder 3">
              <a:extLst>
                <a:ext uri="{FF2B5EF4-FFF2-40B4-BE49-F238E27FC236}">
                  <a16:creationId xmlns:a16="http://schemas.microsoft.com/office/drawing/2014/main" id="{68BDB781-CC2A-2610-6202-6C77C1B7A472}"/>
                </a:ext>
              </a:extLst>
            </p:cNvPr>
            <p:cNvSpPr txBox="1">
              <a:spLocks/>
            </p:cNvSpPr>
            <p:nvPr/>
          </p:nvSpPr>
          <p:spPr>
            <a:xfrm>
              <a:off x="3154360" y="3943297"/>
              <a:ext cx="8521704" cy="2234634"/>
            </a:xfrm>
            <a:prstGeom prst="rect">
              <a:avLst/>
            </a:prstGeom>
          </p:spPr>
          <p:txBody>
            <a:bodyPr anchor="t">
              <a:noAutofit/>
            </a:bodyPr>
            <a:lstStyle>
              <a:lvl1pPr marL="171450" indent="-171450" algn="l" defTabSz="685800" rtl="0" eaLnBrk="1" latinLnBrk="0" hangingPunct="1">
                <a:lnSpc>
                  <a:spcPct val="100000"/>
                </a:lnSpc>
                <a:spcBef>
                  <a:spcPts val="750"/>
                </a:spcBef>
                <a:spcAft>
                  <a:spcPts val="450"/>
                </a:spcAft>
                <a:buFont typeface="Aptos" panose="020B0004020202020204" pitchFamily="34" charset="0"/>
                <a:buChar char="•"/>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514350" indent="-171450" algn="l" defTabSz="685800" rtl="0" eaLnBrk="1" latinLnBrk="0" hangingPunct="1">
                <a:lnSpc>
                  <a:spcPct val="100000"/>
                </a:lnSpc>
                <a:spcBef>
                  <a:spcPts val="375"/>
                </a:spcBef>
                <a:spcAft>
                  <a:spcPts val="450"/>
                </a:spcAft>
                <a:buFont typeface="Aptos" panose="020B0004020202020204" pitchFamily="34" charset="0"/>
                <a:buChar char="•"/>
                <a:defRPr sz="11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857250" indent="-171450" algn="l" defTabSz="685800" rtl="0" eaLnBrk="1" latinLnBrk="0" hangingPunct="1">
                <a:lnSpc>
                  <a:spcPct val="100000"/>
                </a:lnSpc>
                <a:spcBef>
                  <a:spcPts val="375"/>
                </a:spcBef>
                <a:spcAft>
                  <a:spcPts val="450"/>
                </a:spcAft>
                <a:buFont typeface="Aptos" panose="020B0004020202020204" pitchFamily="34" charset="0"/>
                <a:buChar char="•"/>
                <a:defRPr sz="9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2001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4pPr>
              <a:lvl5pPr marL="1543050" indent="-171450" algn="l" defTabSz="685800" rtl="0" eaLnBrk="1" latinLnBrk="0" hangingPunct="1">
                <a:lnSpc>
                  <a:spcPct val="90000"/>
                </a:lnSpc>
                <a:spcBef>
                  <a:spcPts val="375"/>
                </a:spcBef>
                <a:buFont typeface="Aptos" panose="020B0004020202020204" pitchFamily="34" charset="0"/>
                <a:buChar char="•"/>
                <a:defRPr sz="900" b="0" i="0" kern="1200">
                  <a:solidFill>
                    <a:schemeClr val="tx1"/>
                  </a:solidFill>
                  <a:latin typeface="Aptos" panose="020B0004020202020204" pitchFamily="34" charset="0"/>
                  <a:ea typeface="+mn-ea"/>
                  <a:cs typeface="Aptos" panose="020B0004020202020204" pitchFamily="34" charset="0"/>
                </a:defRPr>
              </a:lvl5pPr>
              <a:lvl6pPr marL="18859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ptos" panose="020B0004020202020204" pitchFamily="34" charset="0"/>
                <a:buChar char="•"/>
                <a:defRPr sz="1350" kern="1200">
                  <a:solidFill>
                    <a:schemeClr val="tx1"/>
                  </a:solidFill>
                  <a:latin typeface="+mn-lt"/>
                  <a:ea typeface="+mn-ea"/>
                  <a:cs typeface="+mn-cs"/>
                </a:defRPr>
              </a:lvl9pPr>
            </a:lstStyle>
            <a:p>
              <a:pPr lvl="0"/>
              <a:endParaRPr lang="en-US" sz="1300">
                <a:latin typeface="+mn-lt"/>
              </a:endParaRPr>
            </a:p>
          </p:txBody>
        </p:sp>
        <p:sp>
          <p:nvSpPr>
            <p:cNvPr id="40" name="Google Shape;263;p13">
              <a:extLst>
                <a:ext uri="{FF2B5EF4-FFF2-40B4-BE49-F238E27FC236}">
                  <a16:creationId xmlns:a16="http://schemas.microsoft.com/office/drawing/2014/main" id="{6D8CC99A-10C5-5726-ED6C-EEF833087A13}"/>
                </a:ext>
              </a:extLst>
            </p:cNvPr>
            <p:cNvSpPr/>
            <p:nvPr/>
          </p:nvSpPr>
          <p:spPr>
            <a:xfrm>
              <a:off x="3044952" y="3776858"/>
              <a:ext cx="8631112" cy="2001511"/>
            </a:xfrm>
            <a:prstGeom prst="roundRect">
              <a:avLst>
                <a:gd name="adj" fmla="val 11302"/>
              </a:avLst>
            </a:prstGeom>
            <a:noFill/>
            <a:ln w="19050" cap="rnd" cmpd="sng">
              <a:solidFill>
                <a:schemeClr val="tx1"/>
              </a:solidFill>
              <a:prstDash val="sysDash"/>
              <a:round/>
              <a:headEnd type="none" w="sm" len="sm"/>
              <a:tailEnd type="none" w="sm" len="sm"/>
            </a:ln>
          </p:spPr>
          <p:txBody>
            <a:bodyPr spcFirstLastPara="1" wrap="square" lIns="91424" tIns="91424" rIns="91424" bIns="91424" anchor="ctr" anchorCtr="0">
              <a:noAutofit/>
            </a:bodyPr>
            <a:lstStyle/>
            <a:p>
              <a:endParaRPr sz="525"/>
            </a:p>
          </p:txBody>
        </p:sp>
        <p:sp>
          <p:nvSpPr>
            <p:cNvPr id="41" name="Google Shape;610;p36">
              <a:extLst>
                <a:ext uri="{FF2B5EF4-FFF2-40B4-BE49-F238E27FC236}">
                  <a16:creationId xmlns:a16="http://schemas.microsoft.com/office/drawing/2014/main" id="{0B2E5AC0-24A8-6BE5-BAB6-D26B40730EA1}"/>
                </a:ext>
              </a:extLst>
            </p:cNvPr>
            <p:cNvSpPr txBox="1">
              <a:spLocks/>
            </p:cNvSpPr>
            <p:nvPr/>
          </p:nvSpPr>
          <p:spPr>
            <a:xfrm>
              <a:off x="3515259" y="3700516"/>
              <a:ext cx="1527386" cy="387726"/>
            </a:xfrm>
            <a:prstGeom prst="rect">
              <a:avLst/>
            </a:prstGeom>
            <a:solidFill>
              <a:schemeClr val="bg1"/>
            </a:solidFill>
          </p:spPr>
          <p:txBody>
            <a:bodyPr spcFirstLastPara="1" wrap="square" lIns="91424" tIns="91424" rIns="91424" bIns="91424" anchor="b" anchorCtr="0">
              <a:noAutofit/>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sz="1600" b="1">
                  <a:solidFill>
                    <a:srgbClr val="00B050"/>
                  </a:solidFill>
                  <a:latin typeface="+mj-lt"/>
                </a:rPr>
                <a:t>Business Problem</a:t>
              </a:r>
            </a:p>
          </p:txBody>
        </p:sp>
      </p:grpSp>
      <p:sp>
        <p:nvSpPr>
          <p:cNvPr id="43" name="TextBox 42">
            <a:extLst>
              <a:ext uri="{FF2B5EF4-FFF2-40B4-BE49-F238E27FC236}">
                <a16:creationId xmlns:a16="http://schemas.microsoft.com/office/drawing/2014/main" id="{9E9EAD14-2F8C-618C-677A-91E679C0A37A}"/>
              </a:ext>
            </a:extLst>
          </p:cNvPr>
          <p:cNvSpPr txBox="1"/>
          <p:nvPr/>
        </p:nvSpPr>
        <p:spPr>
          <a:xfrm>
            <a:off x="341807" y="1591215"/>
            <a:ext cx="11123277" cy="96379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300" b="1"/>
              <a:t>Critical COBOL / FORTRAN / PL/SQL / Java monoliths </a:t>
            </a:r>
            <a:r>
              <a:rPr lang="en-US" sz="1300"/>
              <a:t>run the core business, but knowledge is trapped in </a:t>
            </a:r>
            <a:r>
              <a:rPr lang="en-US" sz="1300" b="1"/>
              <a:t>a few SMEs</a:t>
            </a:r>
          </a:p>
          <a:p>
            <a:pPr marL="285750" indent="-285750">
              <a:lnSpc>
                <a:spcPct val="150000"/>
              </a:lnSpc>
              <a:buFont typeface="Arial" panose="020B0604020202020204" pitchFamily="34" charset="0"/>
              <a:buChar char="•"/>
            </a:pPr>
            <a:r>
              <a:rPr lang="en-US" sz="1300"/>
              <a:t>Onboarding new engineers and doing impact analysis for changes </a:t>
            </a:r>
            <a:r>
              <a:rPr lang="en-US" sz="1300" b="1"/>
              <a:t>takes weeks</a:t>
            </a:r>
            <a:r>
              <a:rPr lang="en-US" sz="1300"/>
              <a:t>, slows releases, and increases risk</a:t>
            </a:r>
          </a:p>
          <a:p>
            <a:pPr marL="285750" indent="-285750">
              <a:lnSpc>
                <a:spcPct val="150000"/>
              </a:lnSpc>
              <a:buFont typeface="Arial" panose="020B0604020202020204" pitchFamily="34" charset="0"/>
              <a:buChar char="•"/>
            </a:pPr>
            <a:r>
              <a:rPr lang="en-US" sz="1300" b="1"/>
              <a:t>“Just give 5 developers a copilot” </a:t>
            </a:r>
            <a:r>
              <a:rPr lang="en-US" sz="1300"/>
              <a:t>improves individuals, but does not create an organization-wide understanding of the estate</a:t>
            </a:r>
            <a:endParaRPr lang="en-IN" sz="1300"/>
          </a:p>
        </p:txBody>
      </p:sp>
      <p:sp>
        <p:nvSpPr>
          <p:cNvPr id="44" name="TextBox 43">
            <a:extLst>
              <a:ext uri="{FF2B5EF4-FFF2-40B4-BE49-F238E27FC236}">
                <a16:creationId xmlns:a16="http://schemas.microsoft.com/office/drawing/2014/main" id="{67261E85-9446-87EB-C3A6-34AAA8F4FBB1}"/>
              </a:ext>
            </a:extLst>
          </p:cNvPr>
          <p:cNvSpPr txBox="1"/>
          <p:nvPr/>
        </p:nvSpPr>
        <p:spPr>
          <a:xfrm>
            <a:off x="1299583" y="3589347"/>
            <a:ext cx="2204321" cy="307777"/>
          </a:xfrm>
          <a:prstGeom prst="rect">
            <a:avLst/>
          </a:prstGeom>
          <a:noFill/>
        </p:spPr>
        <p:txBody>
          <a:bodyPr wrap="none" rtlCol="0">
            <a:spAutoFit/>
          </a:bodyPr>
          <a:lstStyle/>
          <a:p>
            <a:r>
              <a:rPr lang="en-IN" sz="1400" b="1">
                <a:solidFill>
                  <a:schemeClr val="accent4"/>
                </a:solidFill>
                <a:latin typeface="+mj-lt"/>
              </a:rPr>
              <a:t>(Assessment, 4-6 weeks)</a:t>
            </a:r>
          </a:p>
        </p:txBody>
      </p:sp>
    </p:spTree>
    <p:extLst>
      <p:ext uri="{BB962C8B-B14F-4D97-AF65-F5344CB8AC3E}">
        <p14:creationId xmlns:p14="http://schemas.microsoft.com/office/powerpoint/2010/main" val="1805415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20FB95B-00A6-366C-0BFC-AA939A43735A}"/>
              </a:ext>
            </a:extLst>
          </p:cNvPr>
          <p:cNvGrpSpPr/>
          <p:nvPr/>
        </p:nvGrpSpPr>
        <p:grpSpPr>
          <a:xfrm rot="5400000">
            <a:off x="-856546" y="2717963"/>
            <a:ext cx="4356876" cy="2443397"/>
            <a:chOff x="1736126" y="2549093"/>
            <a:chExt cx="5549894" cy="3204257"/>
          </a:xfrm>
        </p:grpSpPr>
        <p:sp>
          <p:nvSpPr>
            <p:cNvPr id="5" name="Rounded Rectangle 1">
              <a:extLst>
                <a:ext uri="{FF2B5EF4-FFF2-40B4-BE49-F238E27FC236}">
                  <a16:creationId xmlns:a16="http://schemas.microsoft.com/office/drawing/2014/main" id="{AFC1DFE5-3922-B755-1CC7-69C76DA4CF75}"/>
                </a:ext>
              </a:extLst>
            </p:cNvPr>
            <p:cNvSpPr/>
            <p:nvPr/>
          </p:nvSpPr>
          <p:spPr>
            <a:xfrm>
              <a:off x="5101548" y="4008657"/>
              <a:ext cx="2184472" cy="1744683"/>
            </a:xfrm>
            <a:custGeom>
              <a:avLst/>
              <a:gdLst/>
              <a:ahLst/>
              <a:cxnLst/>
              <a:rect l="0" t="0" r="0" b="0"/>
              <a:pathLst>
                <a:path w="2184472" h="1744683">
                  <a:moveTo>
                    <a:pt x="1515756" y="0"/>
                  </a:moveTo>
                  <a:lnTo>
                    <a:pt x="2184472" y="142576"/>
                  </a:lnTo>
                  <a:lnTo>
                    <a:pt x="1973584" y="792984"/>
                  </a:lnTo>
                  <a:lnTo>
                    <a:pt x="1850401" y="579622"/>
                  </a:lnTo>
                  <a:lnTo>
                    <a:pt x="1122281" y="1000000"/>
                  </a:lnTo>
                  <a:cubicBezTo>
                    <a:pt x="1221166" y="1228276"/>
                    <a:pt x="1275969" y="1480077"/>
                    <a:pt x="1275969" y="1744683"/>
                  </a:cubicBezTo>
                  <a:lnTo>
                    <a:pt x="598850" y="1744683"/>
                  </a:lnTo>
                  <a:cubicBezTo>
                    <a:pt x="598850" y="1301318"/>
                    <a:pt x="358004" y="914206"/>
                    <a:pt x="0" y="707051"/>
                  </a:cubicBezTo>
                  <a:lnTo>
                    <a:pt x="338681" y="120587"/>
                  </a:lnTo>
                  <a:cubicBezTo>
                    <a:pt x="563154" y="250481"/>
                    <a:pt x="758190" y="425577"/>
                    <a:pt x="911358" y="633427"/>
                  </a:cubicBezTo>
                  <a:lnTo>
                    <a:pt x="1638940" y="213361"/>
                  </a:lnTo>
                  <a:lnTo>
                    <a:pt x="1515756" y="0"/>
                  </a:lnTo>
                </a:path>
              </a:pathLst>
            </a:custGeom>
            <a:solidFill>
              <a:srgbClr val="E55753"/>
            </a:solidFill>
            <a:ln>
              <a:noFill/>
            </a:ln>
          </p:spPr>
          <p:txBody>
            <a:bodyPr rtlCol="0" anchor="ctr"/>
            <a:lstStyle/>
            <a:p>
              <a:pPr algn="ctr"/>
              <a:endParaRPr/>
            </a:p>
          </p:txBody>
        </p:sp>
        <p:sp>
          <p:nvSpPr>
            <p:cNvPr id="6" name="Rounded Rectangle 2">
              <a:extLst>
                <a:ext uri="{FF2B5EF4-FFF2-40B4-BE49-F238E27FC236}">
                  <a16:creationId xmlns:a16="http://schemas.microsoft.com/office/drawing/2014/main" id="{41D6FCAD-984A-6576-BB7D-BE033454F571}"/>
                </a:ext>
              </a:extLst>
            </p:cNvPr>
            <p:cNvSpPr/>
            <p:nvPr/>
          </p:nvSpPr>
          <p:spPr>
            <a:xfrm>
              <a:off x="5101546" y="4008657"/>
              <a:ext cx="2184474" cy="1744682"/>
            </a:xfrm>
            <a:custGeom>
              <a:avLst/>
              <a:gdLst/>
              <a:ahLst/>
              <a:cxnLst/>
              <a:rect l="0" t="0" r="0" b="0"/>
              <a:pathLst>
                <a:path w="2184474" h="1744682">
                  <a:moveTo>
                    <a:pt x="1515757" y="0"/>
                  </a:moveTo>
                  <a:lnTo>
                    <a:pt x="2184474" y="142572"/>
                  </a:lnTo>
                  <a:lnTo>
                    <a:pt x="1973587" y="792985"/>
                  </a:lnTo>
                  <a:lnTo>
                    <a:pt x="1850402" y="579623"/>
                  </a:lnTo>
                  <a:lnTo>
                    <a:pt x="1122281" y="1000004"/>
                  </a:lnTo>
                  <a:cubicBezTo>
                    <a:pt x="1221164" y="1228273"/>
                    <a:pt x="1275973" y="1480077"/>
                    <a:pt x="1275973" y="1744682"/>
                  </a:cubicBezTo>
                  <a:lnTo>
                    <a:pt x="598854" y="1744682"/>
                  </a:lnTo>
                  <a:cubicBezTo>
                    <a:pt x="598854" y="1301315"/>
                    <a:pt x="358002" y="914204"/>
                    <a:pt x="0" y="707049"/>
                  </a:cubicBezTo>
                  <a:lnTo>
                    <a:pt x="338683" y="120587"/>
                  </a:lnTo>
                  <a:cubicBezTo>
                    <a:pt x="563151" y="250483"/>
                    <a:pt x="758192" y="425578"/>
                    <a:pt x="911361" y="633426"/>
                  </a:cubicBezTo>
                  <a:lnTo>
                    <a:pt x="1638940" y="213358"/>
                  </a:lnTo>
                  <a:lnTo>
                    <a:pt x="1515757" y="0"/>
                  </a:lnTo>
                  <a:close/>
                </a:path>
              </a:pathLst>
            </a:custGeom>
            <a:noFill/>
            <a:ln w="13021">
              <a:solidFill>
                <a:srgbClr val="FFFFFF"/>
              </a:solidFill>
            </a:ln>
          </p:spPr>
          <p:txBody>
            <a:bodyPr rtlCol="0" anchor="ctr"/>
            <a:lstStyle/>
            <a:p>
              <a:pPr algn="ctr"/>
              <a:endParaRPr/>
            </a:p>
          </p:txBody>
        </p:sp>
        <p:sp>
          <p:nvSpPr>
            <p:cNvPr id="7" name="Rounded Rectangle 3">
              <a:extLst>
                <a:ext uri="{FF2B5EF4-FFF2-40B4-BE49-F238E27FC236}">
                  <a16:creationId xmlns:a16="http://schemas.microsoft.com/office/drawing/2014/main" id="{09A9645B-3A4A-8239-D711-797F8CAD16F0}"/>
                </a:ext>
              </a:extLst>
            </p:cNvPr>
            <p:cNvSpPr/>
            <p:nvPr/>
          </p:nvSpPr>
          <p:spPr>
            <a:xfrm>
              <a:off x="3564703" y="2549093"/>
              <a:ext cx="1875524" cy="2166607"/>
            </a:xfrm>
            <a:custGeom>
              <a:avLst/>
              <a:gdLst/>
              <a:ahLst/>
              <a:cxnLst/>
              <a:rect l="0" t="0" r="0" b="0"/>
              <a:pathLst>
                <a:path w="1875524" h="2166607">
                  <a:moveTo>
                    <a:pt x="1404205" y="507839"/>
                  </a:moveTo>
                  <a:lnTo>
                    <a:pt x="946377" y="0"/>
                  </a:lnTo>
                  <a:lnTo>
                    <a:pt x="488541" y="507839"/>
                  </a:lnTo>
                  <a:lnTo>
                    <a:pt x="734917" y="507839"/>
                  </a:lnTo>
                  <a:lnTo>
                    <a:pt x="734917" y="1339983"/>
                  </a:lnTo>
                  <a:cubicBezTo>
                    <a:pt x="469417" y="1368535"/>
                    <a:pt x="220506" y="1452507"/>
                    <a:pt x="0" y="1580091"/>
                  </a:cubicBezTo>
                  <a:lnTo>
                    <a:pt x="338785" y="2166494"/>
                  </a:lnTo>
                  <a:cubicBezTo>
                    <a:pt x="514983" y="2064587"/>
                    <a:pt x="719534" y="2006260"/>
                    <a:pt x="937714" y="2006260"/>
                  </a:cubicBezTo>
                  <a:cubicBezTo>
                    <a:pt x="1155972" y="2006260"/>
                    <a:pt x="1360601" y="2064631"/>
                    <a:pt x="1536843" y="2166607"/>
                  </a:cubicBezTo>
                  <a:lnTo>
                    <a:pt x="1875524" y="1580152"/>
                  </a:lnTo>
                  <a:cubicBezTo>
                    <a:pt x="1659792" y="1455311"/>
                    <a:pt x="1416880" y="1372216"/>
                    <a:pt x="1157838" y="1341928"/>
                  </a:cubicBezTo>
                  <a:lnTo>
                    <a:pt x="1157838" y="507839"/>
                  </a:lnTo>
                  <a:lnTo>
                    <a:pt x="1404205" y="507839"/>
                  </a:lnTo>
                </a:path>
              </a:pathLst>
            </a:custGeom>
            <a:solidFill>
              <a:srgbClr val="DE8431"/>
            </a:solidFill>
            <a:ln>
              <a:noFill/>
            </a:ln>
          </p:spPr>
          <p:txBody>
            <a:bodyPr rtlCol="0" anchor="ctr"/>
            <a:lstStyle/>
            <a:p>
              <a:pPr algn="ctr"/>
              <a:endParaRPr/>
            </a:p>
          </p:txBody>
        </p:sp>
        <p:sp>
          <p:nvSpPr>
            <p:cNvPr id="8" name="Rounded Rectangle 4">
              <a:extLst>
                <a:ext uri="{FF2B5EF4-FFF2-40B4-BE49-F238E27FC236}">
                  <a16:creationId xmlns:a16="http://schemas.microsoft.com/office/drawing/2014/main" id="{5FFA6814-ACD9-01A0-3256-1AB37CF41028}"/>
                </a:ext>
              </a:extLst>
            </p:cNvPr>
            <p:cNvSpPr/>
            <p:nvPr/>
          </p:nvSpPr>
          <p:spPr>
            <a:xfrm>
              <a:off x="3564703" y="2549093"/>
              <a:ext cx="1875524" cy="2166610"/>
            </a:xfrm>
            <a:custGeom>
              <a:avLst/>
              <a:gdLst/>
              <a:ahLst/>
              <a:cxnLst/>
              <a:rect l="0" t="0" r="0" b="0"/>
              <a:pathLst>
                <a:path w="1875524" h="2166610">
                  <a:moveTo>
                    <a:pt x="1404205" y="507839"/>
                  </a:moveTo>
                  <a:lnTo>
                    <a:pt x="946374" y="0"/>
                  </a:lnTo>
                  <a:lnTo>
                    <a:pt x="488543" y="507839"/>
                  </a:lnTo>
                  <a:lnTo>
                    <a:pt x="734913" y="507839"/>
                  </a:lnTo>
                  <a:lnTo>
                    <a:pt x="734913" y="1339983"/>
                  </a:lnTo>
                  <a:cubicBezTo>
                    <a:pt x="469414" y="1368537"/>
                    <a:pt x="220509" y="1452507"/>
                    <a:pt x="0" y="1580095"/>
                  </a:cubicBezTo>
                  <a:lnTo>
                    <a:pt x="338786" y="2166496"/>
                  </a:lnTo>
                  <a:cubicBezTo>
                    <a:pt x="514979" y="2064588"/>
                    <a:pt x="719536" y="2006263"/>
                    <a:pt x="937716" y="2006263"/>
                  </a:cubicBezTo>
                  <a:cubicBezTo>
                    <a:pt x="1155976" y="2006263"/>
                    <a:pt x="1360603" y="2064631"/>
                    <a:pt x="1536841" y="2166610"/>
                  </a:cubicBezTo>
                  <a:lnTo>
                    <a:pt x="1875524" y="1580149"/>
                  </a:lnTo>
                  <a:cubicBezTo>
                    <a:pt x="1659793" y="1455309"/>
                    <a:pt x="1416881" y="1372218"/>
                    <a:pt x="1157838" y="1341928"/>
                  </a:cubicBezTo>
                  <a:lnTo>
                    <a:pt x="1157838" y="507839"/>
                  </a:lnTo>
                  <a:lnTo>
                    <a:pt x="1404205" y="507839"/>
                  </a:lnTo>
                  <a:close/>
                </a:path>
              </a:pathLst>
            </a:custGeom>
            <a:noFill/>
            <a:ln w="13021">
              <a:solidFill>
                <a:srgbClr val="FFFFFF"/>
              </a:solidFill>
            </a:ln>
          </p:spPr>
          <p:txBody>
            <a:bodyPr rtlCol="0" anchor="ctr"/>
            <a:lstStyle/>
            <a:p>
              <a:pPr algn="ctr"/>
              <a:endParaRPr/>
            </a:p>
          </p:txBody>
        </p:sp>
        <p:sp>
          <p:nvSpPr>
            <p:cNvPr id="9" name="Rounded Rectangle 5">
              <a:extLst>
                <a:ext uri="{FF2B5EF4-FFF2-40B4-BE49-F238E27FC236}">
                  <a16:creationId xmlns:a16="http://schemas.microsoft.com/office/drawing/2014/main" id="{267AB81E-B368-B38D-AC65-9B2B874C319B}"/>
                </a:ext>
              </a:extLst>
            </p:cNvPr>
            <p:cNvSpPr/>
            <p:nvPr/>
          </p:nvSpPr>
          <p:spPr>
            <a:xfrm>
              <a:off x="1736126" y="4008657"/>
              <a:ext cx="2167371" cy="1744692"/>
            </a:xfrm>
            <a:custGeom>
              <a:avLst/>
              <a:gdLst/>
              <a:ahLst/>
              <a:cxnLst/>
              <a:rect l="0" t="0" r="0" b="0"/>
              <a:pathLst>
                <a:path w="2167371" h="1744692">
                  <a:moveTo>
                    <a:pt x="668715" y="0"/>
                  </a:moveTo>
                  <a:lnTo>
                    <a:pt x="0" y="142576"/>
                  </a:lnTo>
                  <a:lnTo>
                    <a:pt x="210887" y="792984"/>
                  </a:lnTo>
                  <a:lnTo>
                    <a:pt x="334071" y="579622"/>
                  </a:lnTo>
                  <a:lnTo>
                    <a:pt x="1048379" y="992031"/>
                  </a:lnTo>
                  <a:cubicBezTo>
                    <a:pt x="947298" y="1222408"/>
                    <a:pt x="891210" y="1476996"/>
                    <a:pt x="891210" y="1744692"/>
                  </a:cubicBezTo>
                  <a:lnTo>
                    <a:pt x="1568329" y="1744692"/>
                  </a:lnTo>
                  <a:cubicBezTo>
                    <a:pt x="1568329" y="1301249"/>
                    <a:pt x="1809261" y="914075"/>
                    <a:pt x="2167371" y="706946"/>
                  </a:cubicBezTo>
                  <a:lnTo>
                    <a:pt x="1828585" y="120544"/>
                  </a:lnTo>
                  <a:cubicBezTo>
                    <a:pt x="1606612" y="248988"/>
                    <a:pt x="1413399" y="421628"/>
                    <a:pt x="1261003" y="626439"/>
                  </a:cubicBezTo>
                  <a:lnTo>
                    <a:pt x="545532" y="213361"/>
                  </a:lnTo>
                  <a:lnTo>
                    <a:pt x="668715" y="0"/>
                  </a:lnTo>
                </a:path>
              </a:pathLst>
            </a:custGeom>
            <a:solidFill>
              <a:srgbClr val="E0CB15"/>
            </a:solidFill>
            <a:ln>
              <a:noFill/>
            </a:ln>
          </p:spPr>
          <p:txBody>
            <a:bodyPr rtlCol="0" anchor="ctr"/>
            <a:lstStyle/>
            <a:p>
              <a:pPr algn="ctr"/>
              <a:endParaRPr/>
            </a:p>
          </p:txBody>
        </p:sp>
        <p:sp>
          <p:nvSpPr>
            <p:cNvPr id="10" name="Rounded Rectangle 6">
              <a:extLst>
                <a:ext uri="{FF2B5EF4-FFF2-40B4-BE49-F238E27FC236}">
                  <a16:creationId xmlns:a16="http://schemas.microsoft.com/office/drawing/2014/main" id="{41A29D29-647C-0054-C272-A885C9838AB3}"/>
                </a:ext>
              </a:extLst>
            </p:cNvPr>
            <p:cNvSpPr/>
            <p:nvPr/>
          </p:nvSpPr>
          <p:spPr>
            <a:xfrm>
              <a:off x="1736126" y="4008657"/>
              <a:ext cx="2167375" cy="1744693"/>
            </a:xfrm>
            <a:custGeom>
              <a:avLst/>
              <a:gdLst/>
              <a:ahLst/>
              <a:cxnLst/>
              <a:rect l="0" t="0" r="0" b="0"/>
              <a:pathLst>
                <a:path w="2167375" h="1744693">
                  <a:moveTo>
                    <a:pt x="668716" y="0"/>
                  </a:moveTo>
                  <a:lnTo>
                    <a:pt x="0" y="142572"/>
                  </a:lnTo>
                  <a:lnTo>
                    <a:pt x="210886" y="792985"/>
                  </a:lnTo>
                  <a:lnTo>
                    <a:pt x="334071" y="579622"/>
                  </a:lnTo>
                  <a:lnTo>
                    <a:pt x="1048380" y="992029"/>
                  </a:lnTo>
                  <a:cubicBezTo>
                    <a:pt x="947302" y="1222406"/>
                    <a:pt x="891206" y="1476998"/>
                    <a:pt x="891206" y="1744693"/>
                  </a:cubicBezTo>
                  <a:lnTo>
                    <a:pt x="1568325" y="1744693"/>
                  </a:lnTo>
                  <a:cubicBezTo>
                    <a:pt x="1568325" y="1301247"/>
                    <a:pt x="1809265" y="914075"/>
                    <a:pt x="2167375" y="706946"/>
                  </a:cubicBezTo>
                  <a:lnTo>
                    <a:pt x="1828589" y="120545"/>
                  </a:lnTo>
                  <a:cubicBezTo>
                    <a:pt x="1606608" y="248985"/>
                    <a:pt x="1413400" y="421627"/>
                    <a:pt x="1261003" y="626435"/>
                  </a:cubicBezTo>
                  <a:lnTo>
                    <a:pt x="545533" y="213358"/>
                  </a:lnTo>
                  <a:lnTo>
                    <a:pt x="668716" y="0"/>
                  </a:lnTo>
                  <a:close/>
                </a:path>
              </a:pathLst>
            </a:custGeom>
            <a:noFill/>
            <a:ln w="13021">
              <a:solidFill>
                <a:srgbClr val="FFFFFF"/>
              </a:solidFill>
            </a:ln>
          </p:spPr>
          <p:txBody>
            <a:bodyPr rtlCol="0" anchor="ctr"/>
            <a:lstStyle/>
            <a:p>
              <a:pPr algn="ctr"/>
              <a:endParaRPr/>
            </a:p>
          </p:txBody>
        </p:sp>
        <p:sp>
          <p:nvSpPr>
            <p:cNvPr id="18" name="Rounded Rectangle 15">
              <a:extLst>
                <a:ext uri="{FF2B5EF4-FFF2-40B4-BE49-F238E27FC236}">
                  <a16:creationId xmlns:a16="http://schemas.microsoft.com/office/drawing/2014/main" id="{6CEFEEBC-3E26-2B2C-90E1-190E46F6F943}"/>
                </a:ext>
              </a:extLst>
            </p:cNvPr>
            <p:cNvSpPr/>
            <p:nvPr/>
          </p:nvSpPr>
          <p:spPr>
            <a:xfrm>
              <a:off x="4294073" y="4025811"/>
              <a:ext cx="403667" cy="403667"/>
            </a:xfrm>
            <a:custGeom>
              <a:avLst/>
              <a:gdLst/>
              <a:ahLst/>
              <a:cxnLst/>
              <a:rect l="0" t="0" r="0" b="0"/>
              <a:pathLst>
                <a:path w="403667" h="403667">
                  <a:moveTo>
                    <a:pt x="13021" y="208344"/>
                  </a:moveTo>
                  <a:cubicBezTo>
                    <a:pt x="13021" y="316218"/>
                    <a:pt x="100470" y="403667"/>
                    <a:pt x="208344" y="403667"/>
                  </a:cubicBezTo>
                  <a:cubicBezTo>
                    <a:pt x="316218" y="403667"/>
                    <a:pt x="403667" y="316218"/>
                    <a:pt x="403667" y="208344"/>
                  </a:cubicBezTo>
                  <a:cubicBezTo>
                    <a:pt x="403667" y="100470"/>
                    <a:pt x="316218" y="13021"/>
                    <a:pt x="208344" y="13021"/>
                  </a:cubicBezTo>
                  <a:cubicBezTo>
                    <a:pt x="100470" y="13021"/>
                    <a:pt x="13021" y="100470"/>
                    <a:pt x="13021" y="208344"/>
                  </a:cubicBezTo>
                  <a:moveTo>
                    <a:pt x="147577" y="208344"/>
                  </a:moveTo>
                  <a:cubicBezTo>
                    <a:pt x="147577" y="174783"/>
                    <a:pt x="174783" y="147577"/>
                    <a:pt x="208344" y="147577"/>
                  </a:cubicBezTo>
                  <a:cubicBezTo>
                    <a:pt x="241905" y="147577"/>
                    <a:pt x="269111" y="174783"/>
                    <a:pt x="269111" y="208344"/>
                  </a:cubicBezTo>
                  <a:cubicBezTo>
                    <a:pt x="269111" y="241905"/>
                    <a:pt x="241905" y="269111"/>
                    <a:pt x="208344" y="269111"/>
                  </a:cubicBezTo>
                  <a:cubicBezTo>
                    <a:pt x="174783" y="269111"/>
                    <a:pt x="147577" y="241905"/>
                    <a:pt x="147577" y="208344"/>
                  </a:cubicBezTo>
                  <a:moveTo>
                    <a:pt x="208344" y="13021"/>
                  </a:moveTo>
                  <a:lnTo>
                    <a:pt x="208344" y="147577"/>
                  </a:lnTo>
                  <a:moveTo>
                    <a:pt x="0" y="0"/>
                  </a:moveTo>
                  <a:moveTo>
                    <a:pt x="403667" y="208344"/>
                  </a:moveTo>
                  <a:lnTo>
                    <a:pt x="269111" y="208344"/>
                  </a:lnTo>
                  <a:moveTo>
                    <a:pt x="0" y="0"/>
                  </a:moveTo>
                  <a:moveTo>
                    <a:pt x="165380" y="251308"/>
                  </a:moveTo>
                  <a:lnTo>
                    <a:pt x="70397" y="346290"/>
                  </a:lnTo>
                </a:path>
              </a:pathLst>
            </a:custGeom>
            <a:noFill/>
            <a:ln w="13021">
              <a:solidFill>
                <a:srgbClr val="FFFFFF"/>
              </a:solidFill>
            </a:ln>
          </p:spPr>
          <p:txBody>
            <a:bodyPr rtlCol="0" anchor="ctr"/>
            <a:lstStyle/>
            <a:p>
              <a:pPr algn="ctr"/>
              <a:endParaRPr/>
            </a:p>
          </p:txBody>
        </p:sp>
        <p:sp>
          <p:nvSpPr>
            <p:cNvPr id="19" name="Rounded Rectangle 16">
              <a:extLst>
                <a:ext uri="{FF2B5EF4-FFF2-40B4-BE49-F238E27FC236}">
                  <a16:creationId xmlns:a16="http://schemas.microsoft.com/office/drawing/2014/main" id="{8CE278FD-1239-D513-6427-A3957DE8ABC2}"/>
                </a:ext>
              </a:extLst>
            </p:cNvPr>
            <p:cNvSpPr/>
            <p:nvPr/>
          </p:nvSpPr>
          <p:spPr>
            <a:xfrm>
              <a:off x="2905111" y="4815784"/>
              <a:ext cx="348814" cy="399343"/>
            </a:xfrm>
            <a:custGeom>
              <a:avLst/>
              <a:gdLst/>
              <a:ahLst/>
              <a:cxnLst/>
              <a:rect l="0" t="0" r="0" b="0"/>
              <a:pathLst>
                <a:path w="348814" h="399343">
                  <a:moveTo>
                    <a:pt x="69448" y="277809"/>
                  </a:moveTo>
                  <a:cubicBezTo>
                    <a:pt x="69448" y="344931"/>
                    <a:pt x="123860" y="399343"/>
                    <a:pt x="190982" y="399343"/>
                  </a:cubicBezTo>
                  <a:cubicBezTo>
                    <a:pt x="258103" y="399343"/>
                    <a:pt x="312516" y="344931"/>
                    <a:pt x="312516" y="277809"/>
                  </a:cubicBezTo>
                  <a:cubicBezTo>
                    <a:pt x="312516" y="210688"/>
                    <a:pt x="258103" y="156275"/>
                    <a:pt x="190982" y="156275"/>
                  </a:cubicBezTo>
                  <a:cubicBezTo>
                    <a:pt x="123860" y="156275"/>
                    <a:pt x="69448" y="210688"/>
                    <a:pt x="69448" y="277809"/>
                  </a:cubicBezTo>
                  <a:close/>
                  <a:moveTo>
                    <a:pt x="304703" y="234856"/>
                  </a:moveTo>
                  <a:cubicBezTo>
                    <a:pt x="332136" y="219083"/>
                    <a:pt x="348814" y="189633"/>
                    <a:pt x="348230" y="157994"/>
                  </a:cubicBezTo>
                  <a:cubicBezTo>
                    <a:pt x="347676" y="125958"/>
                    <a:pt x="334586" y="95415"/>
                    <a:pt x="311769" y="72920"/>
                  </a:cubicBezTo>
                  <a:cubicBezTo>
                    <a:pt x="310398" y="84312"/>
                    <a:pt x="304430" y="94649"/>
                    <a:pt x="295251" y="101534"/>
                  </a:cubicBezTo>
                  <a:cubicBezTo>
                    <a:pt x="286071" y="108419"/>
                    <a:pt x="274476" y="111253"/>
                    <a:pt x="263156" y="109380"/>
                  </a:cubicBezTo>
                  <a:cubicBezTo>
                    <a:pt x="231295" y="82585"/>
                    <a:pt x="221336" y="37767"/>
                    <a:pt x="238849" y="0"/>
                  </a:cubicBezTo>
                  <a:cubicBezTo>
                    <a:pt x="162890" y="0"/>
                    <a:pt x="114276" y="44811"/>
                    <a:pt x="105161" y="109380"/>
                  </a:cubicBezTo>
                  <a:cubicBezTo>
                    <a:pt x="81916" y="111809"/>
                    <a:pt x="60725" y="95916"/>
                    <a:pt x="56548" y="72920"/>
                  </a:cubicBezTo>
                  <a:cubicBezTo>
                    <a:pt x="2777" y="118652"/>
                    <a:pt x="0" y="211156"/>
                    <a:pt x="73805" y="245446"/>
                  </a:cubicBezTo>
                  <a:moveTo>
                    <a:pt x="251749" y="277809"/>
                  </a:moveTo>
                  <a:lnTo>
                    <a:pt x="190982" y="277809"/>
                  </a:lnTo>
                  <a:lnTo>
                    <a:pt x="190982" y="199680"/>
                  </a:lnTo>
                </a:path>
              </a:pathLst>
            </a:custGeom>
            <a:noFill/>
            <a:ln w="13021">
              <a:solidFill>
                <a:srgbClr val="FFFFFF"/>
              </a:solidFill>
            </a:ln>
          </p:spPr>
          <p:txBody>
            <a:bodyPr rtlCol="0" anchor="ctr"/>
            <a:lstStyle/>
            <a:p>
              <a:pPr algn="ctr"/>
              <a:endParaRPr/>
            </a:p>
          </p:txBody>
        </p:sp>
        <p:sp>
          <p:nvSpPr>
            <p:cNvPr id="20" name="Rounded Rectangle 17">
              <a:extLst>
                <a:ext uri="{FF2B5EF4-FFF2-40B4-BE49-F238E27FC236}">
                  <a16:creationId xmlns:a16="http://schemas.microsoft.com/office/drawing/2014/main" id="{05419033-27D4-2D14-862C-1C7563118242}"/>
                </a:ext>
              </a:extLst>
            </p:cNvPr>
            <p:cNvSpPr/>
            <p:nvPr/>
          </p:nvSpPr>
          <p:spPr>
            <a:xfrm>
              <a:off x="5717758" y="4815801"/>
              <a:ext cx="381966" cy="399309"/>
            </a:xfrm>
            <a:custGeom>
              <a:avLst/>
              <a:gdLst/>
              <a:ahLst/>
              <a:cxnLst/>
              <a:rect l="0" t="0" r="0" b="0"/>
              <a:pathLst>
                <a:path w="381966" h="399309">
                  <a:moveTo>
                    <a:pt x="381965" y="164921"/>
                  </a:moveTo>
                  <a:lnTo>
                    <a:pt x="381965" y="321544"/>
                  </a:lnTo>
                  <a:cubicBezTo>
                    <a:pt x="381966" y="331026"/>
                    <a:pt x="374361" y="338755"/>
                    <a:pt x="364881" y="338906"/>
                  </a:cubicBezTo>
                  <a:cubicBezTo>
                    <a:pt x="270553" y="341667"/>
                    <a:pt x="190983" y="367658"/>
                    <a:pt x="190983" y="399309"/>
                  </a:cubicBezTo>
                  <a:cubicBezTo>
                    <a:pt x="190983" y="367640"/>
                    <a:pt x="111395" y="341649"/>
                    <a:pt x="17085" y="338802"/>
                  </a:cubicBezTo>
                  <a:cubicBezTo>
                    <a:pt x="7605" y="338650"/>
                    <a:pt x="0" y="330921"/>
                    <a:pt x="1" y="321440"/>
                  </a:cubicBezTo>
                  <a:lnTo>
                    <a:pt x="1" y="69743"/>
                  </a:lnTo>
                  <a:cubicBezTo>
                    <a:pt x="0" y="65086"/>
                    <a:pt x="1870" y="60625"/>
                    <a:pt x="5190" y="57360"/>
                  </a:cubicBezTo>
                  <a:cubicBezTo>
                    <a:pt x="8510" y="54096"/>
                    <a:pt x="13002" y="52302"/>
                    <a:pt x="17658" y="52381"/>
                  </a:cubicBezTo>
                  <a:cubicBezTo>
                    <a:pt x="111725" y="55298"/>
                    <a:pt x="190983" y="81254"/>
                    <a:pt x="190983" y="112835"/>
                  </a:cubicBezTo>
                  <a:moveTo>
                    <a:pt x="43406" y="130197"/>
                  </a:moveTo>
                  <a:cubicBezTo>
                    <a:pt x="82113" y="132246"/>
                    <a:pt x="120228" y="140579"/>
                    <a:pt x="156259" y="154869"/>
                  </a:cubicBezTo>
                  <a:moveTo>
                    <a:pt x="43406" y="189315"/>
                  </a:moveTo>
                  <a:cubicBezTo>
                    <a:pt x="82111" y="191354"/>
                    <a:pt x="120226" y="199675"/>
                    <a:pt x="156259" y="213952"/>
                  </a:cubicBezTo>
                  <a:moveTo>
                    <a:pt x="43406" y="248415"/>
                  </a:moveTo>
                  <a:cubicBezTo>
                    <a:pt x="82112" y="250445"/>
                    <a:pt x="120228" y="258767"/>
                    <a:pt x="156259" y="273052"/>
                  </a:cubicBezTo>
                  <a:moveTo>
                    <a:pt x="190983" y="112853"/>
                  </a:moveTo>
                  <a:lnTo>
                    <a:pt x="190983" y="397156"/>
                  </a:lnTo>
                  <a:moveTo>
                    <a:pt x="347241" y="104154"/>
                  </a:moveTo>
                  <a:cubicBezTo>
                    <a:pt x="347342" y="77641"/>
                    <a:pt x="327510" y="55283"/>
                    <a:pt x="301175" y="52219"/>
                  </a:cubicBezTo>
                  <a:cubicBezTo>
                    <a:pt x="274839" y="49155"/>
                    <a:pt x="250404" y="66363"/>
                    <a:pt x="244415" y="92192"/>
                  </a:cubicBezTo>
                  <a:cubicBezTo>
                    <a:pt x="238427" y="118020"/>
                    <a:pt x="252796" y="144225"/>
                    <a:pt x="277793" y="153063"/>
                  </a:cubicBezTo>
                  <a:lnTo>
                    <a:pt x="277793" y="173602"/>
                  </a:lnTo>
                  <a:lnTo>
                    <a:pt x="312517" y="173602"/>
                  </a:lnTo>
                  <a:lnTo>
                    <a:pt x="312517" y="153080"/>
                  </a:lnTo>
                  <a:cubicBezTo>
                    <a:pt x="333292" y="145780"/>
                    <a:pt x="347206" y="126174"/>
                    <a:pt x="347241" y="104154"/>
                  </a:cubicBezTo>
                  <a:close/>
                  <a:moveTo>
                    <a:pt x="277793" y="208344"/>
                  </a:moveTo>
                  <a:lnTo>
                    <a:pt x="312517" y="208344"/>
                  </a:lnTo>
                  <a:moveTo>
                    <a:pt x="286474" y="243068"/>
                  </a:moveTo>
                  <a:lnTo>
                    <a:pt x="303836" y="243068"/>
                  </a:lnTo>
                  <a:moveTo>
                    <a:pt x="295155" y="17362"/>
                  </a:moveTo>
                  <a:lnTo>
                    <a:pt x="295155" y="0"/>
                  </a:lnTo>
                  <a:moveTo>
                    <a:pt x="356547" y="42797"/>
                  </a:moveTo>
                  <a:lnTo>
                    <a:pt x="368822" y="30522"/>
                  </a:lnTo>
                  <a:moveTo>
                    <a:pt x="233780" y="42797"/>
                  </a:moveTo>
                  <a:lnTo>
                    <a:pt x="221488" y="30522"/>
                  </a:lnTo>
                </a:path>
              </a:pathLst>
            </a:custGeom>
            <a:noFill/>
            <a:ln w="13021">
              <a:solidFill>
                <a:srgbClr val="FFFFFF"/>
              </a:solidFill>
            </a:ln>
          </p:spPr>
          <p:txBody>
            <a:bodyPr rtlCol="0" anchor="ctr"/>
            <a:lstStyle/>
            <a:p>
              <a:pPr algn="ctr"/>
              <a:endParaRPr/>
            </a:p>
          </p:txBody>
        </p:sp>
      </p:grpSp>
      <p:grpSp>
        <p:nvGrpSpPr>
          <p:cNvPr id="80" name="Group 79">
            <a:extLst>
              <a:ext uri="{FF2B5EF4-FFF2-40B4-BE49-F238E27FC236}">
                <a16:creationId xmlns:a16="http://schemas.microsoft.com/office/drawing/2014/main" id="{17049B36-DB2E-BCB6-E6A8-D43D87754F24}"/>
              </a:ext>
            </a:extLst>
          </p:cNvPr>
          <p:cNvGrpSpPr/>
          <p:nvPr/>
        </p:nvGrpSpPr>
        <p:grpSpPr>
          <a:xfrm>
            <a:off x="6316131" y="1641519"/>
            <a:ext cx="5815908" cy="4298142"/>
            <a:chOff x="1973470" y="1560955"/>
            <a:chExt cx="5815908" cy="4298142"/>
          </a:xfrm>
        </p:grpSpPr>
        <p:sp>
          <p:nvSpPr>
            <p:cNvPr id="81" name="Circular Arrow 9">
              <a:extLst>
                <a:ext uri="{FF2B5EF4-FFF2-40B4-BE49-F238E27FC236}">
                  <a16:creationId xmlns:a16="http://schemas.microsoft.com/office/drawing/2014/main" id="{6D9D64C8-C376-0ACF-AD98-CB9562ED1C92}"/>
                </a:ext>
              </a:extLst>
            </p:cNvPr>
            <p:cNvSpPr/>
            <p:nvPr/>
          </p:nvSpPr>
          <p:spPr>
            <a:xfrm>
              <a:off x="2548074" y="1560955"/>
              <a:ext cx="2068811" cy="2069126"/>
            </a:xfrm>
            <a:prstGeom prst="circularArrow">
              <a:avLst>
                <a:gd name="adj1" fmla="val 10980"/>
                <a:gd name="adj2" fmla="val 1142322"/>
                <a:gd name="adj3" fmla="val 4500000"/>
                <a:gd name="adj4" fmla="val 10800000"/>
                <a:gd name="adj5" fmla="val 12500"/>
              </a:avLst>
            </a:prstGeom>
            <a:solidFill>
              <a:schemeClr val="accent1"/>
            </a:soli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US" sz="900"/>
            </a:p>
          </p:txBody>
        </p:sp>
        <p:sp>
          <p:nvSpPr>
            <p:cNvPr id="82" name="Shape 81">
              <a:extLst>
                <a:ext uri="{FF2B5EF4-FFF2-40B4-BE49-F238E27FC236}">
                  <a16:creationId xmlns:a16="http://schemas.microsoft.com/office/drawing/2014/main" id="{01B63EAE-EE33-B187-587C-B5221A286E89}"/>
                </a:ext>
              </a:extLst>
            </p:cNvPr>
            <p:cNvSpPr/>
            <p:nvPr/>
          </p:nvSpPr>
          <p:spPr>
            <a:xfrm>
              <a:off x="1973470" y="2749821"/>
              <a:ext cx="2068811" cy="2069126"/>
            </a:xfrm>
            <a:prstGeom prst="leftCircularArrow">
              <a:avLst>
                <a:gd name="adj1" fmla="val 10980"/>
                <a:gd name="adj2" fmla="val 1142322"/>
                <a:gd name="adj3" fmla="val 6300000"/>
                <a:gd name="adj4" fmla="val 18900000"/>
                <a:gd name="adj5" fmla="val 12500"/>
              </a:avLst>
            </a:prstGeom>
            <a:solidFill>
              <a:schemeClr val="accent2"/>
            </a:soli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US" sz="900"/>
            </a:p>
          </p:txBody>
        </p:sp>
        <p:sp>
          <p:nvSpPr>
            <p:cNvPr id="83" name="Block Arc 82">
              <a:extLst>
                <a:ext uri="{FF2B5EF4-FFF2-40B4-BE49-F238E27FC236}">
                  <a16:creationId xmlns:a16="http://schemas.microsoft.com/office/drawing/2014/main" id="{B15153C2-EDEB-42B1-B8BE-CA41B78EE8D1}"/>
                </a:ext>
              </a:extLst>
            </p:cNvPr>
            <p:cNvSpPr/>
            <p:nvPr/>
          </p:nvSpPr>
          <p:spPr>
            <a:xfrm>
              <a:off x="2695320" y="4080956"/>
              <a:ext cx="1777429" cy="1778141"/>
            </a:xfrm>
            <a:prstGeom prst="blockArc">
              <a:avLst>
                <a:gd name="adj1" fmla="val 13500000"/>
                <a:gd name="adj2" fmla="val 10800000"/>
                <a:gd name="adj3" fmla="val 12740"/>
              </a:avLst>
            </a:prstGeom>
            <a:solidFill>
              <a:schemeClr val="accent3"/>
            </a:soli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US" sz="900"/>
            </a:p>
          </p:txBody>
        </p:sp>
        <p:sp>
          <p:nvSpPr>
            <p:cNvPr id="87" name="TextBox 86">
              <a:extLst>
                <a:ext uri="{FF2B5EF4-FFF2-40B4-BE49-F238E27FC236}">
                  <a16:creationId xmlns:a16="http://schemas.microsoft.com/office/drawing/2014/main" id="{B655C451-428E-C2C1-98D0-EC98828921BF}"/>
                </a:ext>
              </a:extLst>
            </p:cNvPr>
            <p:cNvSpPr txBox="1"/>
            <p:nvPr/>
          </p:nvSpPr>
          <p:spPr>
            <a:xfrm>
              <a:off x="4473337" y="2079699"/>
              <a:ext cx="3316041" cy="541667"/>
            </a:xfrm>
            <a:prstGeom prst="rect">
              <a:avLst/>
            </a:prstGeom>
          </p:spPr>
          <p:txBody>
            <a:bodyPr wrap="square" lIns="109708" tIns="54854" rIns="109708" bIns="54854" rtlCol="0">
              <a:spAutoFit/>
            </a:bodyPr>
            <a:lstStyle/>
            <a:p>
              <a:pPr marL="257149" indent="-257149" defTabSz="914126">
                <a:buFont typeface="Arial"/>
                <a:buChar char="•"/>
              </a:pPr>
              <a:r>
                <a:rPr lang="en-US" sz="1400">
                  <a:ea typeface="Lato"/>
                  <a:cs typeface="Lato Light"/>
                </a:rPr>
                <a:t>Reduce onboarding time on legacy systems from </a:t>
              </a:r>
              <a:r>
                <a:rPr lang="en-US" sz="1400" b="1">
                  <a:ea typeface="Lato"/>
                  <a:cs typeface="Lato Light"/>
                </a:rPr>
                <a:t>months to weeks</a:t>
              </a:r>
            </a:p>
          </p:txBody>
        </p:sp>
        <p:sp>
          <p:nvSpPr>
            <p:cNvPr id="88" name="TextBox 87">
              <a:extLst>
                <a:ext uri="{FF2B5EF4-FFF2-40B4-BE49-F238E27FC236}">
                  <a16:creationId xmlns:a16="http://schemas.microsoft.com/office/drawing/2014/main" id="{37679850-936F-9843-D79B-5DC76941173D}"/>
                </a:ext>
              </a:extLst>
            </p:cNvPr>
            <p:cNvSpPr txBox="1"/>
            <p:nvPr/>
          </p:nvSpPr>
          <p:spPr>
            <a:xfrm>
              <a:off x="4473338" y="4777729"/>
              <a:ext cx="3316030" cy="972554"/>
            </a:xfrm>
            <a:prstGeom prst="rect">
              <a:avLst/>
            </a:prstGeom>
          </p:spPr>
          <p:txBody>
            <a:bodyPr wrap="square" lIns="109708" tIns="54854" rIns="109708" bIns="54854" rtlCol="0">
              <a:spAutoFit/>
            </a:bodyPr>
            <a:lstStyle/>
            <a:p>
              <a:pPr marL="257149" indent="-257149" defTabSz="914126">
                <a:buFont typeface="Arial"/>
                <a:buChar char="•"/>
              </a:pPr>
              <a:r>
                <a:rPr lang="en-US" sz="1400">
                  <a:ea typeface="Lato"/>
                  <a:cs typeface="Lato Light"/>
                </a:rPr>
                <a:t>Lower dependency on a handful of legacy SMEs and create a </a:t>
              </a:r>
              <a:r>
                <a:rPr lang="en-US" sz="1400" b="1">
                  <a:ea typeface="Lato"/>
                  <a:cs typeface="Lato Light"/>
                </a:rPr>
                <a:t>living knowledge base </a:t>
              </a:r>
              <a:r>
                <a:rPr lang="en-US" sz="1400">
                  <a:ea typeface="Lato"/>
                  <a:cs typeface="Lato Light"/>
                </a:rPr>
                <a:t>for future modernization</a:t>
              </a:r>
            </a:p>
          </p:txBody>
        </p:sp>
        <p:sp>
          <p:nvSpPr>
            <p:cNvPr id="89" name="TextBox 88">
              <a:extLst>
                <a:ext uri="{FF2B5EF4-FFF2-40B4-BE49-F238E27FC236}">
                  <a16:creationId xmlns:a16="http://schemas.microsoft.com/office/drawing/2014/main" id="{EABE230D-091B-CB4C-2CE4-7C40F551A1AA}"/>
                </a:ext>
              </a:extLst>
            </p:cNvPr>
            <p:cNvSpPr txBox="1"/>
            <p:nvPr/>
          </p:nvSpPr>
          <p:spPr>
            <a:xfrm>
              <a:off x="4473337" y="3420113"/>
              <a:ext cx="3316041" cy="541667"/>
            </a:xfrm>
            <a:prstGeom prst="rect">
              <a:avLst/>
            </a:prstGeom>
          </p:spPr>
          <p:txBody>
            <a:bodyPr wrap="square" lIns="109708" tIns="54854" rIns="109708" bIns="54854" rtlCol="0">
              <a:spAutoFit/>
            </a:bodyPr>
            <a:lstStyle/>
            <a:p>
              <a:pPr marL="257149" indent="-257149" defTabSz="914126">
                <a:buFont typeface="Arial"/>
                <a:buChar char="•"/>
              </a:pPr>
              <a:r>
                <a:rPr lang="en-US" sz="1400">
                  <a:ea typeface="Lato"/>
                  <a:cs typeface="Lato Light"/>
                </a:rPr>
                <a:t>Cut the effort for impact analysis of major changes from </a:t>
              </a:r>
              <a:r>
                <a:rPr lang="en-US" sz="1400" b="1">
                  <a:ea typeface="Lato"/>
                  <a:cs typeface="Lato Light"/>
                </a:rPr>
                <a:t>days to hours</a:t>
              </a:r>
            </a:p>
          </p:txBody>
        </p:sp>
      </p:grpSp>
      <p:sp>
        <p:nvSpPr>
          <p:cNvPr id="90" name="TextBox 89">
            <a:extLst>
              <a:ext uri="{FF2B5EF4-FFF2-40B4-BE49-F238E27FC236}">
                <a16:creationId xmlns:a16="http://schemas.microsoft.com/office/drawing/2014/main" id="{E86FD34C-8DD7-DED8-12AF-0E63C4CEE1E5}"/>
              </a:ext>
            </a:extLst>
          </p:cNvPr>
          <p:cNvSpPr txBox="1"/>
          <p:nvPr/>
        </p:nvSpPr>
        <p:spPr>
          <a:xfrm>
            <a:off x="1476851" y="1619058"/>
            <a:ext cx="3470948" cy="757110"/>
          </a:xfrm>
          <a:prstGeom prst="rect">
            <a:avLst/>
          </a:prstGeom>
        </p:spPr>
        <p:txBody>
          <a:bodyPr wrap="square" lIns="109708" tIns="54854" rIns="109708" bIns="54854" rtlCol="0">
            <a:spAutoFit/>
          </a:bodyPr>
          <a:lstStyle/>
          <a:p>
            <a:pPr defTabSz="914126"/>
            <a:r>
              <a:rPr lang="en-US" sz="1400">
                <a:ea typeface="Lato"/>
                <a:cs typeface="Lato Light"/>
              </a:rPr>
              <a:t>We build a </a:t>
            </a:r>
            <a:r>
              <a:rPr lang="en-US" sz="1400" b="1">
                <a:ea typeface="Lato"/>
                <a:cs typeface="Lato Light"/>
              </a:rPr>
              <a:t>persistent system model </a:t>
            </a:r>
            <a:r>
              <a:rPr lang="en-US" sz="1400">
                <a:ea typeface="Lato"/>
                <a:cs typeface="Lato Light"/>
              </a:rPr>
              <a:t>(call graphs, data flows, entity maps), not just ad-hoc file summaries</a:t>
            </a:r>
            <a:endParaRPr lang="en-US" sz="1400" b="1">
              <a:ea typeface="Lato"/>
              <a:cs typeface="Lato Light"/>
            </a:endParaRPr>
          </a:p>
        </p:txBody>
      </p:sp>
      <p:sp>
        <p:nvSpPr>
          <p:cNvPr id="91" name="TextBox 90">
            <a:extLst>
              <a:ext uri="{FF2B5EF4-FFF2-40B4-BE49-F238E27FC236}">
                <a16:creationId xmlns:a16="http://schemas.microsoft.com/office/drawing/2014/main" id="{CCB6A368-2B50-3F22-2C4E-5535FE6C6F66}"/>
              </a:ext>
            </a:extLst>
          </p:cNvPr>
          <p:cNvSpPr txBox="1"/>
          <p:nvPr/>
        </p:nvSpPr>
        <p:spPr>
          <a:xfrm>
            <a:off x="2546419" y="3556067"/>
            <a:ext cx="3307006" cy="972554"/>
          </a:xfrm>
          <a:prstGeom prst="rect">
            <a:avLst/>
          </a:prstGeom>
        </p:spPr>
        <p:txBody>
          <a:bodyPr wrap="square" lIns="109708" tIns="54854" rIns="109708" bIns="54854" rtlCol="0">
            <a:spAutoFit/>
          </a:bodyPr>
          <a:lstStyle/>
          <a:p>
            <a:pPr defTabSz="914126"/>
            <a:r>
              <a:rPr lang="en-US" sz="1400">
                <a:ea typeface="Lato"/>
                <a:cs typeface="Lato Light"/>
              </a:rPr>
              <a:t>Knowledge is </a:t>
            </a:r>
            <a:r>
              <a:rPr lang="en-US" sz="1400" b="1">
                <a:ea typeface="Lato"/>
                <a:cs typeface="Lato Light"/>
              </a:rPr>
              <a:t>shared and governed </a:t>
            </a:r>
            <a:r>
              <a:rPr lang="en-US" sz="1400">
                <a:ea typeface="Lato"/>
                <a:cs typeface="Lato Light"/>
              </a:rPr>
              <a:t>across teams (onboarding tours, impact reports, dashboards), not stuck in individual IDE histories</a:t>
            </a:r>
            <a:endParaRPr lang="en-US" sz="1400" b="1">
              <a:ea typeface="Lato"/>
              <a:cs typeface="Lato Light"/>
            </a:endParaRPr>
          </a:p>
        </p:txBody>
      </p:sp>
      <p:sp>
        <p:nvSpPr>
          <p:cNvPr id="92" name="TextBox 91">
            <a:extLst>
              <a:ext uri="{FF2B5EF4-FFF2-40B4-BE49-F238E27FC236}">
                <a16:creationId xmlns:a16="http://schemas.microsoft.com/office/drawing/2014/main" id="{19C47155-05E4-EEB4-87DF-8CE6B6A1EE8C}"/>
              </a:ext>
            </a:extLst>
          </p:cNvPr>
          <p:cNvSpPr txBox="1"/>
          <p:nvPr/>
        </p:nvSpPr>
        <p:spPr>
          <a:xfrm>
            <a:off x="1430604" y="5677991"/>
            <a:ext cx="3794194" cy="757110"/>
          </a:xfrm>
          <a:prstGeom prst="rect">
            <a:avLst/>
          </a:prstGeom>
        </p:spPr>
        <p:txBody>
          <a:bodyPr wrap="square" lIns="109708" tIns="54854" rIns="109708" bIns="54854" rtlCol="0">
            <a:spAutoFit/>
          </a:bodyPr>
          <a:lstStyle/>
          <a:p>
            <a:pPr defTabSz="914126"/>
            <a:r>
              <a:rPr lang="en-US" sz="1400">
                <a:ea typeface="Lato"/>
                <a:cs typeface="Lato Light"/>
              </a:rPr>
              <a:t>Everything runs in a client-controlled </a:t>
            </a:r>
            <a:r>
              <a:rPr lang="en-US" sz="1400" b="1">
                <a:ea typeface="Lato"/>
                <a:cs typeface="Lato Light"/>
              </a:rPr>
              <a:t>environment</a:t>
            </a:r>
            <a:r>
              <a:rPr lang="en-US" sz="1400">
                <a:ea typeface="Lato"/>
                <a:cs typeface="Lato Light"/>
              </a:rPr>
              <a:t> (on-prem/VPC), with auditability and traceability for regulators</a:t>
            </a:r>
            <a:endParaRPr lang="en-US" sz="1400" b="1">
              <a:ea typeface="Lato"/>
              <a:cs typeface="Lato Light"/>
            </a:endParaRPr>
          </a:p>
        </p:txBody>
      </p:sp>
      <p:grpSp>
        <p:nvGrpSpPr>
          <p:cNvPr id="95" name="Group 94">
            <a:extLst>
              <a:ext uri="{FF2B5EF4-FFF2-40B4-BE49-F238E27FC236}">
                <a16:creationId xmlns:a16="http://schemas.microsoft.com/office/drawing/2014/main" id="{650496C2-7D4F-7B57-1A45-B2FC27742544}"/>
              </a:ext>
            </a:extLst>
          </p:cNvPr>
          <p:cNvGrpSpPr/>
          <p:nvPr/>
        </p:nvGrpSpPr>
        <p:grpSpPr>
          <a:xfrm>
            <a:off x="5901182" y="524656"/>
            <a:ext cx="2143" cy="5842049"/>
            <a:chOff x="4072531" y="4464820"/>
            <a:chExt cx="14" cy="1208201"/>
          </a:xfrm>
        </p:grpSpPr>
        <p:cxnSp>
          <p:nvCxnSpPr>
            <p:cNvPr id="93" name="Straight Connector 92">
              <a:extLst>
                <a:ext uri="{FF2B5EF4-FFF2-40B4-BE49-F238E27FC236}">
                  <a16:creationId xmlns:a16="http://schemas.microsoft.com/office/drawing/2014/main" id="{C702F362-762C-4DB8-D508-51309EE817AE}"/>
                </a:ext>
              </a:extLst>
            </p:cNvPr>
            <p:cNvCxnSpPr>
              <a:cxnSpLocks/>
            </p:cNvCxnSpPr>
            <p:nvPr/>
          </p:nvCxnSpPr>
          <p:spPr>
            <a:xfrm>
              <a:off x="4072531" y="4464820"/>
              <a:ext cx="0" cy="1208201"/>
            </a:xfrm>
            <a:prstGeom prst="line">
              <a:avLst/>
            </a:prstGeom>
            <a:ln w="12700" cap="rnd">
              <a:gradFill>
                <a:gsLst>
                  <a:gs pos="0">
                    <a:srgbClr val="CF4627"/>
                  </a:gs>
                  <a:gs pos="100000">
                    <a:schemeClr val="accent5">
                      <a:lumMod val="75000"/>
                    </a:schemeClr>
                  </a:gs>
                </a:gsLst>
                <a:lin ang="5400000" scaled="1"/>
              </a:gradFill>
              <a:prstDash val="sysDash"/>
              <a:roun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0F4D05E-5C50-2DFB-5B47-34C863EF879D}"/>
                </a:ext>
              </a:extLst>
            </p:cNvPr>
            <p:cNvCxnSpPr>
              <a:cxnSpLocks/>
            </p:cNvCxnSpPr>
            <p:nvPr/>
          </p:nvCxnSpPr>
          <p:spPr>
            <a:xfrm>
              <a:off x="4072545" y="4876651"/>
              <a:ext cx="0" cy="346700"/>
            </a:xfrm>
            <a:prstGeom prst="line">
              <a:avLst/>
            </a:prstGeom>
            <a:ln w="38100" cap="rnd">
              <a:gradFill>
                <a:gsLst>
                  <a:gs pos="0">
                    <a:srgbClr val="CF4627"/>
                  </a:gs>
                  <a:gs pos="100000">
                    <a:schemeClr val="accent5">
                      <a:lumMod val="75000"/>
                    </a:schemeClr>
                  </a:gs>
                </a:gsLst>
                <a:lin ang="5400000" scaled="1"/>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pic>
        <p:nvPicPr>
          <p:cNvPr id="97" name="Picture 96" descr="A group of gears on a black background&#10;&#10;AI-generated content may be incorrect.">
            <a:extLst>
              <a:ext uri="{FF2B5EF4-FFF2-40B4-BE49-F238E27FC236}">
                <a16:creationId xmlns:a16="http://schemas.microsoft.com/office/drawing/2014/main" id="{A772C96D-BB14-4920-E941-CD35119A55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5460" y="2260380"/>
            <a:ext cx="720000" cy="720000"/>
          </a:xfrm>
          <a:prstGeom prst="rect">
            <a:avLst/>
          </a:prstGeom>
        </p:spPr>
      </p:pic>
      <p:pic>
        <p:nvPicPr>
          <p:cNvPr id="99" name="Picture 98" descr="A person pushing a ball up a hill&#10;&#10;AI-generated content may be incorrect.">
            <a:extLst>
              <a:ext uri="{FF2B5EF4-FFF2-40B4-BE49-F238E27FC236}">
                <a16:creationId xmlns:a16="http://schemas.microsoft.com/office/drawing/2014/main" id="{2C5A1597-698F-C9BD-928A-322E4DE3F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0536" y="3429000"/>
            <a:ext cx="720000" cy="720000"/>
          </a:xfrm>
          <a:prstGeom prst="rect">
            <a:avLst/>
          </a:prstGeom>
        </p:spPr>
      </p:pic>
      <p:pic>
        <p:nvPicPr>
          <p:cNvPr id="101" name="Picture 100" descr="A black background with different colored shapes&#10;&#10;AI-generated content may be incorrect.">
            <a:extLst>
              <a:ext uri="{FF2B5EF4-FFF2-40B4-BE49-F238E27FC236}">
                <a16:creationId xmlns:a16="http://schemas.microsoft.com/office/drawing/2014/main" id="{7DC03D3E-9C0E-ABCE-F8D1-D1CF9DB76D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5140" y="4676884"/>
            <a:ext cx="720000" cy="720000"/>
          </a:xfrm>
          <a:prstGeom prst="rect">
            <a:avLst/>
          </a:prstGeom>
        </p:spPr>
      </p:pic>
      <p:sp>
        <p:nvSpPr>
          <p:cNvPr id="102" name="object 8">
            <a:extLst>
              <a:ext uri="{FF2B5EF4-FFF2-40B4-BE49-F238E27FC236}">
                <a16:creationId xmlns:a16="http://schemas.microsoft.com/office/drawing/2014/main" id="{0E7DC5E9-79EF-3290-F970-8CA12A335E9D}"/>
              </a:ext>
            </a:extLst>
          </p:cNvPr>
          <p:cNvSpPr txBox="1"/>
          <p:nvPr/>
        </p:nvSpPr>
        <p:spPr>
          <a:xfrm>
            <a:off x="0" y="211272"/>
            <a:ext cx="9969189" cy="342401"/>
          </a:xfrm>
          <a:prstGeom prst="rect">
            <a:avLst/>
          </a:prstGeom>
          <a:solidFill>
            <a:srgbClr val="F1F1F1"/>
          </a:solidFill>
          <a:ln w="9525">
            <a:solidFill>
              <a:srgbClr val="D9D9D9"/>
            </a:solidFill>
          </a:ln>
        </p:spPr>
        <p:txBody>
          <a:bodyPr vert="horz" wrap="square" lIns="0" tIns="34290" rIns="0" bIns="0" rtlCol="0">
            <a:spAutoFit/>
          </a:bodyPr>
          <a:lstStyle/>
          <a:p>
            <a:pPr marL="83820" algn="ctr">
              <a:lnSpc>
                <a:spcPct val="100000"/>
              </a:lnSpc>
              <a:spcBef>
                <a:spcPts val="270"/>
              </a:spcBef>
            </a:pPr>
            <a:r>
              <a:rPr lang="en-US" sz="2000" dirty="0">
                <a:latin typeface="+mj-lt"/>
                <a:cs typeface="Calibri"/>
              </a:rPr>
              <a:t>How is this different from “</a:t>
            </a:r>
            <a:r>
              <a:rPr lang="en-US" sz="2000" b="1" dirty="0">
                <a:latin typeface="+mj-lt"/>
                <a:cs typeface="Calibri"/>
              </a:rPr>
              <a:t>Just give the team a Cursor / Claude code license</a:t>
            </a:r>
            <a:r>
              <a:rPr lang="en-US" sz="2000" dirty="0">
                <a:latin typeface="+mj-lt"/>
                <a:cs typeface="Calibri"/>
              </a:rPr>
              <a:t>”</a:t>
            </a:r>
            <a:endParaRPr sz="2000" dirty="0">
              <a:latin typeface="+mj-lt"/>
              <a:cs typeface="Calibri"/>
            </a:endParaRPr>
          </a:p>
        </p:txBody>
      </p:sp>
      <p:sp>
        <p:nvSpPr>
          <p:cNvPr id="105" name="object 8">
            <a:extLst>
              <a:ext uri="{FF2B5EF4-FFF2-40B4-BE49-F238E27FC236}">
                <a16:creationId xmlns:a16="http://schemas.microsoft.com/office/drawing/2014/main" id="{4E40D01B-CA7D-41C0-8EE6-7AF00294BF53}"/>
              </a:ext>
            </a:extLst>
          </p:cNvPr>
          <p:cNvSpPr txBox="1"/>
          <p:nvPr/>
        </p:nvSpPr>
        <p:spPr>
          <a:xfrm>
            <a:off x="6740520" y="905111"/>
            <a:ext cx="4724264" cy="311624"/>
          </a:xfrm>
          <a:prstGeom prst="rect">
            <a:avLst/>
          </a:prstGeom>
          <a:solidFill>
            <a:srgbClr val="F1F1F1"/>
          </a:solidFill>
          <a:ln w="9525">
            <a:solidFill>
              <a:srgbClr val="D9D9D9"/>
            </a:solidFill>
          </a:ln>
        </p:spPr>
        <p:txBody>
          <a:bodyPr vert="horz" wrap="square" lIns="0" tIns="34290" rIns="0" bIns="0" rtlCol="0">
            <a:spAutoFit/>
          </a:bodyPr>
          <a:lstStyle/>
          <a:p>
            <a:pPr marL="83820" algn="ctr">
              <a:lnSpc>
                <a:spcPct val="100000"/>
              </a:lnSpc>
              <a:spcBef>
                <a:spcPts val="270"/>
              </a:spcBef>
            </a:pPr>
            <a:r>
              <a:rPr lang="en-US" b="1">
                <a:latin typeface="+mj-lt"/>
                <a:cs typeface="Calibri"/>
              </a:rPr>
              <a:t>Business Outcome</a:t>
            </a:r>
            <a:endParaRPr b="1">
              <a:latin typeface="+mj-lt"/>
              <a:cs typeface="Calibri"/>
            </a:endParaRPr>
          </a:p>
        </p:txBody>
      </p:sp>
    </p:spTree>
    <p:custDataLst>
      <p:tags r:id="rId1"/>
    </p:custDataLst>
    <p:extLst>
      <p:ext uri="{BB962C8B-B14F-4D97-AF65-F5344CB8AC3E}">
        <p14:creationId xmlns:p14="http://schemas.microsoft.com/office/powerpoint/2010/main" val="29375859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6_Template">
  <a:themeElements>
    <a:clrScheme name="25_New colors_Ascendion">
      <a:dk1>
        <a:srgbClr val="000000"/>
      </a:dk1>
      <a:lt1>
        <a:srgbClr val="FFFFFF"/>
      </a:lt1>
      <a:dk2>
        <a:srgbClr val="B3B3B3"/>
      </a:dk2>
      <a:lt2>
        <a:srgbClr val="E8E8E8"/>
      </a:lt2>
      <a:accent1>
        <a:srgbClr val="2CDCAA"/>
      </a:accent1>
      <a:accent2>
        <a:srgbClr val="006450"/>
      </a:accent2>
      <a:accent3>
        <a:srgbClr val="FFC30F"/>
      </a:accent3>
      <a:accent4>
        <a:srgbClr val="6464D7"/>
      </a:accent4>
      <a:accent5>
        <a:srgbClr val="F50F7D"/>
      </a:accent5>
      <a:accent6>
        <a:srgbClr val="828282"/>
      </a:accent6>
      <a:hlink>
        <a:srgbClr val="5937AF"/>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5_Template" id="{0519F492-4EE2-C240-8DA3-FEDCA163F0E4}" vid="{F95DF2F9-D131-DC46-B5ED-3DDCEE6E29CD}"/>
    </a:ext>
  </a:extLst>
</a:theme>
</file>

<file path=ppt/theme/theme2.xml><?xml version="1.0" encoding="utf-8"?>
<a:theme xmlns:a="http://schemas.openxmlformats.org/drawingml/2006/main" name="Content - Light">
  <a:themeElements>
    <a:clrScheme name="25_New_ascendion colors">
      <a:dk1>
        <a:srgbClr val="000000"/>
      </a:dk1>
      <a:lt1>
        <a:srgbClr val="FFFFFF"/>
      </a:lt1>
      <a:dk2>
        <a:srgbClr val="B3B3B3"/>
      </a:dk2>
      <a:lt2>
        <a:srgbClr val="E8E8E8"/>
      </a:lt2>
      <a:accent1>
        <a:srgbClr val="2CDCAA"/>
      </a:accent1>
      <a:accent2>
        <a:srgbClr val="006450"/>
      </a:accent2>
      <a:accent3>
        <a:srgbClr val="F5821E"/>
      </a:accent3>
      <a:accent4>
        <a:srgbClr val="6666CC"/>
      </a:accent4>
      <a:accent5>
        <a:srgbClr val="8C0059"/>
      </a:accent5>
      <a:accent6>
        <a:srgbClr val="828282"/>
      </a:accent6>
      <a:hlink>
        <a:srgbClr val="968CFA"/>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b049a44-7832-48fa-a709-f6e368cd470b">
      <Terms xmlns="http://schemas.microsoft.com/office/infopath/2007/PartnerControls"/>
    </lcf76f155ced4ddcb4097134ff3c332f>
    <TaxCatchAll xmlns="d5635f6c-c281-4f83-9a95-4aa47450f7b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8EC293183C3D143B44C68C9C9060FED" ma:contentTypeVersion="14" ma:contentTypeDescription="Create a new document." ma:contentTypeScope="" ma:versionID="a8dff3223e520fd9d30cde71772071cb">
  <xsd:schema xmlns:xsd="http://www.w3.org/2001/XMLSchema" xmlns:xs="http://www.w3.org/2001/XMLSchema" xmlns:p="http://schemas.microsoft.com/office/2006/metadata/properties" xmlns:ns2="5b049a44-7832-48fa-a709-f6e368cd470b" xmlns:ns3="d5635f6c-c281-4f83-9a95-4aa47450f7b6" targetNamespace="http://schemas.microsoft.com/office/2006/metadata/properties" ma:root="true" ma:fieldsID="f837c46c80821455b062b4ab20f7ff0f" ns2:_="" ns3:_="">
    <xsd:import namespace="5b049a44-7832-48fa-a709-f6e368cd470b"/>
    <xsd:import namespace="d5635f6c-c281-4f83-9a95-4aa47450f7b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049a44-7832-48fa-a709-f6e368cd47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afb2a67-62c7-4b1b-9e2c-5fa2ecb7a4d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5635f6c-c281-4f83-9a95-4aa47450f7b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bc4756d-0469-4e8a-ab59-202d89b49cb0}" ma:internalName="TaxCatchAll" ma:showField="CatchAllData" ma:web="d5635f6c-c281-4f83-9a95-4aa47450f7b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C24F79-BFC1-430D-B450-4F4E6A885361}">
  <ds:schemaRefs>
    <ds:schemaRef ds:uri="http://schemas.microsoft.com/sharepoint/v3/contenttype/forms"/>
  </ds:schemaRefs>
</ds:datastoreItem>
</file>

<file path=customXml/itemProps2.xml><?xml version="1.0" encoding="utf-8"?>
<ds:datastoreItem xmlns:ds="http://schemas.openxmlformats.org/officeDocument/2006/customXml" ds:itemID="{4EC8B431-B194-4BCF-8E25-0A27A8F3CB70}">
  <ds:schemaRefs>
    <ds:schemaRef ds:uri="5b049a44-7832-48fa-a709-f6e368cd470b"/>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schemas.microsoft.com/office/2006/metadata/properties"/>
    <ds:schemaRef ds:uri="d5635f6c-c281-4f83-9a95-4aa47450f7b6"/>
    <ds:schemaRef ds:uri="http://purl.org/dc/elements/1.1/"/>
  </ds:schemaRefs>
</ds:datastoreItem>
</file>

<file path=customXml/itemProps3.xml><?xml version="1.0" encoding="utf-8"?>
<ds:datastoreItem xmlns:ds="http://schemas.openxmlformats.org/officeDocument/2006/customXml" ds:itemID="{2AEF681A-CDF3-482F-8006-2B9CDEB98E82}">
  <ds:schemaRefs>
    <ds:schemaRef ds:uri="5b049a44-7832-48fa-a709-f6e368cd470b"/>
    <ds:schemaRef ds:uri="d5635f6c-c281-4f83-9a95-4aa47450f7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TotalTime>
  <Words>413</Words>
  <Application>Microsoft Macintosh PowerPoint</Application>
  <PresentationFormat>Widescreen</PresentationFormat>
  <Paragraphs>31</Paragraphs>
  <Slides>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vt:i4>
      </vt:variant>
    </vt:vector>
  </HeadingPairs>
  <TitlesOfParts>
    <vt:vector size="11" baseType="lpstr">
      <vt:lpstr>Aptos</vt:lpstr>
      <vt:lpstr>Arial</vt:lpstr>
      <vt:lpstr>Century Gothic</vt:lpstr>
      <vt:lpstr>Lato</vt:lpstr>
      <vt:lpstr>PP Neue Machina Plain Ultrabold</vt:lpstr>
      <vt:lpstr>Verdana</vt:lpstr>
      <vt:lpstr>26_Template</vt:lpstr>
      <vt:lpstr>Content - Light</vt:lpstr>
      <vt:lpstr>Ascendion -   Legacy System X-Ray &amp; Navigator</vt:lpstr>
      <vt:lpstr>Exec Summary: Legacy Systems X-ray + Navigator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Mukund Kaushal</dc:creator>
  <cp:lastModifiedBy>Srinidhi Ramanujam</cp:lastModifiedBy>
  <cp:revision>2</cp:revision>
  <dcterms:created xsi:type="dcterms:W3CDTF">2025-07-24T05:40:47Z</dcterms:created>
  <dcterms:modified xsi:type="dcterms:W3CDTF">2026-02-27T12:54:50Z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0x01010038EC293183C3D143B44C68C9C9060FED</vt:lpwstr>
  </property>
  <property fmtid="{D5CDD505-2E9C-101B-9397-08002B2CF9AE}" pid="3" name="MediaServiceImageTags">
    <vt:lpwstr/>
  </property>
</Properties>
</file>