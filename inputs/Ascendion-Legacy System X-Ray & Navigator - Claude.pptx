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5" r:id="rId5"/>
  </p:sldMasterIdLst>
  <p:notesMasterIdLst>
    <p:notesMasterId r:id="rId16"/>
  </p:notesMasterIdLst>
  <p:sldIdLst>
    <p:sldId id="2147483553" r:id="rId6"/>
    <p:sldId id="2147483544" r:id="rId7"/>
    <p:sldId id="2147483549" r:id="rId8"/>
    <p:sldId id="2147483545" r:id="rId9"/>
    <p:sldId id="2147483535" r:id="rId10"/>
    <p:sldId id="2147483548" r:id="rId11"/>
    <p:sldId id="2147483550" r:id="rId12"/>
    <p:sldId id="2147483546" r:id="rId13"/>
    <p:sldId id="2147483551" r:id="rId14"/>
    <p:sldId id="214748355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265F02-6459-E038-D3C0-E1F1FFECB610}" name="Suprotim Dutta" initials="SD" userId="S::suprotim.dutta@ascendion.com::e287ff66-55d5-4dfc-859f-427c23152420" providerId="AD"/>
  <p188:author id="{37C7D314-7C44-D49B-9DD9-491EB55BC9A0}" name="Prince Khatick" initials="PK" userId="S::prince.khatick@ascendion.com::01801ccf-366d-4cfc-b7b0-390abb7f1396" providerId="AD"/>
  <p188:author id="{57ABF8B8-1B86-C584-86F6-577647844C2C}" name="Srinidhi Ramanujam" initials="" userId="S::srinidhi.ramanujam@ascendion.com::5f8f3704-feaa-4dac-be63-cc4dff5bcdb3" providerId="AD"/>
  <p188:author id="{C9228BD5-71FE-045B-4FFD-113C3763D1D8}" name="Mukund Kaushal" initials="MK" userId="S::mukund.kaushal@ascendion.com::e9074881-c34a-4cf6-8f4e-e997d1e0aa1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CC583"/>
    <a:srgbClr val="E55753"/>
    <a:srgbClr val="1EABDA"/>
    <a:srgbClr val="E0CB15"/>
    <a:srgbClr val="DE8431"/>
    <a:srgbClr val="DE58A9"/>
    <a:srgbClr val="272626"/>
    <a:srgbClr val="BFD740"/>
    <a:srgbClr val="239CFC"/>
    <a:srgbClr val="E0E0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p:restoredTop sz="94658"/>
  </p:normalViewPr>
  <p:slideViewPr>
    <p:cSldViewPr snapToGrid="0">
      <p:cViewPr varScale="1">
        <p:scale>
          <a:sx n="91" d="100"/>
          <a:sy n="91" d="100"/>
        </p:scale>
        <p:origin x="216" y="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F972A6-52A5-4CB9-B121-AD76A2ED20C3}" type="datetimeFigureOut">
              <a:rPr lang="en-IN" smtClean="0"/>
              <a:t>04/03/26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2E2167-FE4E-4C4E-B8D7-9D2CDD5BA0BB}" type="slidenum">
              <a:rPr lang="en-IN" smtClean="0"/>
              <a:t>‹#›</a:t>
            </a:fld>
            <a:endParaRPr lang="en-IN"/>
          </a:p>
        </p:txBody>
      </p:sp>
    </p:spTree>
    <p:extLst>
      <p:ext uri="{BB962C8B-B14F-4D97-AF65-F5344CB8AC3E}">
        <p14:creationId xmlns:p14="http://schemas.microsoft.com/office/powerpoint/2010/main" val="2947571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ptos" panose="020B0004020202020204" pitchFamily="34" charset="0"/>
              <a:buNone/>
              <a:tabLst/>
              <a:defRPr/>
            </a:pPr>
            <a:fld id="{8759DC7E-E758-5842-B145-82C949C0E235}" type="slidenum">
              <a:rPr kumimoji="0" lang="en-US" sz="1200" b="0" i="0" u="none" strike="noStrike" kern="0" cap="none" spc="0" normalizeH="0" baseline="0" noProof="0" smtClean="0">
                <a:ln>
                  <a:noFill/>
                </a:ln>
                <a:solidFill>
                  <a:srgbClr val="000000"/>
                </a:solidFill>
                <a:effectLst/>
                <a:uLnTx/>
                <a:uFillTx/>
                <a:latin typeface="Century Gothic" panose="020B0502020202020204" pitchFamily="34" charset="0"/>
                <a:sym typeface="Aptos" panose="020B0004020202020204" pitchFamily="34" charset="0"/>
              </a:rPr>
              <a:pPr marL="0" marR="0" lvl="0" indent="0" algn="r" defTabSz="914400" rtl="0" eaLnBrk="1" fontAlgn="auto" latinLnBrk="0" hangingPunct="1">
                <a:lnSpc>
                  <a:spcPct val="100000"/>
                </a:lnSpc>
                <a:spcBef>
                  <a:spcPts val="0"/>
                </a:spcBef>
                <a:spcAft>
                  <a:spcPts val="0"/>
                </a:spcAft>
                <a:buClr>
                  <a:srgbClr val="000000"/>
                </a:buClr>
                <a:buSzTx/>
                <a:buFont typeface="Aptos" panose="020B0004020202020204" pitchFamily="34" charset="0"/>
                <a:buNone/>
                <a:tabLst/>
                <a:defRPr/>
              </a:pPr>
              <a:t>1</a:t>
            </a:fld>
            <a:endParaRPr kumimoji="0" lang="en-US" sz="1200" b="0" i="0" u="none" strike="noStrike" kern="0" cap="none" spc="0" normalizeH="0" baseline="0" noProof="0">
              <a:ln>
                <a:noFill/>
              </a:ln>
              <a:solidFill>
                <a:srgbClr val="000000"/>
              </a:solidFill>
              <a:effectLst/>
              <a:uLnTx/>
              <a:uFillTx/>
              <a:latin typeface="Century Gothic" panose="020B0502020202020204" pitchFamily="34" charset="0"/>
              <a:sym typeface="Aptos" panose="020B0004020202020204" pitchFamily="34" charset="0"/>
            </a:endParaRPr>
          </a:p>
        </p:txBody>
      </p:sp>
    </p:spTree>
    <p:extLst>
      <p:ext uri="{BB962C8B-B14F-4D97-AF65-F5344CB8AC3E}">
        <p14:creationId xmlns:p14="http://schemas.microsoft.com/office/powerpoint/2010/main" val="713676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Master" Target="../slideMasters/slideMaster1.xml"/><Relationship Id="rId4" Type="http://schemas.openxmlformats.org/officeDocument/2006/relationships/hyperlink" Target="https://www.youtube.com/@ascendioninc"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p:cSld name="Title slide">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E170EA9-D2AF-9A09-EEFA-388294C307E3}"/>
              </a:ext>
            </a:extLst>
          </p:cNvPr>
          <p:cNvSpPr>
            <a:spLocks noGrp="1"/>
          </p:cNvSpPr>
          <p:nvPr>
            <p:ph type="pic" sz="quarter" idx="13" hasCustomPrompt="1"/>
          </p:nvPr>
        </p:nvSpPr>
        <p:spPr>
          <a:xfrm>
            <a:off x="0" y="938531"/>
            <a:ext cx="12195175" cy="5919469"/>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85057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0" y="82234"/>
                </a:moveTo>
                <a:lnTo>
                  <a:pt x="7566660" y="74311"/>
                </a:lnTo>
                <a:lnTo>
                  <a:pt x="8250555" y="0"/>
                </a:lnTo>
                <a:lnTo>
                  <a:pt x="8927306" y="80808"/>
                </a:lnTo>
                <a:lnTo>
                  <a:pt x="9146381" y="79854"/>
                </a:lnTo>
                <a:cubicBezTo>
                  <a:pt x="9145587" y="837413"/>
                  <a:pt x="9144794" y="1667822"/>
                  <a:pt x="9144000" y="2425381"/>
                </a:cubicBezTo>
                <a:lnTo>
                  <a:pt x="0" y="2425381"/>
                </a:lnTo>
                <a:lnTo>
                  <a:pt x="0" y="82234"/>
                </a:lnTo>
                <a:close/>
              </a:path>
            </a:pathLst>
          </a:custGeom>
          <a:noFill/>
        </p:spPr>
        <p:txBody>
          <a:bodyPr/>
          <a:lstStyle>
            <a:lvl1pPr marL="152396" indent="0">
              <a:buNone/>
              <a:defRPr/>
            </a:lvl1pPr>
          </a:lstStyle>
          <a:p>
            <a:r>
              <a:rPr lang="en-IN"/>
              <a:t> </a:t>
            </a:r>
            <a:endParaRPr lang="en-AU"/>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415611" y="2570018"/>
            <a:ext cx="5680389" cy="139699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tx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br>
              <a:rPr lang="en-IN"/>
            </a:br>
            <a:r>
              <a:rPr lang="en-IN"/>
              <a:t>Click here to </a:t>
            </a:r>
            <a:br>
              <a:rPr lang="en-IN"/>
            </a:br>
            <a:r>
              <a:rPr lang="en-IN"/>
              <a:t>add title</a:t>
            </a:r>
            <a:endParaRPr/>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406400" y="3992417"/>
            <a:ext cx="5680389" cy="6096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2400">
                <a:solidFill>
                  <a:schemeClr val="accent1"/>
                </a:solidFill>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r>
              <a:rPr lang="en-GB"/>
              <a:t>Click to edit Master subtitle style</a:t>
            </a:r>
            <a:endParaRPr/>
          </a:p>
        </p:txBody>
      </p:sp>
      <p:sp>
        <p:nvSpPr>
          <p:cNvPr id="7" name="Freeform: Shape 6">
            <a:extLst>
              <a:ext uri="{FF2B5EF4-FFF2-40B4-BE49-F238E27FC236}">
                <a16:creationId xmlns:a16="http://schemas.microsoft.com/office/drawing/2014/main" id="{809891C3-701D-E83E-C330-2FF6C40C1E62}"/>
              </a:ext>
            </a:extLst>
          </p:cNvPr>
          <p:cNvSpPr/>
          <p:nvPr/>
        </p:nvSpPr>
        <p:spPr>
          <a:xfrm>
            <a:off x="0" y="0"/>
            <a:ext cx="12192000" cy="114300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sp>
        <p:nvSpPr>
          <p:cNvPr id="8" name="Freeform: Shape 7">
            <a:extLst>
              <a:ext uri="{FF2B5EF4-FFF2-40B4-BE49-F238E27FC236}">
                <a16:creationId xmlns:a16="http://schemas.microsoft.com/office/drawing/2014/main" id="{DA258AEC-2E45-E11A-26EF-45595D0532FE}"/>
              </a:ext>
            </a:extLst>
          </p:cNvPr>
          <p:cNvSpPr/>
          <p:nvPr/>
        </p:nvSpPr>
        <p:spPr>
          <a:xfrm>
            <a:off x="10054144" y="582866"/>
            <a:ext cx="1662048" cy="380111"/>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sz="2400"/>
          </a:p>
        </p:txBody>
      </p:sp>
      <p:grpSp>
        <p:nvGrpSpPr>
          <p:cNvPr id="9" name="Graphic 3">
            <a:extLst>
              <a:ext uri="{FF2B5EF4-FFF2-40B4-BE49-F238E27FC236}">
                <a16:creationId xmlns:a16="http://schemas.microsoft.com/office/drawing/2014/main" id="{C131A2F5-C9CC-0D2D-7381-C29F6CE6AAAA}"/>
              </a:ext>
            </a:extLst>
          </p:cNvPr>
          <p:cNvGrpSpPr/>
          <p:nvPr/>
        </p:nvGrpSpPr>
        <p:grpSpPr>
          <a:xfrm>
            <a:off x="248284" y="864934"/>
            <a:ext cx="985709" cy="97980"/>
            <a:chOff x="186213" y="648700"/>
            <a:chExt cx="739282" cy="73485"/>
          </a:xfrm>
          <a:solidFill>
            <a:srgbClr val="FFFFFF"/>
          </a:solidFill>
        </p:grpSpPr>
        <p:sp>
          <p:nvSpPr>
            <p:cNvPr id="10" name="Freeform: Shape 9">
              <a:extLst>
                <a:ext uri="{FF2B5EF4-FFF2-40B4-BE49-F238E27FC236}">
                  <a16:creationId xmlns:a16="http://schemas.microsoft.com/office/drawing/2014/main" id="{6CE1E40E-8CD1-8C11-0C19-93375CBB7D7A}"/>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sz="2400"/>
            </a:p>
          </p:txBody>
        </p:sp>
        <p:sp>
          <p:nvSpPr>
            <p:cNvPr id="11" name="Freeform: Shape 10">
              <a:extLst>
                <a:ext uri="{FF2B5EF4-FFF2-40B4-BE49-F238E27FC236}">
                  <a16:creationId xmlns:a16="http://schemas.microsoft.com/office/drawing/2014/main" id="{7CF981CF-1213-E141-4DE4-256DCAEA2971}"/>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sz="2400"/>
            </a:p>
          </p:txBody>
        </p:sp>
        <p:sp>
          <p:nvSpPr>
            <p:cNvPr id="12" name="Freeform: Shape 11">
              <a:extLst>
                <a:ext uri="{FF2B5EF4-FFF2-40B4-BE49-F238E27FC236}">
                  <a16:creationId xmlns:a16="http://schemas.microsoft.com/office/drawing/2014/main" id="{8628DDFB-3137-2E43-2BB6-F90F429DE246}"/>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sz="2400"/>
            </a:p>
          </p:txBody>
        </p:sp>
        <p:sp>
          <p:nvSpPr>
            <p:cNvPr id="13" name="Freeform: Shape 12">
              <a:extLst>
                <a:ext uri="{FF2B5EF4-FFF2-40B4-BE49-F238E27FC236}">
                  <a16:creationId xmlns:a16="http://schemas.microsoft.com/office/drawing/2014/main" id="{6568211E-F406-E89A-6C72-3F81BE0CAEAE}"/>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sz="2400"/>
            </a:p>
          </p:txBody>
        </p:sp>
        <p:sp>
          <p:nvSpPr>
            <p:cNvPr id="14" name="Freeform: Shape 13">
              <a:extLst>
                <a:ext uri="{FF2B5EF4-FFF2-40B4-BE49-F238E27FC236}">
                  <a16:creationId xmlns:a16="http://schemas.microsoft.com/office/drawing/2014/main" id="{D8F38885-24DD-CF7F-C52D-F71266C0C1E0}"/>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sz="2400"/>
            </a:p>
          </p:txBody>
        </p:sp>
        <p:sp>
          <p:nvSpPr>
            <p:cNvPr id="15" name="Freeform: Shape 14">
              <a:extLst>
                <a:ext uri="{FF2B5EF4-FFF2-40B4-BE49-F238E27FC236}">
                  <a16:creationId xmlns:a16="http://schemas.microsoft.com/office/drawing/2014/main" id="{95A316F7-D278-4BB7-100F-EC654A265B4D}"/>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sz="2400"/>
            </a:p>
          </p:txBody>
        </p:sp>
        <p:sp>
          <p:nvSpPr>
            <p:cNvPr id="16" name="Freeform: Shape 15">
              <a:extLst>
                <a:ext uri="{FF2B5EF4-FFF2-40B4-BE49-F238E27FC236}">
                  <a16:creationId xmlns:a16="http://schemas.microsoft.com/office/drawing/2014/main" id="{69EC3119-E563-663A-5036-D1D719AD7643}"/>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sz="2400"/>
            </a:p>
          </p:txBody>
        </p:sp>
        <p:sp>
          <p:nvSpPr>
            <p:cNvPr id="17" name="Freeform: Shape 16">
              <a:extLst>
                <a:ext uri="{FF2B5EF4-FFF2-40B4-BE49-F238E27FC236}">
                  <a16:creationId xmlns:a16="http://schemas.microsoft.com/office/drawing/2014/main" id="{CCBC75E7-CF29-C6C4-008D-0BC574CFC762}"/>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sz="2400"/>
            </a:p>
          </p:txBody>
        </p:sp>
        <p:sp>
          <p:nvSpPr>
            <p:cNvPr id="18" name="Freeform: Shape 17">
              <a:extLst>
                <a:ext uri="{FF2B5EF4-FFF2-40B4-BE49-F238E27FC236}">
                  <a16:creationId xmlns:a16="http://schemas.microsoft.com/office/drawing/2014/main" id="{5E27F734-96CC-1D43-A119-EBFAA488ED94}"/>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sz="2400"/>
            </a:p>
          </p:txBody>
        </p:sp>
        <p:sp>
          <p:nvSpPr>
            <p:cNvPr id="19" name="Freeform: Shape 18">
              <a:extLst>
                <a:ext uri="{FF2B5EF4-FFF2-40B4-BE49-F238E27FC236}">
                  <a16:creationId xmlns:a16="http://schemas.microsoft.com/office/drawing/2014/main" id="{FA9A7665-7DE6-0307-FFE6-AAB303F744E7}"/>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sz="2400"/>
            </a:p>
          </p:txBody>
        </p:sp>
        <p:sp>
          <p:nvSpPr>
            <p:cNvPr id="20" name="Freeform: Shape 19">
              <a:extLst>
                <a:ext uri="{FF2B5EF4-FFF2-40B4-BE49-F238E27FC236}">
                  <a16:creationId xmlns:a16="http://schemas.microsoft.com/office/drawing/2014/main" id="{16592611-8CE9-2C0E-6B91-3B9963E7579F}"/>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sz="2400"/>
            </a:p>
          </p:txBody>
        </p:sp>
        <p:sp>
          <p:nvSpPr>
            <p:cNvPr id="21" name="Freeform: Shape 20">
              <a:extLst>
                <a:ext uri="{FF2B5EF4-FFF2-40B4-BE49-F238E27FC236}">
                  <a16:creationId xmlns:a16="http://schemas.microsoft.com/office/drawing/2014/main" id="{ED13711F-8729-B0BE-FD66-F92CE291AD93}"/>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sz="2400"/>
            </a:p>
          </p:txBody>
        </p:sp>
        <p:sp>
          <p:nvSpPr>
            <p:cNvPr id="22" name="Freeform: Shape 21">
              <a:extLst>
                <a:ext uri="{FF2B5EF4-FFF2-40B4-BE49-F238E27FC236}">
                  <a16:creationId xmlns:a16="http://schemas.microsoft.com/office/drawing/2014/main" id="{F5FED478-DB14-64BF-27A6-FA5890A09C28}"/>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sz="2400"/>
            </a:p>
          </p:txBody>
        </p:sp>
      </p:grpSp>
    </p:spTree>
    <p:extLst>
      <p:ext uri="{BB962C8B-B14F-4D97-AF65-F5344CB8AC3E}">
        <p14:creationId xmlns:p14="http://schemas.microsoft.com/office/powerpoint/2010/main" val="1166833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reserve="1">
  <p:cSld name="1_Title slide">
    <p:bg>
      <p:bgPr>
        <a:solidFill>
          <a:schemeClr val="bg1">
            <a:lumMod val="95000"/>
          </a:schemeClr>
        </a:solidFill>
        <a:effectLst/>
      </p:bgPr>
    </p:bg>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716AEA7-9F8A-D525-41AE-E30521ED8164}"/>
              </a:ext>
            </a:extLst>
          </p:cNvPr>
          <p:cNvSpPr>
            <a:spLocks noGrp="1"/>
          </p:cNvSpPr>
          <p:nvPr>
            <p:ph type="pic" sz="quarter" idx="13" hasCustomPrompt="1"/>
          </p:nvPr>
        </p:nvSpPr>
        <p:spPr>
          <a:xfrm>
            <a:off x="-10879" y="-1694"/>
            <a:ext cx="12203513" cy="5950375"/>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51131 w 9144476"/>
              <a:gd name="connsiteY5" fmla="*/ 4462015 h 4462781"/>
              <a:gd name="connsiteX6" fmla="*/ 18473 w 9144476"/>
              <a:gd name="connsiteY6" fmla="*/ 4461299 h 4462781"/>
              <a:gd name="connsiteX7" fmla="*/ 0 w 9144476"/>
              <a:gd name="connsiteY7" fmla="*/ 0 h 4462781"/>
              <a:gd name="connsiteX0" fmla="*/ 8159 w 9152635"/>
              <a:gd name="connsiteY0" fmla="*/ 0 h 4462781"/>
              <a:gd name="connsiteX1" fmla="*/ 9152159 w 9152635"/>
              <a:gd name="connsiteY1" fmla="*/ 0 h 4462781"/>
              <a:gd name="connsiteX2" fmla="*/ 9152635 w 9152635"/>
              <a:gd name="connsiteY2" fmla="*/ 4458066 h 4462781"/>
              <a:gd name="connsiteX3" fmla="*/ 8961659 w 9152635"/>
              <a:gd name="connsiteY3" fmla="*/ 4462781 h 4462781"/>
              <a:gd name="connsiteX4" fmla="*/ 8268239 w 9152635"/>
              <a:gd name="connsiteY4" fmla="*/ 4306571 h 4462781"/>
              <a:gd name="connsiteX5" fmla="*/ 7559290 w 9152635"/>
              <a:gd name="connsiteY5" fmla="*/ 4462015 h 4462781"/>
              <a:gd name="connsiteX6" fmla="*/ 1232 w 9152635"/>
              <a:gd name="connsiteY6" fmla="*/ 4461299 h 4462781"/>
              <a:gd name="connsiteX7" fmla="*/ 8159 w 9152635"/>
              <a:gd name="connsiteY7" fmla="*/ 0 h 446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2635" h="4462781">
                <a:moveTo>
                  <a:pt x="8159" y="0"/>
                </a:moveTo>
                <a:lnTo>
                  <a:pt x="9152159" y="0"/>
                </a:lnTo>
                <a:cubicBezTo>
                  <a:pt x="9152318" y="1486022"/>
                  <a:pt x="9152476" y="2972044"/>
                  <a:pt x="9152635" y="4458066"/>
                </a:cubicBezTo>
                <a:lnTo>
                  <a:pt x="8961659" y="4462781"/>
                </a:lnTo>
                <a:lnTo>
                  <a:pt x="8268239" y="4306571"/>
                </a:lnTo>
                <a:lnTo>
                  <a:pt x="7559290" y="4462015"/>
                </a:lnTo>
                <a:lnTo>
                  <a:pt x="1232" y="4461299"/>
                </a:lnTo>
                <a:cubicBezTo>
                  <a:pt x="-4926" y="2974199"/>
                  <a:pt x="14317" y="1487100"/>
                  <a:pt x="8159" y="0"/>
                </a:cubicBezTo>
                <a:close/>
              </a:path>
            </a:pathLst>
          </a:custGeom>
          <a:noFill/>
        </p:spPr>
        <p:txBody>
          <a:bodyPr/>
          <a:lstStyle>
            <a:lvl1pPr marL="152396" indent="0">
              <a:buNone/>
              <a:defRPr/>
            </a:lvl1pPr>
          </a:lstStyle>
          <a:p>
            <a:r>
              <a:rPr lang="en-IN"/>
              <a:t> </a:t>
            </a:r>
            <a:endParaRPr lang="en-AU"/>
          </a:p>
        </p:txBody>
      </p:sp>
      <p:sp>
        <p:nvSpPr>
          <p:cNvPr id="13" name="Freeform: Shape 12">
            <a:extLst>
              <a:ext uri="{FF2B5EF4-FFF2-40B4-BE49-F238E27FC236}">
                <a16:creationId xmlns:a16="http://schemas.microsoft.com/office/drawing/2014/main" id="{DCFA8F1A-438C-2D31-EC45-A4CCF4206F40}"/>
              </a:ext>
            </a:extLst>
          </p:cNvPr>
          <p:cNvSpPr/>
          <p:nvPr/>
        </p:nvSpPr>
        <p:spPr>
          <a:xfrm>
            <a:off x="0" y="5740400"/>
            <a:ext cx="12192000" cy="114300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10054144" y="5922074"/>
            <a:ext cx="1662048" cy="380111"/>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sz="2400"/>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0" y="2705190"/>
            <a:ext cx="4610203" cy="742784"/>
          </a:xfrm>
          <a:prstGeom prst="rect">
            <a:avLst/>
          </a:prstGeom>
        </p:spPr>
        <p:txBody>
          <a:bodyPr spcFirstLastPara="1" wrap="square" lIns="90000" tIns="90000" rIns="90000" bIns="36000" anchor="t" anchorCtr="0">
            <a:spAutoFit/>
          </a:bodyPr>
          <a:lstStyle>
            <a:lvl1pPr lvl="0" algn="l">
              <a:spcBef>
                <a:spcPts val="0"/>
              </a:spcBef>
              <a:spcAft>
                <a:spcPts val="0"/>
              </a:spcAft>
              <a:buSzPts val="5200"/>
              <a:buNone/>
              <a:defRPr sz="4000" b="1">
                <a:solidFill>
                  <a:schemeClr val="tx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IN"/>
              <a:t>Section Title</a:t>
            </a:r>
            <a:endParaRPr/>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505885" y="1986280"/>
            <a:ext cx="1763183" cy="689187"/>
          </a:xfrm>
          <a:noFill/>
        </p:spPr>
        <p:txBody>
          <a:bodyPr anchor="ctr">
            <a:noAutofit/>
          </a:bodyPr>
          <a:lstStyle>
            <a:lvl1pPr marL="0" indent="0" algn="l">
              <a:buNone/>
              <a:defRPr sz="7200" b="1">
                <a:solidFill>
                  <a:schemeClr val="accent1"/>
                </a:solidFill>
              </a:defRPr>
            </a:lvl1pPr>
          </a:lstStyle>
          <a:p>
            <a:pPr lvl="0"/>
            <a:r>
              <a:rPr lang="en-IN"/>
              <a:t>01</a:t>
            </a:r>
            <a:endParaRPr lang="en-AU"/>
          </a:p>
        </p:txBody>
      </p:sp>
    </p:spTree>
    <p:extLst>
      <p:ext uri="{BB962C8B-B14F-4D97-AF65-F5344CB8AC3E}">
        <p14:creationId xmlns:p14="http://schemas.microsoft.com/office/powerpoint/2010/main" val="183460862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reserve="1">
  <p:cSld name="1_Title slide">
    <p:bg>
      <p:bgPr>
        <a:solidFill>
          <a:schemeClr val="bg1">
            <a:lumMod val="95000"/>
          </a:schemeClr>
        </a:solidFill>
        <a:effectLst/>
      </p:bgPr>
    </p:bg>
    <p:spTree>
      <p:nvGrpSpPr>
        <p:cNvPr id="1" name="Shape 9"/>
        <p:cNvGrpSpPr/>
        <p:nvPr/>
      </p:nvGrpSpPr>
      <p:grpSpPr>
        <a:xfrm>
          <a:off x="0" y="0"/>
          <a:ext cx="0" cy="0"/>
          <a:chOff x="0" y="0"/>
          <a:chExt cx="0" cy="0"/>
        </a:xfrm>
      </p:grpSpPr>
      <p:grpSp>
        <p:nvGrpSpPr>
          <p:cNvPr id="10" name="Group 9">
            <a:extLst>
              <a:ext uri="{FF2B5EF4-FFF2-40B4-BE49-F238E27FC236}">
                <a16:creationId xmlns:a16="http://schemas.microsoft.com/office/drawing/2014/main" id="{C8694848-DBB5-CC33-BFFD-ABB9B9448869}"/>
              </a:ext>
            </a:extLst>
          </p:cNvPr>
          <p:cNvGrpSpPr/>
          <p:nvPr/>
        </p:nvGrpSpPr>
        <p:grpSpPr>
          <a:xfrm>
            <a:off x="-25401" y="4318000"/>
            <a:ext cx="12217400" cy="2540000"/>
            <a:chOff x="-19051" y="3238500"/>
            <a:chExt cx="9163050" cy="1905000"/>
          </a:xfrm>
        </p:grpSpPr>
        <p:sp>
          <p:nvSpPr>
            <p:cNvPr id="6" name="Freeform: Shape 5">
              <a:extLst>
                <a:ext uri="{FF2B5EF4-FFF2-40B4-BE49-F238E27FC236}">
                  <a16:creationId xmlns:a16="http://schemas.microsoft.com/office/drawing/2014/main" id="{C49332EC-B95E-5892-C870-8CD1804B7887}"/>
                </a:ext>
              </a:extLst>
            </p:cNvPr>
            <p:cNvSpPr/>
            <p:nvPr/>
          </p:nvSpPr>
          <p:spPr>
            <a:xfrm>
              <a:off x="-19051" y="3238500"/>
              <a:ext cx="9163050" cy="1905000"/>
            </a:xfrm>
            <a:custGeom>
              <a:avLst/>
              <a:gdLst>
                <a:gd name="connsiteX0" fmla="*/ 0 w 5829300"/>
                <a:gd name="connsiteY0" fmla="*/ 1905000 h 1905000"/>
                <a:gd name="connsiteX1" fmla="*/ 0 w 5829300"/>
                <a:gd name="connsiteY1" fmla="*/ 134493 h 1905000"/>
                <a:gd name="connsiteX2" fmla="*/ 4285393 w 5829300"/>
                <a:gd name="connsiteY2" fmla="*/ 134493 h 1905000"/>
                <a:gd name="connsiteX3" fmla="*/ 4915853 w 5829300"/>
                <a:gd name="connsiteY3" fmla="*/ 0 h 1905000"/>
                <a:gd name="connsiteX4" fmla="*/ 5541740 w 5829300"/>
                <a:gd name="connsiteY4" fmla="*/ 134493 h 1905000"/>
                <a:gd name="connsiteX5" fmla="*/ 5829300 w 5829300"/>
                <a:gd name="connsiteY5" fmla="*/ 134493 h 1905000"/>
                <a:gd name="connsiteX6" fmla="*/ 5829300 w 5829300"/>
                <a:gd name="connsiteY6" fmla="*/ 1905000 h 1905000"/>
                <a:gd name="connsiteX7" fmla="*/ 0 w 5829300"/>
                <a:gd name="connsiteY7" fmla="*/ 1905000 h 1905000"/>
                <a:gd name="connsiteX0" fmla="*/ 3324225 w 9153525"/>
                <a:gd name="connsiteY0" fmla="*/ 1905000 h 1905000"/>
                <a:gd name="connsiteX1" fmla="*/ 0 w 9153525"/>
                <a:gd name="connsiteY1" fmla="*/ 153543 h 1905000"/>
                <a:gd name="connsiteX2" fmla="*/ 7609618 w 9153525"/>
                <a:gd name="connsiteY2" fmla="*/ 134493 h 1905000"/>
                <a:gd name="connsiteX3" fmla="*/ 8240078 w 9153525"/>
                <a:gd name="connsiteY3" fmla="*/ 0 h 1905000"/>
                <a:gd name="connsiteX4" fmla="*/ 8865965 w 9153525"/>
                <a:gd name="connsiteY4" fmla="*/ 134493 h 1905000"/>
                <a:gd name="connsiteX5" fmla="*/ 9153525 w 9153525"/>
                <a:gd name="connsiteY5" fmla="*/ 134493 h 1905000"/>
                <a:gd name="connsiteX6" fmla="*/ 9153525 w 9153525"/>
                <a:gd name="connsiteY6" fmla="*/ 1905000 h 1905000"/>
                <a:gd name="connsiteX7" fmla="*/ 3324225 w 9153525"/>
                <a:gd name="connsiteY7" fmla="*/ 1905000 h 1905000"/>
                <a:gd name="connsiteX0" fmla="*/ 0 w 9163050"/>
                <a:gd name="connsiteY0" fmla="*/ 1895475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895475 h 1905000"/>
                <a:gd name="connsiteX0" fmla="*/ 0 w 9163050"/>
                <a:gd name="connsiteY0" fmla="*/ 1902619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902619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63050" h="1905000">
                  <a:moveTo>
                    <a:pt x="0" y="1902619"/>
                  </a:moveTo>
                  <a:lnTo>
                    <a:pt x="9525" y="153543"/>
                  </a:lnTo>
                  <a:lnTo>
                    <a:pt x="7619143" y="134493"/>
                  </a:lnTo>
                  <a:lnTo>
                    <a:pt x="8249603" y="0"/>
                  </a:lnTo>
                  <a:lnTo>
                    <a:pt x="8875490" y="134493"/>
                  </a:lnTo>
                  <a:lnTo>
                    <a:pt x="9163050" y="134493"/>
                  </a:lnTo>
                  <a:lnTo>
                    <a:pt x="9163050" y="1905000"/>
                  </a:lnTo>
                  <a:lnTo>
                    <a:pt x="0" y="1902619"/>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31501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sz="2400"/>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sz="2400"/>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sz="2400"/>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sz="2400"/>
                </a:p>
              </p:txBody>
            </p:sp>
          </p:grpSp>
        </p:grpSp>
        <p:sp>
          <p:nvSpPr>
            <p:cNvPr id="30" name="TextBox 29">
              <a:extLst>
                <a:ext uri="{FF2B5EF4-FFF2-40B4-BE49-F238E27FC236}">
                  <a16:creationId xmlns:a16="http://schemas.microsoft.com/office/drawing/2014/main" id="{86AA1CEC-8694-F371-4526-F602B1F47D9A}"/>
                </a:ext>
              </a:extLst>
            </p:cNvPr>
            <p:cNvSpPr txBox="1"/>
            <p:nvPr/>
          </p:nvSpPr>
          <p:spPr>
            <a:xfrm>
              <a:off x="293584" y="4573623"/>
              <a:ext cx="2365091" cy="192409"/>
            </a:xfrm>
            <a:prstGeom prst="rect">
              <a:avLst/>
            </a:prstGeom>
            <a:noFill/>
          </p:spPr>
          <p:txBody>
            <a:bodyPr wrap="square" rtlCol="0">
              <a:spAutoFit/>
            </a:bodyPr>
            <a:lstStyle/>
            <a:p>
              <a:r>
                <a:rPr lang="en-US" sz="1067" b="0" i="0">
                  <a:solidFill>
                    <a:schemeClr val="bg1"/>
                  </a:solidFill>
                  <a:effectLst/>
                  <a:latin typeface="Aptos" panose="020B0004020202020204" pitchFamily="34" charset="0"/>
                </a:rPr>
                <a:t>Copyright </a:t>
              </a:r>
              <a:r>
                <a:rPr lang="en-US" sz="1067" b="0" i="0">
                  <a:solidFill>
                    <a:schemeClr val="bg1"/>
                  </a:solidFill>
                  <a:effectLst/>
                  <a:latin typeface="Aptos" panose="020B0004020202020204" pitchFamily="34" charset="0"/>
                  <a:cs typeface="Aptos" panose="020B0004020202020204" pitchFamily="34" charset="0"/>
                </a:rPr>
                <a:t>© </a:t>
              </a:r>
              <a:r>
                <a:rPr lang="en-US" sz="1067" b="0" i="0">
                  <a:solidFill>
                    <a:schemeClr val="bg1"/>
                  </a:solidFill>
                  <a:effectLst/>
                  <a:latin typeface="Aptos" panose="020B0004020202020204" pitchFamily="34" charset="0"/>
                </a:rPr>
                <a:t>2025 Ascendion. All Rights Reserved.</a:t>
              </a:r>
              <a:endParaRPr lang="en-US" sz="1067" b="0" i="0">
                <a:solidFill>
                  <a:schemeClr val="bg1"/>
                </a:solidFill>
                <a:latin typeface="Aptos" panose="020B0004020202020204" pitchFamily="34" charset="0"/>
              </a:endParaRPr>
            </a:p>
          </p:txBody>
        </p:sp>
        <p:sp>
          <p:nvSpPr>
            <p:cNvPr id="7" name="Freeform: Shape 6">
              <a:extLst>
                <a:ext uri="{FF2B5EF4-FFF2-40B4-BE49-F238E27FC236}">
                  <a16:creationId xmlns:a16="http://schemas.microsoft.com/office/drawing/2014/main" id="{062A0499-A8C5-48B9-4332-0E2E556AADE8}"/>
                </a:ext>
              </a:extLst>
            </p:cNvPr>
            <p:cNvSpPr/>
            <p:nvPr/>
          </p:nvSpPr>
          <p:spPr>
            <a:xfrm>
              <a:off x="7594568" y="3364420"/>
              <a:ext cx="1126807" cy="257746"/>
            </a:xfrm>
            <a:custGeom>
              <a:avLst/>
              <a:gdLst>
                <a:gd name="connsiteX0" fmla="*/ 649986 w 1126807"/>
                <a:gd name="connsiteY0" fmla="*/ 95 h 257746"/>
                <a:gd name="connsiteX1" fmla="*/ 695421 w 1126807"/>
                <a:gd name="connsiteY1" fmla="*/ 9715 h 257746"/>
                <a:gd name="connsiteX2" fmla="*/ 761524 w 1126807"/>
                <a:gd name="connsiteY2" fmla="*/ 85725 h 257746"/>
                <a:gd name="connsiteX3" fmla="*/ 695421 w 1126807"/>
                <a:gd name="connsiteY3" fmla="*/ 133731 h 257746"/>
                <a:gd name="connsiteX4" fmla="*/ 649986 w 1126807"/>
                <a:gd name="connsiteY4" fmla="*/ 124111 h 257746"/>
                <a:gd name="connsiteX5" fmla="*/ 649986 w 1126807"/>
                <a:gd name="connsiteY5" fmla="*/ 95 h 257746"/>
                <a:gd name="connsiteX6" fmla="*/ 695421 w 1126807"/>
                <a:gd name="connsiteY6" fmla="*/ 105537 h 257746"/>
                <a:gd name="connsiteX7" fmla="*/ 730949 w 1126807"/>
                <a:gd name="connsiteY7" fmla="*/ 79153 h 257746"/>
                <a:gd name="connsiteX8" fmla="*/ 695421 w 1126807"/>
                <a:gd name="connsiteY8" fmla="*/ 37624 h 257746"/>
                <a:gd name="connsiteX9" fmla="*/ 680656 w 1126807"/>
                <a:gd name="connsiteY9" fmla="*/ 34481 h 257746"/>
                <a:gd name="connsiteX10" fmla="*/ 680656 w 1126807"/>
                <a:gd name="connsiteY10" fmla="*/ 102394 h 257746"/>
                <a:gd name="connsiteX11" fmla="*/ 695421 w 1126807"/>
                <a:gd name="connsiteY11" fmla="*/ 105537 h 257746"/>
                <a:gd name="connsiteX12" fmla="*/ 856107 w 1126807"/>
                <a:gd name="connsiteY12" fmla="*/ 43910 h 257746"/>
                <a:gd name="connsiteX13" fmla="*/ 856107 w 1126807"/>
                <a:gd name="connsiteY13" fmla="*/ 71914 h 257746"/>
                <a:gd name="connsiteX14" fmla="*/ 829056 w 1126807"/>
                <a:gd name="connsiteY14" fmla="*/ 66199 h 257746"/>
                <a:gd name="connsiteX15" fmla="*/ 829056 w 1126807"/>
                <a:gd name="connsiteY15" fmla="*/ 134112 h 257746"/>
                <a:gd name="connsiteX16" fmla="*/ 856107 w 1126807"/>
                <a:gd name="connsiteY16" fmla="*/ 139827 h 257746"/>
                <a:gd name="connsiteX17" fmla="*/ 856107 w 1126807"/>
                <a:gd name="connsiteY17" fmla="*/ 168021 h 257746"/>
                <a:gd name="connsiteX18" fmla="*/ 771430 w 1126807"/>
                <a:gd name="connsiteY18" fmla="*/ 150019 h 257746"/>
                <a:gd name="connsiteX19" fmla="*/ 771430 w 1126807"/>
                <a:gd name="connsiteY19" fmla="*/ 121920 h 257746"/>
                <a:gd name="connsiteX20" fmla="*/ 798576 w 1126807"/>
                <a:gd name="connsiteY20" fmla="*/ 127635 h 257746"/>
                <a:gd name="connsiteX21" fmla="*/ 798576 w 1126807"/>
                <a:gd name="connsiteY21" fmla="*/ 59722 h 257746"/>
                <a:gd name="connsiteX22" fmla="*/ 771430 w 1126807"/>
                <a:gd name="connsiteY22" fmla="*/ 54007 h 257746"/>
                <a:gd name="connsiteX23" fmla="*/ 771430 w 1126807"/>
                <a:gd name="connsiteY23" fmla="*/ 26003 h 257746"/>
                <a:gd name="connsiteX24" fmla="*/ 856107 w 1126807"/>
                <a:gd name="connsiteY24" fmla="*/ 44006 h 257746"/>
                <a:gd name="connsiteX25" fmla="*/ 927830 w 1126807"/>
                <a:gd name="connsiteY25" fmla="*/ 56674 h 257746"/>
                <a:gd name="connsiteX26" fmla="*/ 989934 w 1126807"/>
                <a:gd name="connsiteY26" fmla="*/ 134207 h 257746"/>
                <a:gd name="connsiteX27" fmla="*/ 927830 w 1126807"/>
                <a:gd name="connsiteY27" fmla="*/ 185547 h 257746"/>
                <a:gd name="connsiteX28" fmla="*/ 865442 w 1126807"/>
                <a:gd name="connsiteY28" fmla="*/ 107728 h 257746"/>
                <a:gd name="connsiteX29" fmla="*/ 927830 w 1126807"/>
                <a:gd name="connsiteY29" fmla="*/ 56578 h 257746"/>
                <a:gd name="connsiteX30" fmla="*/ 927830 w 1126807"/>
                <a:gd name="connsiteY30" fmla="*/ 156591 h 257746"/>
                <a:gd name="connsiteX31" fmla="*/ 958406 w 1126807"/>
                <a:gd name="connsiteY31" fmla="*/ 127540 h 257746"/>
                <a:gd name="connsiteX32" fmla="*/ 927830 w 1126807"/>
                <a:gd name="connsiteY32" fmla="*/ 85630 h 257746"/>
                <a:gd name="connsiteX33" fmla="*/ 897065 w 1126807"/>
                <a:gd name="connsiteY33" fmla="*/ 114395 h 257746"/>
                <a:gd name="connsiteX34" fmla="*/ 927830 w 1126807"/>
                <a:gd name="connsiteY34" fmla="*/ 156496 h 257746"/>
                <a:gd name="connsiteX35" fmla="*/ 1005173 w 1126807"/>
                <a:gd name="connsiteY35" fmla="*/ 75533 h 257746"/>
                <a:gd name="connsiteX36" fmla="*/ 1062895 w 1126807"/>
                <a:gd name="connsiteY36" fmla="*/ 87821 h 257746"/>
                <a:gd name="connsiteX37" fmla="*/ 1096232 w 1126807"/>
                <a:gd name="connsiteY37" fmla="*/ 208693 h 257746"/>
                <a:gd name="connsiteX38" fmla="*/ 1096232 w 1126807"/>
                <a:gd name="connsiteY38" fmla="*/ 94869 h 257746"/>
                <a:gd name="connsiteX39" fmla="*/ 1126808 w 1126807"/>
                <a:gd name="connsiteY39" fmla="*/ 101346 h 257746"/>
                <a:gd name="connsiteX40" fmla="*/ 1126808 w 1126807"/>
                <a:gd name="connsiteY40" fmla="*/ 225362 h 257746"/>
                <a:gd name="connsiteX41" fmla="*/ 1069086 w 1126807"/>
                <a:gd name="connsiteY41" fmla="*/ 213074 h 257746"/>
                <a:gd name="connsiteX42" fmla="*/ 1035749 w 1126807"/>
                <a:gd name="connsiteY42" fmla="*/ 92202 h 257746"/>
                <a:gd name="connsiteX43" fmla="*/ 1035749 w 1126807"/>
                <a:gd name="connsiteY43" fmla="*/ 206026 h 257746"/>
                <a:gd name="connsiteX44" fmla="*/ 1005173 w 1126807"/>
                <a:gd name="connsiteY44" fmla="*/ 199549 h 257746"/>
                <a:gd name="connsiteX45" fmla="*/ 1005173 w 1126807"/>
                <a:gd name="connsiteY45" fmla="*/ 75533 h 257746"/>
                <a:gd name="connsiteX46" fmla="*/ 38005 w 1126807"/>
                <a:gd name="connsiteY46" fmla="*/ 125730 h 257746"/>
                <a:gd name="connsiteX47" fmla="*/ 94012 w 1126807"/>
                <a:gd name="connsiteY47" fmla="*/ 113824 h 257746"/>
                <a:gd name="connsiteX48" fmla="*/ 131921 w 1126807"/>
                <a:gd name="connsiteY48" fmla="*/ 229743 h 257746"/>
                <a:gd name="connsiteX49" fmla="*/ 99441 w 1126807"/>
                <a:gd name="connsiteY49" fmla="*/ 236601 h 257746"/>
                <a:gd name="connsiteX50" fmla="*/ 88297 w 1126807"/>
                <a:gd name="connsiteY50" fmla="*/ 201454 h 257746"/>
                <a:gd name="connsiteX51" fmla="*/ 43244 w 1126807"/>
                <a:gd name="connsiteY51" fmla="*/ 211074 h 257746"/>
                <a:gd name="connsiteX52" fmla="*/ 32099 w 1126807"/>
                <a:gd name="connsiteY52" fmla="*/ 250889 h 257746"/>
                <a:gd name="connsiteX53" fmla="*/ 0 w 1126807"/>
                <a:gd name="connsiteY53" fmla="*/ 257746 h 257746"/>
                <a:gd name="connsiteX54" fmla="*/ 38005 w 1126807"/>
                <a:gd name="connsiteY54" fmla="*/ 125635 h 257746"/>
                <a:gd name="connsiteX55" fmla="*/ 79915 w 1126807"/>
                <a:gd name="connsiteY55" fmla="*/ 175355 h 257746"/>
                <a:gd name="connsiteX56" fmla="*/ 65818 w 1126807"/>
                <a:gd name="connsiteY56" fmla="*/ 131064 h 257746"/>
                <a:gd name="connsiteX57" fmla="*/ 51721 w 1126807"/>
                <a:gd name="connsiteY57" fmla="*/ 181356 h 257746"/>
                <a:gd name="connsiteX58" fmla="*/ 80010 w 1126807"/>
                <a:gd name="connsiteY58" fmla="*/ 175355 h 257746"/>
                <a:gd name="connsiteX59" fmla="*/ 194025 w 1126807"/>
                <a:gd name="connsiteY59" fmla="*/ 218980 h 257746"/>
                <a:gd name="connsiteX60" fmla="*/ 134493 w 1126807"/>
                <a:gd name="connsiteY60" fmla="*/ 180785 h 257746"/>
                <a:gd name="connsiteX61" fmla="*/ 166116 w 1126807"/>
                <a:gd name="connsiteY61" fmla="*/ 174022 h 257746"/>
                <a:gd name="connsiteX62" fmla="*/ 194691 w 1126807"/>
                <a:gd name="connsiteY62" fmla="*/ 192024 h 257746"/>
                <a:gd name="connsiteX63" fmla="*/ 216027 w 1126807"/>
                <a:gd name="connsiteY63" fmla="*/ 176594 h 257746"/>
                <a:gd name="connsiteX64" fmla="*/ 205931 w 1126807"/>
                <a:gd name="connsiteY64" fmla="*/ 169259 h 257746"/>
                <a:gd name="connsiteX65" fmla="*/ 166211 w 1126807"/>
                <a:gd name="connsiteY65" fmla="*/ 166783 h 257746"/>
                <a:gd name="connsiteX66" fmla="*/ 139256 w 1126807"/>
                <a:gd name="connsiteY66" fmla="*/ 138589 h 257746"/>
                <a:gd name="connsiteX67" fmla="*/ 187547 w 1126807"/>
                <a:gd name="connsiteY67" fmla="*/ 91345 h 257746"/>
                <a:gd name="connsiteX68" fmla="*/ 242888 w 1126807"/>
                <a:gd name="connsiteY68" fmla="*/ 124777 h 257746"/>
                <a:gd name="connsiteX69" fmla="*/ 211455 w 1126807"/>
                <a:gd name="connsiteY69" fmla="*/ 131445 h 257746"/>
                <a:gd name="connsiteX70" fmla="*/ 188024 w 1126807"/>
                <a:gd name="connsiteY70" fmla="*/ 117443 h 257746"/>
                <a:gd name="connsiteX71" fmla="*/ 170879 w 1126807"/>
                <a:gd name="connsiteY71" fmla="*/ 131159 h 257746"/>
                <a:gd name="connsiteX72" fmla="*/ 180118 w 1126807"/>
                <a:gd name="connsiteY72" fmla="*/ 137827 h 257746"/>
                <a:gd name="connsiteX73" fmla="*/ 218694 w 1126807"/>
                <a:gd name="connsiteY73" fmla="*/ 139636 h 257746"/>
                <a:gd name="connsiteX74" fmla="*/ 247460 w 1126807"/>
                <a:gd name="connsiteY74" fmla="*/ 168497 h 257746"/>
                <a:gd name="connsiteX75" fmla="*/ 193929 w 1126807"/>
                <a:gd name="connsiteY75" fmla="*/ 218885 h 257746"/>
                <a:gd name="connsiteX76" fmla="*/ 256413 w 1126807"/>
                <a:gd name="connsiteY76" fmla="*/ 141161 h 257746"/>
                <a:gd name="connsiteX77" fmla="*/ 319373 w 1126807"/>
                <a:gd name="connsiteY77" fmla="*/ 63436 h 257746"/>
                <a:gd name="connsiteX78" fmla="*/ 379476 w 1126807"/>
                <a:gd name="connsiteY78" fmla="*/ 100965 h 257746"/>
                <a:gd name="connsiteX79" fmla="*/ 348044 w 1126807"/>
                <a:gd name="connsiteY79" fmla="*/ 107633 h 257746"/>
                <a:gd name="connsiteX80" fmla="*/ 319564 w 1126807"/>
                <a:gd name="connsiteY80" fmla="*/ 92393 h 257746"/>
                <a:gd name="connsiteX81" fmla="*/ 288131 w 1126807"/>
                <a:gd name="connsiteY81" fmla="*/ 134398 h 257746"/>
                <a:gd name="connsiteX82" fmla="*/ 319564 w 1126807"/>
                <a:gd name="connsiteY82" fmla="*/ 163259 h 257746"/>
                <a:gd name="connsiteX83" fmla="*/ 348044 w 1126807"/>
                <a:gd name="connsiteY83" fmla="*/ 135731 h 257746"/>
                <a:gd name="connsiteX84" fmla="*/ 379476 w 1126807"/>
                <a:gd name="connsiteY84" fmla="*/ 129064 h 257746"/>
                <a:gd name="connsiteX85" fmla="*/ 319373 w 1126807"/>
                <a:gd name="connsiteY85" fmla="*/ 192310 h 257746"/>
                <a:gd name="connsiteX86" fmla="*/ 256413 w 1126807"/>
                <a:gd name="connsiteY86" fmla="*/ 141161 h 257746"/>
                <a:gd name="connsiteX87" fmla="*/ 394430 w 1126807"/>
                <a:gd name="connsiteY87" fmla="*/ 49911 h 257746"/>
                <a:gd name="connsiteX88" fmla="*/ 488823 w 1126807"/>
                <a:gd name="connsiteY88" fmla="*/ 29813 h 257746"/>
                <a:gd name="connsiteX89" fmla="*/ 488823 w 1126807"/>
                <a:gd name="connsiteY89" fmla="*/ 57817 h 257746"/>
                <a:gd name="connsiteX90" fmla="*/ 425196 w 1126807"/>
                <a:gd name="connsiteY90" fmla="*/ 71342 h 257746"/>
                <a:gd name="connsiteX91" fmla="*/ 425196 w 1126807"/>
                <a:gd name="connsiteY91" fmla="*/ 92107 h 257746"/>
                <a:gd name="connsiteX92" fmla="*/ 480441 w 1126807"/>
                <a:gd name="connsiteY92" fmla="*/ 80391 h 257746"/>
                <a:gd name="connsiteX93" fmla="*/ 480441 w 1126807"/>
                <a:gd name="connsiteY93" fmla="*/ 106775 h 257746"/>
                <a:gd name="connsiteX94" fmla="*/ 425196 w 1126807"/>
                <a:gd name="connsiteY94" fmla="*/ 118491 h 257746"/>
                <a:gd name="connsiteX95" fmla="*/ 425196 w 1126807"/>
                <a:gd name="connsiteY95" fmla="*/ 139446 h 257746"/>
                <a:gd name="connsiteX96" fmla="*/ 488823 w 1126807"/>
                <a:gd name="connsiteY96" fmla="*/ 125921 h 257746"/>
                <a:gd name="connsiteX97" fmla="*/ 488823 w 1126807"/>
                <a:gd name="connsiteY97" fmla="*/ 153924 h 257746"/>
                <a:gd name="connsiteX98" fmla="*/ 394430 w 1126807"/>
                <a:gd name="connsiteY98" fmla="*/ 174022 h 257746"/>
                <a:gd name="connsiteX99" fmla="*/ 394430 w 1126807"/>
                <a:gd name="connsiteY99" fmla="*/ 50006 h 257746"/>
                <a:gd name="connsiteX100" fmla="*/ 507397 w 1126807"/>
                <a:gd name="connsiteY100" fmla="*/ 25908 h 257746"/>
                <a:gd name="connsiteX101" fmla="*/ 565118 w 1126807"/>
                <a:gd name="connsiteY101" fmla="*/ 13621 h 257746"/>
                <a:gd name="connsiteX102" fmla="*/ 598456 w 1126807"/>
                <a:gd name="connsiteY102" fmla="*/ 120301 h 257746"/>
                <a:gd name="connsiteX103" fmla="*/ 598456 w 1126807"/>
                <a:gd name="connsiteY103" fmla="*/ 6477 h 257746"/>
                <a:gd name="connsiteX104" fmla="*/ 629126 w 1126807"/>
                <a:gd name="connsiteY104" fmla="*/ 0 h 257746"/>
                <a:gd name="connsiteX105" fmla="*/ 629126 w 1126807"/>
                <a:gd name="connsiteY105" fmla="*/ 124015 h 257746"/>
                <a:gd name="connsiteX106" fmla="*/ 571405 w 1126807"/>
                <a:gd name="connsiteY106" fmla="*/ 136303 h 257746"/>
                <a:gd name="connsiteX107" fmla="*/ 538067 w 1126807"/>
                <a:gd name="connsiteY107" fmla="*/ 29623 h 257746"/>
                <a:gd name="connsiteX108" fmla="*/ 538067 w 1126807"/>
                <a:gd name="connsiteY108" fmla="*/ 143447 h 257746"/>
                <a:gd name="connsiteX109" fmla="*/ 507397 w 1126807"/>
                <a:gd name="connsiteY109" fmla="*/ 149923 h 257746"/>
                <a:gd name="connsiteX110" fmla="*/ 507397 w 1126807"/>
                <a:gd name="connsiteY110" fmla="*/ 25908 h 257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126807" h="257746">
                  <a:moveTo>
                    <a:pt x="649986" y="95"/>
                  </a:moveTo>
                  <a:lnTo>
                    <a:pt x="695421" y="9715"/>
                  </a:lnTo>
                  <a:cubicBezTo>
                    <a:pt x="727901" y="16573"/>
                    <a:pt x="761524" y="32385"/>
                    <a:pt x="761524" y="85725"/>
                  </a:cubicBezTo>
                  <a:cubicBezTo>
                    <a:pt x="761524" y="139160"/>
                    <a:pt x="727901" y="140684"/>
                    <a:pt x="695421" y="133731"/>
                  </a:cubicBezTo>
                  <a:lnTo>
                    <a:pt x="649986" y="124111"/>
                  </a:lnTo>
                  <a:lnTo>
                    <a:pt x="649986" y="95"/>
                  </a:lnTo>
                  <a:close/>
                  <a:moveTo>
                    <a:pt x="695421" y="105537"/>
                  </a:moveTo>
                  <a:cubicBezTo>
                    <a:pt x="715804" y="109823"/>
                    <a:pt x="730949" y="112395"/>
                    <a:pt x="730949" y="79153"/>
                  </a:cubicBezTo>
                  <a:cubicBezTo>
                    <a:pt x="730949" y="45911"/>
                    <a:pt x="715614" y="41910"/>
                    <a:pt x="695421" y="37624"/>
                  </a:cubicBezTo>
                  <a:lnTo>
                    <a:pt x="680656" y="34481"/>
                  </a:lnTo>
                  <a:lnTo>
                    <a:pt x="680656" y="102394"/>
                  </a:lnTo>
                  <a:cubicBezTo>
                    <a:pt x="680656" y="102394"/>
                    <a:pt x="695421" y="105537"/>
                    <a:pt x="695421" y="105537"/>
                  </a:cubicBezTo>
                  <a:close/>
                  <a:moveTo>
                    <a:pt x="856107" y="43910"/>
                  </a:moveTo>
                  <a:lnTo>
                    <a:pt x="856107" y="71914"/>
                  </a:lnTo>
                  <a:cubicBezTo>
                    <a:pt x="856107" y="71914"/>
                    <a:pt x="829056" y="66199"/>
                    <a:pt x="829056" y="66199"/>
                  </a:cubicBezTo>
                  <a:lnTo>
                    <a:pt x="829056" y="134112"/>
                  </a:lnTo>
                  <a:cubicBezTo>
                    <a:pt x="829056" y="134112"/>
                    <a:pt x="856107" y="139827"/>
                    <a:pt x="856107" y="139827"/>
                  </a:cubicBezTo>
                  <a:lnTo>
                    <a:pt x="856107" y="168021"/>
                  </a:lnTo>
                  <a:cubicBezTo>
                    <a:pt x="856107" y="168021"/>
                    <a:pt x="771430" y="150019"/>
                    <a:pt x="771430" y="150019"/>
                  </a:cubicBezTo>
                  <a:lnTo>
                    <a:pt x="771430" y="121920"/>
                  </a:lnTo>
                  <a:cubicBezTo>
                    <a:pt x="771430" y="121920"/>
                    <a:pt x="798576" y="127635"/>
                    <a:pt x="798576" y="127635"/>
                  </a:cubicBezTo>
                  <a:lnTo>
                    <a:pt x="798576" y="59722"/>
                  </a:lnTo>
                  <a:cubicBezTo>
                    <a:pt x="798576" y="59722"/>
                    <a:pt x="771430" y="54007"/>
                    <a:pt x="771430" y="54007"/>
                  </a:cubicBezTo>
                  <a:lnTo>
                    <a:pt x="771430" y="26003"/>
                  </a:lnTo>
                  <a:cubicBezTo>
                    <a:pt x="771430" y="26003"/>
                    <a:pt x="856107" y="44006"/>
                    <a:pt x="856107" y="44006"/>
                  </a:cubicBezTo>
                  <a:close/>
                  <a:moveTo>
                    <a:pt x="927830" y="56674"/>
                  </a:moveTo>
                  <a:cubicBezTo>
                    <a:pt x="966406" y="64865"/>
                    <a:pt x="989934" y="97631"/>
                    <a:pt x="989934" y="134207"/>
                  </a:cubicBezTo>
                  <a:cubicBezTo>
                    <a:pt x="989934" y="170974"/>
                    <a:pt x="966406" y="193739"/>
                    <a:pt x="927830" y="185547"/>
                  </a:cubicBezTo>
                  <a:cubicBezTo>
                    <a:pt x="889159" y="177356"/>
                    <a:pt x="865442" y="144494"/>
                    <a:pt x="865442" y="107728"/>
                  </a:cubicBezTo>
                  <a:cubicBezTo>
                    <a:pt x="865442" y="71152"/>
                    <a:pt x="889159" y="48387"/>
                    <a:pt x="927830" y="56578"/>
                  </a:cubicBezTo>
                  <a:moveTo>
                    <a:pt x="927830" y="156591"/>
                  </a:moveTo>
                  <a:cubicBezTo>
                    <a:pt x="948405" y="160973"/>
                    <a:pt x="958406" y="150114"/>
                    <a:pt x="958406" y="127540"/>
                  </a:cubicBezTo>
                  <a:cubicBezTo>
                    <a:pt x="958406" y="104965"/>
                    <a:pt x="948119" y="90011"/>
                    <a:pt x="927830" y="85630"/>
                  </a:cubicBezTo>
                  <a:cubicBezTo>
                    <a:pt x="907257" y="81248"/>
                    <a:pt x="897065" y="92107"/>
                    <a:pt x="897065" y="114395"/>
                  </a:cubicBezTo>
                  <a:cubicBezTo>
                    <a:pt x="897065" y="136684"/>
                    <a:pt x="907352" y="152114"/>
                    <a:pt x="927830" y="156496"/>
                  </a:cubicBezTo>
                  <a:moveTo>
                    <a:pt x="1005173" y="75533"/>
                  </a:moveTo>
                  <a:lnTo>
                    <a:pt x="1062895" y="87821"/>
                  </a:lnTo>
                  <a:lnTo>
                    <a:pt x="1096232" y="208693"/>
                  </a:lnTo>
                  <a:lnTo>
                    <a:pt x="1096232" y="94869"/>
                  </a:lnTo>
                  <a:cubicBezTo>
                    <a:pt x="1096232" y="94869"/>
                    <a:pt x="1126808" y="101346"/>
                    <a:pt x="1126808" y="101346"/>
                  </a:cubicBezTo>
                  <a:lnTo>
                    <a:pt x="1126808" y="225362"/>
                  </a:lnTo>
                  <a:cubicBezTo>
                    <a:pt x="1126808" y="225362"/>
                    <a:pt x="1069086" y="213074"/>
                    <a:pt x="1069086" y="213074"/>
                  </a:cubicBezTo>
                  <a:lnTo>
                    <a:pt x="1035749" y="92202"/>
                  </a:lnTo>
                  <a:lnTo>
                    <a:pt x="1035749" y="206026"/>
                  </a:lnTo>
                  <a:cubicBezTo>
                    <a:pt x="1035749" y="206026"/>
                    <a:pt x="1005173" y="199549"/>
                    <a:pt x="1005173" y="199549"/>
                  </a:cubicBezTo>
                  <a:lnTo>
                    <a:pt x="1005173" y="75533"/>
                  </a:lnTo>
                  <a:close/>
                  <a:moveTo>
                    <a:pt x="38005" y="125730"/>
                  </a:moveTo>
                  <a:lnTo>
                    <a:pt x="94012" y="113824"/>
                  </a:lnTo>
                  <a:lnTo>
                    <a:pt x="131921" y="229743"/>
                  </a:lnTo>
                  <a:lnTo>
                    <a:pt x="99441" y="236601"/>
                  </a:lnTo>
                  <a:lnTo>
                    <a:pt x="88297" y="201454"/>
                  </a:lnTo>
                  <a:lnTo>
                    <a:pt x="43244" y="211074"/>
                  </a:lnTo>
                  <a:lnTo>
                    <a:pt x="32099" y="250889"/>
                  </a:lnTo>
                  <a:lnTo>
                    <a:pt x="0" y="257746"/>
                  </a:lnTo>
                  <a:lnTo>
                    <a:pt x="38005" y="125635"/>
                  </a:lnTo>
                  <a:close/>
                  <a:moveTo>
                    <a:pt x="79915" y="175355"/>
                  </a:moveTo>
                  <a:lnTo>
                    <a:pt x="65818" y="131064"/>
                  </a:lnTo>
                  <a:lnTo>
                    <a:pt x="51721" y="181356"/>
                  </a:lnTo>
                  <a:lnTo>
                    <a:pt x="80010" y="175355"/>
                  </a:lnTo>
                  <a:close/>
                  <a:moveTo>
                    <a:pt x="194025" y="218980"/>
                  </a:moveTo>
                  <a:cubicBezTo>
                    <a:pt x="152114" y="227838"/>
                    <a:pt x="134493" y="212979"/>
                    <a:pt x="134493" y="180785"/>
                  </a:cubicBezTo>
                  <a:lnTo>
                    <a:pt x="166116" y="174022"/>
                  </a:lnTo>
                  <a:cubicBezTo>
                    <a:pt x="166116" y="191643"/>
                    <a:pt x="172688" y="196691"/>
                    <a:pt x="194691" y="192024"/>
                  </a:cubicBezTo>
                  <a:cubicBezTo>
                    <a:pt x="209645" y="188881"/>
                    <a:pt x="216027" y="184309"/>
                    <a:pt x="216027" y="176594"/>
                  </a:cubicBezTo>
                  <a:cubicBezTo>
                    <a:pt x="216027" y="172212"/>
                    <a:pt x="212693" y="169545"/>
                    <a:pt x="205931" y="169259"/>
                  </a:cubicBezTo>
                  <a:lnTo>
                    <a:pt x="166211" y="166783"/>
                  </a:lnTo>
                  <a:cubicBezTo>
                    <a:pt x="145637" y="165354"/>
                    <a:pt x="139256" y="154210"/>
                    <a:pt x="139256" y="138589"/>
                  </a:cubicBezTo>
                  <a:cubicBezTo>
                    <a:pt x="139256" y="114490"/>
                    <a:pt x="156401" y="98012"/>
                    <a:pt x="187547" y="91345"/>
                  </a:cubicBezTo>
                  <a:cubicBezTo>
                    <a:pt x="224600" y="83439"/>
                    <a:pt x="242888" y="97917"/>
                    <a:pt x="242888" y="124777"/>
                  </a:cubicBezTo>
                  <a:lnTo>
                    <a:pt x="211455" y="131445"/>
                  </a:lnTo>
                  <a:cubicBezTo>
                    <a:pt x="211455" y="118110"/>
                    <a:pt x="204216" y="114014"/>
                    <a:pt x="188024" y="117443"/>
                  </a:cubicBezTo>
                  <a:cubicBezTo>
                    <a:pt x="176784" y="119824"/>
                    <a:pt x="170879" y="124111"/>
                    <a:pt x="170879" y="131159"/>
                  </a:cubicBezTo>
                  <a:cubicBezTo>
                    <a:pt x="170879" y="134684"/>
                    <a:pt x="172688" y="137255"/>
                    <a:pt x="180118" y="137827"/>
                  </a:cubicBezTo>
                  <a:lnTo>
                    <a:pt x="218694" y="139636"/>
                  </a:lnTo>
                  <a:cubicBezTo>
                    <a:pt x="238411" y="140589"/>
                    <a:pt x="247460" y="150400"/>
                    <a:pt x="247460" y="168497"/>
                  </a:cubicBezTo>
                  <a:cubicBezTo>
                    <a:pt x="247460" y="192024"/>
                    <a:pt x="231934" y="210788"/>
                    <a:pt x="193929" y="218885"/>
                  </a:cubicBezTo>
                  <a:moveTo>
                    <a:pt x="256413" y="141161"/>
                  </a:moveTo>
                  <a:cubicBezTo>
                    <a:pt x="256413" y="104585"/>
                    <a:pt x="280511" y="71628"/>
                    <a:pt x="319373" y="63436"/>
                  </a:cubicBezTo>
                  <a:cubicBezTo>
                    <a:pt x="353378" y="56198"/>
                    <a:pt x="375952" y="70580"/>
                    <a:pt x="379476" y="100965"/>
                  </a:cubicBezTo>
                  <a:lnTo>
                    <a:pt x="348044" y="107633"/>
                  </a:lnTo>
                  <a:cubicBezTo>
                    <a:pt x="345472" y="94774"/>
                    <a:pt x="334613" y="89249"/>
                    <a:pt x="319564" y="92393"/>
                  </a:cubicBezTo>
                  <a:cubicBezTo>
                    <a:pt x="301181" y="96298"/>
                    <a:pt x="288131" y="110014"/>
                    <a:pt x="288131" y="134398"/>
                  </a:cubicBezTo>
                  <a:cubicBezTo>
                    <a:pt x="288131" y="159068"/>
                    <a:pt x="301276" y="167164"/>
                    <a:pt x="319564" y="163259"/>
                  </a:cubicBezTo>
                  <a:cubicBezTo>
                    <a:pt x="334518" y="160115"/>
                    <a:pt x="345472" y="149638"/>
                    <a:pt x="348044" y="135731"/>
                  </a:cubicBezTo>
                  <a:lnTo>
                    <a:pt x="379476" y="129064"/>
                  </a:lnTo>
                  <a:cubicBezTo>
                    <a:pt x="375952" y="161163"/>
                    <a:pt x="353378" y="185071"/>
                    <a:pt x="319373" y="192310"/>
                  </a:cubicBezTo>
                  <a:cubicBezTo>
                    <a:pt x="280511" y="200596"/>
                    <a:pt x="256413" y="177927"/>
                    <a:pt x="256413" y="141161"/>
                  </a:cubicBezTo>
                  <a:moveTo>
                    <a:pt x="394430" y="49911"/>
                  </a:moveTo>
                  <a:lnTo>
                    <a:pt x="488823" y="29813"/>
                  </a:lnTo>
                  <a:lnTo>
                    <a:pt x="488823" y="57817"/>
                  </a:lnTo>
                  <a:cubicBezTo>
                    <a:pt x="488823" y="57817"/>
                    <a:pt x="425196" y="71342"/>
                    <a:pt x="425196" y="71342"/>
                  </a:cubicBezTo>
                  <a:lnTo>
                    <a:pt x="425196" y="92107"/>
                  </a:lnTo>
                  <a:cubicBezTo>
                    <a:pt x="425196" y="92107"/>
                    <a:pt x="480441" y="80391"/>
                    <a:pt x="480441" y="80391"/>
                  </a:cubicBezTo>
                  <a:lnTo>
                    <a:pt x="480441" y="106775"/>
                  </a:lnTo>
                  <a:cubicBezTo>
                    <a:pt x="480441" y="106775"/>
                    <a:pt x="425196" y="118491"/>
                    <a:pt x="425196" y="118491"/>
                  </a:cubicBezTo>
                  <a:lnTo>
                    <a:pt x="425196" y="139446"/>
                  </a:lnTo>
                  <a:cubicBezTo>
                    <a:pt x="425196" y="139446"/>
                    <a:pt x="488823" y="125921"/>
                    <a:pt x="488823" y="125921"/>
                  </a:cubicBezTo>
                  <a:lnTo>
                    <a:pt x="488823" y="153924"/>
                  </a:lnTo>
                  <a:cubicBezTo>
                    <a:pt x="488823" y="153924"/>
                    <a:pt x="394430" y="174022"/>
                    <a:pt x="394430" y="174022"/>
                  </a:cubicBezTo>
                  <a:lnTo>
                    <a:pt x="394430" y="50006"/>
                  </a:lnTo>
                  <a:close/>
                  <a:moveTo>
                    <a:pt x="507397" y="25908"/>
                  </a:moveTo>
                  <a:lnTo>
                    <a:pt x="565118" y="13621"/>
                  </a:lnTo>
                  <a:lnTo>
                    <a:pt x="598456" y="120301"/>
                  </a:lnTo>
                  <a:lnTo>
                    <a:pt x="598456" y="6477"/>
                  </a:lnTo>
                  <a:cubicBezTo>
                    <a:pt x="598456" y="6477"/>
                    <a:pt x="629126" y="0"/>
                    <a:pt x="629126" y="0"/>
                  </a:cubicBezTo>
                  <a:lnTo>
                    <a:pt x="629126" y="124015"/>
                  </a:lnTo>
                  <a:cubicBezTo>
                    <a:pt x="629126" y="124015"/>
                    <a:pt x="571405" y="136303"/>
                    <a:pt x="571405" y="136303"/>
                  </a:cubicBezTo>
                  <a:lnTo>
                    <a:pt x="538067" y="29623"/>
                  </a:lnTo>
                  <a:lnTo>
                    <a:pt x="538067" y="143447"/>
                  </a:lnTo>
                  <a:cubicBezTo>
                    <a:pt x="538067" y="143447"/>
                    <a:pt x="507397" y="149923"/>
                    <a:pt x="507397" y="149923"/>
                  </a:cubicBezTo>
                  <a:lnTo>
                    <a:pt x="507397" y="25908"/>
                  </a:lnTo>
                  <a:close/>
                </a:path>
              </a:pathLst>
            </a:custGeom>
            <a:solidFill>
              <a:srgbClr val="FFFFFF"/>
            </a:solidFill>
            <a:ln w="9525" cap="flat">
              <a:noFill/>
              <a:prstDash val="solid"/>
              <a:miter/>
            </a:ln>
          </p:spPr>
          <p:txBody>
            <a:bodyPr rtlCol="0" anchor="ctr"/>
            <a:lstStyle/>
            <a:p>
              <a:endParaRPr lang="en-AU" sz="2400"/>
            </a:p>
          </p:txBody>
        </p:sp>
        <p:sp>
          <p:nvSpPr>
            <p:cNvPr id="9" name="TextBox 8">
              <a:extLst>
                <a:ext uri="{FF2B5EF4-FFF2-40B4-BE49-F238E27FC236}">
                  <a16:creationId xmlns:a16="http://schemas.microsoft.com/office/drawing/2014/main" id="{4C022F62-B967-ACD0-F1C1-4BCF678F8D51}"/>
                </a:ext>
              </a:extLst>
            </p:cNvPr>
            <p:cNvSpPr txBox="1"/>
            <p:nvPr/>
          </p:nvSpPr>
          <p:spPr>
            <a:xfrm>
              <a:off x="3337075" y="3521839"/>
              <a:ext cx="4139489" cy="1585530"/>
            </a:xfrm>
            <a:prstGeom prst="rect">
              <a:avLst/>
            </a:prstGeom>
            <a:noFill/>
          </p:spPr>
          <p:txBody>
            <a:bodyPr wrap="square">
              <a:spAutoFit/>
            </a:bodyPr>
            <a:lstStyle/>
            <a:p>
              <a:pPr>
                <a:lnSpc>
                  <a:spcPct val="110000"/>
                </a:lnSpc>
              </a:pPr>
              <a:r>
                <a:rPr lang="en-US" sz="1333">
                  <a:solidFill>
                    <a:schemeClr val="bg1"/>
                  </a:solidFill>
                </a:rPr>
                <a:t>Ascendion is a global, leading provider of AI-first software engineering services, delivering transformative solutions across North America, APAC, and Europe. Our headquarters are located in New Jersey. We combine technology and talent to deliver tech debt relief, improve engineering productivity solutions, and accelerate time to value, driving our clients’ digital journeys with efficiency and velocity. Guided by our “Engineering to the power of AI” [</a:t>
              </a:r>
              <a:r>
                <a:rPr lang="en-US" sz="1333" err="1">
                  <a:solidFill>
                    <a:schemeClr val="bg1"/>
                  </a:solidFill>
                </a:rPr>
                <a:t>EngineeringAI</a:t>
              </a:r>
              <a:r>
                <a:rPr lang="en-US" sz="1333">
                  <a:solidFill>
                    <a:schemeClr val="bg1"/>
                  </a:solidFill>
                </a:rPr>
                <a:t>] methodology, we integrate AI into software engineering, enterprise operations, and talent orchestration, to address critical challenges of trust, speed, and capital.</a:t>
              </a:r>
            </a:p>
          </p:txBody>
        </p:sp>
      </p:gr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1" y="4670137"/>
            <a:ext cx="3749989" cy="689187"/>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bg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IN"/>
              <a:t>Thank you</a:t>
            </a:r>
            <a:endParaRPr/>
          </a:p>
        </p:txBody>
      </p:sp>
      <p:sp>
        <p:nvSpPr>
          <p:cNvPr id="11" name="Picture Placeholder 2">
            <a:extLst>
              <a:ext uri="{FF2B5EF4-FFF2-40B4-BE49-F238E27FC236}">
                <a16:creationId xmlns:a16="http://schemas.microsoft.com/office/drawing/2014/main" id="{D2F337A4-198A-6BD9-9FCE-CF4ABECA365B}"/>
              </a:ext>
            </a:extLst>
          </p:cNvPr>
          <p:cNvSpPr>
            <a:spLocks noGrp="1"/>
          </p:cNvSpPr>
          <p:nvPr>
            <p:ph type="pic" sz="quarter" idx="13" hasCustomPrompt="1"/>
          </p:nvPr>
        </p:nvSpPr>
        <p:spPr>
          <a:xfrm>
            <a:off x="-9746" y="-1693"/>
            <a:ext cx="12201751" cy="4529944"/>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0 w 9154001"/>
              <a:gd name="connsiteY6" fmla="*/ 4442826 h 4462781"/>
              <a:gd name="connsiteX7" fmla="*/ 0 w 9154001"/>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9525 w 9154001"/>
              <a:gd name="connsiteY6" fmla="*/ 3376026 h 4462781"/>
              <a:gd name="connsiteX7" fmla="*/ 0 w 9154001"/>
              <a:gd name="connsiteY7" fmla="*/ 0 h 4462781"/>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60080 w 9154001"/>
              <a:gd name="connsiteY4" fmla="*/ 4306571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31505 w 9154001"/>
              <a:gd name="connsiteY4" fmla="*/ 3230246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3395981"/>
              <a:gd name="connsiteX1" fmla="*/ 9144000 w 9154001"/>
              <a:gd name="connsiteY1" fmla="*/ 0 h 3395981"/>
              <a:gd name="connsiteX2" fmla="*/ 9154001 w 9154001"/>
              <a:gd name="connsiteY2" fmla="*/ 3362691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54001"/>
              <a:gd name="connsiteY0" fmla="*/ 0 h 3395981"/>
              <a:gd name="connsiteX1" fmla="*/ 9144000 w 9154001"/>
              <a:gd name="connsiteY1" fmla="*/ 0 h 3395981"/>
              <a:gd name="connsiteX2" fmla="*/ 9154001 w 9154001"/>
              <a:gd name="connsiteY2" fmla="*/ 3372216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44004"/>
              <a:gd name="connsiteY0" fmla="*/ 0 h 3395981"/>
              <a:gd name="connsiteX1" fmla="*/ 9144000 w 9144004"/>
              <a:gd name="connsiteY1" fmla="*/ 0 h 3395981"/>
              <a:gd name="connsiteX2" fmla="*/ 9139713 w 9144004"/>
              <a:gd name="connsiteY2" fmla="*/ 3372216 h 3395981"/>
              <a:gd name="connsiteX3" fmla="*/ 8858250 w 9144004"/>
              <a:gd name="connsiteY3" fmla="*/ 3395981 h 3395981"/>
              <a:gd name="connsiteX4" fmla="*/ 8231505 w 9144004"/>
              <a:gd name="connsiteY4" fmla="*/ 3230246 h 3395981"/>
              <a:gd name="connsiteX5" fmla="*/ 7627620 w 9144004"/>
              <a:gd name="connsiteY5" fmla="*/ 3366929 h 3395981"/>
              <a:gd name="connsiteX6" fmla="*/ 9525 w 9144004"/>
              <a:gd name="connsiteY6" fmla="*/ 3376026 h 3395981"/>
              <a:gd name="connsiteX7" fmla="*/ 0 w 9144004"/>
              <a:gd name="connsiteY7" fmla="*/ 0 h 3395981"/>
              <a:gd name="connsiteX0" fmla="*/ 0 w 9144004"/>
              <a:gd name="connsiteY0" fmla="*/ 0 h 3391219"/>
              <a:gd name="connsiteX1" fmla="*/ 9144000 w 9144004"/>
              <a:gd name="connsiteY1" fmla="*/ 0 h 3391219"/>
              <a:gd name="connsiteX2" fmla="*/ 9139713 w 9144004"/>
              <a:gd name="connsiteY2" fmla="*/ 3372216 h 3391219"/>
              <a:gd name="connsiteX3" fmla="*/ 8882062 w 9144004"/>
              <a:gd name="connsiteY3" fmla="*/ 3391219 h 3391219"/>
              <a:gd name="connsiteX4" fmla="*/ 8231505 w 9144004"/>
              <a:gd name="connsiteY4" fmla="*/ 3230246 h 3391219"/>
              <a:gd name="connsiteX5" fmla="*/ 7627620 w 9144004"/>
              <a:gd name="connsiteY5" fmla="*/ 3366929 h 3391219"/>
              <a:gd name="connsiteX6" fmla="*/ 9525 w 9144004"/>
              <a:gd name="connsiteY6" fmla="*/ 3376026 h 3391219"/>
              <a:gd name="connsiteX7" fmla="*/ 0 w 9144004"/>
              <a:gd name="connsiteY7" fmla="*/ 0 h 3391219"/>
              <a:gd name="connsiteX0" fmla="*/ 0 w 9144004"/>
              <a:gd name="connsiteY0" fmla="*/ 0 h 3395076"/>
              <a:gd name="connsiteX1" fmla="*/ 9144000 w 9144004"/>
              <a:gd name="connsiteY1" fmla="*/ 0 h 3395076"/>
              <a:gd name="connsiteX2" fmla="*/ 9139713 w 9144004"/>
              <a:gd name="connsiteY2" fmla="*/ 3372216 h 3395076"/>
              <a:gd name="connsiteX3" fmla="*/ 8882062 w 9144004"/>
              <a:gd name="connsiteY3" fmla="*/ 3391219 h 3395076"/>
              <a:gd name="connsiteX4" fmla="*/ 8231505 w 9144004"/>
              <a:gd name="connsiteY4" fmla="*/ 3230246 h 3395076"/>
              <a:gd name="connsiteX5" fmla="*/ 7627620 w 9144004"/>
              <a:gd name="connsiteY5" fmla="*/ 3366929 h 3395076"/>
              <a:gd name="connsiteX6" fmla="*/ 4763 w 9144004"/>
              <a:gd name="connsiteY6" fmla="*/ 3395076 h 3395076"/>
              <a:gd name="connsiteX7" fmla="*/ 0 w 9144004"/>
              <a:gd name="connsiteY7" fmla="*/ 0 h 3395076"/>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1505 w 9144004"/>
              <a:gd name="connsiteY4" fmla="*/ 3230246 h 3395504"/>
              <a:gd name="connsiteX5" fmla="*/ 7656195 w 9144004"/>
              <a:gd name="connsiteY5" fmla="*/ 3395504 h 3395504"/>
              <a:gd name="connsiteX6" fmla="*/ 4763 w 9144004"/>
              <a:gd name="connsiteY6" fmla="*/ 3395076 h 3395504"/>
              <a:gd name="connsiteX7" fmla="*/ 0 w 9144004"/>
              <a:gd name="connsiteY7" fmla="*/ 0 h 3395504"/>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3886 w 9144004"/>
              <a:gd name="connsiteY4" fmla="*/ 3239771 h 3395504"/>
              <a:gd name="connsiteX5" fmla="*/ 7656195 w 9144004"/>
              <a:gd name="connsiteY5" fmla="*/ 3395504 h 3395504"/>
              <a:gd name="connsiteX6" fmla="*/ 4763 w 9144004"/>
              <a:gd name="connsiteY6" fmla="*/ 3395076 h 3395504"/>
              <a:gd name="connsiteX7" fmla="*/ 0 w 9144004"/>
              <a:gd name="connsiteY7" fmla="*/ 0 h 3395504"/>
              <a:gd name="connsiteX0" fmla="*/ 7309 w 9151313"/>
              <a:gd name="connsiteY0" fmla="*/ 0 h 3397458"/>
              <a:gd name="connsiteX1" fmla="*/ 9151309 w 9151313"/>
              <a:gd name="connsiteY1" fmla="*/ 0 h 3397458"/>
              <a:gd name="connsiteX2" fmla="*/ 9147022 w 9151313"/>
              <a:gd name="connsiteY2" fmla="*/ 3372216 h 3397458"/>
              <a:gd name="connsiteX3" fmla="*/ 8889371 w 9151313"/>
              <a:gd name="connsiteY3" fmla="*/ 3391219 h 3397458"/>
              <a:gd name="connsiteX4" fmla="*/ 8241195 w 9151313"/>
              <a:gd name="connsiteY4" fmla="*/ 3239771 h 3397458"/>
              <a:gd name="connsiteX5" fmla="*/ 7663504 w 9151313"/>
              <a:gd name="connsiteY5" fmla="*/ 3395504 h 3397458"/>
              <a:gd name="connsiteX6" fmla="*/ 166 w 9151313"/>
              <a:gd name="connsiteY6" fmla="*/ 3397458 h 3397458"/>
              <a:gd name="connsiteX7" fmla="*/ 7309 w 9151313"/>
              <a:gd name="connsiteY7" fmla="*/ 0 h 339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1313" h="3397458">
                <a:moveTo>
                  <a:pt x="7309" y="0"/>
                </a:moveTo>
                <a:lnTo>
                  <a:pt x="9151309" y="0"/>
                </a:lnTo>
                <a:cubicBezTo>
                  <a:pt x="9151468" y="1486022"/>
                  <a:pt x="9146863" y="1886194"/>
                  <a:pt x="9147022" y="3372216"/>
                </a:cubicBezTo>
                <a:lnTo>
                  <a:pt x="8889371" y="3391219"/>
                </a:lnTo>
                <a:lnTo>
                  <a:pt x="8241195" y="3239771"/>
                </a:lnTo>
                <a:lnTo>
                  <a:pt x="7663504" y="3395504"/>
                </a:lnTo>
                <a:lnTo>
                  <a:pt x="166" y="3397458"/>
                </a:lnTo>
                <a:cubicBezTo>
                  <a:pt x="-1422" y="2265766"/>
                  <a:pt x="8897" y="1131692"/>
                  <a:pt x="7309" y="0"/>
                </a:cubicBezTo>
                <a:close/>
              </a:path>
            </a:pathLst>
          </a:custGeom>
          <a:noFill/>
        </p:spPr>
        <p:txBody>
          <a:bodyPr/>
          <a:lstStyle>
            <a:lvl1pPr marL="152396" indent="0">
              <a:buNone/>
              <a:defRPr/>
            </a:lvl1pPr>
          </a:lstStyle>
          <a:p>
            <a:r>
              <a:rPr lang="en-IN"/>
              <a:t> </a:t>
            </a:r>
            <a:endParaRPr lang="en-AU"/>
          </a:p>
        </p:txBody>
      </p:sp>
      <p:sp>
        <p:nvSpPr>
          <p:cNvPr id="2" name="TextBox 1">
            <a:hlinkClick r:id="rId2"/>
            <a:extLst>
              <a:ext uri="{FF2B5EF4-FFF2-40B4-BE49-F238E27FC236}">
                <a16:creationId xmlns:a16="http://schemas.microsoft.com/office/drawing/2014/main" id="{190201DC-5F24-6420-68C6-50B3CF7CB395}"/>
              </a:ext>
            </a:extLst>
          </p:cNvPr>
          <p:cNvSpPr txBox="1"/>
          <p:nvPr/>
        </p:nvSpPr>
        <p:spPr>
          <a:xfrm>
            <a:off x="430977" y="5671352"/>
            <a:ext cx="388809" cy="461665"/>
          </a:xfrm>
          <a:prstGeom prst="rect">
            <a:avLst/>
          </a:prstGeom>
          <a:noFill/>
        </p:spPr>
        <p:txBody>
          <a:bodyPr wrap="square" rtlCol="0">
            <a:spAutoFit/>
          </a:bodyPr>
          <a:lstStyle/>
          <a:p>
            <a:endParaRPr lang="en-US" sz="2400"/>
          </a:p>
        </p:txBody>
      </p:sp>
      <p:sp>
        <p:nvSpPr>
          <p:cNvPr id="3" name="TextBox 2">
            <a:hlinkClick r:id="rId3"/>
            <a:extLst>
              <a:ext uri="{FF2B5EF4-FFF2-40B4-BE49-F238E27FC236}">
                <a16:creationId xmlns:a16="http://schemas.microsoft.com/office/drawing/2014/main" id="{F4EF365B-F9EB-1574-A258-BC653F1E2F07}"/>
              </a:ext>
            </a:extLst>
          </p:cNvPr>
          <p:cNvSpPr txBox="1"/>
          <p:nvPr/>
        </p:nvSpPr>
        <p:spPr>
          <a:xfrm>
            <a:off x="1015819" y="5705838"/>
            <a:ext cx="184731" cy="461665"/>
          </a:xfrm>
          <a:prstGeom prst="rect">
            <a:avLst/>
          </a:prstGeom>
          <a:noFill/>
        </p:spPr>
        <p:txBody>
          <a:bodyPr wrap="none" rtlCol="0">
            <a:spAutoFit/>
          </a:bodyPr>
          <a:lstStyle/>
          <a:p>
            <a:endParaRPr lang="en-US" sz="2400"/>
          </a:p>
        </p:txBody>
      </p:sp>
      <p:sp>
        <p:nvSpPr>
          <p:cNvPr id="4" name="TextBox 3">
            <a:hlinkClick r:id="rId4"/>
            <a:extLst>
              <a:ext uri="{FF2B5EF4-FFF2-40B4-BE49-F238E27FC236}">
                <a16:creationId xmlns:a16="http://schemas.microsoft.com/office/drawing/2014/main" id="{1B6CCD81-F1BE-B482-7C6F-B16F054CE17E}"/>
              </a:ext>
            </a:extLst>
          </p:cNvPr>
          <p:cNvSpPr txBox="1"/>
          <p:nvPr/>
        </p:nvSpPr>
        <p:spPr>
          <a:xfrm>
            <a:off x="1548938" y="5705837"/>
            <a:ext cx="184731" cy="461665"/>
          </a:xfrm>
          <a:prstGeom prst="rect">
            <a:avLst/>
          </a:prstGeom>
          <a:noFill/>
        </p:spPr>
        <p:txBody>
          <a:bodyPr wrap="none" rtlCol="0">
            <a:spAutoFit/>
          </a:bodyPr>
          <a:lstStyle/>
          <a:p>
            <a:endParaRPr lang="en-US" sz="2400"/>
          </a:p>
        </p:txBody>
      </p:sp>
    </p:spTree>
    <p:extLst>
      <p:ext uri="{BB962C8B-B14F-4D97-AF65-F5344CB8AC3E}">
        <p14:creationId xmlns:p14="http://schemas.microsoft.com/office/powerpoint/2010/main" val="2002972795"/>
      </p:ext>
    </p:extLst>
  </p:cSld>
  <p:clrMapOvr>
    <a:masterClrMapping/>
  </p:clrMapOvr>
  <p:extLst>
    <p:ext uri="{DCECCB84-F9BA-43D5-87BE-67443E8EF086}">
      <p15:sldGuideLst xmlns:p15="http://schemas.microsoft.com/office/powerpoint/2012/main">
        <p15:guide id="1" orient="horz" pos="213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1 - Case Study Template -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6A9094-A25C-C476-ADF7-5818D23514A1}"/>
              </a:ext>
            </a:extLst>
          </p:cNvPr>
          <p:cNvSpPr/>
          <p:nvPr/>
        </p:nvSpPr>
        <p:spPr>
          <a:xfrm>
            <a:off x="0" y="2813116"/>
            <a:ext cx="2071688" cy="3429000"/>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400" b="0" i="0">
              <a:latin typeface="Aptos" panose="020B0004020202020204" pitchFamily="34" charset="0"/>
            </a:endParaRPr>
          </a:p>
        </p:txBody>
      </p:sp>
      <p:sp>
        <p:nvSpPr>
          <p:cNvPr id="3" name="Rectangle 2">
            <a:extLst>
              <a:ext uri="{FF2B5EF4-FFF2-40B4-BE49-F238E27FC236}">
                <a16:creationId xmlns:a16="http://schemas.microsoft.com/office/drawing/2014/main" id="{8FC091E0-9FAF-4FE5-D106-FA3E43B76942}"/>
              </a:ext>
            </a:extLst>
          </p:cNvPr>
          <p:cNvSpPr/>
          <p:nvPr/>
        </p:nvSpPr>
        <p:spPr>
          <a:xfrm>
            <a:off x="2071688" y="1141278"/>
            <a:ext cx="10120312" cy="6161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b="0" i="0">
              <a:solidFill>
                <a:schemeClr val="bg1"/>
              </a:solidFill>
              <a:latin typeface="Aptos" panose="020B0004020202020204" pitchFamily="34"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0" y="1"/>
            <a:ext cx="2071688" cy="2813116"/>
          </a:xfrm>
          <a:prstGeom prst="rect">
            <a:avLst/>
          </a:prstGeom>
          <a:solidFill>
            <a:schemeClr val="bg2">
              <a:lumMod val="20000"/>
              <a:lumOff val="80000"/>
            </a:schemeClr>
          </a:solidFill>
        </p:spPr>
        <p:txBody>
          <a:bodyPr wrap="square" anchor="ctr">
            <a:noAutofit/>
          </a:bodyPr>
          <a:lstStyle>
            <a:lvl1pPr marL="0" indent="0" algn="ctr">
              <a:buNone/>
              <a:defRPr b="0" i="0">
                <a:latin typeface="Aptos" panose="020B0004020202020204" pitchFamily="34" charset="0"/>
              </a:defRPr>
            </a:lvl1pPr>
          </a:lstStyle>
          <a:p>
            <a:r>
              <a:rPr lang="en-GB"/>
              <a:t>Click icon to add picture</a:t>
            </a:r>
            <a:endParaRPr lang="de-DE"/>
          </a:p>
        </p:txBody>
      </p:sp>
      <p:sp>
        <p:nvSpPr>
          <p:cNvPr id="18" name="Content Placeholder 2">
            <a:extLst>
              <a:ext uri="{FF2B5EF4-FFF2-40B4-BE49-F238E27FC236}">
                <a16:creationId xmlns:a16="http://schemas.microsoft.com/office/drawing/2014/main" id="{1E8C6222-4482-5FB1-2AE4-5A8F512E1392}"/>
              </a:ext>
            </a:extLst>
          </p:cNvPr>
          <p:cNvSpPr>
            <a:spLocks noGrp="1"/>
          </p:cNvSpPr>
          <p:nvPr>
            <p:ph sz="half" idx="28"/>
          </p:nvPr>
        </p:nvSpPr>
        <p:spPr>
          <a:xfrm>
            <a:off x="2157413" y="1801907"/>
            <a:ext cx="2786062" cy="4429562"/>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33" name="TextBox 32">
            <a:extLst>
              <a:ext uri="{FF2B5EF4-FFF2-40B4-BE49-F238E27FC236}">
                <a16:creationId xmlns:a16="http://schemas.microsoft.com/office/drawing/2014/main" id="{63B28BD4-B927-D5D7-3E8E-3B8E9CDB9CE1}"/>
              </a:ext>
            </a:extLst>
          </p:cNvPr>
          <p:cNvSpPr txBox="1"/>
          <p:nvPr/>
        </p:nvSpPr>
        <p:spPr>
          <a:xfrm>
            <a:off x="2267385" y="1253674"/>
            <a:ext cx="2160356" cy="369332"/>
          </a:xfrm>
          <a:prstGeom prst="rect">
            <a:avLst/>
          </a:prstGeom>
          <a:noFill/>
        </p:spPr>
        <p:txBody>
          <a:bodyPr wrap="square" lIns="0" tIns="0" rIns="0" bIns="0" anchor="ctr">
            <a:norm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Requirements</a:t>
            </a:r>
          </a:p>
        </p:txBody>
      </p:sp>
      <p:sp>
        <p:nvSpPr>
          <p:cNvPr id="35" name="TextBox 34">
            <a:extLst>
              <a:ext uri="{FF2B5EF4-FFF2-40B4-BE49-F238E27FC236}">
                <a16:creationId xmlns:a16="http://schemas.microsoft.com/office/drawing/2014/main" id="{2D57DCEF-1560-9AF1-7A04-418461ED32AF}"/>
              </a:ext>
            </a:extLst>
          </p:cNvPr>
          <p:cNvSpPr txBox="1"/>
          <p:nvPr/>
        </p:nvSpPr>
        <p:spPr>
          <a:xfrm>
            <a:off x="9531734" y="1272586"/>
            <a:ext cx="2134599" cy="369332"/>
          </a:xfrm>
          <a:prstGeom prst="rect">
            <a:avLst/>
          </a:prstGeom>
          <a:noFill/>
        </p:spPr>
        <p:txBody>
          <a:bodyPr wrap="square" lIns="0" tIns="0" rIns="0" bIns="0" anchor="ctr">
            <a:norm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Client Benefits</a:t>
            </a:r>
          </a:p>
        </p:txBody>
      </p:sp>
      <p:cxnSp>
        <p:nvCxnSpPr>
          <p:cNvPr id="30" name="Straight Connector 29">
            <a:extLst>
              <a:ext uri="{FF2B5EF4-FFF2-40B4-BE49-F238E27FC236}">
                <a16:creationId xmlns:a16="http://schemas.microsoft.com/office/drawing/2014/main" id="{CDE24740-BF49-13A2-D93B-760FA193E090}"/>
              </a:ext>
            </a:extLst>
          </p:cNvPr>
          <p:cNvCxnSpPr>
            <a:cxnSpLocks/>
          </p:cNvCxnSpPr>
          <p:nvPr/>
        </p:nvCxnSpPr>
        <p:spPr>
          <a:xfrm>
            <a:off x="5018523" y="1253673"/>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4943A43A-EBDD-8F84-F264-07442277D8F0}"/>
              </a:ext>
            </a:extLst>
          </p:cNvPr>
          <p:cNvSpPr>
            <a:spLocks noGrp="1"/>
          </p:cNvSpPr>
          <p:nvPr>
            <p:ph sz="half" idx="33"/>
          </p:nvPr>
        </p:nvSpPr>
        <p:spPr>
          <a:xfrm>
            <a:off x="5100639" y="1801907"/>
            <a:ext cx="4243386" cy="4429562"/>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9" name="Content Placeholder 2">
            <a:extLst>
              <a:ext uri="{FF2B5EF4-FFF2-40B4-BE49-F238E27FC236}">
                <a16:creationId xmlns:a16="http://schemas.microsoft.com/office/drawing/2014/main" id="{CEC79830-8908-1E07-2437-518AB0A44B50}"/>
              </a:ext>
            </a:extLst>
          </p:cNvPr>
          <p:cNvSpPr>
            <a:spLocks noGrp="1"/>
          </p:cNvSpPr>
          <p:nvPr>
            <p:ph sz="half" idx="34"/>
          </p:nvPr>
        </p:nvSpPr>
        <p:spPr>
          <a:xfrm>
            <a:off x="9501188" y="1801907"/>
            <a:ext cx="2571750" cy="4429562"/>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cxnSp>
        <p:nvCxnSpPr>
          <p:cNvPr id="12" name="Straight Connector 11">
            <a:extLst>
              <a:ext uri="{FF2B5EF4-FFF2-40B4-BE49-F238E27FC236}">
                <a16:creationId xmlns:a16="http://schemas.microsoft.com/office/drawing/2014/main" id="{CE680F4E-05A8-E43C-4B6B-350DE6E011E3}"/>
              </a:ext>
            </a:extLst>
          </p:cNvPr>
          <p:cNvCxnSpPr>
            <a:cxnSpLocks/>
          </p:cNvCxnSpPr>
          <p:nvPr/>
        </p:nvCxnSpPr>
        <p:spPr>
          <a:xfrm>
            <a:off x="9381217" y="1249957"/>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73689D8-C9B4-2D34-07F0-DB463189E114}"/>
              </a:ext>
            </a:extLst>
          </p:cNvPr>
          <p:cNvSpPr txBox="1"/>
          <p:nvPr/>
        </p:nvSpPr>
        <p:spPr>
          <a:xfrm>
            <a:off x="5200650" y="1253674"/>
            <a:ext cx="2412099" cy="369332"/>
          </a:xfrm>
          <a:prstGeom prst="rect">
            <a:avLst/>
          </a:prstGeom>
          <a:noFill/>
        </p:spPr>
        <p:txBody>
          <a:bodyPr wrap="square" lIns="0" tIns="0" rIns="0" bIns="0" anchor="ctr">
            <a:norm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Ascendion’s Solution</a:t>
            </a:r>
          </a:p>
        </p:txBody>
      </p:sp>
      <p:sp>
        <p:nvSpPr>
          <p:cNvPr id="11" name="Title 1">
            <a:extLst>
              <a:ext uri="{FF2B5EF4-FFF2-40B4-BE49-F238E27FC236}">
                <a16:creationId xmlns:a16="http://schemas.microsoft.com/office/drawing/2014/main" id="{0773BCE4-316C-2824-8669-331C25E93F9D}"/>
              </a:ext>
            </a:extLst>
          </p:cNvPr>
          <p:cNvSpPr>
            <a:spLocks noGrp="1"/>
          </p:cNvSpPr>
          <p:nvPr>
            <p:ph type="title" hasCustomPrompt="1"/>
          </p:nvPr>
        </p:nvSpPr>
        <p:spPr>
          <a:xfrm>
            <a:off x="2241628" y="219276"/>
            <a:ext cx="9445985" cy="430887"/>
          </a:xfrm>
        </p:spPr>
        <p:txBody>
          <a:bodyPr>
            <a:spAutoFit/>
          </a:bodyPr>
          <a:lstStyle/>
          <a:p>
            <a:r>
              <a:rPr lang="en-US"/>
              <a:t>Click To Edit Master Title Style</a:t>
            </a:r>
            <a:endParaRPr lang="en-AU"/>
          </a:p>
        </p:txBody>
      </p:sp>
      <p:grpSp>
        <p:nvGrpSpPr>
          <p:cNvPr id="8" name="Group 7">
            <a:extLst>
              <a:ext uri="{FF2B5EF4-FFF2-40B4-BE49-F238E27FC236}">
                <a16:creationId xmlns:a16="http://schemas.microsoft.com/office/drawing/2014/main" id="{3965D76F-2E4C-FDAE-FCF1-EEE18A3176A5}"/>
              </a:ext>
            </a:extLst>
          </p:cNvPr>
          <p:cNvGrpSpPr/>
          <p:nvPr userDrawn="1"/>
        </p:nvGrpSpPr>
        <p:grpSpPr>
          <a:xfrm>
            <a:off x="5018523" y="1817657"/>
            <a:ext cx="4393762" cy="1770668"/>
            <a:chOff x="5018523" y="2442116"/>
            <a:chExt cx="4393762" cy="154258"/>
          </a:xfrm>
        </p:grpSpPr>
        <p:cxnSp>
          <p:nvCxnSpPr>
            <p:cNvPr id="4" name="Straight Connector 3">
              <a:extLst>
                <a:ext uri="{FF2B5EF4-FFF2-40B4-BE49-F238E27FC236}">
                  <a16:creationId xmlns:a16="http://schemas.microsoft.com/office/drawing/2014/main" id="{223C57D4-5C85-F4FA-C49E-ED1DA689AFB2}"/>
                </a:ext>
              </a:extLst>
            </p:cNvPr>
            <p:cNvCxnSpPr>
              <a:cxnSpLocks/>
            </p:cNvCxnSpPr>
            <p:nvPr userDrawn="1"/>
          </p:nvCxnSpPr>
          <p:spPr>
            <a:xfrm>
              <a:off x="5018523" y="2442116"/>
              <a:ext cx="0" cy="15425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BC8B0CA-2B40-31D2-C112-BF3F37715F1D}"/>
                </a:ext>
              </a:extLst>
            </p:cNvPr>
            <p:cNvCxnSpPr>
              <a:cxnSpLocks/>
            </p:cNvCxnSpPr>
            <p:nvPr userDrawn="1"/>
          </p:nvCxnSpPr>
          <p:spPr>
            <a:xfrm>
              <a:off x="9412285" y="2442116"/>
              <a:ext cx="0" cy="15425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D92AE697-B6BA-7ED2-4A28-3D699CA66FB9}"/>
              </a:ext>
            </a:extLst>
          </p:cNvPr>
          <p:cNvSpPr txBox="1"/>
          <p:nvPr userDrawn="1"/>
        </p:nvSpPr>
        <p:spPr>
          <a:xfrm>
            <a:off x="76200" y="2814638"/>
            <a:ext cx="1695450" cy="369332"/>
          </a:xfrm>
          <a:prstGeom prst="rect">
            <a:avLst/>
          </a:prstGeom>
          <a:noFill/>
        </p:spPr>
        <p:txBody>
          <a:bodyPr wrap="square" lIns="0" tIns="0" rIns="0" bIns="0" anchor="ctr">
            <a:normAutofit/>
          </a:bodyPr>
          <a:lstStyle/>
          <a:p>
            <a:pPr algn="l"/>
            <a:r>
              <a:rPr lang="en-US" sz="1200" b="1">
                <a:solidFill>
                  <a:schemeClr val="bg1"/>
                </a:solidFill>
                <a:latin typeface="Verdana" panose="020B0604030504040204" pitchFamily="34" charset="0"/>
                <a:ea typeface="Verdana" panose="020B0604030504040204" pitchFamily="34" charset="0"/>
                <a:cs typeface="Verdana" panose="020B0604030504040204" pitchFamily="34" charset="0"/>
              </a:rPr>
              <a:t>About the Client:</a:t>
            </a:r>
          </a:p>
        </p:txBody>
      </p:sp>
    </p:spTree>
    <p:extLst>
      <p:ext uri="{BB962C8B-B14F-4D97-AF65-F5344CB8AC3E}">
        <p14:creationId xmlns:p14="http://schemas.microsoft.com/office/powerpoint/2010/main" val="4146533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onten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949B20-CE4F-2CE3-7EBD-9F382E2320AD}"/>
              </a:ext>
            </a:extLst>
          </p:cNvPr>
          <p:cNvSpPr>
            <a:spLocks noGrp="1"/>
          </p:cNvSpPr>
          <p:nvPr>
            <p:ph type="body" sz="quarter" idx="10"/>
          </p:nvPr>
        </p:nvSpPr>
        <p:spPr>
          <a:xfrm>
            <a:off x="505884" y="1604434"/>
            <a:ext cx="11159067" cy="4627033"/>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2" name="Title Placeholder 1">
            <a:extLst>
              <a:ext uri="{FF2B5EF4-FFF2-40B4-BE49-F238E27FC236}">
                <a16:creationId xmlns:a16="http://schemas.microsoft.com/office/drawing/2014/main" id="{27150ADE-C5D0-BEB3-3947-F5EC3974E308}"/>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4256699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ACC5C8FF-D6B7-6677-E5C0-B3495A3909A8}"/>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563440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662F9-A334-3693-A53B-7505AECE4B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CB32E0-37B1-0E7A-27D5-B5C6B430B0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C976C4-FE85-0EA3-1D97-72E398BAE332}"/>
              </a:ext>
            </a:extLst>
          </p:cNvPr>
          <p:cNvSpPr>
            <a:spLocks noGrp="1"/>
          </p:cNvSpPr>
          <p:nvPr>
            <p:ph type="dt" sz="half" idx="10"/>
          </p:nvPr>
        </p:nvSpPr>
        <p:spPr/>
        <p:txBody>
          <a:bodyPr/>
          <a:lstStyle/>
          <a:p>
            <a:fld id="{208ED146-2465-4743-98E0-5AD136E9431F}" type="datetimeFigureOut">
              <a:rPr lang="en-IN" smtClean="0"/>
              <a:t>04/03/26</a:t>
            </a:fld>
            <a:endParaRPr lang="en-IN"/>
          </a:p>
        </p:txBody>
      </p:sp>
      <p:sp>
        <p:nvSpPr>
          <p:cNvPr id="5" name="Footer Placeholder 4">
            <a:extLst>
              <a:ext uri="{FF2B5EF4-FFF2-40B4-BE49-F238E27FC236}">
                <a16:creationId xmlns:a16="http://schemas.microsoft.com/office/drawing/2014/main" id="{36865B8D-B5A4-779B-3412-40588C9DE3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41BBD3-40FC-A943-DAC6-291019B0D224}"/>
              </a:ext>
            </a:extLst>
          </p:cNvPr>
          <p:cNvSpPr>
            <a:spLocks noGrp="1"/>
          </p:cNvSpPr>
          <p:nvPr>
            <p:ph type="sldNum" sz="quarter" idx="12"/>
          </p:nvPr>
        </p:nvSpPr>
        <p:spPr/>
        <p:txBody>
          <a:bodyPr/>
          <a:lstStyle/>
          <a:p>
            <a:fld id="{E0BD8452-7E40-4757-BDE6-778A8A7E76CC}" type="slidenum">
              <a:rPr lang="en-IN" smtClean="0"/>
              <a:t>‹#›</a:t>
            </a:fld>
            <a:endParaRPr lang="en-IN"/>
          </a:p>
        </p:txBody>
      </p:sp>
    </p:spTree>
    <p:extLst>
      <p:ext uri="{BB962C8B-B14F-4D97-AF65-F5344CB8AC3E}">
        <p14:creationId xmlns:p14="http://schemas.microsoft.com/office/powerpoint/2010/main" val="1215348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091" y="365083"/>
            <a:ext cx="10514231" cy="1325410"/>
          </a:xfrm>
          <a:prstGeom prst="rect">
            <a:avLst/>
          </a:prstGeom>
        </p:spPr>
        <p:txBody>
          <a:bodyPr vert="horz" lIns="91440" tIns="45720" rIns="91440" bIns="45720" rtlCol="0" anchor="ctr">
            <a:normAutofit/>
          </a:bodyPr>
          <a:lstStyle>
            <a:lvl1pPr algn="ctr" defTabSz="914217" rtl="0" eaLnBrk="1" latinLnBrk="0" hangingPunct="1">
              <a:lnSpc>
                <a:spcPct val="90000"/>
              </a:lnSpc>
              <a:spcBef>
                <a:spcPct val="0"/>
              </a:spcBef>
              <a:buNone/>
              <a:defRPr sz="4399" kern="1200">
                <a:solidFill>
                  <a:schemeClr val="tx1"/>
                </a:solidFill>
                <a:latin typeface="+mj-lt"/>
                <a:ea typeface="+mj-ea"/>
                <a:cs typeface="+mj-cs"/>
              </a:defRPr>
            </a:lvl1pPr>
          </a:lstStyle>
          <a:p>
            <a:r>
              <a:rPr lang="en-US"/>
              <a:t>Click to edit Master title style</a:t>
            </a:r>
          </a:p>
        </p:txBody>
      </p:sp>
    </p:spTree>
    <p:custDataLst>
      <p:tags r:id="rId1"/>
    </p:custDataLst>
    <p:extLst>
      <p:ext uri="{BB962C8B-B14F-4D97-AF65-F5344CB8AC3E}">
        <p14:creationId xmlns:p14="http://schemas.microsoft.com/office/powerpoint/2010/main" val="11786300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515937" y="394087"/>
            <a:ext cx="11160123" cy="492443"/>
          </a:xfrm>
          <a:prstGeom prst="rect">
            <a:avLst/>
          </a:prstGeom>
        </p:spPr>
        <p:txBody>
          <a:bodyPr vert="horz" lIns="0" tIns="0" rIns="0" bIns="0" rtlCol="0" anchor="t">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515937" y="1625600"/>
            <a:ext cx="11160123" cy="4684184"/>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001146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p:txStyles>
    <p:titleStyle>
      <a:lvl1pPr algn="l" defTabSz="914377" rtl="0" eaLnBrk="1" latinLnBrk="0" hangingPunct="1">
        <a:lnSpc>
          <a:spcPct val="100000"/>
        </a:lnSpc>
        <a:spcBef>
          <a:spcPct val="0"/>
        </a:spcBef>
        <a:spcAft>
          <a:spcPts val="600"/>
        </a:spcAft>
        <a:buNone/>
        <a:defRPr sz="3200" b="1" i="0" kern="1200">
          <a:solidFill>
            <a:schemeClr val="tx1"/>
          </a:solidFill>
          <a:latin typeface="PP Neue Machina Plain Ultrabold" pitchFamily="2" charset="77"/>
          <a:ea typeface="+mj-ea"/>
          <a:cs typeface="+mj-cs"/>
        </a:defRPr>
      </a:lvl1pPr>
    </p:titleStyle>
    <p:bodyStyle>
      <a:lvl1pPr marL="228594" indent="-228594" algn="l" defTabSz="914377" rtl="0" eaLnBrk="1" latinLnBrk="0" hangingPunct="1">
        <a:lnSpc>
          <a:spcPct val="100000"/>
        </a:lnSpc>
        <a:spcBef>
          <a:spcPts val="1000"/>
        </a:spcBef>
        <a:spcAft>
          <a:spcPts val="600"/>
        </a:spcAft>
        <a:buFont typeface="Aptos" panose="020B0004020202020204" pitchFamily="34" charset="0"/>
        <a:buChar char="•"/>
        <a:defRPr sz="18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100000"/>
        </a:lnSpc>
        <a:spcBef>
          <a:spcPts val="500"/>
        </a:spcBef>
        <a:spcAft>
          <a:spcPts val="600"/>
        </a:spcAft>
        <a:buFont typeface="Aptos" panose="020B0004020202020204" pitchFamily="34" charset="0"/>
        <a:buChar char="•"/>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100000"/>
        </a:lnSpc>
        <a:spcBef>
          <a:spcPts val="500"/>
        </a:spcBef>
        <a:spcAft>
          <a:spcPts val="600"/>
        </a:spcAft>
        <a:buFont typeface="Aptos" panose="020B0004020202020204" pitchFamily="34" charset="0"/>
        <a:buChar char="•"/>
        <a:defRPr sz="14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4pPr>
      <a:lvl5pPr marL="2057349"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5pPr>
      <a:lvl6pPr marL="2514537"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81">
          <p15:clr>
            <a:srgbClr val="F26B43"/>
          </p15:clr>
        </p15:guide>
        <p15:guide id="2" pos="5521">
          <p15:clr>
            <a:srgbClr val="F26B43"/>
          </p15:clr>
        </p15:guide>
        <p15:guide id="3" pos="239">
          <p15:clr>
            <a:srgbClr val="F26B43"/>
          </p15:clr>
        </p15:guide>
        <p15:guide id="4" pos="7354">
          <p15:clr>
            <a:srgbClr val="F26B43"/>
          </p15:clr>
        </p15:guide>
        <p15:guide id="5" orient="horz" pos="3898">
          <p15:clr>
            <a:srgbClr val="F26B43"/>
          </p15:clr>
        </p15:guide>
        <p15:guide id="6" orient="horz" pos="758">
          <p15:clr>
            <a:srgbClr val="F26B43"/>
          </p15:clr>
        </p15:guide>
        <p15:guide id="7" pos="2868">
          <p15:clr>
            <a:srgbClr val="F26B43"/>
          </p15:clr>
        </p15:guide>
        <p15:guide id="8" orient="horz" pos="64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515937" y="1625600"/>
            <a:ext cx="11160123" cy="460586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grpSp>
        <p:nvGrpSpPr>
          <p:cNvPr id="7" name="Graphic 4">
            <a:extLst>
              <a:ext uri="{FF2B5EF4-FFF2-40B4-BE49-F238E27FC236}">
                <a16:creationId xmlns:a16="http://schemas.microsoft.com/office/drawing/2014/main" id="{FC3011FE-129A-723F-0258-2C3653C963AD}"/>
              </a:ext>
            </a:extLst>
          </p:cNvPr>
          <p:cNvGrpSpPr/>
          <p:nvPr/>
        </p:nvGrpSpPr>
        <p:grpSpPr>
          <a:xfrm>
            <a:off x="10864851" y="6468533"/>
            <a:ext cx="186267" cy="203200"/>
            <a:chOff x="8176402" y="4885530"/>
            <a:chExt cx="135493" cy="143018"/>
          </a:xfrm>
        </p:grpSpPr>
        <p:sp>
          <p:nvSpPr>
            <p:cNvPr id="21" name="Freeform: Shape 20">
              <a:extLst>
                <a:ext uri="{FF2B5EF4-FFF2-40B4-BE49-F238E27FC236}">
                  <a16:creationId xmlns:a16="http://schemas.microsoft.com/office/drawing/2014/main" id="{FDD1C6C7-4F4F-56E8-A7C8-A48C7E8DA5B6}"/>
                </a:ext>
              </a:extLst>
            </p:cNvPr>
            <p:cNvSpPr/>
            <p:nvPr/>
          </p:nvSpPr>
          <p:spPr>
            <a:xfrm>
              <a:off x="8176402" y="4885530"/>
              <a:ext cx="67770" cy="143018"/>
            </a:xfrm>
            <a:custGeom>
              <a:avLst/>
              <a:gdLst>
                <a:gd name="connsiteX0" fmla="*/ 67771 w 67770"/>
                <a:gd name="connsiteY0" fmla="*/ 0 h 143018"/>
                <a:gd name="connsiteX1" fmla="*/ 38767 w 67770"/>
                <a:gd name="connsiteY1" fmla="*/ 6144 h 143018"/>
                <a:gd name="connsiteX2" fmla="*/ 0 w 67770"/>
                <a:gd name="connsiteY2" fmla="*/ 143018 h 143018"/>
                <a:gd name="connsiteX3" fmla="*/ 33147 w 67770"/>
                <a:gd name="connsiteY3" fmla="*/ 135970 h 143018"/>
                <a:gd name="connsiteX4" fmla="*/ 44768 w 67770"/>
                <a:gd name="connsiteY4" fmla="*/ 93869 h 143018"/>
                <a:gd name="connsiteX5" fmla="*/ 67771 w 67770"/>
                <a:gd name="connsiteY5" fmla="*/ 88964 h 143018"/>
                <a:gd name="connsiteX6" fmla="*/ 67771 w 67770"/>
                <a:gd name="connsiteY6" fmla="*/ 60341 h 143018"/>
                <a:gd name="connsiteX7" fmla="*/ 53293 w 67770"/>
                <a:gd name="connsiteY7" fmla="*/ 63389 h 143018"/>
                <a:gd name="connsiteX8" fmla="*/ 67771 w 67770"/>
                <a:gd name="connsiteY8" fmla="*/ 11097 h 143018"/>
                <a:gd name="connsiteX9" fmla="*/ 67771 w 67770"/>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70" h="143018">
                  <a:moveTo>
                    <a:pt x="67771" y="0"/>
                  </a:moveTo>
                  <a:lnTo>
                    <a:pt x="38767" y="6144"/>
                  </a:lnTo>
                  <a:lnTo>
                    <a:pt x="0" y="143018"/>
                  </a:lnTo>
                  <a:lnTo>
                    <a:pt x="33147" y="135970"/>
                  </a:lnTo>
                  <a:lnTo>
                    <a:pt x="44768" y="93869"/>
                  </a:lnTo>
                  <a:lnTo>
                    <a:pt x="67771" y="88964"/>
                  </a:lnTo>
                  <a:lnTo>
                    <a:pt x="67771" y="60341"/>
                  </a:lnTo>
                  <a:lnTo>
                    <a:pt x="53293" y="63389"/>
                  </a:lnTo>
                  <a:lnTo>
                    <a:pt x="67771" y="11097"/>
                  </a:lnTo>
                  <a:lnTo>
                    <a:pt x="67771" y="0"/>
                  </a:lnTo>
                  <a:close/>
                </a:path>
              </a:pathLst>
            </a:custGeom>
            <a:solidFill>
              <a:srgbClr val="000000"/>
            </a:solidFill>
            <a:ln w="4763" cap="flat">
              <a:noFill/>
              <a:prstDash val="solid"/>
              <a:miter/>
            </a:ln>
          </p:spPr>
          <p:txBody>
            <a:bodyPr rtlCol="0" anchor="ctr"/>
            <a:lstStyle/>
            <a:p>
              <a:endParaRPr lang="en-AU" sz="2400"/>
            </a:p>
          </p:txBody>
        </p:sp>
        <p:sp>
          <p:nvSpPr>
            <p:cNvPr id="22" name="Freeform: Shape 21">
              <a:extLst>
                <a:ext uri="{FF2B5EF4-FFF2-40B4-BE49-F238E27FC236}">
                  <a16:creationId xmlns:a16="http://schemas.microsoft.com/office/drawing/2014/main" id="{DABD7C35-BA12-9F26-537D-75B82B7D3876}"/>
                </a:ext>
              </a:extLst>
            </p:cNvPr>
            <p:cNvSpPr/>
            <p:nvPr/>
          </p:nvSpPr>
          <p:spPr>
            <a:xfrm>
              <a:off x="8244173" y="4885530"/>
              <a:ext cx="67722" cy="143018"/>
            </a:xfrm>
            <a:custGeom>
              <a:avLst/>
              <a:gdLst>
                <a:gd name="connsiteX0" fmla="*/ 0 w 67722"/>
                <a:gd name="connsiteY0" fmla="*/ 0 h 143018"/>
                <a:gd name="connsiteX1" fmla="*/ 0 w 67722"/>
                <a:gd name="connsiteY1" fmla="*/ 11097 h 143018"/>
                <a:gd name="connsiteX2" fmla="*/ 14478 w 67722"/>
                <a:gd name="connsiteY2" fmla="*/ 63389 h 143018"/>
                <a:gd name="connsiteX3" fmla="*/ 0 w 67722"/>
                <a:gd name="connsiteY3" fmla="*/ 60341 h 143018"/>
                <a:gd name="connsiteX4" fmla="*/ 0 w 67722"/>
                <a:gd name="connsiteY4" fmla="*/ 88964 h 143018"/>
                <a:gd name="connsiteX5" fmla="*/ 22955 w 67722"/>
                <a:gd name="connsiteY5" fmla="*/ 93869 h 143018"/>
                <a:gd name="connsiteX6" fmla="*/ 34575 w 67722"/>
                <a:gd name="connsiteY6" fmla="*/ 135970 h 143018"/>
                <a:gd name="connsiteX7" fmla="*/ 67723 w 67722"/>
                <a:gd name="connsiteY7" fmla="*/ 143018 h 143018"/>
                <a:gd name="connsiteX8" fmla="*/ 28956 w 67722"/>
                <a:gd name="connsiteY8" fmla="*/ 6144 h 143018"/>
                <a:gd name="connsiteX9" fmla="*/ 0 w 67722"/>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22" h="143018">
                  <a:moveTo>
                    <a:pt x="0" y="0"/>
                  </a:moveTo>
                  <a:lnTo>
                    <a:pt x="0" y="11097"/>
                  </a:lnTo>
                  <a:lnTo>
                    <a:pt x="14478" y="63389"/>
                  </a:lnTo>
                  <a:lnTo>
                    <a:pt x="0" y="60341"/>
                  </a:lnTo>
                  <a:lnTo>
                    <a:pt x="0" y="88964"/>
                  </a:lnTo>
                  <a:lnTo>
                    <a:pt x="22955" y="93869"/>
                  </a:lnTo>
                  <a:lnTo>
                    <a:pt x="34575" y="135970"/>
                  </a:lnTo>
                  <a:lnTo>
                    <a:pt x="67723" y="143018"/>
                  </a:lnTo>
                  <a:lnTo>
                    <a:pt x="28956" y="6144"/>
                  </a:lnTo>
                  <a:lnTo>
                    <a:pt x="0" y="0"/>
                  </a:lnTo>
                  <a:close/>
                </a:path>
              </a:pathLst>
            </a:custGeom>
            <a:solidFill>
              <a:srgbClr val="808080"/>
            </a:solidFill>
            <a:ln w="4763" cap="flat">
              <a:noFill/>
              <a:prstDash val="solid"/>
              <a:miter/>
            </a:ln>
          </p:spPr>
          <p:txBody>
            <a:bodyPr rtlCol="0" anchor="ctr"/>
            <a:lstStyle/>
            <a:p>
              <a:endParaRPr lang="en-AU" sz="2400"/>
            </a:p>
          </p:txBody>
        </p:sp>
      </p:grpSp>
      <p:sp>
        <p:nvSpPr>
          <p:cNvPr id="8" name="Slide Number Placeholder 18">
            <a:extLst>
              <a:ext uri="{FF2B5EF4-FFF2-40B4-BE49-F238E27FC236}">
                <a16:creationId xmlns:a16="http://schemas.microsoft.com/office/drawing/2014/main" id="{56348CC3-4D9E-3009-191A-52A4BBC22FD7}"/>
              </a:ext>
            </a:extLst>
          </p:cNvPr>
          <p:cNvSpPr txBox="1">
            <a:spLocks/>
          </p:cNvSpPr>
          <p:nvPr/>
        </p:nvSpPr>
        <p:spPr>
          <a:xfrm>
            <a:off x="1838618" y="6362699"/>
            <a:ext cx="419100" cy="246221"/>
          </a:xfrm>
          <a:prstGeom prst="rect">
            <a:avLst/>
          </a:prstGeom>
          <a:noFill/>
        </p:spPr>
        <p:txBody>
          <a:bodyPr wrap="square">
            <a:sp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ptos" panose="020B0004020202020204" pitchFamily="34" charset="0"/>
              <a:defRPr lang="en-AU" sz="800" b="0" i="0" u="none" strike="noStrike" cap="none" smtClean="0">
                <a:solidFill>
                  <a:srgbClr val="000000"/>
                </a:solidFill>
                <a:latin typeface="+mj-lt"/>
                <a:ea typeface="Aptos" panose="020B0004020202020204" pitchFamily="34" charset="0"/>
                <a:cs typeface="Aptos" panose="020B0004020202020204" pitchFamily="34" charset="0"/>
                <a:sym typeface="Aptos" panose="020B0004020202020204" pitchFamily="34" charset="0"/>
              </a:defRPr>
            </a:lvl1pPr>
            <a:lvl2pPr marR="0" lvl="1"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2pPr>
            <a:lvl3pPr marR="0" lvl="2"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3pPr>
            <a:lvl4pPr marR="0" lvl="3"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4pPr>
            <a:lvl5pPr marR="0" lvl="4"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5pPr>
            <a:lvl6pPr marR="0" lvl="5"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6pPr>
            <a:lvl7pPr marR="0" lvl="6"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7pPr>
            <a:lvl8pPr marR="0" lvl="7"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8pPr>
            <a:lvl9pPr marR="0" lvl="8"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9pPr>
          </a:lstStyle>
          <a:p>
            <a:fld id="{A2294E5B-DE56-4C0C-83A2-06393784158A}" type="slidenum">
              <a:rPr lang="en-AU" sz="1000" smtClean="0">
                <a:solidFill>
                  <a:schemeClr val="tx1"/>
                </a:solidFill>
                <a:latin typeface="Verdana" panose="020B0604030504040204" pitchFamily="34" charset="0"/>
                <a:ea typeface="Verdana" panose="020B0604030504040204" pitchFamily="34" charset="0"/>
                <a:cs typeface="Verdana" panose="020B0604030504040204" pitchFamily="34" charset="0"/>
              </a:rPr>
              <a:pPr/>
              <a:t>‹#›</a:t>
            </a:fld>
            <a:endParaRPr lang="en-AU" sz="10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9" name="TextBox 8">
            <a:extLst>
              <a:ext uri="{FF2B5EF4-FFF2-40B4-BE49-F238E27FC236}">
                <a16:creationId xmlns:a16="http://schemas.microsoft.com/office/drawing/2014/main" id="{BDB4E33F-C9AE-AD75-BA0B-87F4D61986B6}"/>
              </a:ext>
            </a:extLst>
          </p:cNvPr>
          <p:cNvSpPr txBox="1"/>
          <p:nvPr/>
        </p:nvSpPr>
        <p:spPr>
          <a:xfrm>
            <a:off x="274789" y="6362693"/>
            <a:ext cx="1663700" cy="246221"/>
          </a:xfrm>
          <a:prstGeom prst="rect">
            <a:avLst/>
          </a:prstGeom>
          <a:noFill/>
        </p:spPr>
        <p:txBody>
          <a:bodyPr wrap="square">
            <a:spAutoFit/>
          </a:bodyPr>
          <a:lstStyle/>
          <a:p>
            <a:pPr algn="l"/>
            <a:r>
              <a:rPr lang="en-US" sz="1000" b="0" i="0">
                <a:solidFill>
                  <a:schemeClr val="tx1"/>
                </a:solidFill>
                <a:latin typeface="Verdana" panose="020B0604030504040204" pitchFamily="34" charset="0"/>
                <a:ea typeface="Verdana" panose="020B0604030504040204" pitchFamily="34" charset="0"/>
                <a:cs typeface="Verdana" panose="020B0604030504040204" pitchFamily="34" charset="0"/>
              </a:rPr>
              <a:t>Ascendion Confidential</a:t>
            </a:r>
          </a:p>
        </p:txBody>
      </p:sp>
      <p:sp>
        <p:nvSpPr>
          <p:cNvPr id="4" name="Graphic 10">
            <a:extLst>
              <a:ext uri="{FF2B5EF4-FFF2-40B4-BE49-F238E27FC236}">
                <a16:creationId xmlns:a16="http://schemas.microsoft.com/office/drawing/2014/main" id="{34A157B6-58AF-33D6-96CC-D1BE31D6A076}"/>
              </a:ext>
            </a:extLst>
          </p:cNvPr>
          <p:cNvSpPr/>
          <p:nvPr/>
        </p:nvSpPr>
        <p:spPr>
          <a:xfrm>
            <a:off x="2356339" y="6337426"/>
            <a:ext cx="9835661" cy="179324"/>
          </a:xfrm>
          <a:custGeom>
            <a:avLst/>
            <a:gdLst>
              <a:gd name="connsiteX0" fmla="*/ 5829300 w 5829300"/>
              <a:gd name="connsiteY0" fmla="*/ 134493 h 134493"/>
              <a:gd name="connsiteX1" fmla="*/ 5541740 w 5829300"/>
              <a:gd name="connsiteY1" fmla="*/ 134493 h 134493"/>
              <a:gd name="connsiteX2" fmla="*/ 4915853 w 5829300"/>
              <a:gd name="connsiteY2" fmla="*/ 0 h 134493"/>
              <a:gd name="connsiteX3" fmla="*/ 4285393 w 5829300"/>
              <a:gd name="connsiteY3" fmla="*/ 134493 h 134493"/>
              <a:gd name="connsiteX4" fmla="*/ 0 w 5829300"/>
              <a:gd name="connsiteY4" fmla="*/ 134493 h 134493"/>
              <a:gd name="connsiteX0" fmla="*/ 7376746 w 7376746"/>
              <a:gd name="connsiteY0" fmla="*/ 134493 h 134493"/>
              <a:gd name="connsiteX1" fmla="*/ 7089186 w 7376746"/>
              <a:gd name="connsiteY1" fmla="*/ 134493 h 134493"/>
              <a:gd name="connsiteX2" fmla="*/ 6463299 w 7376746"/>
              <a:gd name="connsiteY2" fmla="*/ 0 h 134493"/>
              <a:gd name="connsiteX3" fmla="*/ 5832839 w 7376746"/>
              <a:gd name="connsiteY3" fmla="*/ 134493 h 134493"/>
              <a:gd name="connsiteX4" fmla="*/ 0 w 7376746"/>
              <a:gd name="connsiteY4" fmla="*/ 134493 h 134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746" h="134493">
                <a:moveTo>
                  <a:pt x="7376746" y="134493"/>
                </a:moveTo>
                <a:lnTo>
                  <a:pt x="7089186" y="134493"/>
                </a:lnTo>
                <a:lnTo>
                  <a:pt x="6463299" y="0"/>
                </a:lnTo>
                <a:lnTo>
                  <a:pt x="5832839" y="134493"/>
                </a:lnTo>
                <a:lnTo>
                  <a:pt x="0" y="134493"/>
                </a:lnTo>
              </a:path>
            </a:pathLst>
          </a:custGeom>
          <a:noFill/>
          <a:ln w="9525" cap="flat">
            <a:solidFill>
              <a:schemeClr val="tx1"/>
            </a:solidFill>
            <a:prstDash val="solid"/>
            <a:miter/>
          </a:ln>
        </p:spPr>
        <p:txBody>
          <a:bodyPr rtlCol="0" anchor="ctr"/>
          <a:lstStyle/>
          <a:p>
            <a:endParaRPr lang="en-US" sz="1867"/>
          </a:p>
        </p:txBody>
      </p:sp>
      <p:cxnSp>
        <p:nvCxnSpPr>
          <p:cNvPr id="13" name="Straight Connector 12">
            <a:extLst>
              <a:ext uri="{FF2B5EF4-FFF2-40B4-BE49-F238E27FC236}">
                <a16:creationId xmlns:a16="http://schemas.microsoft.com/office/drawing/2014/main" id="{8A8BB966-C387-C92B-FA58-18AA05DC5645}"/>
              </a:ext>
            </a:extLst>
          </p:cNvPr>
          <p:cNvCxnSpPr>
            <a:cxnSpLocks/>
          </p:cNvCxnSpPr>
          <p:nvPr/>
        </p:nvCxnSpPr>
        <p:spPr>
          <a:xfrm>
            <a:off x="0" y="6515100"/>
            <a:ext cx="304800" cy="0"/>
          </a:xfrm>
          <a:prstGeom prst="line">
            <a:avLst/>
          </a:prstGeom>
          <a:noFill/>
          <a:ln w="9525" cap="flat">
            <a:solidFill>
              <a:schemeClr val="tx1"/>
            </a:solidFill>
            <a:prstDash val="solid"/>
            <a:miter/>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73267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81" r:id="rId3"/>
    <p:sldLayoutId id="2147483682" r:id="rId4"/>
  </p:sldLayoutIdLst>
  <p:hf hdr="0" dt="0"/>
  <p:txStyles>
    <p:titleStyle>
      <a:lvl1pPr algn="l" defTabSz="914377" rtl="0" eaLnBrk="1" latinLnBrk="0" hangingPunct="1">
        <a:lnSpc>
          <a:spcPct val="100000"/>
        </a:lnSpc>
        <a:spcBef>
          <a:spcPct val="0"/>
        </a:spcBef>
        <a:spcAft>
          <a:spcPts val="600"/>
        </a:spcAft>
        <a:buNone/>
        <a:defRPr sz="2800" b="1" i="0" kern="1200">
          <a:solidFill>
            <a:schemeClr val="tx1"/>
          </a:solidFill>
          <a:latin typeface="PP Neue Machina Plain Ultrabold" pitchFamily="50" charset="0"/>
          <a:ea typeface="+mj-ea"/>
          <a:cs typeface="+mj-cs"/>
        </a:defRPr>
      </a:lvl1pPr>
    </p:titleStyle>
    <p:bodyStyle>
      <a:lvl1pPr marL="228594" indent="-228594" algn="l" defTabSz="914377" rtl="0" eaLnBrk="1" latinLnBrk="0" hangingPunct="1">
        <a:lnSpc>
          <a:spcPct val="100000"/>
        </a:lnSpc>
        <a:spcBef>
          <a:spcPts val="1000"/>
        </a:spcBef>
        <a:spcAft>
          <a:spcPts val="600"/>
        </a:spcAft>
        <a:buFont typeface="Aptos" panose="020B0004020202020204" pitchFamily="34" charset="0"/>
        <a:buChar char="•"/>
        <a:defRPr sz="1867"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100000"/>
        </a:lnSpc>
        <a:spcBef>
          <a:spcPts val="500"/>
        </a:spcBef>
        <a:spcAft>
          <a:spcPts val="600"/>
        </a:spcAft>
        <a:buFont typeface="Aptos" panose="020B0004020202020204" pitchFamily="34" charset="0"/>
        <a:buChar char="•"/>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100000"/>
        </a:lnSpc>
        <a:spcBef>
          <a:spcPts val="500"/>
        </a:spcBef>
        <a:spcAft>
          <a:spcPts val="600"/>
        </a:spcAft>
        <a:buFont typeface="Aptos" panose="020B0004020202020204" pitchFamily="34" charset="0"/>
        <a:buChar char="•"/>
        <a:defRPr sz="1333"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4pPr>
      <a:lvl5pPr marL="2057349"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5pPr>
      <a:lvl6pPr marL="2514537"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44">
          <p15:clr>
            <a:srgbClr val="F26B43"/>
          </p15:clr>
        </p15:guide>
        <p15:guide id="2" pos="5521">
          <p15:clr>
            <a:srgbClr val="F26B43"/>
          </p15:clr>
        </p15:guide>
        <p15:guide id="3" pos="239">
          <p15:clr>
            <a:srgbClr val="F26B43"/>
          </p15:clr>
        </p15:guide>
        <p15:guide id="4" pos="7354">
          <p15:clr>
            <a:srgbClr val="F26B43"/>
          </p15:clr>
        </p15:guide>
        <p15:guide id="5" orient="horz" pos="3898">
          <p15:clr>
            <a:srgbClr val="F26B43"/>
          </p15:clr>
        </p15:guide>
        <p15:guide id="6" orient="horz" pos="758">
          <p15:clr>
            <a:srgbClr val="F26B43"/>
          </p15:clr>
        </p15:guide>
        <p15:guide id="7" pos="2880">
          <p15:clr>
            <a:srgbClr val="F26B43"/>
          </p15:clr>
        </p15:guide>
        <p15:guide id="8" orient="horz" pos="645">
          <p15:clr>
            <a:srgbClr val="F26B43"/>
          </p15:clr>
        </p15:guide>
        <p15:guide id="9" orient="horz" pos="36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a:extLst>
              <a:ext uri="{FF2B5EF4-FFF2-40B4-BE49-F238E27FC236}">
                <a16:creationId xmlns:a16="http://schemas.microsoft.com/office/drawing/2014/main" id="{14704438-E7D9-30B5-7908-5041D75C0A37}"/>
              </a:ext>
            </a:extLst>
          </p:cNvPr>
          <p:cNvPicPr>
            <a:picLocks noGrp="1" noChangeAspect="1"/>
          </p:cNvPicPr>
          <p:nvPr>
            <p:ph type="pic" sz="quarter" idx="13"/>
          </p:nvPr>
        </p:nvPicPr>
        <p:blipFill>
          <a:blip r:embed="rId3"/>
          <a:srcRect t="217" b="217"/>
          <a:stretch/>
        </p:blipFill>
        <p:spPr>
          <a:xfrm>
            <a:off x="0" y="938525"/>
            <a:ext cx="12195175" cy="5919469"/>
          </a:xfrm>
        </p:spPr>
      </p:pic>
      <p:sp>
        <p:nvSpPr>
          <p:cNvPr id="18" name="Rectangle 17">
            <a:extLst>
              <a:ext uri="{FF2B5EF4-FFF2-40B4-BE49-F238E27FC236}">
                <a16:creationId xmlns:a16="http://schemas.microsoft.com/office/drawing/2014/main" id="{155AC928-235E-BDB4-B7C5-94B69DD3B86D}"/>
              </a:ext>
            </a:extLst>
          </p:cNvPr>
          <p:cNvSpPr/>
          <p:nvPr/>
        </p:nvSpPr>
        <p:spPr>
          <a:xfrm>
            <a:off x="0" y="1106729"/>
            <a:ext cx="7008446" cy="5751265"/>
          </a:xfrm>
          <a:prstGeom prst="rect">
            <a:avLst/>
          </a:prstGeom>
          <a:gradFill>
            <a:gsLst>
              <a:gs pos="0">
                <a:srgbClr val="000000">
                  <a:alpha val="76000"/>
                </a:srgbClr>
              </a:gs>
              <a:gs pos="100000">
                <a:srgbClr val="000000">
                  <a:alpha val="0"/>
                </a:srgbClr>
              </a:gs>
            </a:gsLst>
            <a:lin ang="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Verdana"/>
              <a:ea typeface="+mn-ea"/>
              <a:cs typeface="+mn-cs"/>
              <a:sym typeface="Aptos" panose="020B0004020202020204" pitchFamily="34" charset="0"/>
            </a:endParaRPr>
          </a:p>
        </p:txBody>
      </p:sp>
      <p:sp>
        <p:nvSpPr>
          <p:cNvPr id="20" name="Title 19">
            <a:extLst>
              <a:ext uri="{FF2B5EF4-FFF2-40B4-BE49-F238E27FC236}">
                <a16:creationId xmlns:a16="http://schemas.microsoft.com/office/drawing/2014/main" id="{F7326108-69A1-FD3D-D5B8-1752F7F5A65D}"/>
              </a:ext>
            </a:extLst>
          </p:cNvPr>
          <p:cNvSpPr>
            <a:spLocks noGrp="1"/>
          </p:cNvSpPr>
          <p:nvPr>
            <p:ph type="ctrTitle"/>
          </p:nvPr>
        </p:nvSpPr>
        <p:spPr>
          <a:xfrm>
            <a:off x="406399" y="2203554"/>
            <a:ext cx="6234244" cy="1923945"/>
          </a:xfrm>
        </p:spPr>
        <p:txBody>
          <a:bodyPr/>
          <a:lstStyle/>
          <a:p>
            <a:r>
              <a:rPr lang="en-US">
                <a:solidFill>
                  <a:schemeClr val="bg1"/>
                </a:solidFill>
              </a:rPr>
              <a:t>Ascendion -  </a:t>
            </a:r>
            <a:br>
              <a:rPr lang="en-US">
                <a:solidFill>
                  <a:schemeClr val="bg1"/>
                </a:solidFill>
              </a:rPr>
            </a:br>
            <a:r>
              <a:rPr lang="en-US">
                <a:solidFill>
                  <a:schemeClr val="bg1"/>
                </a:solidFill>
              </a:rPr>
              <a:t>Legacy System X-Ray &amp; Navigator</a:t>
            </a:r>
          </a:p>
        </p:txBody>
      </p:sp>
      <p:sp>
        <p:nvSpPr>
          <p:cNvPr id="22" name="Subtitle 21">
            <a:extLst>
              <a:ext uri="{FF2B5EF4-FFF2-40B4-BE49-F238E27FC236}">
                <a16:creationId xmlns:a16="http://schemas.microsoft.com/office/drawing/2014/main" id="{FEEE9641-BDFE-786C-B353-7F49BD0463F2}"/>
              </a:ext>
            </a:extLst>
          </p:cNvPr>
          <p:cNvSpPr>
            <a:spLocks noGrp="1"/>
          </p:cNvSpPr>
          <p:nvPr>
            <p:ph type="subTitle" idx="1"/>
          </p:nvPr>
        </p:nvSpPr>
        <p:spPr>
          <a:xfrm>
            <a:off x="406400" y="4191000"/>
            <a:ext cx="5680389" cy="381000"/>
          </a:xfrm>
        </p:spPr>
        <p:txBody>
          <a:bodyPr/>
          <a:lstStyle/>
          <a:p>
            <a:r>
              <a:rPr lang="en-US" sz="1400" dirty="0">
                <a:solidFill>
                  <a:srgbClr val="FFFFFF"/>
                </a:solidFill>
                <a:latin typeface="Verdana"/>
              </a:rPr>
              <a:t>AI-assisted understanding for mainframes and monoliths</a:t>
            </a:r>
          </a:p>
        </p:txBody>
      </p:sp>
      <p:sp>
        <p:nvSpPr>
          <p:cNvPr id="30" name="ValueChain"/>
          <p:cNvSpPr/>
          <p:nvPr/>
        </p:nvSpPr>
        <p:spPr>
          <a:xfrm>
            <a:off x="406400" y="4762500"/>
            <a:ext cx="6223000" cy="317500"/>
          </a:xfrm>
          <a:prstGeom prst="rect">
            <a:avLst/>
          </a:prstGeom>
          <a:noFill/>
          <a:ln>
            <a:noFill/>
          </a:ln>
        </p:spPr>
        <p:txBody>
          <a:bodyPr wrap="square" lIns="0" tIns="0" rIns="0" bIns="0" anchor="t"/>
          <a:lstStyle/>
          <a:p>
            <a:pPr>
              <a:buNone/>
            </a:pPr>
            <a:r>
              <a:rPr lang="en-US" sz="1100" dirty="0">
                <a:solidFill>
                  <a:srgbClr val="B3B3B3"/>
                </a:solidFill>
                <a:latin typeface="Verdana"/>
              </a:rPr>
              <a:t>Trapped SME knowledge </a:t>
            </a:r>
            <a:r>
              <a:rPr lang="en-US" sz="1100" dirty="0">
                <a:solidFill>
                  <a:srgbClr val="2CDCAA"/>
                </a:solidFill>
                <a:latin typeface="Verdana"/>
              </a:rPr>
              <a:t>→</a:t>
            </a:r>
            <a:r>
              <a:rPr lang="en-US" sz="1100" dirty="0">
                <a:solidFill>
                  <a:srgbClr val="B3B3B3"/>
                </a:solidFill>
                <a:latin typeface="Verdana"/>
              </a:rPr>
              <a:t> Shared model </a:t>
            </a:r>
            <a:r>
              <a:rPr lang="en-US" sz="1100" dirty="0">
                <a:solidFill>
                  <a:srgbClr val="2CDCAA"/>
                </a:solidFill>
                <a:latin typeface="Verdana"/>
              </a:rPr>
              <a:t>→</a:t>
            </a:r>
            <a:r>
              <a:rPr lang="en-US" sz="1100" dirty="0">
                <a:solidFill>
                  <a:srgbClr val="B3B3B3"/>
                </a:solidFill>
                <a:latin typeface="Verdana"/>
              </a:rPr>
              <a:t> Safer modernization</a:t>
            </a:r>
          </a:p>
        </p:txBody>
      </p:sp>
      <p:sp>
        <p:nvSpPr>
          <p:cNvPr id="31" name="Badge0"/>
          <p:cNvSpPr/>
          <p:nvPr/>
        </p:nvSpPr>
        <p:spPr>
          <a:xfrm>
            <a:off x="406400" y="5181600"/>
            <a:ext cx="1879600" cy="279400"/>
          </a:xfrm>
          <a:prstGeom prst="roundRect">
            <a:avLst>
              <a:gd name="adj" fmla="val 16667"/>
            </a:avLst>
          </a:prstGeom>
          <a:noFill/>
          <a:ln w="9525">
            <a:solidFill>
              <a:srgbClr val="2CDCAA"/>
            </a:solidFill>
          </a:ln>
        </p:spPr>
        <p:txBody>
          <a:bodyPr wrap="square" lIns="45720" tIns="18288" rIns="45720" bIns="18288" anchor="ctr"/>
          <a:lstStyle/>
          <a:p>
            <a:pPr algn="ctr">
              <a:buNone/>
            </a:pPr>
            <a:r>
              <a:rPr lang="en-US" sz="1000" b="1" dirty="0">
                <a:solidFill>
                  <a:srgbClr val="2CDCAA"/>
                </a:solidFill>
                <a:latin typeface="Verdana"/>
              </a:rPr>
              <a:t>Traceable</a:t>
            </a:r>
          </a:p>
        </p:txBody>
      </p:sp>
      <p:sp>
        <p:nvSpPr>
          <p:cNvPr id="32" name="Badge1"/>
          <p:cNvSpPr/>
          <p:nvPr/>
        </p:nvSpPr>
        <p:spPr>
          <a:xfrm>
            <a:off x="2387600" y="5181600"/>
            <a:ext cx="2006600" cy="279400"/>
          </a:xfrm>
          <a:prstGeom prst="roundRect">
            <a:avLst>
              <a:gd name="adj" fmla="val 16667"/>
            </a:avLst>
          </a:prstGeom>
          <a:noFill/>
          <a:ln w="9525">
            <a:solidFill>
              <a:srgbClr val="2CDCAA"/>
            </a:solidFill>
          </a:ln>
        </p:spPr>
        <p:txBody>
          <a:bodyPr wrap="square" lIns="45720" tIns="18288" rIns="45720" bIns="18288" anchor="ctr"/>
          <a:lstStyle/>
          <a:p>
            <a:pPr algn="ctr">
              <a:buNone/>
            </a:pPr>
            <a:r>
              <a:rPr lang="en-US" sz="1000" b="1" dirty="0">
                <a:solidFill>
                  <a:srgbClr val="2CDCAA"/>
                </a:solidFill>
                <a:latin typeface="Verdana"/>
              </a:rPr>
              <a:t>Client-Controlled</a:t>
            </a:r>
          </a:p>
        </p:txBody>
      </p:sp>
      <p:sp>
        <p:nvSpPr>
          <p:cNvPr id="33" name="Badge2"/>
          <p:cNvSpPr/>
          <p:nvPr/>
        </p:nvSpPr>
        <p:spPr>
          <a:xfrm>
            <a:off x="4495800" y="5181600"/>
            <a:ext cx="1879600" cy="279400"/>
          </a:xfrm>
          <a:prstGeom prst="roundRect">
            <a:avLst>
              <a:gd name="adj" fmla="val 16667"/>
            </a:avLst>
          </a:prstGeom>
          <a:noFill/>
          <a:ln w="9525">
            <a:solidFill>
              <a:srgbClr val="2CDCAA"/>
            </a:solidFill>
          </a:ln>
        </p:spPr>
        <p:txBody>
          <a:bodyPr wrap="square" lIns="45720" tIns="18288" rIns="45720" bIns="18288" anchor="ctr"/>
          <a:lstStyle/>
          <a:p>
            <a:pPr algn="ctr">
              <a:buNone/>
            </a:pPr>
            <a:r>
              <a:rPr lang="en-US" sz="1000" b="1" dirty="0">
                <a:solidFill>
                  <a:srgbClr val="2CDCAA"/>
                </a:solidFill>
                <a:latin typeface="Verdana"/>
              </a:rPr>
              <a:t>Org-Wide Model</a:t>
            </a:r>
          </a:p>
        </p:txBody>
      </p:sp>
    </p:spTree>
    <p:extLst>
      <p:ext uri="{BB962C8B-B14F-4D97-AF65-F5344CB8AC3E}">
        <p14:creationId xmlns:p14="http://schemas.microsoft.com/office/powerpoint/2010/main" val="3277957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p:cNvSpPr/>
          <p:nvPr/>
        </p:nvSpPr>
        <p:spPr>
          <a:xfrm>
            <a:off x="406400" y="274320"/>
            <a:ext cx="8229600" cy="640000"/>
          </a:xfrm>
          <a:prstGeom prst="rect">
            <a:avLst/>
          </a:prstGeom>
          <a:noFill/>
          <a:ln>
            <a:noFill/>
          </a:ln>
        </p:spPr>
        <p:txBody>
          <a:bodyPr wrap="square" lIns="0" tIns="0" rIns="0" bIns="0" anchor="t"/>
          <a:lstStyle/>
          <a:p>
            <a:pPr>
              <a:buNone/>
            </a:pPr>
            <a:r>
              <a:rPr lang="en-US" sz="3200" b="1" dirty="0">
                <a:solidFill>
                  <a:srgbClr val="000000"/>
                </a:solidFill>
                <a:latin typeface="PP Neue Machina Plain Ultrabold"/>
              </a:rPr>
              <a:t>The Business Problem</a:t>
            </a:r>
          </a:p>
        </p:txBody>
      </p:sp>
      <p:sp>
        <p:nvSpPr>
          <p:cNvPr id="11" name="AccentBar"/>
          <p:cNvSpPr/>
          <p:nvPr/>
        </p:nvSpPr>
        <p:spPr>
          <a:xfrm>
            <a:off x="406400" y="960000"/>
            <a:ext cx="800000" cy="50000"/>
          </a:xfrm>
          <a:prstGeom prst="rect">
            <a:avLst/>
          </a:prstGeom>
          <a:solidFill>
            <a:srgbClr val="2CDCAA"/>
          </a:solidFill>
          <a:ln>
            <a:noFill/>
          </a:ln>
        </p:spPr>
        <p:txBody>
          <a:bodyPr/>
          <a:lstStyle/>
          <a:p>
            <a:endParaRPr lang="en-US"/>
          </a:p>
        </p:txBody>
      </p:sp>
      <p:sp>
        <p:nvSpPr>
          <p:cNvPr id="12" name="Card12"/>
          <p:cNvSpPr/>
          <p:nvPr/>
        </p:nvSpPr>
        <p:spPr>
          <a:xfrm>
            <a:off x="406400" y="1270000"/>
            <a:ext cx="3200000" cy="3429000"/>
          </a:xfrm>
          <a:prstGeom prst="roundRect">
            <a:avLst>
              <a:gd name="adj" fmla="val 5000"/>
            </a:avLst>
          </a:prstGeom>
          <a:solidFill>
            <a:srgbClr val="F5F5F5"/>
          </a:solidFill>
          <a:ln w="12700">
            <a:solidFill>
              <a:srgbClr val="2CDCAA"/>
            </a:solidFill>
          </a:ln>
        </p:spPr>
        <p:txBody>
          <a:bodyPr wrap="square" lIns="182880" tIns="548640" rIns="182880" bIns="91440" anchor="t"/>
          <a:lstStyle/>
          <a:p>
            <a:pPr>
              <a:buNone/>
            </a:pPr>
            <a:r>
              <a:rPr lang="en-US" sz="2000" b="1" dirty="0">
                <a:solidFill>
                  <a:srgbClr val="000000"/>
                </a:solidFill>
                <a:latin typeface="PP Neue Machina Plain Ultrabold"/>
              </a:rPr>
              <a:t>SME Bottleneck</a:t>
            </a:r>
          </a:p>
          <a:p>
            <a:pPr>
              <a:spcBef>
                <a:spcPts val="800"/>
              </a:spcBef>
              <a:buNone/>
            </a:pPr>
            <a:r>
              <a:rPr lang="en-US" sz="1500" dirty="0">
                <a:solidFill>
                  <a:srgbClr val="333333"/>
                </a:solidFill>
                <a:latin typeface="Verdana"/>
              </a:rPr>
              <a:t>Critical COBOL / FORTRAN / PL/SQL / Java monoliths run core business, but knowledge is trapped in a handful of SMEs</a:t>
            </a:r>
          </a:p>
        </p:txBody>
      </p:sp>
      <p:sp>
        <p:nvSpPr>
          <p:cNvPr id="13" name="TopBar12"/>
          <p:cNvSpPr/>
          <p:nvPr/>
        </p:nvSpPr>
        <p:spPr>
          <a:xfrm>
            <a:off x="406400" y="1270000"/>
            <a:ext cx="3200000" cy="60000"/>
          </a:xfrm>
          <a:prstGeom prst="rect">
            <a:avLst/>
          </a:prstGeom>
          <a:solidFill>
            <a:srgbClr val="2CDCAA"/>
          </a:solidFill>
          <a:ln>
            <a:noFill/>
          </a:ln>
        </p:spPr>
        <p:txBody>
          <a:bodyPr/>
          <a:lstStyle/>
          <a:p>
            <a:endParaRPr lang="en-US"/>
          </a:p>
        </p:txBody>
      </p:sp>
      <p:sp>
        <p:nvSpPr>
          <p:cNvPr id="14" name="Card14"/>
          <p:cNvSpPr/>
          <p:nvPr/>
        </p:nvSpPr>
        <p:spPr>
          <a:xfrm>
            <a:off x="3806400" y="1270000"/>
            <a:ext cx="3200000" cy="3429000"/>
          </a:xfrm>
          <a:prstGeom prst="roundRect">
            <a:avLst>
              <a:gd name="adj" fmla="val 5000"/>
            </a:avLst>
          </a:prstGeom>
          <a:solidFill>
            <a:srgbClr val="F5F5F5"/>
          </a:solidFill>
          <a:ln w="12700">
            <a:solidFill>
              <a:srgbClr val="FFC30F"/>
            </a:solidFill>
          </a:ln>
        </p:spPr>
        <p:txBody>
          <a:bodyPr wrap="square" lIns="182880" tIns="548640" rIns="182880" bIns="91440" anchor="t"/>
          <a:lstStyle/>
          <a:p>
            <a:pPr>
              <a:buNone/>
            </a:pPr>
            <a:r>
              <a:rPr lang="en-US" sz="2000" b="1" dirty="0">
                <a:solidFill>
                  <a:srgbClr val="000000"/>
                </a:solidFill>
                <a:latin typeface="PP Neue Machina Plain Ultrabold"/>
              </a:rPr>
              <a:t>Slow Onboarding</a:t>
            </a:r>
          </a:p>
          <a:p>
            <a:pPr>
              <a:spcBef>
                <a:spcPts val="800"/>
              </a:spcBef>
              <a:buNone/>
            </a:pPr>
            <a:r>
              <a:rPr lang="en-US" sz="1500" dirty="0">
                <a:solidFill>
                  <a:srgbClr val="333333"/>
                </a:solidFill>
                <a:latin typeface="Verdana"/>
              </a:rPr>
              <a:t>Onboarding new engineers and doing impact analysis takes weeks, slowing releases and increasing risk</a:t>
            </a:r>
          </a:p>
        </p:txBody>
      </p:sp>
      <p:sp>
        <p:nvSpPr>
          <p:cNvPr id="15" name="TopBar14"/>
          <p:cNvSpPr/>
          <p:nvPr/>
        </p:nvSpPr>
        <p:spPr>
          <a:xfrm>
            <a:off x="3806400" y="1270000"/>
            <a:ext cx="3200000" cy="60000"/>
          </a:xfrm>
          <a:prstGeom prst="rect">
            <a:avLst/>
          </a:prstGeom>
          <a:solidFill>
            <a:srgbClr val="FFC30F"/>
          </a:solidFill>
          <a:ln>
            <a:noFill/>
          </a:ln>
        </p:spPr>
        <p:txBody>
          <a:bodyPr/>
          <a:lstStyle/>
          <a:p>
            <a:endParaRPr lang="en-US"/>
          </a:p>
        </p:txBody>
      </p:sp>
      <p:sp>
        <p:nvSpPr>
          <p:cNvPr id="16" name="Card16"/>
          <p:cNvSpPr/>
          <p:nvPr/>
        </p:nvSpPr>
        <p:spPr>
          <a:xfrm>
            <a:off x="7206400" y="1270000"/>
            <a:ext cx="3200000" cy="3429000"/>
          </a:xfrm>
          <a:prstGeom prst="roundRect">
            <a:avLst>
              <a:gd name="adj" fmla="val 5000"/>
            </a:avLst>
          </a:prstGeom>
          <a:solidFill>
            <a:srgbClr val="F5F5F5"/>
          </a:solidFill>
          <a:ln w="12700">
            <a:solidFill>
              <a:srgbClr val="6464D7"/>
            </a:solidFill>
          </a:ln>
        </p:spPr>
        <p:txBody>
          <a:bodyPr wrap="square" lIns="182880" tIns="548640" rIns="182880" bIns="91440" anchor="t"/>
          <a:lstStyle/>
          <a:p>
            <a:pPr>
              <a:buNone/>
            </a:pPr>
            <a:r>
              <a:rPr lang="en-US" sz="2000" b="1" dirty="0">
                <a:solidFill>
                  <a:srgbClr val="000000"/>
                </a:solidFill>
                <a:latin typeface="PP Neue Machina Plain Ultrabold"/>
              </a:rPr>
              <a:t>Individual Tools, Not Org Understanding</a:t>
            </a:r>
          </a:p>
          <a:p>
            <a:pPr>
              <a:spcBef>
                <a:spcPts val="800"/>
              </a:spcBef>
              <a:buNone/>
            </a:pPr>
            <a:r>
              <a:rPr lang="en-US" sz="1500" dirty="0">
                <a:solidFill>
                  <a:srgbClr val="333333"/>
                </a:solidFill>
                <a:latin typeface="Verdana"/>
              </a:rPr>
              <a:t>"Just give 5 devs a copilot" helps individuals, but does not create org-wide understanding of the estate</a:t>
            </a:r>
          </a:p>
        </p:txBody>
      </p:sp>
      <p:sp>
        <p:nvSpPr>
          <p:cNvPr id="17" name="TopBar16"/>
          <p:cNvSpPr/>
          <p:nvPr/>
        </p:nvSpPr>
        <p:spPr>
          <a:xfrm>
            <a:off x="7206400" y="1270000"/>
            <a:ext cx="3200000" cy="60000"/>
          </a:xfrm>
          <a:prstGeom prst="rect">
            <a:avLst/>
          </a:prstGeom>
          <a:solidFill>
            <a:srgbClr val="6464D7"/>
          </a:solidFill>
          <a:ln>
            <a:noFill/>
          </a:ln>
        </p:spPr>
        <p:txBody>
          <a:bodyPr/>
          <a:lstStyle/>
          <a:p>
            <a:endParaRPr lang="en-US"/>
          </a:p>
        </p:txBody>
      </p:sp>
      <p:sp>
        <p:nvSpPr>
          <p:cNvPr id="20" name="Statement"/>
          <p:cNvSpPr/>
          <p:nvPr/>
        </p:nvSpPr>
        <p:spPr>
          <a:xfrm>
            <a:off x="0" y="5080000"/>
            <a:ext cx="12192000" cy="825500"/>
          </a:xfrm>
          <a:prstGeom prst="rect">
            <a:avLst/>
          </a:prstGeom>
          <a:solidFill>
            <a:srgbClr val="006450"/>
          </a:solidFill>
          <a:ln>
            <a:noFill/>
          </a:ln>
        </p:spPr>
        <p:txBody>
          <a:bodyPr wrap="square" lIns="457200" tIns="91440" rIns="457200" bIns="91440" anchor="ctr"/>
          <a:lstStyle/>
          <a:p>
            <a:pPr algn="ctr">
              <a:buNone/>
            </a:pPr>
            <a:r>
              <a:rPr lang="en-US" sz="2400" b="1" dirty="0">
                <a:solidFill>
                  <a:srgbClr val="FFFFFF"/>
                </a:solidFill>
                <a:latin typeface="PP Neue Machina Plain Ultrabold"/>
              </a:rPr>
              <a:t>Understanding is the constraint.</a:t>
            </a:r>
          </a:p>
        </p:txBody>
      </p:sp>
      <p:pic>
        <p:nvPicPr>
          <p:cNvPr id="21" name="Graphic 21" descr="SME bottleneck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8700" y="1498600"/>
            <a:ext cx="508000" cy="508000"/>
          </a:xfrm>
          <a:prstGeom prst="rect">
            <a:avLst/>
          </a:prstGeom>
        </p:spPr>
      </p:pic>
      <p:pic>
        <p:nvPicPr>
          <p:cNvPr id="22" name="Graphic 22" descr="Onboarding ico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32300" y="1498600"/>
            <a:ext cx="508000" cy="508000"/>
          </a:xfrm>
          <a:prstGeom prst="rect">
            <a:avLst/>
          </a:prstGeom>
        </p:spPr>
      </p:pic>
      <p:pic>
        <p:nvPicPr>
          <p:cNvPr id="23" name="Graphic 23" descr="Risk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61300" y="1498600"/>
            <a:ext cx="508000" cy="508000"/>
          </a:xfrm>
          <a:prstGeom prst="rect">
            <a:avLst/>
          </a:prstGeom>
        </p:spPr>
      </p:pic>
    </p:spTree>
    <p:extLst>
      <p:ext uri="{BB962C8B-B14F-4D97-AF65-F5344CB8AC3E}">
        <p14:creationId xmlns:p14="http://schemas.microsoft.com/office/powerpoint/2010/main" val="2174315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p:cNvSpPr/>
          <p:nvPr/>
        </p:nvSpPr>
        <p:spPr>
          <a:xfrm>
            <a:off x="406400" y="274320"/>
            <a:ext cx="10000000" cy="640000"/>
          </a:xfrm>
          <a:prstGeom prst="rect">
            <a:avLst/>
          </a:prstGeom>
          <a:noFill/>
          <a:ln>
            <a:noFill/>
          </a:ln>
        </p:spPr>
        <p:txBody>
          <a:bodyPr wrap="square" lIns="0" tIns="0" rIns="0" bIns="0" anchor="t"/>
          <a:lstStyle/>
          <a:p>
            <a:pPr>
              <a:buNone/>
            </a:pPr>
            <a:r>
              <a:rPr lang="en-US" sz="2800" b="1" dirty="0">
                <a:solidFill>
                  <a:srgbClr val="000000"/>
                </a:solidFill>
                <a:latin typeface="PP Neue Machina Plain Ultrabold"/>
              </a:rPr>
              <a:t>Why "Just Give the Team Copilot" Fails</a:t>
            </a:r>
          </a:p>
        </p:txBody>
      </p:sp>
      <p:sp>
        <p:nvSpPr>
          <p:cNvPr id="11" name="AccentBar"/>
          <p:cNvSpPr/>
          <p:nvPr/>
        </p:nvSpPr>
        <p:spPr>
          <a:xfrm>
            <a:off x="406400" y="960000"/>
            <a:ext cx="800000" cy="50000"/>
          </a:xfrm>
          <a:prstGeom prst="rect">
            <a:avLst/>
          </a:prstGeom>
          <a:solidFill>
            <a:srgbClr val="2CDCAA"/>
          </a:solidFill>
          <a:ln>
            <a:noFill/>
          </a:ln>
        </p:spPr>
        <p:txBody>
          <a:bodyPr/>
          <a:lstStyle/>
          <a:p>
            <a:endParaRPr lang="en-US"/>
          </a:p>
        </p:txBody>
      </p:sp>
      <p:sp>
        <p:nvSpPr>
          <p:cNvPr id="12" name="LeftPanel"/>
          <p:cNvSpPr/>
          <p:nvPr/>
        </p:nvSpPr>
        <p:spPr>
          <a:xfrm>
            <a:off x="406400" y="1397000"/>
            <a:ext cx="4800000" cy="4699000"/>
          </a:xfrm>
          <a:prstGeom prst="roundRect">
            <a:avLst>
              <a:gd name="adj" fmla="val 3000"/>
            </a:avLst>
          </a:prstGeom>
          <a:solidFill>
            <a:srgbClr val="FFF5F5"/>
          </a:solidFill>
          <a:ln w="19050">
            <a:solidFill>
              <a:srgbClr val="F50F7D"/>
            </a:solidFill>
          </a:ln>
        </p:spPr>
        <p:txBody>
          <a:bodyPr wrap="square" lIns="228600" tIns="228600" rIns="182880" bIns="91440" anchor="t"/>
          <a:lstStyle/>
          <a:p>
            <a:pPr>
              <a:buNone/>
            </a:pPr>
            <a:r>
              <a:rPr lang="en-US" sz="1600" b="1" dirty="0">
                <a:solidFill>
                  <a:srgbClr val="F50F7D"/>
                </a:solidFill>
                <a:latin typeface="Verdana"/>
              </a:rPr>
              <a:t>✗  Individual Augmentation</a:t>
            </a:r>
          </a:p>
          <a:p>
            <a:pPr>
              <a:spcBef>
                <a:spcPts val="300"/>
              </a:spcBef>
              <a:buNone/>
            </a:pPr>
            <a:r>
              <a:rPr lang="en-US" sz="1800" b="1" dirty="0">
                <a:solidFill>
                  <a:srgbClr val="333333"/>
                </a:solidFill>
                <a:latin typeface="PP Neue Machina Plain Ultrabold"/>
              </a:rPr>
              <a:t>"Sticky Notes"</a:t>
            </a:r>
          </a:p>
          <a:p>
            <a:pPr>
              <a:spcBef>
                <a:spcPts val="1200"/>
              </a:spcBef>
              <a:buFont typeface="Verdana"/>
              <a:buChar char="•"/>
            </a:pPr>
            <a:r>
              <a:rPr lang="en-US" sz="1500" dirty="0">
                <a:solidFill>
                  <a:srgbClr val="333333"/>
                </a:solidFill>
                <a:latin typeface="Verdana"/>
              </a:rPr>
              <a:t>IDE assistance is ephemeral and individual</a:t>
            </a:r>
          </a:p>
          <a:p>
            <a:pPr>
              <a:spcBef>
                <a:spcPts val="600"/>
              </a:spcBef>
              <a:buFont typeface="Verdana"/>
              <a:buChar char="•"/>
            </a:pPr>
            <a:r>
              <a:rPr lang="en-US" sz="1500" dirty="0">
                <a:solidFill>
                  <a:srgbClr val="333333"/>
                </a:solidFill>
                <a:latin typeface="Verdana"/>
              </a:rPr>
              <a:t>Summaries live in chat history and local context</a:t>
            </a:r>
          </a:p>
          <a:p>
            <a:pPr>
              <a:spcBef>
                <a:spcPts val="600"/>
              </a:spcBef>
              <a:buFont typeface="Verdana"/>
              <a:buChar char="•"/>
            </a:pPr>
            <a:r>
              <a:rPr lang="en-US" sz="1500" dirty="0">
                <a:solidFill>
                  <a:srgbClr val="333333"/>
                </a:solidFill>
                <a:latin typeface="Verdana"/>
              </a:rPr>
              <a:t>Impact analysis and onboarding remain SME-dependent</a:t>
            </a:r>
          </a:p>
        </p:txBody>
      </p:sp>
      <p:sp>
        <p:nvSpPr>
          <p:cNvPr id="13" name="RightPanel"/>
          <p:cNvSpPr/>
          <p:nvPr/>
        </p:nvSpPr>
        <p:spPr>
          <a:xfrm>
            <a:off x="5606400" y="1397000"/>
            <a:ext cx="4800000" cy="4699000"/>
          </a:xfrm>
          <a:prstGeom prst="roundRect">
            <a:avLst>
              <a:gd name="adj" fmla="val 3000"/>
            </a:avLst>
          </a:prstGeom>
          <a:solidFill>
            <a:srgbClr val="F0FBF8"/>
          </a:solidFill>
          <a:ln w="19050">
            <a:solidFill>
              <a:srgbClr val="2CDCAA"/>
            </a:solidFill>
          </a:ln>
        </p:spPr>
        <p:txBody>
          <a:bodyPr wrap="square" lIns="228600" tIns="228600" rIns="182880" bIns="91440" anchor="t"/>
          <a:lstStyle/>
          <a:p>
            <a:pPr>
              <a:buNone/>
            </a:pPr>
            <a:r>
              <a:rPr lang="en-US" sz="1600" b="1" dirty="0">
                <a:solidFill>
                  <a:srgbClr val="006450"/>
                </a:solidFill>
                <a:latin typeface="Verdana"/>
              </a:rPr>
              <a:t>✓  Estate Understanding</a:t>
            </a:r>
          </a:p>
          <a:p>
            <a:pPr>
              <a:spcBef>
                <a:spcPts val="300"/>
              </a:spcBef>
              <a:buNone/>
            </a:pPr>
            <a:r>
              <a:rPr lang="en-US" sz="1800" b="1" dirty="0">
                <a:solidFill>
                  <a:srgbClr val="333333"/>
                </a:solidFill>
                <a:latin typeface="PP Neue Machina Plain Ultrabold"/>
              </a:rPr>
              <a:t>"Engineering Atlas"</a:t>
            </a:r>
          </a:p>
          <a:p>
            <a:pPr>
              <a:spcBef>
                <a:spcPts val="1200"/>
              </a:spcBef>
              <a:buFont typeface="Verdana"/>
              <a:buChar char="•"/>
            </a:pPr>
            <a:r>
              <a:rPr lang="en-US" sz="1500" dirty="0">
                <a:solidFill>
                  <a:srgbClr val="333333"/>
                </a:solidFill>
                <a:latin typeface="Verdana"/>
              </a:rPr>
              <a:t>Persistent system model: call graphs, data flows, entity maps</a:t>
            </a:r>
          </a:p>
          <a:p>
            <a:pPr>
              <a:spcBef>
                <a:spcPts val="600"/>
              </a:spcBef>
              <a:buFont typeface="Verdana"/>
              <a:buChar char="•"/>
            </a:pPr>
            <a:r>
              <a:rPr lang="en-US" sz="1500" dirty="0">
                <a:solidFill>
                  <a:srgbClr val="333333"/>
                </a:solidFill>
                <a:latin typeface="Verdana"/>
              </a:rPr>
              <a:t>Shared governance across teams</a:t>
            </a:r>
          </a:p>
          <a:p>
            <a:pPr>
              <a:spcBef>
                <a:spcPts val="600"/>
              </a:spcBef>
              <a:buFont typeface="Verdana"/>
              <a:buChar char="•"/>
            </a:pPr>
            <a:r>
              <a:rPr lang="en-US" sz="1500" dirty="0">
                <a:solidFill>
                  <a:srgbClr val="333333"/>
                </a:solidFill>
                <a:latin typeface="Verdana"/>
              </a:rPr>
              <a:t>Onboarding and impact analysis are self-service</a:t>
            </a:r>
          </a:p>
        </p:txBody>
      </p:sp>
      <p:sp>
        <p:nvSpPr>
          <p:cNvPr id="14" name="VS"/>
          <p:cNvSpPr/>
          <p:nvPr/>
        </p:nvSpPr>
        <p:spPr>
          <a:xfrm>
            <a:off x="5236400" y="3568700"/>
            <a:ext cx="340000" cy="340000"/>
          </a:xfrm>
          <a:prstGeom prst="ellipse">
            <a:avLst/>
          </a:prstGeom>
          <a:solidFill>
            <a:srgbClr val="006450"/>
          </a:solidFill>
          <a:ln>
            <a:noFill/>
          </a:ln>
        </p:spPr>
        <p:txBody>
          <a:bodyPr wrap="none" lIns="0" tIns="0" rIns="0" bIns="0" anchor="ctr"/>
          <a:lstStyle/>
          <a:p>
            <a:pPr algn="ctr">
              <a:buNone/>
            </a:pPr>
            <a:r>
              <a:rPr lang="en-US" sz="1400" b="1" dirty="0">
                <a:solidFill>
                  <a:srgbClr val="FFFFFF"/>
                </a:solidFill>
                <a:latin typeface="Verdana"/>
              </a:rPr>
              <a:t>VS</a:t>
            </a:r>
          </a:p>
        </p:txBody>
      </p:sp>
    </p:spTree>
    <p:extLst>
      <p:ext uri="{BB962C8B-B14F-4D97-AF65-F5344CB8AC3E}">
        <p14:creationId xmlns:p14="http://schemas.microsoft.com/office/powerpoint/2010/main" val="931702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p:cNvSpPr/>
          <p:nvPr/>
        </p:nvSpPr>
        <p:spPr>
          <a:xfrm>
            <a:off x="406400" y="274320"/>
            <a:ext cx="10000000" cy="640000"/>
          </a:xfrm>
          <a:prstGeom prst="rect">
            <a:avLst/>
          </a:prstGeom>
          <a:noFill/>
          <a:ln>
            <a:noFill/>
          </a:ln>
        </p:spPr>
        <p:txBody>
          <a:bodyPr wrap="square" lIns="0" tIns="0" rIns="0" bIns="0" anchor="t"/>
          <a:lstStyle/>
          <a:p>
            <a:pPr>
              <a:buNone/>
            </a:pPr>
            <a:r>
              <a:rPr lang="en-US" sz="2800" b="1" dirty="0">
                <a:solidFill>
                  <a:srgbClr val="000000"/>
                </a:solidFill>
                <a:latin typeface="PP Neue Machina Plain Ultrabold"/>
              </a:rPr>
              <a:t>Our 3-Tier Offering</a:t>
            </a:r>
          </a:p>
        </p:txBody>
      </p:sp>
      <p:sp>
        <p:nvSpPr>
          <p:cNvPr id="11" name="AccentBar"/>
          <p:cNvSpPr/>
          <p:nvPr/>
        </p:nvSpPr>
        <p:spPr>
          <a:xfrm>
            <a:off x="406400" y="960000"/>
            <a:ext cx="800000" cy="50000"/>
          </a:xfrm>
          <a:prstGeom prst="rect">
            <a:avLst/>
          </a:prstGeom>
          <a:solidFill>
            <a:srgbClr val="2CDCAA"/>
          </a:solidFill>
          <a:ln>
            <a:noFill/>
          </a:ln>
        </p:spPr>
        <p:txBody>
          <a:bodyPr/>
          <a:lstStyle/>
          <a:p>
            <a:endParaRPr lang="en-US"/>
          </a:p>
        </p:txBody>
      </p:sp>
      <p:sp>
        <p:nvSpPr>
          <p:cNvPr id="12" name="Card1"/>
          <p:cNvSpPr/>
          <p:nvPr/>
        </p:nvSpPr>
        <p:spPr>
          <a:xfrm>
            <a:off x="406400" y="1200000"/>
            <a:ext cx="3200000" cy="3556000"/>
          </a:xfrm>
          <a:prstGeom prst="roundRect">
            <a:avLst>
              <a:gd name="adj" fmla="val 5000"/>
            </a:avLst>
          </a:prstGeom>
          <a:solidFill>
            <a:srgbClr val="F0FBF8"/>
          </a:solidFill>
          <a:ln w="19050">
            <a:solidFill>
              <a:srgbClr val="2CDCAA"/>
            </a:solidFill>
          </a:ln>
        </p:spPr>
        <p:txBody>
          <a:bodyPr wrap="square" lIns="182880" tIns="640000" rIns="182880" bIns="91440" anchor="t"/>
          <a:lstStyle/>
          <a:p>
            <a:pPr>
              <a:buNone/>
            </a:pPr>
            <a:r>
              <a:rPr lang="en-US" sz="2000" b="1" dirty="0">
                <a:solidFill>
                  <a:srgbClr val="000000"/>
                </a:solidFill>
                <a:latin typeface="PP Neue Machina Plain Ultrabold"/>
              </a:rPr>
              <a:t>Legacy System X-Ray</a:t>
            </a:r>
          </a:p>
          <a:p>
            <a:pPr>
              <a:spcBef>
                <a:spcPts val="400"/>
              </a:spcBef>
              <a:buNone/>
            </a:pPr>
            <a:r>
              <a:rPr lang="en-US" sz="1400" b="1" dirty="0">
                <a:solidFill>
                  <a:srgbClr val="2CDCAA"/>
                </a:solidFill>
                <a:latin typeface="Verdana"/>
              </a:rPr>
              <a:t>Assessment • 2–4 weeks</a:t>
            </a:r>
          </a:p>
          <a:p>
            <a:pPr>
              <a:spcBef>
                <a:spcPts val="600"/>
              </a:spcBef>
              <a:buNone/>
            </a:pPr>
            <a:r>
              <a:rPr lang="en-US" sz="1400" dirty="0">
                <a:solidFill>
                  <a:srgbClr val="333333"/>
                </a:solidFill>
                <a:latin typeface="Verdana"/>
              </a:rPr>
              <a:t>Rapid assessment + system map + traceable Q&amp;A demo</a:t>
            </a:r>
          </a:p>
        </p:txBody>
      </p:sp>
      <p:sp>
        <p:nvSpPr>
          <p:cNvPr id="13" name="Num1"/>
          <p:cNvSpPr/>
          <p:nvPr/>
        </p:nvSpPr>
        <p:spPr>
          <a:xfrm>
            <a:off x="589280" y="1350000"/>
            <a:ext cx="400000" cy="400000"/>
          </a:xfrm>
          <a:prstGeom prst="ellipse">
            <a:avLst/>
          </a:prstGeom>
          <a:solidFill>
            <a:srgbClr val="2CDCAA"/>
          </a:solidFill>
          <a:ln>
            <a:noFill/>
          </a:ln>
        </p:spPr>
        <p:txBody>
          <a:bodyPr wrap="none" lIns="0" tIns="0" rIns="0" bIns="0" anchor="ctr"/>
          <a:lstStyle/>
          <a:p>
            <a:pPr algn="ctr">
              <a:buNone/>
            </a:pPr>
            <a:r>
              <a:rPr lang="en-US" sz="2000" b="1" dirty="0">
                <a:solidFill>
                  <a:srgbClr val="FFFFFF"/>
                </a:solidFill>
                <a:latin typeface="PP Neue Machina Plain Ultrabold"/>
              </a:rPr>
              <a:t>1</a:t>
            </a:r>
          </a:p>
        </p:txBody>
      </p:sp>
      <p:sp>
        <p:nvSpPr>
          <p:cNvPr id="20" name="Arrow0"/>
          <p:cNvSpPr/>
          <p:nvPr/>
        </p:nvSpPr>
        <p:spPr>
          <a:xfrm>
            <a:off x="3636400" y="2781300"/>
            <a:ext cx="290000" cy="400000"/>
          </a:xfrm>
          <a:prstGeom prst="chevron">
            <a:avLst/>
          </a:prstGeom>
          <a:solidFill>
            <a:srgbClr val="2CDCAA"/>
          </a:solidFill>
          <a:ln>
            <a:noFill/>
          </a:ln>
        </p:spPr>
        <p:txBody>
          <a:bodyPr/>
          <a:lstStyle/>
          <a:p>
            <a:endParaRPr lang="en-US"/>
          </a:p>
        </p:txBody>
      </p:sp>
      <p:sp>
        <p:nvSpPr>
          <p:cNvPr id="14" name="Card2"/>
          <p:cNvSpPr/>
          <p:nvPr/>
        </p:nvSpPr>
        <p:spPr>
          <a:xfrm>
            <a:off x="3956400" y="1200000"/>
            <a:ext cx="3200000" cy="3556000"/>
          </a:xfrm>
          <a:prstGeom prst="roundRect">
            <a:avLst>
              <a:gd name="adj" fmla="val 5000"/>
            </a:avLst>
          </a:prstGeom>
          <a:solidFill>
            <a:srgbClr val="F0F8F6"/>
          </a:solidFill>
          <a:ln w="19050">
            <a:solidFill>
              <a:srgbClr val="006450"/>
            </a:solidFill>
          </a:ln>
        </p:spPr>
        <p:txBody>
          <a:bodyPr wrap="square" lIns="182880" tIns="640000" rIns="182880" bIns="91440" anchor="t"/>
          <a:lstStyle/>
          <a:p>
            <a:pPr>
              <a:buNone/>
            </a:pPr>
            <a:r>
              <a:rPr lang="en-US" sz="2000" b="1" dirty="0">
                <a:solidFill>
                  <a:srgbClr val="000000"/>
                </a:solidFill>
                <a:latin typeface="PP Neue Machina Plain Ultrabold"/>
              </a:rPr>
              <a:t>Legacy Code Navigator</a:t>
            </a:r>
          </a:p>
          <a:p>
            <a:pPr>
              <a:spcBef>
                <a:spcPts val="400"/>
              </a:spcBef>
              <a:buNone/>
            </a:pPr>
            <a:r>
              <a:rPr lang="en-US" sz="1400" b="1" dirty="0">
                <a:solidFill>
                  <a:srgbClr val="006450"/>
                </a:solidFill>
                <a:latin typeface="Verdana"/>
              </a:rPr>
              <a:t>Team Copilot</a:t>
            </a:r>
          </a:p>
          <a:p>
            <a:pPr>
              <a:spcBef>
                <a:spcPts val="600"/>
              </a:spcBef>
              <a:buNone/>
            </a:pPr>
            <a:r>
              <a:rPr lang="en-US" sz="1400" dirty="0">
                <a:solidFill>
                  <a:srgbClr val="333333"/>
                </a:solidFill>
                <a:latin typeface="Verdana"/>
              </a:rPr>
              <a:t>Production-grade knowledge layer for daily engineering work</a:t>
            </a:r>
          </a:p>
        </p:txBody>
      </p:sp>
      <p:sp>
        <p:nvSpPr>
          <p:cNvPr id="15" name="Num2"/>
          <p:cNvSpPr/>
          <p:nvPr/>
        </p:nvSpPr>
        <p:spPr>
          <a:xfrm>
            <a:off x="4139280" y="1350000"/>
            <a:ext cx="400000" cy="400000"/>
          </a:xfrm>
          <a:prstGeom prst="ellipse">
            <a:avLst/>
          </a:prstGeom>
          <a:solidFill>
            <a:srgbClr val="006450"/>
          </a:solidFill>
          <a:ln>
            <a:noFill/>
          </a:ln>
        </p:spPr>
        <p:txBody>
          <a:bodyPr wrap="none" lIns="0" tIns="0" rIns="0" bIns="0" anchor="ctr"/>
          <a:lstStyle/>
          <a:p>
            <a:pPr algn="ctr">
              <a:buNone/>
            </a:pPr>
            <a:r>
              <a:rPr lang="en-US" sz="2000" b="1" dirty="0">
                <a:solidFill>
                  <a:srgbClr val="FFFFFF"/>
                </a:solidFill>
                <a:latin typeface="PP Neue Machina Plain Ultrabold"/>
              </a:rPr>
              <a:t>2</a:t>
            </a:r>
          </a:p>
        </p:txBody>
      </p:sp>
      <p:sp>
        <p:nvSpPr>
          <p:cNvPr id="21" name="Arrow1"/>
          <p:cNvSpPr/>
          <p:nvPr/>
        </p:nvSpPr>
        <p:spPr>
          <a:xfrm>
            <a:off x="7186400" y="2781300"/>
            <a:ext cx="290000" cy="400000"/>
          </a:xfrm>
          <a:prstGeom prst="chevron">
            <a:avLst/>
          </a:prstGeom>
          <a:solidFill>
            <a:srgbClr val="2CDCAA"/>
          </a:solidFill>
          <a:ln>
            <a:noFill/>
          </a:ln>
        </p:spPr>
        <p:txBody>
          <a:bodyPr/>
          <a:lstStyle/>
          <a:p>
            <a:endParaRPr lang="en-US"/>
          </a:p>
        </p:txBody>
      </p:sp>
      <p:sp>
        <p:nvSpPr>
          <p:cNvPr id="16" name="Card3"/>
          <p:cNvSpPr/>
          <p:nvPr/>
        </p:nvSpPr>
        <p:spPr>
          <a:xfrm>
            <a:off x="7506400" y="1200000"/>
            <a:ext cx="3200000" cy="3556000"/>
          </a:xfrm>
          <a:prstGeom prst="roundRect">
            <a:avLst>
              <a:gd name="adj" fmla="val 5000"/>
            </a:avLst>
          </a:prstGeom>
          <a:solidFill>
            <a:srgbClr val="F5F3FF"/>
          </a:solidFill>
          <a:ln w="19050">
            <a:solidFill>
              <a:srgbClr val="6464D7"/>
            </a:solidFill>
          </a:ln>
        </p:spPr>
        <p:txBody>
          <a:bodyPr wrap="square" lIns="182880" tIns="640000" rIns="182880" bIns="91440" anchor="t"/>
          <a:lstStyle/>
          <a:p>
            <a:pPr>
              <a:buNone/>
            </a:pPr>
            <a:r>
              <a:rPr lang="en-US" sz="2000" b="1" dirty="0">
                <a:solidFill>
                  <a:srgbClr val="000000"/>
                </a:solidFill>
                <a:latin typeface="PP Neue Machina Plain Ultrabold"/>
              </a:rPr>
              <a:t>Modernization Accelerator</a:t>
            </a:r>
          </a:p>
          <a:p>
            <a:pPr>
              <a:spcBef>
                <a:spcPts val="400"/>
              </a:spcBef>
              <a:buNone/>
            </a:pPr>
            <a:r>
              <a:rPr lang="en-US" sz="1400" b="1" dirty="0">
                <a:solidFill>
                  <a:srgbClr val="6464D7"/>
                </a:solidFill>
                <a:latin typeface="Verdana"/>
              </a:rPr>
              <a:t>De-risk Modernization</a:t>
            </a:r>
          </a:p>
          <a:p>
            <a:pPr>
              <a:spcBef>
                <a:spcPts val="600"/>
              </a:spcBef>
              <a:buNone/>
            </a:pPr>
            <a:r>
              <a:rPr lang="en-US" sz="1400" dirty="0">
                <a:solidFill>
                  <a:srgbClr val="333333"/>
                </a:solidFill>
                <a:latin typeface="Verdana"/>
              </a:rPr>
              <a:t>Use the knowledge layer to prioritize and de-risk modernization</a:t>
            </a:r>
          </a:p>
        </p:txBody>
      </p:sp>
      <p:sp>
        <p:nvSpPr>
          <p:cNvPr id="17" name="Num3"/>
          <p:cNvSpPr/>
          <p:nvPr/>
        </p:nvSpPr>
        <p:spPr>
          <a:xfrm>
            <a:off x="7689280" y="1350000"/>
            <a:ext cx="400000" cy="400000"/>
          </a:xfrm>
          <a:prstGeom prst="ellipse">
            <a:avLst/>
          </a:prstGeom>
          <a:solidFill>
            <a:srgbClr val="6464D7"/>
          </a:solidFill>
          <a:ln>
            <a:noFill/>
          </a:ln>
        </p:spPr>
        <p:txBody>
          <a:bodyPr wrap="none" lIns="0" tIns="0" rIns="0" bIns="0" anchor="ctr"/>
          <a:lstStyle/>
          <a:p>
            <a:pPr algn="ctr">
              <a:buNone/>
            </a:pPr>
            <a:r>
              <a:rPr lang="en-US" sz="2000" b="1" dirty="0">
                <a:solidFill>
                  <a:srgbClr val="FFFFFF"/>
                </a:solidFill>
                <a:latin typeface="PP Neue Machina Plain Ultrabold"/>
              </a:rPr>
              <a:t>3</a:t>
            </a:r>
          </a:p>
        </p:txBody>
      </p:sp>
      <p:sp>
        <p:nvSpPr>
          <p:cNvPr id="25" name="MaturityBar"/>
          <p:cNvSpPr/>
          <p:nvPr/>
        </p:nvSpPr>
        <p:spPr>
          <a:xfrm>
            <a:off x="406400" y="5067300"/>
            <a:ext cx="10400000" cy="635000"/>
          </a:xfrm>
          <a:prstGeom prst="roundRect">
            <a:avLst>
              <a:gd name="adj" fmla="val 16667"/>
            </a:avLst>
          </a:prstGeom>
          <a:solidFill>
            <a:srgbClr val="006450"/>
          </a:solidFill>
          <a:ln>
            <a:noFill/>
          </a:ln>
        </p:spPr>
        <p:txBody>
          <a:bodyPr wrap="square" lIns="274320" tIns="91440" rIns="274320" bIns="91440" anchor="ctr"/>
          <a:lstStyle/>
          <a:p>
            <a:pPr algn="ctr">
              <a:buNone/>
            </a:pPr>
            <a:r>
              <a:rPr lang="en-US" sz="1800" b="1" dirty="0">
                <a:solidFill>
                  <a:srgbClr val="FFFFFF"/>
                </a:solidFill>
                <a:latin typeface="Verdana"/>
              </a:rPr>
              <a:t>Understanding</a:t>
            </a:r>
            <a:r>
              <a:rPr lang="en-US" sz="1800" dirty="0">
                <a:solidFill>
                  <a:srgbClr val="2CDCAA"/>
                </a:solidFill>
                <a:latin typeface="Verdana"/>
              </a:rPr>
              <a:t>    →    </a:t>
            </a:r>
            <a:r>
              <a:rPr lang="en-US" sz="1800" b="1" dirty="0">
                <a:solidFill>
                  <a:srgbClr val="FFFFFF"/>
                </a:solidFill>
                <a:latin typeface="Verdana"/>
              </a:rPr>
              <a:t>Daily Use</a:t>
            </a:r>
            <a:r>
              <a:rPr lang="en-US" sz="1800" dirty="0">
                <a:solidFill>
                  <a:srgbClr val="2CDCAA"/>
                </a:solidFill>
                <a:latin typeface="Verdana"/>
              </a:rPr>
              <a:t>    →    </a:t>
            </a:r>
            <a:r>
              <a:rPr lang="en-US" sz="1800" b="1" dirty="0">
                <a:solidFill>
                  <a:srgbClr val="FFFFFF"/>
                </a:solidFill>
                <a:latin typeface="Verdana"/>
              </a:rPr>
              <a:t>Modernize</a:t>
            </a:r>
          </a:p>
        </p:txBody>
      </p:sp>
    </p:spTree>
    <p:extLst>
      <p:ext uri="{BB962C8B-B14F-4D97-AF65-F5344CB8AC3E}">
        <p14:creationId xmlns:p14="http://schemas.microsoft.com/office/powerpoint/2010/main" val="3541076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p:cNvSpPr/>
          <p:nvPr/>
        </p:nvSpPr>
        <p:spPr>
          <a:xfrm>
            <a:off x="406400" y="274320"/>
            <a:ext cx="10000000" cy="640000"/>
          </a:xfrm>
          <a:prstGeom prst="rect">
            <a:avLst/>
          </a:prstGeom>
          <a:noFill/>
          <a:ln>
            <a:noFill/>
          </a:ln>
        </p:spPr>
        <p:txBody>
          <a:bodyPr wrap="square" lIns="0" tIns="0" rIns="0" bIns="0" anchor="t"/>
          <a:lstStyle/>
          <a:p>
            <a:pPr>
              <a:buNone/>
            </a:pPr>
            <a:r>
              <a:rPr lang="en-US" sz="2800" b="1" dirty="0">
                <a:solidFill>
                  <a:srgbClr val="2CDCAA"/>
                </a:solidFill>
                <a:latin typeface="PP Neue Machina Plain Ultrabold"/>
              </a:rPr>
              <a:t>Tier 1</a:t>
            </a:r>
            <a:r>
              <a:rPr lang="en-US" sz="2800" b="1" dirty="0">
                <a:solidFill>
                  <a:srgbClr val="000000"/>
                </a:solidFill>
                <a:latin typeface="PP Neue Machina Plain Ultrabold"/>
              </a:rPr>
              <a:t>  Legacy System X-Ray</a:t>
            </a:r>
          </a:p>
          <a:p>
            <a:pPr>
              <a:buNone/>
            </a:pPr>
            <a:r>
              <a:rPr lang="en-US" sz="1600" dirty="0">
                <a:solidFill>
                  <a:srgbClr val="828282"/>
                </a:solidFill>
                <a:latin typeface="Verdana"/>
              </a:rPr>
              <a:t>Assessment • 2–4 weeks</a:t>
            </a:r>
          </a:p>
        </p:txBody>
      </p:sp>
      <p:sp>
        <p:nvSpPr>
          <p:cNvPr id="12" name="SystemMap"/>
          <p:cNvSpPr/>
          <p:nvPr/>
        </p:nvSpPr>
        <p:spPr>
          <a:xfrm>
            <a:off x="406400" y="1193800"/>
            <a:ext cx="5200000" cy="1574800"/>
          </a:xfrm>
          <a:prstGeom prst="roundRect">
            <a:avLst>
              <a:gd name="adj" fmla="val 5000"/>
            </a:avLst>
          </a:prstGeom>
          <a:solidFill>
            <a:srgbClr val="F0FBF8"/>
          </a:solidFill>
          <a:ln w="12700">
            <a:solidFill>
              <a:srgbClr val="2CDCAA"/>
            </a:solidFill>
          </a:ln>
        </p:spPr>
        <p:txBody>
          <a:bodyPr wrap="square" lIns="182880" tIns="91440" rIns="182880" bIns="91440" anchor="t"/>
          <a:lstStyle/>
          <a:p>
            <a:pPr>
              <a:buNone/>
            </a:pPr>
            <a:r>
              <a:rPr lang="en-US" sz="1600" b="1" dirty="0">
                <a:solidFill>
                  <a:srgbClr val="006450"/>
                </a:solidFill>
                <a:latin typeface="PP Neue Machina Plain Ultrabold"/>
              </a:rPr>
              <a:t>🗺️  System Map</a:t>
            </a:r>
          </a:p>
          <a:p>
            <a:pPr>
              <a:spcBef>
                <a:spcPts val="400"/>
              </a:spcBef>
              <a:buNone/>
            </a:pPr>
            <a:r>
              <a:rPr lang="en-US" sz="1400" dirty="0">
                <a:solidFill>
                  <a:srgbClr val="333333"/>
                </a:solidFill>
                <a:latin typeface="Verdana"/>
              </a:rPr>
              <a:t>Parse legacy code, jobs, schemas into modules, interfaces, and key business entities</a:t>
            </a:r>
          </a:p>
        </p:txBody>
      </p:sp>
      <p:sp>
        <p:nvSpPr>
          <p:cNvPr id="13" name="ImpactMaps"/>
          <p:cNvSpPr/>
          <p:nvPr/>
        </p:nvSpPr>
        <p:spPr>
          <a:xfrm>
            <a:off x="406400" y="2921000"/>
            <a:ext cx="5200000" cy="1574800"/>
          </a:xfrm>
          <a:prstGeom prst="roundRect">
            <a:avLst>
              <a:gd name="adj" fmla="val 5000"/>
            </a:avLst>
          </a:prstGeom>
          <a:solidFill>
            <a:srgbClr val="FFF9E6"/>
          </a:solidFill>
          <a:ln w="12700">
            <a:solidFill>
              <a:srgbClr val="FFC30F"/>
            </a:solidFill>
          </a:ln>
        </p:spPr>
        <p:txBody>
          <a:bodyPr wrap="square" lIns="182880" tIns="91440" rIns="182880" bIns="91440" anchor="t"/>
          <a:lstStyle/>
          <a:p>
            <a:pPr>
              <a:buNone/>
            </a:pPr>
            <a:r>
              <a:rPr lang="en-US" sz="1600" b="1" dirty="0">
                <a:solidFill>
                  <a:srgbClr val="8B6914"/>
                </a:solidFill>
                <a:latin typeface="PP Neue Machina Plain Ultrabold"/>
              </a:rPr>
              <a:t>🔥  Impact Maps + Hot-Spots</a:t>
            </a:r>
          </a:p>
          <a:p>
            <a:pPr>
              <a:spcBef>
                <a:spcPts val="400"/>
              </a:spcBef>
              <a:buNone/>
            </a:pPr>
            <a:r>
              <a:rPr lang="en-US" sz="1400" dirty="0">
                <a:solidFill>
                  <a:srgbClr val="333333"/>
                </a:solidFill>
                <a:latin typeface="Verdana"/>
              </a:rPr>
              <a:t>Entity-to-code impact maps (Customer / Account / Policy) + hot-spot analysis</a:t>
            </a:r>
          </a:p>
        </p:txBody>
      </p:sp>
      <p:sp>
        <p:nvSpPr>
          <p:cNvPr id="14" name="QADemo"/>
          <p:cNvSpPr/>
          <p:nvPr/>
        </p:nvSpPr>
        <p:spPr>
          <a:xfrm>
            <a:off x="406400" y="4648200"/>
            <a:ext cx="5200000" cy="1574800"/>
          </a:xfrm>
          <a:prstGeom prst="roundRect">
            <a:avLst>
              <a:gd name="adj" fmla="val 5000"/>
            </a:avLst>
          </a:prstGeom>
          <a:solidFill>
            <a:srgbClr val="F5F3FF"/>
          </a:solidFill>
          <a:ln w="12700">
            <a:solidFill>
              <a:srgbClr val="6464D7"/>
            </a:solidFill>
          </a:ln>
        </p:spPr>
        <p:txBody>
          <a:bodyPr wrap="square" lIns="182880" tIns="91440" rIns="182880" bIns="91440" anchor="t"/>
          <a:lstStyle/>
          <a:p>
            <a:pPr>
              <a:buNone/>
            </a:pPr>
            <a:r>
              <a:rPr lang="en-US" sz="1600" b="1" dirty="0">
                <a:solidFill>
                  <a:srgbClr val="6464D7"/>
                </a:solidFill>
                <a:latin typeface="PP Neue Machina Plain Ultrabold"/>
              </a:rPr>
              <a:t>💬  "Ask Your Legacy System" Demo</a:t>
            </a:r>
          </a:p>
          <a:p>
            <a:pPr>
              <a:spcBef>
                <a:spcPts val="400"/>
              </a:spcBef>
              <a:buNone/>
            </a:pPr>
            <a:r>
              <a:rPr lang="en-US" sz="1400" dirty="0">
                <a:solidFill>
                  <a:srgbClr val="333333"/>
                </a:solidFill>
                <a:latin typeface="Verdana"/>
              </a:rPr>
              <a:t>Query flows and rules with traceable code references (file paths + line numbers)</a:t>
            </a:r>
          </a:p>
        </p:txBody>
      </p:sp>
      <p:sp>
        <p:nvSpPr>
          <p:cNvPr id="15" name="DemoMockup"/>
          <p:cNvSpPr/>
          <p:nvPr/>
        </p:nvSpPr>
        <p:spPr>
          <a:xfrm>
            <a:off x="5906400" y="1193800"/>
            <a:ext cx="5000000" cy="5029200"/>
          </a:xfrm>
          <a:prstGeom prst="roundRect">
            <a:avLst>
              <a:gd name="adj" fmla="val 3000"/>
            </a:avLst>
          </a:prstGeom>
          <a:solidFill>
            <a:srgbClr val="1A1A2E"/>
          </a:solidFill>
          <a:ln w="12700">
            <a:solidFill>
              <a:srgbClr val="2CDCAA"/>
            </a:solidFill>
          </a:ln>
        </p:spPr>
        <p:txBody>
          <a:bodyPr wrap="square" lIns="228600" tIns="182880" rIns="228600" bIns="91440" anchor="t"/>
          <a:lstStyle/>
          <a:p>
            <a:pPr>
              <a:buNone/>
            </a:pPr>
            <a:r>
              <a:rPr lang="en-US" sz="1400" b="1" dirty="0">
                <a:solidFill>
                  <a:srgbClr val="2CDCAA"/>
                </a:solidFill>
                <a:latin typeface="Verdana"/>
              </a:rPr>
              <a:t>Ask Your Legacy System</a:t>
            </a:r>
          </a:p>
          <a:p>
            <a:pPr>
              <a:spcBef>
                <a:spcPts val="600"/>
              </a:spcBef>
              <a:buNone/>
            </a:pPr>
            <a:r>
              <a:rPr lang="en-US" sz="1400" dirty="0">
                <a:solidFill>
                  <a:srgbClr val="B3B3B3"/>
                </a:solidFill>
                <a:latin typeface="Verdana"/>
              </a:rPr>
              <a:t>❯  "What modules write to the POLICY_MASTER table?"</a:t>
            </a:r>
          </a:p>
          <a:p>
            <a:pPr>
              <a:spcBef>
                <a:spcPts val="800"/>
              </a:spcBef>
              <a:buNone/>
            </a:pPr>
            <a:r>
              <a:rPr lang="en-US" sz="1400" dirty="0">
                <a:solidFill>
                  <a:srgbClr val="FFFFFF"/>
                </a:solidFill>
                <a:latin typeface="Verdana"/>
              </a:rPr>
              <a:t>3 modules write to POLICY_MASTER:</a:t>
            </a:r>
          </a:p>
          <a:p>
            <a:pPr>
              <a:spcBef>
                <a:spcPts val="400"/>
              </a:spcBef>
              <a:buNone/>
            </a:pPr>
            <a:r>
              <a:rPr lang="en-US" sz="1400" dirty="0">
                <a:solidFill>
                  <a:srgbClr val="2CDCAA"/>
                </a:solidFill>
                <a:latin typeface="Verdana"/>
              </a:rPr>
              <a:t>  1. POLCR010.CBL  </a:t>
            </a:r>
            <a:r>
              <a:rPr lang="en-US" sz="1400" dirty="0">
                <a:solidFill>
                  <a:srgbClr val="828282"/>
                </a:solidFill>
                <a:latin typeface="Verdana"/>
              </a:rPr>
              <a:t>line 342</a:t>
            </a:r>
          </a:p>
          <a:p>
            <a:pPr>
              <a:spcBef>
                <a:spcPts val="200"/>
              </a:spcBef>
              <a:buNone/>
            </a:pPr>
            <a:r>
              <a:rPr lang="en-US" sz="1400" dirty="0">
                <a:solidFill>
                  <a:srgbClr val="2CDCAA"/>
                </a:solidFill>
                <a:latin typeface="Verdana"/>
              </a:rPr>
              <a:t>  2. POLUP020.CBL  </a:t>
            </a:r>
            <a:r>
              <a:rPr lang="en-US" sz="1400" dirty="0">
                <a:solidFill>
                  <a:srgbClr val="828282"/>
                </a:solidFill>
                <a:latin typeface="Verdana"/>
              </a:rPr>
              <a:t>line 891</a:t>
            </a:r>
          </a:p>
          <a:p>
            <a:pPr>
              <a:spcBef>
                <a:spcPts val="200"/>
              </a:spcBef>
              <a:buNone/>
            </a:pPr>
            <a:r>
              <a:rPr lang="en-US" sz="1400" dirty="0">
                <a:solidFill>
                  <a:srgbClr val="2CDCAA"/>
                </a:solidFill>
                <a:latin typeface="Verdana"/>
              </a:rPr>
              <a:t>  3. BATCH_EOD.JCL  </a:t>
            </a:r>
            <a:r>
              <a:rPr lang="en-US" sz="1400" dirty="0">
                <a:solidFill>
                  <a:srgbClr val="828282"/>
                </a:solidFill>
                <a:latin typeface="Verdana"/>
              </a:rPr>
              <a:t>step 7</a:t>
            </a:r>
          </a:p>
          <a:p>
            <a:pPr>
              <a:spcBef>
                <a:spcPts val="600"/>
              </a:spcBef>
              <a:buNone/>
            </a:pPr>
            <a:r>
              <a:rPr lang="en-US" sz="1200" dirty="0">
                <a:solidFill>
                  <a:srgbClr val="828282"/>
                </a:solidFill>
                <a:latin typeface="Verdana"/>
              </a:rPr>
              <a:t>Sources: file path + line numbers • Traceable</a:t>
            </a:r>
          </a:p>
        </p:txBody>
      </p:sp>
    </p:spTree>
    <p:extLst>
      <p:ext uri="{BB962C8B-B14F-4D97-AF65-F5344CB8AC3E}">
        <p14:creationId xmlns:p14="http://schemas.microsoft.com/office/powerpoint/2010/main" val="3310483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p:cNvSpPr/>
          <p:nvPr/>
        </p:nvSpPr>
        <p:spPr>
          <a:xfrm>
            <a:off x="406400" y="274320"/>
            <a:ext cx="10000000" cy="640000"/>
          </a:xfrm>
          <a:prstGeom prst="rect">
            <a:avLst/>
          </a:prstGeom>
          <a:noFill/>
          <a:ln>
            <a:noFill/>
          </a:ln>
        </p:spPr>
        <p:txBody>
          <a:bodyPr wrap="square" lIns="0" tIns="0" rIns="0" bIns="0" anchor="t"/>
          <a:lstStyle/>
          <a:p>
            <a:pPr>
              <a:buNone/>
            </a:pPr>
            <a:r>
              <a:rPr lang="en-US" sz="2800" b="1" dirty="0">
                <a:solidFill>
                  <a:srgbClr val="006450"/>
                </a:solidFill>
                <a:latin typeface="PP Neue Machina Plain Ultrabold"/>
              </a:rPr>
              <a:t>Tier 2</a:t>
            </a:r>
            <a:r>
              <a:rPr lang="en-US" sz="2800" b="1" dirty="0">
                <a:solidFill>
                  <a:srgbClr val="000000"/>
                </a:solidFill>
                <a:latin typeface="PP Neue Machina Plain Ultrabold"/>
              </a:rPr>
              <a:t>  Legacy Code Navigator</a:t>
            </a:r>
          </a:p>
          <a:p>
            <a:pPr>
              <a:buNone/>
            </a:pPr>
            <a:r>
              <a:rPr lang="en-US" sz="1600" dirty="0">
                <a:solidFill>
                  <a:srgbClr val="828282"/>
                </a:solidFill>
                <a:latin typeface="Verdana"/>
              </a:rPr>
              <a:t>Team Copilot • Production-grade knowledge layer</a:t>
            </a:r>
          </a:p>
        </p:txBody>
      </p:sp>
      <p:sp>
        <p:nvSpPr>
          <p:cNvPr id="20" name="Flow0"/>
          <p:cNvSpPr/>
          <p:nvPr/>
        </p:nvSpPr>
        <p:spPr>
          <a:xfrm>
            <a:off x="406400" y="1270000"/>
            <a:ext cx="1800000" cy="762000"/>
          </a:xfrm>
          <a:prstGeom prst="roundRect">
            <a:avLst>
              <a:gd name="adj" fmla="val 10000"/>
            </a:avLst>
          </a:prstGeom>
          <a:solidFill>
            <a:srgbClr val="E8E8E8"/>
          </a:solidFill>
          <a:ln>
            <a:noFill/>
          </a:ln>
        </p:spPr>
        <p:txBody>
          <a:bodyPr wrap="square" lIns="91440" tIns="45720" rIns="91440" bIns="45720" anchor="ctr"/>
          <a:lstStyle/>
          <a:p>
            <a:pPr algn="ctr">
              <a:buNone/>
            </a:pPr>
            <a:r>
              <a:rPr lang="en-US" sz="1400" b="1" dirty="0">
                <a:solidFill>
                  <a:srgbClr val="333333"/>
                </a:solidFill>
                <a:latin typeface="Verdana"/>
              </a:rPr>
              <a:t>Code / Jobs /
Schemas</a:t>
            </a:r>
          </a:p>
        </p:txBody>
      </p:sp>
      <p:sp>
        <p:nvSpPr>
          <p:cNvPr id="30" name="FlowArrow0"/>
          <p:cNvSpPr/>
          <p:nvPr/>
        </p:nvSpPr>
        <p:spPr>
          <a:xfrm>
            <a:off x="2236400" y="1498600"/>
            <a:ext cx="180000" cy="300000"/>
          </a:xfrm>
          <a:prstGeom prst="chevron">
            <a:avLst/>
          </a:prstGeom>
          <a:solidFill>
            <a:srgbClr val="2CDCAA"/>
          </a:solidFill>
          <a:ln>
            <a:noFill/>
          </a:ln>
        </p:spPr>
        <p:txBody>
          <a:bodyPr/>
          <a:lstStyle/>
          <a:p>
            <a:endParaRPr lang="en-US"/>
          </a:p>
        </p:txBody>
      </p:sp>
      <p:sp>
        <p:nvSpPr>
          <p:cNvPr id="21" name="Flow1"/>
          <p:cNvSpPr/>
          <p:nvPr/>
        </p:nvSpPr>
        <p:spPr>
          <a:xfrm>
            <a:off x="2600000" y="1270000"/>
            <a:ext cx="1800000" cy="762000"/>
          </a:xfrm>
          <a:prstGeom prst="roundRect">
            <a:avLst>
              <a:gd name="adj" fmla="val 10000"/>
            </a:avLst>
          </a:prstGeom>
          <a:solidFill>
            <a:srgbClr val="2CDCAA"/>
          </a:solidFill>
          <a:ln>
            <a:noFill/>
          </a:ln>
        </p:spPr>
        <p:txBody>
          <a:bodyPr wrap="square" lIns="91440" tIns="45720" rIns="91440" bIns="45720" anchor="ctr"/>
          <a:lstStyle/>
          <a:p>
            <a:pPr algn="ctr">
              <a:buNone/>
            </a:pPr>
            <a:r>
              <a:rPr lang="en-US" sz="1400" b="1" dirty="0">
                <a:solidFill>
                  <a:srgbClr val="006450"/>
                </a:solidFill>
                <a:latin typeface="Verdana"/>
              </a:rPr>
              <a:t>Ingestion
Pipeline</a:t>
            </a:r>
          </a:p>
        </p:txBody>
      </p:sp>
      <p:sp>
        <p:nvSpPr>
          <p:cNvPr id="31" name="FlowArrow1"/>
          <p:cNvSpPr/>
          <p:nvPr/>
        </p:nvSpPr>
        <p:spPr>
          <a:xfrm>
            <a:off x="4430000" y="1498600"/>
            <a:ext cx="180000" cy="300000"/>
          </a:xfrm>
          <a:prstGeom prst="chevron">
            <a:avLst/>
          </a:prstGeom>
          <a:solidFill>
            <a:srgbClr val="2CDCAA"/>
          </a:solidFill>
          <a:ln>
            <a:noFill/>
          </a:ln>
        </p:spPr>
        <p:txBody>
          <a:bodyPr/>
          <a:lstStyle/>
          <a:p>
            <a:endParaRPr lang="en-US"/>
          </a:p>
        </p:txBody>
      </p:sp>
      <p:sp>
        <p:nvSpPr>
          <p:cNvPr id="22" name="Flow2"/>
          <p:cNvSpPr/>
          <p:nvPr/>
        </p:nvSpPr>
        <p:spPr>
          <a:xfrm>
            <a:off x="4800000" y="1270000"/>
            <a:ext cx="2200000" cy="762000"/>
          </a:xfrm>
          <a:prstGeom prst="roundRect">
            <a:avLst>
              <a:gd name="adj" fmla="val 10000"/>
            </a:avLst>
          </a:prstGeom>
          <a:solidFill>
            <a:srgbClr val="006450"/>
          </a:solidFill>
          <a:ln>
            <a:noFill/>
          </a:ln>
        </p:spPr>
        <p:txBody>
          <a:bodyPr wrap="square" lIns="91440" tIns="45720" rIns="91440" bIns="45720" anchor="ctr"/>
          <a:lstStyle/>
          <a:p>
            <a:pPr algn="ctr">
              <a:buNone/>
            </a:pPr>
            <a:r>
              <a:rPr lang="en-US" sz="1400" b="1" dirty="0">
                <a:solidFill>
                  <a:srgbClr val="FFFFFF"/>
                </a:solidFill>
                <a:latin typeface="Verdana"/>
              </a:rPr>
              <a:t>Knowledge
Layer</a:t>
            </a:r>
          </a:p>
        </p:txBody>
      </p:sp>
      <p:sp>
        <p:nvSpPr>
          <p:cNvPr id="32" name="FlowArrow2"/>
          <p:cNvSpPr/>
          <p:nvPr/>
        </p:nvSpPr>
        <p:spPr>
          <a:xfrm>
            <a:off x="7030000" y="1498600"/>
            <a:ext cx="180000" cy="300000"/>
          </a:xfrm>
          <a:prstGeom prst="chevron">
            <a:avLst/>
          </a:prstGeom>
          <a:solidFill>
            <a:srgbClr val="2CDCAA"/>
          </a:solidFill>
          <a:ln>
            <a:noFill/>
          </a:ln>
        </p:spPr>
        <p:txBody>
          <a:bodyPr/>
          <a:lstStyle/>
          <a:p>
            <a:endParaRPr lang="en-US"/>
          </a:p>
        </p:txBody>
      </p:sp>
      <p:sp>
        <p:nvSpPr>
          <p:cNvPr id="23" name="Flow3"/>
          <p:cNvSpPr/>
          <p:nvPr/>
        </p:nvSpPr>
        <p:spPr>
          <a:xfrm>
            <a:off x="7400000" y="1270000"/>
            <a:ext cx="1800000" cy="762000"/>
          </a:xfrm>
          <a:prstGeom prst="roundRect">
            <a:avLst>
              <a:gd name="adj" fmla="val 10000"/>
            </a:avLst>
          </a:prstGeom>
          <a:solidFill>
            <a:srgbClr val="6464D7"/>
          </a:solidFill>
          <a:ln>
            <a:noFill/>
          </a:ln>
        </p:spPr>
        <p:txBody>
          <a:bodyPr wrap="square" lIns="91440" tIns="45720" rIns="91440" bIns="45720" anchor="ctr"/>
          <a:lstStyle/>
          <a:p>
            <a:pPr algn="ctr">
              <a:buNone/>
            </a:pPr>
            <a:r>
              <a:rPr lang="en-US" sz="1400" b="1" dirty="0">
                <a:solidFill>
                  <a:srgbClr val="FFFFFF"/>
                </a:solidFill>
                <a:latin typeface="Verdana"/>
              </a:rPr>
              <a:t>IDE / Web /
API</a:t>
            </a:r>
          </a:p>
        </p:txBody>
      </p:sp>
      <p:sp>
        <p:nvSpPr>
          <p:cNvPr id="40" name="Recipe0"/>
          <p:cNvSpPr/>
          <p:nvPr/>
        </p:nvSpPr>
        <p:spPr>
          <a:xfrm>
            <a:off x="406400" y="2222500"/>
            <a:ext cx="2450000" cy="2540000"/>
          </a:xfrm>
          <a:prstGeom prst="roundRect">
            <a:avLst>
              <a:gd name="adj" fmla="val 5000"/>
            </a:avLst>
          </a:prstGeom>
          <a:solidFill>
            <a:srgbClr val="F5F5F5"/>
          </a:solidFill>
          <a:ln w="12700">
            <a:solidFill>
              <a:srgbClr val="E8E8E8"/>
            </a:solidFill>
          </a:ln>
        </p:spPr>
        <p:txBody>
          <a:bodyPr wrap="square" lIns="137160" tIns="91440" rIns="137160" bIns="91440" anchor="t"/>
          <a:lstStyle/>
          <a:p>
            <a:pPr>
              <a:buNone/>
            </a:pPr>
            <a:r>
              <a:rPr lang="en-US" sz="1600" b="1" dirty="0">
                <a:solidFill>
                  <a:srgbClr val="006450"/>
                </a:solidFill>
                <a:latin typeface="PP Neue Machina Plain Ultrabold"/>
              </a:rPr>
              <a:t>Impact Analysis</a:t>
            </a:r>
          </a:p>
          <a:p>
            <a:pPr>
              <a:spcBef>
                <a:spcPts val="400"/>
              </a:spcBef>
              <a:buNone/>
            </a:pPr>
            <a:r>
              <a:rPr lang="en-US" sz="1400" dirty="0">
                <a:solidFill>
                  <a:srgbClr val="333333"/>
                </a:solidFill>
                <a:latin typeface="Verdana"/>
              </a:rPr>
              <a:t>Which modules are affected by a schema change?</a:t>
            </a:r>
          </a:p>
          <a:p>
            <a:pPr>
              <a:spcBef>
                <a:spcPts val="300"/>
              </a:spcBef>
              <a:buNone/>
            </a:pPr>
            <a:r>
              <a:rPr lang="en-US" sz="1200" dirty="0">
                <a:solidFill>
                  <a:srgbClr val="828282"/>
                </a:solidFill>
                <a:latin typeface="Verdana"/>
              </a:rPr>
              <a:t>✓  file paths + line numbers</a:t>
            </a:r>
          </a:p>
        </p:txBody>
      </p:sp>
      <p:sp>
        <p:nvSpPr>
          <p:cNvPr id="41" name="Recipe1"/>
          <p:cNvSpPr/>
          <p:nvPr/>
        </p:nvSpPr>
        <p:spPr>
          <a:xfrm>
            <a:off x="3006400" y="2222500"/>
            <a:ext cx="2450000" cy="2540000"/>
          </a:xfrm>
          <a:prstGeom prst="roundRect">
            <a:avLst>
              <a:gd name="adj" fmla="val 5000"/>
            </a:avLst>
          </a:prstGeom>
          <a:solidFill>
            <a:srgbClr val="F5F5F5"/>
          </a:solidFill>
          <a:ln w="12700">
            <a:solidFill>
              <a:srgbClr val="E8E8E8"/>
            </a:solidFill>
          </a:ln>
        </p:spPr>
        <p:txBody>
          <a:bodyPr wrap="square" lIns="137160" tIns="91440" rIns="137160" bIns="91440" anchor="t"/>
          <a:lstStyle/>
          <a:p>
            <a:pPr>
              <a:buNone/>
            </a:pPr>
            <a:r>
              <a:rPr lang="en-US" sz="1600" b="1" dirty="0">
                <a:solidFill>
                  <a:srgbClr val="006450"/>
                </a:solidFill>
                <a:latin typeface="PP Neue Machina Plain Ultrabold"/>
              </a:rPr>
              <a:t>Business Flow Tracing</a:t>
            </a:r>
          </a:p>
          <a:p>
            <a:pPr>
              <a:spcBef>
                <a:spcPts val="400"/>
              </a:spcBef>
              <a:buNone/>
            </a:pPr>
            <a:r>
              <a:rPr lang="en-US" sz="1400" dirty="0">
                <a:solidFill>
                  <a:srgbClr val="333333"/>
                </a:solidFill>
                <a:latin typeface="Verdana"/>
              </a:rPr>
              <a:t>Trace end-to-end flows across COBOL programs</a:t>
            </a:r>
          </a:p>
          <a:p>
            <a:pPr>
              <a:spcBef>
                <a:spcPts val="300"/>
              </a:spcBef>
              <a:buNone/>
            </a:pPr>
            <a:r>
              <a:rPr lang="en-US" sz="1200" dirty="0">
                <a:solidFill>
                  <a:srgbClr val="828282"/>
                </a:solidFill>
                <a:latin typeface="Verdana"/>
              </a:rPr>
              <a:t>✓  file paths + line numbers</a:t>
            </a:r>
          </a:p>
        </p:txBody>
      </p:sp>
      <p:sp>
        <p:nvSpPr>
          <p:cNvPr id="42" name="Recipe2"/>
          <p:cNvSpPr/>
          <p:nvPr/>
        </p:nvSpPr>
        <p:spPr>
          <a:xfrm>
            <a:off x="5606400" y="2222500"/>
            <a:ext cx="2450000" cy="2540000"/>
          </a:xfrm>
          <a:prstGeom prst="roundRect">
            <a:avLst>
              <a:gd name="adj" fmla="val 5000"/>
            </a:avLst>
          </a:prstGeom>
          <a:solidFill>
            <a:srgbClr val="F5F5F5"/>
          </a:solidFill>
          <a:ln w="12700">
            <a:solidFill>
              <a:srgbClr val="E8E8E8"/>
            </a:solidFill>
          </a:ln>
        </p:spPr>
        <p:txBody>
          <a:bodyPr wrap="square" lIns="137160" tIns="91440" rIns="137160" bIns="91440" anchor="t"/>
          <a:lstStyle/>
          <a:p>
            <a:pPr>
              <a:buNone/>
            </a:pPr>
            <a:r>
              <a:rPr lang="en-US" sz="1600" b="1" dirty="0">
                <a:solidFill>
                  <a:srgbClr val="006450"/>
                </a:solidFill>
                <a:latin typeface="PP Neue Machina Plain Ultrabold"/>
              </a:rPr>
              <a:t>Explain This Program</a:t>
            </a:r>
          </a:p>
          <a:p>
            <a:pPr>
              <a:spcBef>
                <a:spcPts val="400"/>
              </a:spcBef>
              <a:buNone/>
            </a:pPr>
            <a:r>
              <a:rPr lang="en-US" sz="1400" dirty="0">
                <a:solidFill>
                  <a:srgbClr val="333333"/>
                </a:solidFill>
                <a:latin typeface="Verdana"/>
              </a:rPr>
              <a:t>Plain-language summary of any module's purpose</a:t>
            </a:r>
          </a:p>
          <a:p>
            <a:pPr>
              <a:spcBef>
                <a:spcPts val="300"/>
              </a:spcBef>
              <a:buNone/>
            </a:pPr>
            <a:r>
              <a:rPr lang="en-US" sz="1200" dirty="0">
                <a:solidFill>
                  <a:srgbClr val="828282"/>
                </a:solidFill>
                <a:latin typeface="Verdana"/>
              </a:rPr>
              <a:t>✓  file paths + line numbers</a:t>
            </a:r>
          </a:p>
        </p:txBody>
      </p:sp>
      <p:sp>
        <p:nvSpPr>
          <p:cNvPr id="43" name="Recipe3"/>
          <p:cNvSpPr/>
          <p:nvPr/>
        </p:nvSpPr>
        <p:spPr>
          <a:xfrm>
            <a:off x="8206400" y="2222500"/>
            <a:ext cx="2450000" cy="2540000"/>
          </a:xfrm>
          <a:prstGeom prst="roundRect">
            <a:avLst>
              <a:gd name="adj" fmla="val 5000"/>
            </a:avLst>
          </a:prstGeom>
          <a:solidFill>
            <a:srgbClr val="F5F5F5"/>
          </a:solidFill>
          <a:ln w="12700">
            <a:solidFill>
              <a:srgbClr val="E8E8E8"/>
            </a:solidFill>
          </a:ln>
        </p:spPr>
        <p:txBody>
          <a:bodyPr wrap="square" lIns="137160" tIns="91440" rIns="137160" bIns="91440" anchor="t"/>
          <a:lstStyle/>
          <a:p>
            <a:pPr>
              <a:buNone/>
            </a:pPr>
            <a:r>
              <a:rPr lang="en-US" sz="1600" b="1" dirty="0">
                <a:solidFill>
                  <a:srgbClr val="006450"/>
                </a:solidFill>
                <a:latin typeface="PP Neue Machina Plain Ultrabold"/>
              </a:rPr>
              <a:t>Data Lineage</a:t>
            </a:r>
          </a:p>
          <a:p>
            <a:pPr>
              <a:spcBef>
                <a:spcPts val="400"/>
              </a:spcBef>
              <a:buNone/>
            </a:pPr>
            <a:r>
              <a:rPr lang="en-US" sz="1400" dirty="0">
                <a:solidFill>
                  <a:srgbClr val="333333"/>
                </a:solidFill>
                <a:latin typeface="Verdana"/>
              </a:rPr>
              <a:t>Track data from input through processing to output</a:t>
            </a:r>
          </a:p>
          <a:p>
            <a:pPr>
              <a:spcBef>
                <a:spcPts val="300"/>
              </a:spcBef>
              <a:buNone/>
            </a:pPr>
            <a:r>
              <a:rPr lang="en-US" sz="1200" dirty="0">
                <a:solidFill>
                  <a:srgbClr val="828282"/>
                </a:solidFill>
                <a:latin typeface="Verdana"/>
              </a:rPr>
              <a:t>✓  file paths + line numbers</a:t>
            </a:r>
          </a:p>
        </p:txBody>
      </p:sp>
      <p:sp>
        <p:nvSpPr>
          <p:cNvPr id="50" name="BottomBar"/>
          <p:cNvSpPr/>
          <p:nvPr/>
        </p:nvSpPr>
        <p:spPr>
          <a:xfrm>
            <a:off x="406400" y="5080000"/>
            <a:ext cx="10400000" cy="698500"/>
          </a:xfrm>
          <a:prstGeom prst="roundRect">
            <a:avLst>
              <a:gd name="adj" fmla="val 10000"/>
            </a:avLst>
          </a:prstGeom>
          <a:solidFill>
            <a:srgbClr val="006450"/>
          </a:solidFill>
          <a:ln>
            <a:noFill/>
          </a:ln>
        </p:spPr>
        <p:txBody>
          <a:bodyPr wrap="square" lIns="274320" tIns="91440" rIns="274320" bIns="91440" anchor="ctr"/>
          <a:lstStyle/>
          <a:p>
            <a:pPr algn="ctr">
              <a:buNone/>
            </a:pPr>
            <a:r>
              <a:rPr lang="en-US" sz="1500" b="1" dirty="0">
                <a:solidFill>
                  <a:srgbClr val="2CDCAA"/>
                </a:solidFill>
                <a:latin typeface="Verdana"/>
              </a:rPr>
              <a:t>Guided Onboarding Walkthroughs</a:t>
            </a:r>
            <a:r>
              <a:rPr lang="en-US" sz="1500" dirty="0">
                <a:solidFill>
                  <a:srgbClr val="FFFFFF"/>
                </a:solidFill>
                <a:latin typeface="Verdana"/>
              </a:rPr>
              <a:t>   •   Optional IDE / Web integration   •   Deployed in client VPC</a:t>
            </a:r>
          </a:p>
        </p:txBody>
      </p:sp>
    </p:spTree>
    <p:extLst>
      <p:ext uri="{BB962C8B-B14F-4D97-AF65-F5344CB8AC3E}">
        <p14:creationId xmlns:p14="http://schemas.microsoft.com/office/powerpoint/2010/main" val="1313586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p:cNvSpPr/>
          <p:nvPr/>
        </p:nvSpPr>
        <p:spPr>
          <a:xfrm>
            <a:off x="406400" y="274320"/>
            <a:ext cx="10000000" cy="640000"/>
          </a:xfrm>
          <a:prstGeom prst="rect">
            <a:avLst/>
          </a:prstGeom>
          <a:noFill/>
          <a:ln>
            <a:noFill/>
          </a:ln>
        </p:spPr>
        <p:txBody>
          <a:bodyPr wrap="square" lIns="0" tIns="0" rIns="0" bIns="0" anchor="t"/>
          <a:lstStyle/>
          <a:p>
            <a:pPr>
              <a:buNone/>
            </a:pPr>
            <a:r>
              <a:rPr lang="en-US" sz="2800" b="1" dirty="0">
                <a:solidFill>
                  <a:srgbClr val="6464D7"/>
                </a:solidFill>
                <a:latin typeface="PP Neue Machina Plain Ultrabold"/>
              </a:rPr>
              <a:t>Tier 3</a:t>
            </a:r>
            <a:r>
              <a:rPr lang="en-US" sz="2800" b="1" dirty="0">
                <a:solidFill>
                  <a:srgbClr val="000000"/>
                </a:solidFill>
                <a:latin typeface="PP Neue Machina Plain Ultrabold"/>
              </a:rPr>
              <a:t>  Modernization Accelerator</a:t>
            </a:r>
          </a:p>
          <a:p>
            <a:pPr>
              <a:buNone/>
            </a:pPr>
            <a:r>
              <a:rPr lang="en-US" sz="1600" dirty="0">
                <a:solidFill>
                  <a:srgbClr val="828282"/>
                </a:solidFill>
                <a:latin typeface="Verdana"/>
              </a:rPr>
              <a:t>De-risk modernization using the knowledge layer</a:t>
            </a:r>
          </a:p>
        </p:txBody>
      </p:sp>
      <p:sp>
        <p:nvSpPr>
          <p:cNvPr id="12" name="Monolith"/>
          <p:cNvSpPr/>
          <p:nvPr/>
        </p:nvSpPr>
        <p:spPr>
          <a:xfrm>
            <a:off x="406400" y="1193800"/>
            <a:ext cx="1600000" cy="4254500"/>
          </a:xfrm>
          <a:prstGeom prst="rect">
            <a:avLst/>
          </a:prstGeom>
          <a:solidFill>
            <a:srgbClr val="828282"/>
          </a:solidFill>
          <a:ln>
            <a:noFill/>
          </a:ln>
        </p:spPr>
        <p:txBody>
          <a:bodyPr wrap="square" lIns="91440" tIns="91440" rIns="91440" bIns="91440" anchor="ctr"/>
          <a:lstStyle/>
          <a:p>
            <a:pPr algn="ctr">
              <a:buNone/>
            </a:pPr>
            <a:r>
              <a:rPr lang="en-US" sz="1400" b="1" dirty="0">
                <a:solidFill>
                  <a:srgbClr val="FFFFFF"/>
                </a:solidFill>
                <a:latin typeface="Verdana"/>
              </a:rPr>
              <a:t>Monolith</a:t>
            </a:r>
          </a:p>
        </p:txBody>
      </p:sp>
      <p:sp>
        <p:nvSpPr>
          <p:cNvPr id="13" name="Arrow1"/>
          <p:cNvSpPr/>
          <p:nvPr/>
        </p:nvSpPr>
        <p:spPr>
          <a:xfrm>
            <a:off x="2100000" y="3035300"/>
            <a:ext cx="350000" cy="419100"/>
          </a:xfrm>
          <a:prstGeom prst="chevron">
            <a:avLst/>
          </a:prstGeom>
          <a:solidFill>
            <a:srgbClr val="2CDCAA"/>
          </a:solidFill>
          <a:ln>
            <a:noFill/>
          </a:ln>
        </p:spPr>
        <p:txBody>
          <a:bodyPr/>
          <a:lstStyle/>
          <a:p>
            <a:endParaRPr lang="en-US"/>
          </a:p>
        </p:txBody>
      </p:sp>
      <p:sp>
        <p:nvSpPr>
          <p:cNvPr id="14" name="RoutingLayer"/>
          <p:cNvSpPr/>
          <p:nvPr/>
        </p:nvSpPr>
        <p:spPr>
          <a:xfrm>
            <a:off x="2550000" y="1193800"/>
            <a:ext cx="1800000" cy="4254500"/>
          </a:xfrm>
          <a:prstGeom prst="roundRect">
            <a:avLst>
              <a:gd name="adj" fmla="val 5000"/>
            </a:avLst>
          </a:prstGeom>
          <a:solidFill>
            <a:srgbClr val="006450"/>
          </a:solidFill>
          <a:ln>
            <a:noFill/>
          </a:ln>
        </p:spPr>
        <p:txBody>
          <a:bodyPr wrap="square" lIns="91440" tIns="91440" rIns="91440" bIns="91440" anchor="ctr"/>
          <a:lstStyle/>
          <a:p>
            <a:pPr algn="ctr">
              <a:buNone/>
            </a:pPr>
            <a:r>
              <a:rPr lang="en-US" sz="1400" b="1" dirty="0">
                <a:solidFill>
                  <a:srgbClr val="2CDCAA"/>
                </a:solidFill>
                <a:latin typeface="Verdana"/>
              </a:rPr>
              <a:t>Routing /</a:t>
            </a:r>
          </a:p>
          <a:p>
            <a:pPr algn="ctr">
              <a:buNone/>
            </a:pPr>
            <a:r>
              <a:rPr lang="en-US" sz="1400" b="1" dirty="0">
                <a:solidFill>
                  <a:srgbClr val="2CDCAA"/>
                </a:solidFill>
                <a:latin typeface="Verdana"/>
              </a:rPr>
              <a:t>Knowledge</a:t>
            </a:r>
          </a:p>
          <a:p>
            <a:pPr algn="ctr">
              <a:buNone/>
            </a:pPr>
            <a:r>
              <a:rPr lang="en-US" sz="1400" b="1" dirty="0">
                <a:solidFill>
                  <a:srgbClr val="2CDCAA"/>
                </a:solidFill>
                <a:latin typeface="Verdana"/>
              </a:rPr>
              <a:t>Layer</a:t>
            </a:r>
          </a:p>
        </p:txBody>
      </p:sp>
      <p:sp>
        <p:nvSpPr>
          <p:cNvPr id="15" name="Arrow2"/>
          <p:cNvSpPr/>
          <p:nvPr/>
        </p:nvSpPr>
        <p:spPr>
          <a:xfrm>
            <a:off x="4450000" y="3035300"/>
            <a:ext cx="350000" cy="419100"/>
          </a:xfrm>
          <a:prstGeom prst="chevron">
            <a:avLst/>
          </a:prstGeom>
          <a:solidFill>
            <a:srgbClr val="2CDCAA"/>
          </a:solidFill>
          <a:ln>
            <a:noFill/>
          </a:ln>
        </p:spPr>
        <p:txBody>
          <a:bodyPr/>
          <a:lstStyle/>
          <a:p>
            <a:endParaRPr lang="en-US"/>
          </a:p>
        </p:txBody>
      </p:sp>
      <p:sp>
        <p:nvSpPr>
          <p:cNvPr id="16" name="Svc0"/>
          <p:cNvSpPr/>
          <p:nvPr/>
        </p:nvSpPr>
        <p:spPr>
          <a:xfrm>
            <a:off x="4900000" y="1193800"/>
            <a:ext cx="1300000" cy="1130300"/>
          </a:xfrm>
          <a:prstGeom prst="roundRect">
            <a:avLst>
              <a:gd name="adj" fmla="val 10000"/>
            </a:avLst>
          </a:prstGeom>
          <a:solidFill>
            <a:srgbClr val="6464D7"/>
          </a:solidFill>
          <a:ln>
            <a:noFill/>
          </a:ln>
        </p:spPr>
        <p:txBody>
          <a:bodyPr wrap="square" lIns="45720" tIns="45720" rIns="45720" bIns="45720" anchor="ctr"/>
          <a:lstStyle/>
          <a:p>
            <a:pPr algn="ctr">
              <a:buNone/>
            </a:pPr>
            <a:r>
              <a:rPr lang="en-US" sz="1400" b="1" dirty="0">
                <a:solidFill>
                  <a:srgbClr val="FFFFFF"/>
                </a:solidFill>
                <a:latin typeface="Verdana"/>
              </a:rPr>
              <a:t>Service A</a:t>
            </a:r>
          </a:p>
        </p:txBody>
      </p:sp>
      <p:sp>
        <p:nvSpPr>
          <p:cNvPr id="17" name="Svc1"/>
          <p:cNvSpPr/>
          <p:nvPr/>
        </p:nvSpPr>
        <p:spPr>
          <a:xfrm>
            <a:off x="4900000" y="2476500"/>
            <a:ext cx="1300000" cy="1130300"/>
          </a:xfrm>
          <a:prstGeom prst="roundRect">
            <a:avLst>
              <a:gd name="adj" fmla="val 10000"/>
            </a:avLst>
          </a:prstGeom>
          <a:solidFill>
            <a:srgbClr val="6464D7"/>
          </a:solidFill>
          <a:ln>
            <a:noFill/>
          </a:ln>
        </p:spPr>
        <p:txBody>
          <a:bodyPr wrap="square" lIns="45720" tIns="45720" rIns="45720" bIns="45720" anchor="ctr"/>
          <a:lstStyle/>
          <a:p>
            <a:pPr algn="ctr">
              <a:buNone/>
            </a:pPr>
            <a:r>
              <a:rPr lang="en-US" sz="1400" b="1" dirty="0">
                <a:solidFill>
                  <a:srgbClr val="FFFFFF"/>
                </a:solidFill>
                <a:latin typeface="Verdana"/>
              </a:rPr>
              <a:t>Service B</a:t>
            </a:r>
          </a:p>
        </p:txBody>
      </p:sp>
      <p:sp>
        <p:nvSpPr>
          <p:cNvPr id="18" name="Svc2"/>
          <p:cNvSpPr/>
          <p:nvPr/>
        </p:nvSpPr>
        <p:spPr>
          <a:xfrm>
            <a:off x="4900000" y="3746500"/>
            <a:ext cx="1300000" cy="1130300"/>
          </a:xfrm>
          <a:prstGeom prst="roundRect">
            <a:avLst>
              <a:gd name="adj" fmla="val 10000"/>
            </a:avLst>
          </a:prstGeom>
          <a:solidFill>
            <a:srgbClr val="6464D7"/>
          </a:solidFill>
          <a:ln>
            <a:noFill/>
          </a:ln>
        </p:spPr>
        <p:txBody>
          <a:bodyPr wrap="square" lIns="45720" tIns="45720" rIns="45720" bIns="45720" anchor="ctr"/>
          <a:lstStyle/>
          <a:p>
            <a:pPr algn="ctr">
              <a:buNone/>
            </a:pPr>
            <a:r>
              <a:rPr lang="en-US" sz="1400" b="1" dirty="0">
                <a:solidFill>
                  <a:srgbClr val="FFFFFF"/>
                </a:solidFill>
                <a:latin typeface="Verdana"/>
              </a:rPr>
              <a:t>Service C</a:t>
            </a:r>
          </a:p>
        </p:txBody>
      </p:sp>
      <p:sp>
        <p:nvSpPr>
          <p:cNvPr id="30" name="Artifact0"/>
          <p:cNvSpPr/>
          <p:nvPr/>
        </p:nvSpPr>
        <p:spPr>
          <a:xfrm>
            <a:off x="6600000" y="1193800"/>
            <a:ext cx="4200000" cy="1270000"/>
          </a:xfrm>
          <a:prstGeom prst="roundRect">
            <a:avLst>
              <a:gd name="adj" fmla="val 5000"/>
            </a:avLst>
          </a:prstGeom>
          <a:solidFill>
            <a:srgbClr val="F0FBF8"/>
          </a:solidFill>
          <a:ln w="12700">
            <a:solidFill>
              <a:srgbClr val="2CDCAA"/>
            </a:solidFill>
          </a:ln>
        </p:spPr>
        <p:txBody>
          <a:bodyPr wrap="square" lIns="137160" tIns="68580" rIns="137160" bIns="68580" anchor="ctr"/>
          <a:lstStyle/>
          <a:p>
            <a:pPr>
              <a:buNone/>
            </a:pPr>
            <a:r>
              <a:rPr lang="en-US" sz="1600" b="1" dirty="0">
                <a:solidFill>
                  <a:srgbClr val="000000"/>
                </a:solidFill>
                <a:latin typeface="PP Neue Machina Plain Ultrabold"/>
              </a:rPr>
              <a:t>Interface Specs</a:t>
            </a:r>
          </a:p>
          <a:p>
            <a:pPr>
              <a:spcBef>
                <a:spcPts val="200"/>
              </a:spcBef>
              <a:buNone/>
            </a:pPr>
            <a:r>
              <a:rPr lang="en-US" sz="1400" dirty="0">
                <a:solidFill>
                  <a:srgbClr val="333333"/>
                </a:solidFill>
                <a:latin typeface="Verdana"/>
              </a:rPr>
              <a:t>Generate candidate interface specifications from existing code flows</a:t>
            </a:r>
          </a:p>
        </p:txBody>
      </p:sp>
      <p:sp>
        <p:nvSpPr>
          <p:cNvPr id="31" name="Artifact1"/>
          <p:cNvSpPr/>
          <p:nvPr/>
        </p:nvSpPr>
        <p:spPr>
          <a:xfrm>
            <a:off x="6600000" y="2616200"/>
            <a:ext cx="4200000" cy="1270000"/>
          </a:xfrm>
          <a:prstGeom prst="roundRect">
            <a:avLst>
              <a:gd name="adj" fmla="val 5000"/>
            </a:avLst>
          </a:prstGeom>
          <a:solidFill>
            <a:srgbClr val="FFF9E6"/>
          </a:solidFill>
          <a:ln w="12700">
            <a:solidFill>
              <a:srgbClr val="FFC30F"/>
            </a:solidFill>
          </a:ln>
        </p:spPr>
        <p:txBody>
          <a:bodyPr wrap="square" lIns="137160" tIns="68580" rIns="137160" bIns="68580" anchor="ctr"/>
          <a:lstStyle/>
          <a:p>
            <a:pPr>
              <a:buNone/>
            </a:pPr>
            <a:r>
              <a:rPr lang="en-US" sz="1600" b="1" dirty="0">
                <a:solidFill>
                  <a:srgbClr val="000000"/>
                </a:solidFill>
                <a:latin typeface="PP Neue Machina Plain Ultrabold"/>
              </a:rPr>
              <a:t>Sequence Diagrams</a:t>
            </a:r>
          </a:p>
          <a:p>
            <a:pPr>
              <a:spcBef>
                <a:spcPts val="200"/>
              </a:spcBef>
              <a:buNone/>
            </a:pPr>
            <a:r>
              <a:rPr lang="en-US" sz="1400" dirty="0">
                <a:solidFill>
                  <a:srgbClr val="333333"/>
                </a:solidFill>
                <a:latin typeface="Verdana"/>
              </a:rPr>
              <a:t>Auto-generate sequence diagrams from traced business flows</a:t>
            </a:r>
          </a:p>
        </p:txBody>
      </p:sp>
      <p:sp>
        <p:nvSpPr>
          <p:cNvPr id="32" name="Artifact2"/>
          <p:cNvSpPr/>
          <p:nvPr/>
        </p:nvSpPr>
        <p:spPr>
          <a:xfrm>
            <a:off x="6600000" y="4038600"/>
            <a:ext cx="4200000" cy="1270000"/>
          </a:xfrm>
          <a:prstGeom prst="roundRect">
            <a:avLst>
              <a:gd name="adj" fmla="val 5000"/>
            </a:avLst>
          </a:prstGeom>
          <a:solidFill>
            <a:srgbClr val="F5F3FF"/>
          </a:solidFill>
          <a:ln w="12700">
            <a:solidFill>
              <a:srgbClr val="6464D7"/>
            </a:solidFill>
          </a:ln>
        </p:spPr>
        <p:txBody>
          <a:bodyPr wrap="square" lIns="137160" tIns="68580" rIns="137160" bIns="68580" anchor="ctr"/>
          <a:lstStyle/>
          <a:p>
            <a:pPr>
              <a:buNone/>
            </a:pPr>
            <a:r>
              <a:rPr lang="en-US" sz="1600" b="1" dirty="0">
                <a:solidFill>
                  <a:srgbClr val="000000"/>
                </a:solidFill>
                <a:latin typeface="PP Neue Machina Plain Ultrabold"/>
              </a:rPr>
              <a:t>Test Suggestions</a:t>
            </a:r>
          </a:p>
          <a:p>
            <a:pPr>
              <a:spcBef>
                <a:spcPts val="200"/>
              </a:spcBef>
              <a:buNone/>
            </a:pPr>
            <a:r>
              <a:rPr lang="en-US" sz="1400" dirty="0">
                <a:solidFill>
                  <a:srgbClr val="333333"/>
                </a:solidFill>
                <a:latin typeface="Verdana"/>
              </a:rPr>
              <a:t>AI-assisted test generation to preserve legacy semantics</a:t>
            </a:r>
          </a:p>
        </p:txBody>
      </p:sp>
      <p:sp>
        <p:nvSpPr>
          <p:cNvPr id="35" name="LockBadge"/>
          <p:cNvSpPr/>
          <p:nvPr/>
        </p:nvSpPr>
        <p:spPr>
          <a:xfrm>
            <a:off x="6600000" y="5524500"/>
            <a:ext cx="4200000" cy="558800"/>
          </a:xfrm>
          <a:prstGeom prst="roundRect">
            <a:avLst>
              <a:gd name="adj" fmla="val 16667"/>
            </a:avLst>
          </a:prstGeom>
          <a:noFill/>
          <a:ln w="19050">
            <a:solidFill>
              <a:srgbClr val="006450"/>
            </a:solidFill>
          </a:ln>
        </p:spPr>
        <p:txBody>
          <a:bodyPr wrap="square" lIns="137160" tIns="45720" rIns="137160" bIns="45720" anchor="ctr"/>
          <a:lstStyle/>
          <a:p>
            <a:pPr algn="ctr">
              <a:buNone/>
            </a:pPr>
            <a:r>
              <a:rPr lang="en-US" sz="1500" b="1" dirty="0">
                <a:solidFill>
                  <a:srgbClr val="006450"/>
                </a:solidFill>
                <a:latin typeface="Verdana"/>
              </a:rPr>
              <a:t>🔒  Preserve Legacy Semantics</a:t>
            </a:r>
          </a:p>
        </p:txBody>
      </p:sp>
    </p:spTree>
    <p:extLst>
      <p:ext uri="{BB962C8B-B14F-4D97-AF65-F5344CB8AC3E}">
        <p14:creationId xmlns:p14="http://schemas.microsoft.com/office/powerpoint/2010/main" val="174021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p:cNvSpPr/>
          <p:nvPr/>
        </p:nvSpPr>
        <p:spPr>
          <a:xfrm>
            <a:off x="406400" y="200000"/>
            <a:ext cx="10600000" cy="500000"/>
          </a:xfrm>
          <a:prstGeom prst="rect">
            <a:avLst/>
          </a:prstGeom>
          <a:noFill/>
          <a:ln>
            <a:noFill/>
          </a:ln>
        </p:spPr>
        <p:txBody>
          <a:bodyPr wrap="square" lIns="0" tIns="0" rIns="0" bIns="0" anchor="t"/>
          <a:lstStyle/>
          <a:p>
            <a:pPr>
              <a:buNone/>
            </a:pPr>
            <a:r>
              <a:rPr lang="en-US" sz="2200" b="1" dirty="0">
                <a:solidFill>
                  <a:srgbClr val="000000"/>
                </a:solidFill>
                <a:latin typeface="PP Neue Machina Plain Ultrabold"/>
              </a:rPr>
              <a:t>How This Differs from "Just Buy Cursor / Claude Code Licenses"</a:t>
            </a:r>
          </a:p>
        </p:txBody>
      </p:sp>
      <p:sp>
        <p:nvSpPr>
          <p:cNvPr id="11" name="AccentBar"/>
          <p:cNvSpPr/>
          <p:nvPr/>
        </p:nvSpPr>
        <p:spPr>
          <a:xfrm>
            <a:off x="406400" y="750000"/>
            <a:ext cx="800000" cy="50000"/>
          </a:xfrm>
          <a:prstGeom prst="rect">
            <a:avLst/>
          </a:prstGeom>
          <a:solidFill>
            <a:srgbClr val="2CDCAA"/>
          </a:solidFill>
          <a:ln>
            <a:noFill/>
          </a:ln>
        </p:spPr>
        <p:txBody>
          <a:bodyPr/>
          <a:lstStyle/>
          <a:p>
            <a:endParaRPr lang="en-US"/>
          </a:p>
        </p:txBody>
      </p:sp>
      <p:sp>
        <p:nvSpPr>
          <p:cNvPr id="15" name="HeaderTool"/>
          <p:cNvSpPr/>
          <p:nvPr/>
        </p:nvSpPr>
        <p:spPr>
          <a:xfrm>
            <a:off x="2406400" y="1079500"/>
            <a:ext cx="4400000" cy="508000"/>
          </a:xfrm>
          <a:prstGeom prst="roundRect">
            <a:avLst>
              <a:gd name="adj" fmla="val 10000"/>
            </a:avLst>
          </a:prstGeom>
          <a:solidFill>
            <a:srgbClr val="F5F5F5"/>
          </a:solidFill>
          <a:ln>
            <a:noFill/>
          </a:ln>
        </p:spPr>
        <p:txBody>
          <a:bodyPr wrap="square" lIns="137160" tIns="45720" rIns="137160" bIns="45720" anchor="ctr"/>
          <a:lstStyle/>
          <a:p>
            <a:pPr algn="ctr">
              <a:buNone/>
            </a:pPr>
            <a:r>
              <a:rPr lang="en-US" sz="1500" b="1" dirty="0">
                <a:solidFill>
                  <a:srgbClr val="828282"/>
                </a:solidFill>
                <a:latin typeface="Verdana"/>
              </a:rPr>
              <a:t>✗  Tool License Only</a:t>
            </a:r>
          </a:p>
        </p:txBody>
      </p:sp>
      <p:sp>
        <p:nvSpPr>
          <p:cNvPr id="16" name="HeaderXray"/>
          <p:cNvSpPr/>
          <p:nvPr/>
        </p:nvSpPr>
        <p:spPr>
          <a:xfrm>
            <a:off x="7006400" y="1079500"/>
            <a:ext cx="4400000" cy="508000"/>
          </a:xfrm>
          <a:prstGeom prst="roundRect">
            <a:avLst>
              <a:gd name="adj" fmla="val 10000"/>
            </a:avLst>
          </a:prstGeom>
          <a:solidFill>
            <a:srgbClr val="006450"/>
          </a:solidFill>
          <a:ln>
            <a:noFill/>
          </a:ln>
        </p:spPr>
        <p:txBody>
          <a:bodyPr wrap="square" lIns="137160" tIns="45720" rIns="137160" bIns="45720" anchor="ctr"/>
          <a:lstStyle/>
          <a:p>
            <a:pPr algn="ctr">
              <a:buNone/>
            </a:pPr>
            <a:r>
              <a:rPr lang="en-US" sz="1500" b="1" dirty="0">
                <a:solidFill>
                  <a:srgbClr val="FFFFFF"/>
                </a:solidFill>
                <a:latin typeface="Verdana"/>
              </a:rPr>
              <a:t>✓  X-Ray &amp; Navigator</a:t>
            </a:r>
          </a:p>
        </p:txBody>
      </p:sp>
      <p:sp>
        <p:nvSpPr>
          <p:cNvPr id="20" name="Dim0"/>
          <p:cNvSpPr/>
          <p:nvPr/>
        </p:nvSpPr>
        <p:spPr>
          <a:xfrm>
            <a:off x="406400" y="1739900"/>
            <a:ext cx="1800000" cy="1079500"/>
          </a:xfrm>
          <a:prstGeom prst="roundRect">
            <a:avLst>
              <a:gd name="adj" fmla="val 5000"/>
            </a:avLst>
          </a:prstGeom>
          <a:solidFill>
            <a:srgbClr val="2CDCAA"/>
          </a:solidFill>
          <a:ln>
            <a:noFill/>
          </a:ln>
        </p:spPr>
        <p:txBody>
          <a:bodyPr wrap="square" lIns="137160" tIns="45720" rIns="137160" bIns="45720" anchor="ctr"/>
          <a:lstStyle/>
          <a:p>
            <a:pPr algn="ctr">
              <a:buNone/>
            </a:pPr>
            <a:r>
              <a:rPr lang="en-US" sz="1500" b="1" dirty="0">
                <a:solidFill>
                  <a:srgbClr val="FFFFFF"/>
                </a:solidFill>
                <a:latin typeface="PP Neue Machina Plain Ultrabold"/>
              </a:rPr>
              <a:t>Knowledge Model</a:t>
            </a:r>
          </a:p>
        </p:txBody>
      </p:sp>
      <p:sp>
        <p:nvSpPr>
          <p:cNvPr id="21" name="Tool0"/>
          <p:cNvSpPr/>
          <p:nvPr/>
        </p:nvSpPr>
        <p:spPr>
          <a:xfrm>
            <a:off x="2406400" y="1739900"/>
            <a:ext cx="4400000" cy="1079500"/>
          </a:xfrm>
          <a:prstGeom prst="roundRect">
            <a:avLst>
              <a:gd name="adj" fmla="val 5000"/>
            </a:avLst>
          </a:prstGeom>
          <a:solidFill>
            <a:srgbClr val="FFF5F5"/>
          </a:solidFill>
          <a:ln w="12700">
            <a:solidFill>
              <a:srgbClr val="E8E8E8"/>
            </a:solidFill>
          </a:ln>
        </p:spPr>
        <p:txBody>
          <a:bodyPr wrap="square" lIns="137160" tIns="45720" rIns="137160" bIns="45720" anchor="ctr"/>
          <a:lstStyle/>
          <a:p>
            <a:pPr>
              <a:buNone/>
            </a:pPr>
            <a:r>
              <a:rPr lang="en-US" sz="1400" dirty="0">
                <a:solidFill>
                  <a:srgbClr val="666666"/>
                </a:solidFill>
                <a:latin typeface="Verdana"/>
              </a:rPr>
              <a:t>Ad-hoc file summaries in chat history</a:t>
            </a:r>
          </a:p>
        </p:txBody>
      </p:sp>
      <p:sp>
        <p:nvSpPr>
          <p:cNvPr id="22" name="XRay0"/>
          <p:cNvSpPr/>
          <p:nvPr/>
        </p:nvSpPr>
        <p:spPr>
          <a:xfrm>
            <a:off x="7006400" y="1739900"/>
            <a:ext cx="4400000" cy="1079500"/>
          </a:xfrm>
          <a:prstGeom prst="roundRect">
            <a:avLst>
              <a:gd name="adj" fmla="val 5000"/>
            </a:avLst>
          </a:prstGeom>
          <a:solidFill>
            <a:srgbClr val="F0FBF8"/>
          </a:solidFill>
          <a:ln w="12700">
            <a:solidFill>
              <a:srgbClr val="2CDCAA"/>
            </a:solidFill>
          </a:ln>
        </p:spPr>
        <p:txBody>
          <a:bodyPr wrap="square" lIns="137160" tIns="45720" rIns="137160" bIns="45720" anchor="ctr"/>
          <a:lstStyle/>
          <a:p>
            <a:pPr>
              <a:buNone/>
            </a:pPr>
            <a:r>
              <a:rPr lang="en-US" sz="1400" b="1" dirty="0">
                <a:solidFill>
                  <a:srgbClr val="006450"/>
                </a:solidFill>
                <a:latin typeface="Verdana"/>
              </a:rPr>
              <a:t>Persistent system model: call graphs, data flows, entity maps</a:t>
            </a:r>
          </a:p>
        </p:txBody>
      </p:sp>
      <p:sp>
        <p:nvSpPr>
          <p:cNvPr id="23" name="Dim1"/>
          <p:cNvSpPr/>
          <p:nvPr/>
        </p:nvSpPr>
        <p:spPr>
          <a:xfrm>
            <a:off x="406400" y="2971800"/>
            <a:ext cx="1800000" cy="1079500"/>
          </a:xfrm>
          <a:prstGeom prst="roundRect">
            <a:avLst>
              <a:gd name="adj" fmla="val 5000"/>
            </a:avLst>
          </a:prstGeom>
          <a:solidFill>
            <a:srgbClr val="006450"/>
          </a:solidFill>
          <a:ln>
            <a:noFill/>
          </a:ln>
        </p:spPr>
        <p:txBody>
          <a:bodyPr wrap="square" lIns="137160" tIns="45720" rIns="137160" bIns="45720" anchor="ctr"/>
          <a:lstStyle/>
          <a:p>
            <a:pPr algn="ctr">
              <a:buNone/>
            </a:pPr>
            <a:r>
              <a:rPr lang="en-US" sz="1500" b="1" dirty="0">
                <a:solidFill>
                  <a:srgbClr val="FFFFFF"/>
                </a:solidFill>
                <a:latin typeface="PP Neue Machina Plain Ultrabold"/>
              </a:rPr>
              <a:t>Governance</a:t>
            </a:r>
          </a:p>
        </p:txBody>
      </p:sp>
      <p:sp>
        <p:nvSpPr>
          <p:cNvPr id="24" name="Tool1"/>
          <p:cNvSpPr/>
          <p:nvPr/>
        </p:nvSpPr>
        <p:spPr>
          <a:xfrm>
            <a:off x="2406400" y="2971800"/>
            <a:ext cx="4400000" cy="1079500"/>
          </a:xfrm>
          <a:prstGeom prst="roundRect">
            <a:avLst>
              <a:gd name="adj" fmla="val 5000"/>
            </a:avLst>
          </a:prstGeom>
          <a:solidFill>
            <a:srgbClr val="FFF5F5"/>
          </a:solidFill>
          <a:ln w="12700">
            <a:solidFill>
              <a:srgbClr val="E8E8E8"/>
            </a:solidFill>
          </a:ln>
        </p:spPr>
        <p:txBody>
          <a:bodyPr wrap="square" lIns="137160" tIns="45720" rIns="137160" bIns="45720" anchor="ctr"/>
          <a:lstStyle/>
          <a:p>
            <a:pPr>
              <a:buNone/>
            </a:pPr>
            <a:r>
              <a:rPr lang="en-US" sz="1400" dirty="0">
                <a:solidFill>
                  <a:srgbClr val="666666"/>
                </a:solidFill>
                <a:latin typeface="Verdana"/>
              </a:rPr>
              <a:t>Individual, siloed context per developer</a:t>
            </a:r>
          </a:p>
        </p:txBody>
      </p:sp>
      <p:sp>
        <p:nvSpPr>
          <p:cNvPr id="25" name="XRay1"/>
          <p:cNvSpPr/>
          <p:nvPr/>
        </p:nvSpPr>
        <p:spPr>
          <a:xfrm>
            <a:off x="7006400" y="2971800"/>
            <a:ext cx="4400000" cy="1079500"/>
          </a:xfrm>
          <a:prstGeom prst="roundRect">
            <a:avLst>
              <a:gd name="adj" fmla="val 5000"/>
            </a:avLst>
          </a:prstGeom>
          <a:solidFill>
            <a:srgbClr val="F0FBF8"/>
          </a:solidFill>
          <a:ln w="12700">
            <a:solidFill>
              <a:srgbClr val="2CDCAA"/>
            </a:solidFill>
          </a:ln>
        </p:spPr>
        <p:txBody>
          <a:bodyPr wrap="square" lIns="137160" tIns="45720" rIns="137160" bIns="45720" anchor="ctr"/>
          <a:lstStyle/>
          <a:p>
            <a:pPr>
              <a:buNone/>
            </a:pPr>
            <a:r>
              <a:rPr lang="en-US" sz="1400" b="1" dirty="0">
                <a:solidFill>
                  <a:srgbClr val="006450"/>
                </a:solidFill>
                <a:latin typeface="Verdana"/>
              </a:rPr>
              <a:t>Shared across teams: onboarding tours, impact reports, dashboards</a:t>
            </a:r>
          </a:p>
        </p:txBody>
      </p:sp>
      <p:sp>
        <p:nvSpPr>
          <p:cNvPr id="26" name="Dim2"/>
          <p:cNvSpPr/>
          <p:nvPr/>
        </p:nvSpPr>
        <p:spPr>
          <a:xfrm>
            <a:off x="406400" y="4203700"/>
            <a:ext cx="1800000" cy="1079500"/>
          </a:xfrm>
          <a:prstGeom prst="roundRect">
            <a:avLst>
              <a:gd name="adj" fmla="val 5000"/>
            </a:avLst>
          </a:prstGeom>
          <a:solidFill>
            <a:srgbClr val="6464D7"/>
          </a:solidFill>
          <a:ln>
            <a:noFill/>
          </a:ln>
        </p:spPr>
        <p:txBody>
          <a:bodyPr wrap="square" lIns="137160" tIns="45720" rIns="137160" bIns="45720" anchor="ctr"/>
          <a:lstStyle/>
          <a:p>
            <a:pPr algn="ctr">
              <a:buNone/>
            </a:pPr>
            <a:r>
              <a:rPr lang="en-US" sz="1500" b="1" dirty="0">
                <a:solidFill>
                  <a:srgbClr val="FFFFFF"/>
                </a:solidFill>
                <a:latin typeface="PP Neue Machina Plain Ultrabold"/>
              </a:rPr>
              <a:t>Environment</a:t>
            </a:r>
          </a:p>
        </p:txBody>
      </p:sp>
      <p:sp>
        <p:nvSpPr>
          <p:cNvPr id="27" name="Tool2"/>
          <p:cNvSpPr/>
          <p:nvPr/>
        </p:nvSpPr>
        <p:spPr>
          <a:xfrm>
            <a:off x="2406400" y="4203700"/>
            <a:ext cx="4400000" cy="1079500"/>
          </a:xfrm>
          <a:prstGeom prst="roundRect">
            <a:avLst>
              <a:gd name="adj" fmla="val 5000"/>
            </a:avLst>
          </a:prstGeom>
          <a:solidFill>
            <a:srgbClr val="FFF5F5"/>
          </a:solidFill>
          <a:ln w="12700">
            <a:solidFill>
              <a:srgbClr val="E8E8E8"/>
            </a:solidFill>
          </a:ln>
        </p:spPr>
        <p:txBody>
          <a:bodyPr wrap="square" lIns="137160" tIns="45720" rIns="137160" bIns="45720" anchor="ctr"/>
          <a:lstStyle/>
          <a:p>
            <a:pPr>
              <a:buNone/>
            </a:pPr>
            <a:r>
              <a:rPr lang="en-US" sz="1400" dirty="0">
                <a:solidFill>
                  <a:srgbClr val="666666"/>
                </a:solidFill>
                <a:latin typeface="Verdana"/>
              </a:rPr>
              <a:t>Cloud-hosted, data leaves your perimeter</a:t>
            </a:r>
          </a:p>
        </p:txBody>
      </p:sp>
      <p:sp>
        <p:nvSpPr>
          <p:cNvPr id="28" name="XRay2"/>
          <p:cNvSpPr/>
          <p:nvPr/>
        </p:nvSpPr>
        <p:spPr>
          <a:xfrm>
            <a:off x="7006400" y="4203700"/>
            <a:ext cx="4400000" cy="1079500"/>
          </a:xfrm>
          <a:prstGeom prst="roundRect">
            <a:avLst>
              <a:gd name="adj" fmla="val 5000"/>
            </a:avLst>
          </a:prstGeom>
          <a:solidFill>
            <a:srgbClr val="F0FBF8"/>
          </a:solidFill>
          <a:ln w="12700">
            <a:solidFill>
              <a:srgbClr val="2CDCAA"/>
            </a:solidFill>
          </a:ln>
        </p:spPr>
        <p:txBody>
          <a:bodyPr wrap="square" lIns="137160" tIns="45720" rIns="137160" bIns="45720" anchor="ctr"/>
          <a:lstStyle/>
          <a:p>
            <a:pPr>
              <a:buNone/>
            </a:pPr>
            <a:r>
              <a:rPr lang="en-US" sz="1400" b="1" dirty="0">
                <a:solidFill>
                  <a:srgbClr val="006450"/>
                </a:solidFill>
                <a:latin typeface="Verdana"/>
              </a:rPr>
              <a:t>Client-controlled (on-prem / VPC) with audit trail</a:t>
            </a:r>
          </a:p>
        </p:txBody>
      </p:sp>
      <p:sp>
        <p:nvSpPr>
          <p:cNvPr id="40" name="NonNeg"/>
          <p:cNvSpPr/>
          <p:nvPr/>
        </p:nvSpPr>
        <p:spPr>
          <a:xfrm>
            <a:off x="406400" y="5537200"/>
            <a:ext cx="10600000" cy="533400"/>
          </a:xfrm>
          <a:prstGeom prst="roundRect">
            <a:avLst>
              <a:gd name="adj" fmla="val 16667"/>
            </a:avLst>
          </a:prstGeom>
          <a:solidFill>
            <a:srgbClr val="006450"/>
          </a:solidFill>
          <a:ln>
            <a:noFill/>
          </a:ln>
        </p:spPr>
        <p:txBody>
          <a:bodyPr wrap="square" lIns="274320" tIns="45720" rIns="274320" bIns="45720" anchor="ctr"/>
          <a:lstStyle/>
          <a:p>
            <a:pPr algn="ctr">
              <a:buNone/>
            </a:pPr>
            <a:r>
              <a:rPr lang="en-US" sz="1500" b="1" dirty="0">
                <a:solidFill>
                  <a:srgbClr val="FFC30F"/>
                </a:solidFill>
                <a:latin typeface="Verdana"/>
              </a:rPr>
              <a:t>Non-negotiables:   </a:t>
            </a:r>
            <a:r>
              <a:rPr lang="en-US" sz="1500" dirty="0">
                <a:solidFill>
                  <a:srgbClr val="FFFFFF"/>
                </a:solidFill>
                <a:latin typeface="Verdana"/>
              </a:rPr>
              <a:t>Traceable   •   Auditable   •   VPC / On-Prem</a:t>
            </a:r>
          </a:p>
        </p:txBody>
      </p:sp>
    </p:spTree>
    <p:extLst>
      <p:ext uri="{BB962C8B-B14F-4D97-AF65-F5344CB8AC3E}">
        <p14:creationId xmlns:p14="http://schemas.microsoft.com/office/powerpoint/2010/main" val="3040023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p:cNvSpPr/>
          <p:nvPr/>
        </p:nvSpPr>
        <p:spPr>
          <a:xfrm>
            <a:off x="406400" y="274320"/>
            <a:ext cx="10000000" cy="640000"/>
          </a:xfrm>
          <a:prstGeom prst="rect">
            <a:avLst/>
          </a:prstGeom>
          <a:noFill/>
          <a:ln>
            <a:noFill/>
          </a:ln>
        </p:spPr>
        <p:txBody>
          <a:bodyPr wrap="square" lIns="0" tIns="0" rIns="0" bIns="0" anchor="t"/>
          <a:lstStyle/>
          <a:p>
            <a:pPr>
              <a:buNone/>
            </a:pPr>
            <a:r>
              <a:rPr lang="en-US" sz="2800" b="1" dirty="0">
                <a:solidFill>
                  <a:srgbClr val="000000"/>
                </a:solidFill>
                <a:latin typeface="PP Neue Machina Plain Ultrabold"/>
              </a:rPr>
              <a:t>Business Outcomes</a:t>
            </a:r>
          </a:p>
        </p:txBody>
      </p:sp>
      <p:sp>
        <p:nvSpPr>
          <p:cNvPr id="11" name="AccentBar"/>
          <p:cNvSpPr/>
          <p:nvPr/>
        </p:nvSpPr>
        <p:spPr>
          <a:xfrm>
            <a:off x="406400" y="960000"/>
            <a:ext cx="800000" cy="50000"/>
          </a:xfrm>
          <a:prstGeom prst="rect">
            <a:avLst/>
          </a:prstGeom>
          <a:solidFill>
            <a:srgbClr val="2CDCAA"/>
          </a:solidFill>
          <a:ln>
            <a:noFill/>
          </a:ln>
        </p:spPr>
        <p:txBody>
          <a:bodyPr/>
          <a:lstStyle/>
          <a:p>
            <a:endParaRPr lang="en-US"/>
          </a:p>
        </p:txBody>
      </p:sp>
      <p:sp>
        <p:nvSpPr>
          <p:cNvPr id="20" name="MetricCard0"/>
          <p:cNvSpPr/>
          <p:nvPr/>
        </p:nvSpPr>
        <p:spPr>
          <a:xfrm>
            <a:off x="406400" y="1270000"/>
            <a:ext cx="3200000" cy="3556000"/>
          </a:xfrm>
          <a:prstGeom prst="roundRect">
            <a:avLst>
              <a:gd name="adj" fmla="val 5000"/>
            </a:avLst>
          </a:prstGeom>
          <a:solidFill>
            <a:srgbClr val="F5F5F5"/>
          </a:solidFill>
          <a:ln w="12700">
            <a:solidFill>
              <a:srgbClr val="2CDCAA"/>
            </a:solidFill>
          </a:ln>
        </p:spPr>
        <p:txBody>
          <a:bodyPr wrap="square" lIns="182880" tIns="137160" rIns="182880" bIns="91440" anchor="t"/>
          <a:lstStyle/>
          <a:p>
            <a:pPr>
              <a:buNone/>
            </a:pPr>
            <a:r>
              <a:rPr lang="en-US" sz="1800" b="1" dirty="0">
                <a:solidFill>
                  <a:srgbClr val="000000"/>
                </a:solidFill>
                <a:latin typeface="PP Neue Machina Plain Ultrabold"/>
              </a:rPr>
              <a:t>Onboarding Time</a:t>
            </a:r>
          </a:p>
          <a:p>
            <a:pPr>
              <a:spcBef>
                <a:spcPts val="1200"/>
              </a:spcBef>
              <a:buNone/>
            </a:pPr>
            <a:r>
              <a:rPr lang="en-US" sz="2800" b="1" dirty="0">
                <a:solidFill>
                  <a:srgbClr val="F50F7D"/>
                </a:solidFill>
                <a:latin typeface="PP Neue Machina Plain Ultrabold"/>
              </a:rPr>
              <a:t>Months</a:t>
            </a:r>
            <a:r>
              <a:rPr lang="en-US" sz="2400" dirty="0">
                <a:solidFill>
                  <a:srgbClr val="2CDCAA"/>
                </a:solidFill>
                <a:latin typeface="Verdana"/>
              </a:rPr>
              <a:t>  →  </a:t>
            </a:r>
            <a:r>
              <a:rPr lang="en-US" sz="2800" b="1" dirty="0">
                <a:solidFill>
                  <a:srgbClr val="006450"/>
                </a:solidFill>
                <a:latin typeface="PP Neue Machina Plain Ultrabold"/>
              </a:rPr>
              <a:t>Weeks</a:t>
            </a:r>
          </a:p>
        </p:txBody>
      </p:sp>
      <p:sp>
        <p:nvSpPr>
          <p:cNvPr id="24" name="MetricCard1"/>
          <p:cNvSpPr/>
          <p:nvPr/>
        </p:nvSpPr>
        <p:spPr>
          <a:xfrm>
            <a:off x="3806400" y="1270000"/>
            <a:ext cx="3200000" cy="3556000"/>
          </a:xfrm>
          <a:prstGeom prst="roundRect">
            <a:avLst>
              <a:gd name="adj" fmla="val 5000"/>
            </a:avLst>
          </a:prstGeom>
          <a:solidFill>
            <a:srgbClr val="F5F5F5"/>
          </a:solidFill>
          <a:ln w="12700">
            <a:solidFill>
              <a:srgbClr val="FFC30F"/>
            </a:solidFill>
          </a:ln>
        </p:spPr>
        <p:txBody>
          <a:bodyPr wrap="square" lIns="182880" tIns="137160" rIns="182880" bIns="91440" anchor="t"/>
          <a:lstStyle/>
          <a:p>
            <a:pPr>
              <a:buNone/>
            </a:pPr>
            <a:r>
              <a:rPr lang="en-US" sz="1800" b="1" dirty="0">
                <a:solidFill>
                  <a:srgbClr val="000000"/>
                </a:solidFill>
                <a:latin typeface="PP Neue Machina Plain Ultrabold"/>
              </a:rPr>
              <a:t>Impact Analysis</a:t>
            </a:r>
          </a:p>
          <a:p>
            <a:pPr>
              <a:spcBef>
                <a:spcPts val="1200"/>
              </a:spcBef>
              <a:buNone/>
            </a:pPr>
            <a:r>
              <a:rPr lang="en-US" sz="2800" b="1" dirty="0">
                <a:solidFill>
                  <a:srgbClr val="F50F7D"/>
                </a:solidFill>
                <a:latin typeface="PP Neue Machina Plain Ultrabold"/>
              </a:rPr>
              <a:t>Days</a:t>
            </a:r>
            <a:r>
              <a:rPr lang="en-US" sz="2400" dirty="0">
                <a:solidFill>
                  <a:srgbClr val="FFC30F"/>
                </a:solidFill>
                <a:latin typeface="Verdana"/>
              </a:rPr>
              <a:t>  →  </a:t>
            </a:r>
            <a:r>
              <a:rPr lang="en-US" sz="2800" b="1" dirty="0">
                <a:solidFill>
                  <a:srgbClr val="006450"/>
                </a:solidFill>
                <a:latin typeface="PP Neue Machina Plain Ultrabold"/>
              </a:rPr>
              <a:t>Hours</a:t>
            </a:r>
          </a:p>
        </p:txBody>
      </p:sp>
      <p:sp>
        <p:nvSpPr>
          <p:cNvPr id="28" name="MetricCard2"/>
          <p:cNvSpPr/>
          <p:nvPr/>
        </p:nvSpPr>
        <p:spPr>
          <a:xfrm>
            <a:off x="7206400" y="1270000"/>
            <a:ext cx="3200000" cy="3556000"/>
          </a:xfrm>
          <a:prstGeom prst="roundRect">
            <a:avLst>
              <a:gd name="adj" fmla="val 5000"/>
            </a:avLst>
          </a:prstGeom>
          <a:solidFill>
            <a:srgbClr val="F5F5F5"/>
          </a:solidFill>
          <a:ln w="12700">
            <a:solidFill>
              <a:srgbClr val="6464D7"/>
            </a:solidFill>
          </a:ln>
        </p:spPr>
        <p:txBody>
          <a:bodyPr wrap="square" lIns="182880" tIns="137160" rIns="182880" bIns="91440" anchor="t"/>
          <a:lstStyle/>
          <a:p>
            <a:pPr>
              <a:buNone/>
            </a:pPr>
            <a:r>
              <a:rPr lang="en-US" sz="1800" b="1" dirty="0">
                <a:solidFill>
                  <a:srgbClr val="000000"/>
                </a:solidFill>
                <a:latin typeface="PP Neue Machina Plain Ultrabold"/>
              </a:rPr>
              <a:t>SME Dependency</a:t>
            </a:r>
          </a:p>
          <a:p>
            <a:pPr>
              <a:spcBef>
                <a:spcPts val="1200"/>
              </a:spcBef>
              <a:buNone/>
            </a:pPr>
            <a:r>
              <a:rPr lang="en-US" sz="2800" b="1" dirty="0">
                <a:solidFill>
                  <a:srgbClr val="F50F7D"/>
                </a:solidFill>
                <a:latin typeface="PP Neue Machina Plain Ultrabold"/>
              </a:rPr>
              <a:t>High</a:t>
            </a:r>
            <a:r>
              <a:rPr lang="en-US" sz="2400" dirty="0">
                <a:solidFill>
                  <a:srgbClr val="6464D7"/>
                </a:solidFill>
                <a:latin typeface="Verdana"/>
              </a:rPr>
              <a:t>  →  </a:t>
            </a:r>
            <a:r>
              <a:rPr lang="en-US" sz="2800" b="1" dirty="0">
                <a:solidFill>
                  <a:srgbClr val="006450"/>
                </a:solidFill>
                <a:latin typeface="PP Neue Machina Plain Ultrabold"/>
              </a:rPr>
              <a:t>Lower</a:t>
            </a:r>
          </a:p>
        </p:txBody>
      </p:sp>
      <p:sp>
        <p:nvSpPr>
          <p:cNvPr id="40" name="Flywheel"/>
          <p:cNvSpPr/>
          <p:nvPr/>
        </p:nvSpPr>
        <p:spPr>
          <a:xfrm>
            <a:off x="406400" y="5143500"/>
            <a:ext cx="10400000" cy="698500"/>
          </a:xfrm>
          <a:prstGeom prst="roundRect">
            <a:avLst>
              <a:gd name="adj" fmla="val 10000"/>
            </a:avLst>
          </a:prstGeom>
          <a:solidFill>
            <a:srgbClr val="006450"/>
          </a:solidFill>
          <a:ln>
            <a:noFill/>
          </a:ln>
        </p:spPr>
        <p:txBody>
          <a:bodyPr wrap="square" lIns="274320" tIns="91440" rIns="274320" bIns="91440" anchor="ctr"/>
          <a:lstStyle/>
          <a:p>
            <a:pPr algn="ctr">
              <a:buNone/>
            </a:pPr>
            <a:r>
              <a:rPr lang="en-US" sz="1400" b="1" dirty="0">
                <a:solidFill>
                  <a:srgbClr val="FFC30F"/>
                </a:solidFill>
                <a:latin typeface="Verdana"/>
              </a:rPr>
              <a:t>Flywheel:   </a:t>
            </a:r>
            <a:r>
              <a:rPr lang="en-US" sz="1600" b="1" dirty="0">
                <a:solidFill>
                  <a:srgbClr val="FFFFFF"/>
                </a:solidFill>
                <a:latin typeface="Verdana"/>
              </a:rPr>
              <a:t>Learn</a:t>
            </a:r>
            <a:r>
              <a:rPr lang="en-US" sz="1600" dirty="0">
                <a:solidFill>
                  <a:srgbClr val="2CDCAA"/>
                </a:solidFill>
                <a:latin typeface="Verdana"/>
              </a:rPr>
              <a:t>  →  </a:t>
            </a:r>
            <a:r>
              <a:rPr lang="en-US" sz="1600" b="1" dirty="0">
                <a:solidFill>
                  <a:srgbClr val="FFFFFF"/>
                </a:solidFill>
                <a:latin typeface="Verdana"/>
              </a:rPr>
              <a:t>Document</a:t>
            </a:r>
            <a:r>
              <a:rPr lang="en-US" sz="1600" dirty="0">
                <a:solidFill>
                  <a:srgbClr val="2CDCAA"/>
                </a:solidFill>
                <a:latin typeface="Verdana"/>
              </a:rPr>
              <a:t>  →  </a:t>
            </a:r>
            <a:r>
              <a:rPr lang="en-US" sz="1600" b="1" dirty="0">
                <a:solidFill>
                  <a:srgbClr val="FFFFFF"/>
                </a:solidFill>
                <a:latin typeface="Verdana"/>
              </a:rPr>
              <a:t>Query</a:t>
            </a:r>
            <a:r>
              <a:rPr lang="en-US" sz="1600" dirty="0">
                <a:solidFill>
                  <a:srgbClr val="2CDCAA"/>
                </a:solidFill>
                <a:latin typeface="Verdana"/>
              </a:rPr>
              <a:t>  →  </a:t>
            </a:r>
            <a:r>
              <a:rPr lang="en-US" sz="1600" b="1" dirty="0">
                <a:solidFill>
                  <a:srgbClr val="FFFFFF"/>
                </a:solidFill>
                <a:latin typeface="Verdana"/>
              </a:rPr>
              <a:t>Improve</a:t>
            </a:r>
            <a:r>
              <a:rPr lang="en-US" sz="1600" dirty="0">
                <a:solidFill>
                  <a:srgbClr val="2CDCAA"/>
                </a:solidFill>
                <a:latin typeface="Verdana"/>
              </a:rPr>
              <a:t>  →  </a:t>
            </a:r>
            <a:r>
              <a:rPr lang="en-US" sz="1600" b="1" dirty="0">
                <a:solidFill>
                  <a:srgbClr val="FFFFFF"/>
                </a:solidFill>
                <a:latin typeface="Verdana"/>
              </a:rPr>
              <a:t>Modernize</a:t>
            </a:r>
          </a:p>
        </p:txBody>
      </p:sp>
    </p:spTree>
    <p:extLst>
      <p:ext uri="{BB962C8B-B14F-4D97-AF65-F5344CB8AC3E}">
        <p14:creationId xmlns:p14="http://schemas.microsoft.com/office/powerpoint/2010/main" val="2952122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p:cNvSpPr/>
          <p:nvPr/>
        </p:nvSpPr>
        <p:spPr>
          <a:xfrm>
            <a:off x="406400" y="274320"/>
            <a:ext cx="10000000" cy="640000"/>
          </a:xfrm>
          <a:prstGeom prst="rect">
            <a:avLst/>
          </a:prstGeom>
          <a:noFill/>
          <a:ln>
            <a:noFill/>
          </a:ln>
        </p:spPr>
        <p:txBody>
          <a:bodyPr wrap="square" lIns="0" tIns="0" rIns="0" bIns="0" anchor="t"/>
          <a:lstStyle/>
          <a:p>
            <a:pPr>
              <a:buNone/>
            </a:pPr>
            <a:r>
              <a:rPr lang="en-US" sz="2800" b="1" dirty="0">
                <a:solidFill>
                  <a:srgbClr val="000000"/>
                </a:solidFill>
                <a:latin typeface="PP Neue Machina Plain Ultrabold"/>
              </a:rPr>
              <a:t>Engagement Approach (Typical)</a:t>
            </a:r>
          </a:p>
        </p:txBody>
      </p:sp>
      <p:sp>
        <p:nvSpPr>
          <p:cNvPr id="11" name="AccentBar"/>
          <p:cNvSpPr/>
          <p:nvPr/>
        </p:nvSpPr>
        <p:spPr>
          <a:xfrm>
            <a:off x="406400" y="960000"/>
            <a:ext cx="800000" cy="50000"/>
          </a:xfrm>
          <a:prstGeom prst="rect">
            <a:avLst/>
          </a:prstGeom>
          <a:solidFill>
            <a:srgbClr val="2CDCAA"/>
          </a:solidFill>
          <a:ln>
            <a:noFill/>
          </a:ln>
        </p:spPr>
        <p:txBody>
          <a:bodyPr/>
          <a:lstStyle/>
          <a:p>
            <a:endParaRPr lang="en-US"/>
          </a:p>
        </p:txBody>
      </p:sp>
      <p:sp>
        <p:nvSpPr>
          <p:cNvPr id="12" name="TimelineLine"/>
          <p:cNvSpPr/>
          <p:nvPr/>
        </p:nvSpPr>
        <p:spPr>
          <a:xfrm>
            <a:off x="406400" y="1587500"/>
            <a:ext cx="8200000" cy="40000"/>
          </a:xfrm>
          <a:prstGeom prst="rect">
            <a:avLst/>
          </a:prstGeom>
          <a:solidFill>
            <a:srgbClr val="2CDCAA"/>
          </a:solidFill>
          <a:ln>
            <a:noFill/>
          </a:ln>
        </p:spPr>
        <p:txBody>
          <a:bodyPr/>
          <a:lstStyle/>
          <a:p>
            <a:endParaRPr lang="en-US"/>
          </a:p>
        </p:txBody>
      </p:sp>
      <p:sp>
        <p:nvSpPr>
          <p:cNvPr id="20" name="Gate0"/>
          <p:cNvSpPr/>
          <p:nvPr/>
        </p:nvSpPr>
        <p:spPr>
          <a:xfrm>
            <a:off x="406400" y="1460500"/>
            <a:ext cx="300000" cy="300000"/>
          </a:xfrm>
          <a:prstGeom prst="ellipse">
            <a:avLst/>
          </a:prstGeom>
          <a:solidFill>
            <a:srgbClr val="006450"/>
          </a:solidFill>
          <a:ln w="25400">
            <a:solidFill>
              <a:srgbClr val="FFFFFF"/>
            </a:solidFill>
          </a:ln>
        </p:spPr>
        <p:txBody>
          <a:bodyPr wrap="none" lIns="0" tIns="0" rIns="0" bIns="0" anchor="ctr"/>
          <a:lstStyle/>
          <a:p>
            <a:pPr algn="ctr">
              <a:buNone/>
            </a:pPr>
            <a:r>
              <a:rPr lang="en-US" sz="1400" b="1" dirty="0">
                <a:solidFill>
                  <a:srgbClr val="FFFFFF"/>
                </a:solidFill>
                <a:latin typeface="Verdana"/>
              </a:rPr>
              <a:t>1</a:t>
            </a:r>
          </a:p>
        </p:txBody>
      </p:sp>
      <p:sp>
        <p:nvSpPr>
          <p:cNvPr id="21" name="Label0"/>
          <p:cNvSpPr/>
          <p:nvPr/>
        </p:nvSpPr>
        <p:spPr>
          <a:xfrm>
            <a:off x="406400" y="1181100"/>
            <a:ext cx="2500000" cy="280000"/>
          </a:xfrm>
          <a:prstGeom prst="rect">
            <a:avLst/>
          </a:prstGeom>
          <a:noFill/>
          <a:ln>
            <a:noFill/>
          </a:ln>
        </p:spPr>
        <p:txBody>
          <a:bodyPr wrap="square" lIns="0" tIns="0" rIns="0" bIns="0" anchor="b"/>
          <a:lstStyle/>
          <a:p>
            <a:pPr>
              <a:buNone/>
            </a:pPr>
            <a:r>
              <a:rPr lang="en-US" sz="1500" b="1" dirty="0">
                <a:solidFill>
                  <a:srgbClr val="006450"/>
                </a:solidFill>
                <a:latin typeface="PP Neue Machina Plain Ultrabold"/>
              </a:rPr>
              <a:t>Week 0</a:t>
            </a:r>
          </a:p>
        </p:txBody>
      </p:sp>
      <p:sp>
        <p:nvSpPr>
          <p:cNvPr id="22" name="Phase0"/>
          <p:cNvSpPr/>
          <p:nvPr/>
        </p:nvSpPr>
        <p:spPr>
          <a:xfrm>
            <a:off x="406400" y="1905000"/>
            <a:ext cx="2600000" cy="2667000"/>
          </a:xfrm>
          <a:prstGeom prst="roundRect">
            <a:avLst>
              <a:gd name="adj" fmla="val 5000"/>
            </a:avLst>
          </a:prstGeom>
          <a:solidFill>
            <a:srgbClr val="F5F5F5"/>
          </a:solidFill>
          <a:ln w="12700">
            <a:solidFill>
              <a:srgbClr val="006450"/>
            </a:solidFill>
          </a:ln>
        </p:spPr>
        <p:txBody>
          <a:bodyPr wrap="square" lIns="137160" tIns="91440" rIns="137160" bIns="91440" anchor="t"/>
          <a:lstStyle/>
          <a:p>
            <a:pPr>
              <a:buNone/>
            </a:pPr>
            <a:r>
              <a:rPr lang="en-US" sz="1600" b="1" dirty="0">
                <a:solidFill>
                  <a:srgbClr val="000000"/>
                </a:solidFill>
                <a:latin typeface="PP Neue Machina Plain Ultrabold"/>
              </a:rPr>
              <a:t>Scope &amp; Setup</a:t>
            </a:r>
          </a:p>
          <a:p>
            <a:pPr>
              <a:spcBef>
                <a:spcPts val="400"/>
              </a:spcBef>
              <a:buNone/>
            </a:pPr>
            <a:r>
              <a:rPr lang="en-US" sz="1400" dirty="0">
                <a:solidFill>
                  <a:srgbClr val="333333"/>
                </a:solidFill>
                <a:latin typeface="Verdana"/>
              </a:rPr>
              <a:t>Scope, access, success criteria, guardrails (security, audit, residency)</a:t>
            </a:r>
          </a:p>
        </p:txBody>
      </p:sp>
      <p:sp>
        <p:nvSpPr>
          <p:cNvPr id="23" name="Gate1"/>
          <p:cNvSpPr/>
          <p:nvPr/>
        </p:nvSpPr>
        <p:spPr>
          <a:xfrm>
            <a:off x="3100000" y="1460500"/>
            <a:ext cx="300000" cy="300000"/>
          </a:xfrm>
          <a:prstGeom prst="ellipse">
            <a:avLst/>
          </a:prstGeom>
          <a:solidFill>
            <a:srgbClr val="2CDCAA"/>
          </a:solidFill>
          <a:ln w="25400">
            <a:solidFill>
              <a:srgbClr val="FFFFFF"/>
            </a:solidFill>
          </a:ln>
        </p:spPr>
        <p:txBody>
          <a:bodyPr wrap="none" lIns="0" tIns="0" rIns="0" bIns="0" anchor="ctr"/>
          <a:lstStyle/>
          <a:p>
            <a:pPr algn="ctr">
              <a:buNone/>
            </a:pPr>
            <a:r>
              <a:rPr lang="en-US" sz="1400" b="1" dirty="0">
                <a:solidFill>
                  <a:srgbClr val="FFFFFF"/>
                </a:solidFill>
                <a:latin typeface="Verdana"/>
              </a:rPr>
              <a:t>2</a:t>
            </a:r>
          </a:p>
        </p:txBody>
      </p:sp>
      <p:sp>
        <p:nvSpPr>
          <p:cNvPr id="24" name="Label1"/>
          <p:cNvSpPr/>
          <p:nvPr/>
        </p:nvSpPr>
        <p:spPr>
          <a:xfrm>
            <a:off x="3100000" y="1181100"/>
            <a:ext cx="2700000" cy="280000"/>
          </a:xfrm>
          <a:prstGeom prst="rect">
            <a:avLst/>
          </a:prstGeom>
          <a:noFill/>
          <a:ln>
            <a:noFill/>
          </a:ln>
        </p:spPr>
        <p:txBody>
          <a:bodyPr wrap="square" lIns="0" tIns="0" rIns="0" bIns="0" anchor="b"/>
          <a:lstStyle/>
          <a:p>
            <a:pPr>
              <a:buNone/>
            </a:pPr>
            <a:r>
              <a:rPr lang="en-US" sz="1500" b="1" dirty="0">
                <a:solidFill>
                  <a:srgbClr val="2CDCAA"/>
                </a:solidFill>
                <a:latin typeface="PP Neue Machina Plain Ultrabold"/>
              </a:rPr>
              <a:t>Weeks 1–2</a:t>
            </a:r>
          </a:p>
        </p:txBody>
      </p:sp>
      <p:sp>
        <p:nvSpPr>
          <p:cNvPr id="25" name="Phase1"/>
          <p:cNvSpPr/>
          <p:nvPr/>
        </p:nvSpPr>
        <p:spPr>
          <a:xfrm>
            <a:off x="3200000" y="1905000"/>
            <a:ext cx="2600000" cy="2667000"/>
          </a:xfrm>
          <a:prstGeom prst="roundRect">
            <a:avLst>
              <a:gd name="adj" fmla="val 5000"/>
            </a:avLst>
          </a:prstGeom>
          <a:solidFill>
            <a:srgbClr val="F5F5F5"/>
          </a:solidFill>
          <a:ln w="12700">
            <a:solidFill>
              <a:srgbClr val="2CDCAA"/>
            </a:solidFill>
          </a:ln>
        </p:spPr>
        <p:txBody>
          <a:bodyPr wrap="square" lIns="137160" tIns="91440" rIns="137160" bIns="91440" anchor="t"/>
          <a:lstStyle/>
          <a:p>
            <a:pPr>
              <a:buNone/>
            </a:pPr>
            <a:r>
              <a:rPr lang="en-US" sz="1600" b="1" dirty="0">
                <a:solidFill>
                  <a:srgbClr val="000000"/>
                </a:solidFill>
                <a:latin typeface="PP Neue Machina Plain Ultrabold"/>
              </a:rPr>
              <a:t>Ingestion &amp; Mapping</a:t>
            </a:r>
          </a:p>
          <a:p>
            <a:pPr>
              <a:spcBef>
                <a:spcPts val="400"/>
              </a:spcBef>
              <a:buNone/>
            </a:pPr>
            <a:r>
              <a:rPr lang="en-US" sz="1400" dirty="0">
                <a:solidFill>
                  <a:srgbClr val="333333"/>
                </a:solidFill>
                <a:latin typeface="Verdana"/>
              </a:rPr>
              <a:t>Ingestion + initial system map + first impact maps</a:t>
            </a:r>
          </a:p>
        </p:txBody>
      </p:sp>
      <p:sp>
        <p:nvSpPr>
          <p:cNvPr id="26" name="Gate2"/>
          <p:cNvSpPr/>
          <p:nvPr/>
        </p:nvSpPr>
        <p:spPr>
          <a:xfrm>
            <a:off x="6000000" y="1460500"/>
            <a:ext cx="300000" cy="300000"/>
          </a:xfrm>
          <a:prstGeom prst="ellipse">
            <a:avLst/>
          </a:prstGeom>
          <a:solidFill>
            <a:srgbClr val="FFC30F"/>
          </a:solidFill>
          <a:ln w="25400">
            <a:solidFill>
              <a:srgbClr val="FFFFFF"/>
            </a:solidFill>
          </a:ln>
        </p:spPr>
        <p:txBody>
          <a:bodyPr wrap="none" lIns="0" tIns="0" rIns="0" bIns="0" anchor="ctr"/>
          <a:lstStyle/>
          <a:p>
            <a:pPr algn="ctr">
              <a:buNone/>
            </a:pPr>
            <a:r>
              <a:rPr lang="en-US" sz="1400" b="1" dirty="0">
                <a:solidFill>
                  <a:srgbClr val="FFFFFF"/>
                </a:solidFill>
                <a:latin typeface="Verdana"/>
              </a:rPr>
              <a:t>3</a:t>
            </a:r>
          </a:p>
        </p:txBody>
      </p:sp>
      <p:sp>
        <p:nvSpPr>
          <p:cNvPr id="27" name="Label2"/>
          <p:cNvSpPr/>
          <p:nvPr/>
        </p:nvSpPr>
        <p:spPr>
          <a:xfrm>
            <a:off x="6000000" y="1181100"/>
            <a:ext cx="2700000" cy="280000"/>
          </a:xfrm>
          <a:prstGeom prst="rect">
            <a:avLst/>
          </a:prstGeom>
          <a:noFill/>
          <a:ln>
            <a:noFill/>
          </a:ln>
        </p:spPr>
        <p:txBody>
          <a:bodyPr wrap="square" lIns="0" tIns="0" rIns="0" bIns="0" anchor="b"/>
          <a:lstStyle/>
          <a:p>
            <a:pPr>
              <a:buNone/>
            </a:pPr>
            <a:r>
              <a:rPr lang="en-US" sz="1500" b="1" dirty="0">
                <a:solidFill>
                  <a:srgbClr val="FFC30F"/>
                </a:solidFill>
                <a:latin typeface="PP Neue Machina Plain Ultrabold"/>
              </a:rPr>
              <a:t>Weeks 3–4</a:t>
            </a:r>
          </a:p>
        </p:txBody>
      </p:sp>
      <p:sp>
        <p:nvSpPr>
          <p:cNvPr id="28" name="Phase2"/>
          <p:cNvSpPr/>
          <p:nvPr/>
        </p:nvSpPr>
        <p:spPr>
          <a:xfrm>
            <a:off x="6000000" y="1905000"/>
            <a:ext cx="2600000" cy="2667000"/>
          </a:xfrm>
          <a:prstGeom prst="roundRect">
            <a:avLst>
              <a:gd name="adj" fmla="val 5000"/>
            </a:avLst>
          </a:prstGeom>
          <a:solidFill>
            <a:srgbClr val="F5F5F5"/>
          </a:solidFill>
          <a:ln w="12700">
            <a:solidFill>
              <a:srgbClr val="FFC30F"/>
            </a:solidFill>
          </a:ln>
        </p:spPr>
        <p:txBody>
          <a:bodyPr wrap="square" lIns="137160" tIns="91440" rIns="137160" bIns="91440" anchor="t"/>
          <a:lstStyle/>
          <a:p>
            <a:pPr>
              <a:buNone/>
            </a:pPr>
            <a:r>
              <a:rPr lang="en-US" sz="1600" b="1" dirty="0">
                <a:solidFill>
                  <a:srgbClr val="000000"/>
                </a:solidFill>
                <a:latin typeface="PP Neue Machina Plain Ultrabold"/>
              </a:rPr>
              <a:t>Demo &amp; Readout</a:t>
            </a:r>
          </a:p>
          <a:p>
            <a:pPr>
              <a:spcBef>
                <a:spcPts val="400"/>
              </a:spcBef>
              <a:buNone/>
            </a:pPr>
            <a:r>
              <a:rPr lang="en-US" sz="1400" dirty="0">
                <a:solidFill>
                  <a:srgbClr val="333333"/>
                </a:solidFill>
                <a:latin typeface="Verdana"/>
              </a:rPr>
              <a:t>Traceable Q&amp;A demo + findings readout + tiered roadmap</a:t>
            </a:r>
          </a:p>
        </p:txBody>
      </p:sp>
      <p:sp>
        <p:nvSpPr>
          <p:cNvPr id="35" name="RiskControls"/>
          <p:cNvSpPr/>
          <p:nvPr/>
        </p:nvSpPr>
        <p:spPr>
          <a:xfrm>
            <a:off x="406400" y="4826000"/>
            <a:ext cx="8200000" cy="444500"/>
          </a:xfrm>
          <a:prstGeom prst="rect">
            <a:avLst/>
          </a:prstGeom>
          <a:noFill/>
          <a:ln>
            <a:noFill/>
          </a:ln>
        </p:spPr>
        <p:txBody>
          <a:bodyPr wrap="square" lIns="0" tIns="0" rIns="0" bIns="0" anchor="ctr"/>
          <a:lstStyle/>
          <a:p>
            <a:pPr>
              <a:buNone/>
            </a:pPr>
            <a:r>
              <a:rPr lang="en-US" sz="1400" b="1" dirty="0">
                <a:solidFill>
                  <a:srgbClr val="006450"/>
                </a:solidFill>
                <a:latin typeface="Verdana"/>
              </a:rPr>
              <a:t>Risk Controls:   </a:t>
            </a:r>
            <a:r>
              <a:rPr lang="en-US" sz="1400" dirty="0">
                <a:solidFill>
                  <a:srgbClr val="333333"/>
                </a:solidFill>
                <a:latin typeface="Verdana"/>
              </a:rPr>
              <a:t>🛡️ Data Residency    🔒 Access Control    📋 Audit Logs</a:t>
            </a:r>
          </a:p>
        </p:txBody>
      </p:sp>
      <p:sp>
        <p:nvSpPr>
          <p:cNvPr id="36" name="Deliverables"/>
          <p:cNvSpPr/>
          <p:nvPr/>
        </p:nvSpPr>
        <p:spPr>
          <a:xfrm>
            <a:off x="406400" y="5334000"/>
            <a:ext cx="8200000" cy="825500"/>
          </a:xfrm>
          <a:prstGeom prst="roundRect">
            <a:avLst>
              <a:gd name="adj" fmla="val 10000"/>
            </a:avLst>
          </a:prstGeom>
          <a:solidFill>
            <a:srgbClr val="006450"/>
          </a:solidFill>
          <a:ln>
            <a:noFill/>
          </a:ln>
        </p:spPr>
        <p:txBody>
          <a:bodyPr wrap="square" lIns="274320" tIns="68580" rIns="274320" bIns="68580" anchor="ctr"/>
          <a:lstStyle/>
          <a:p>
            <a:pPr>
              <a:buNone/>
            </a:pPr>
            <a:r>
              <a:rPr lang="en-US" sz="1500" b="1" dirty="0">
                <a:solidFill>
                  <a:srgbClr val="FFC30F"/>
                </a:solidFill>
                <a:latin typeface="PP Neue Machina Plain Ultrabold"/>
              </a:rPr>
              <a:t>Deliverables Starter Kit</a:t>
            </a:r>
          </a:p>
          <a:p>
            <a:pPr>
              <a:spcBef>
                <a:spcPts val="200"/>
              </a:spcBef>
              <a:buNone/>
            </a:pPr>
            <a:r>
              <a:rPr lang="en-US" sz="1400" dirty="0">
                <a:solidFill>
                  <a:srgbClr val="FFFFFF"/>
                </a:solidFill>
                <a:latin typeface="Verdana"/>
              </a:rPr>
              <a:t>System Atlas   •   Impact Maps   •   Query Recipes   •   Deployment Plan</a:t>
            </a:r>
          </a:p>
        </p:txBody>
      </p:sp>
    </p:spTree>
    <p:extLst>
      <p:ext uri="{BB962C8B-B14F-4D97-AF65-F5344CB8AC3E}">
        <p14:creationId xmlns:p14="http://schemas.microsoft.com/office/powerpoint/2010/main" val="17247494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26_Template">
  <a:themeElements>
    <a:clrScheme name="25_New colors_Ascendion">
      <a:dk1>
        <a:srgbClr val="000000"/>
      </a:dk1>
      <a:lt1>
        <a:srgbClr val="FFFFFF"/>
      </a:lt1>
      <a:dk2>
        <a:srgbClr val="B3B3B3"/>
      </a:dk2>
      <a:lt2>
        <a:srgbClr val="E8E8E8"/>
      </a:lt2>
      <a:accent1>
        <a:srgbClr val="2CDCAA"/>
      </a:accent1>
      <a:accent2>
        <a:srgbClr val="006450"/>
      </a:accent2>
      <a:accent3>
        <a:srgbClr val="FFC30F"/>
      </a:accent3>
      <a:accent4>
        <a:srgbClr val="6464D7"/>
      </a:accent4>
      <a:accent5>
        <a:srgbClr val="F50F7D"/>
      </a:accent5>
      <a:accent6>
        <a:srgbClr val="828282"/>
      </a:accent6>
      <a:hlink>
        <a:srgbClr val="5937AF"/>
      </a:hlink>
      <a:folHlink>
        <a:srgbClr val="000000"/>
      </a:folHlink>
    </a:clrScheme>
    <a:fontScheme name="Ascendion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5_Template" id="{0519F492-4EE2-C240-8DA3-FEDCA163F0E4}" vid="{F95DF2F9-D131-DC46-B5ED-3DDCEE6E29CD}"/>
    </a:ext>
  </a:extLst>
</a:theme>
</file>

<file path=ppt/theme/theme2.xml><?xml version="1.0" encoding="utf-8"?>
<a:theme xmlns:a="http://schemas.openxmlformats.org/drawingml/2006/main" name="Content - Light">
  <a:themeElements>
    <a:clrScheme name="25_New_ascendion colors">
      <a:dk1>
        <a:srgbClr val="000000"/>
      </a:dk1>
      <a:lt1>
        <a:srgbClr val="FFFFFF"/>
      </a:lt1>
      <a:dk2>
        <a:srgbClr val="B3B3B3"/>
      </a:dk2>
      <a:lt2>
        <a:srgbClr val="E8E8E8"/>
      </a:lt2>
      <a:accent1>
        <a:srgbClr val="2CDCAA"/>
      </a:accent1>
      <a:accent2>
        <a:srgbClr val="006450"/>
      </a:accent2>
      <a:accent3>
        <a:srgbClr val="F5821E"/>
      </a:accent3>
      <a:accent4>
        <a:srgbClr val="6666CC"/>
      </a:accent4>
      <a:accent5>
        <a:srgbClr val="8C0059"/>
      </a:accent5>
      <a:accent6>
        <a:srgbClr val="828282"/>
      </a:accent6>
      <a:hlink>
        <a:srgbClr val="968CFA"/>
      </a:hlink>
      <a:folHlink>
        <a:srgbClr val="000000"/>
      </a:folHlink>
    </a:clrScheme>
    <a:fontScheme name="Ascendion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E3F4082-7808-4881-B841-DF50AC8472A2}" vid="{AD8F05DF-AF63-4EFF-8DEB-D5CA5C06AB5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611E126-CA52-E441-BBC7-6E9C47638BE1}">
  <we:reference id="wa200010001" version="1.0.0.0" store="en-US" storeType="OMEX"/>
  <we:alternateReferences>
    <we:reference id="WA200010001" version="1.0.0.0" store="en-US" storeType="OMEX"/>
  </we:alternateReferences>
  <we:properties>
    <we:property name="Office.AutoShowTaskpaneWithDocument" value="true"/>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8EC293183C3D143B44C68C9C9060FED" ma:contentTypeVersion="14" ma:contentTypeDescription="Create a new document." ma:contentTypeScope="" ma:versionID="a8dff3223e520fd9d30cde71772071cb">
  <xsd:schema xmlns:xsd="http://www.w3.org/2001/XMLSchema" xmlns:xs="http://www.w3.org/2001/XMLSchema" xmlns:p="http://schemas.microsoft.com/office/2006/metadata/properties" xmlns:ns2="5b049a44-7832-48fa-a709-f6e368cd470b" xmlns:ns3="d5635f6c-c281-4f83-9a95-4aa47450f7b6" targetNamespace="http://schemas.microsoft.com/office/2006/metadata/properties" ma:root="true" ma:fieldsID="f837c46c80821455b062b4ab20f7ff0f" ns2:_="" ns3:_="">
    <xsd:import namespace="5b049a44-7832-48fa-a709-f6e368cd470b"/>
    <xsd:import namespace="d5635f6c-c281-4f83-9a95-4aa47450f7b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049a44-7832-48fa-a709-f6e368cd47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afb2a67-62c7-4b1b-9e2c-5fa2ecb7a4d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5635f6c-c281-4f83-9a95-4aa47450f7b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bc4756d-0469-4e8a-ab59-202d89b49cb0}" ma:internalName="TaxCatchAll" ma:showField="CatchAllData" ma:web="d5635f6c-c281-4f83-9a95-4aa47450f7b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b049a44-7832-48fa-a709-f6e368cd470b">
      <Terms xmlns="http://schemas.microsoft.com/office/infopath/2007/PartnerControls"/>
    </lcf76f155ced4ddcb4097134ff3c332f>
    <TaxCatchAll xmlns="d5635f6c-c281-4f83-9a95-4aa47450f7b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AEF681A-CDF3-482F-8006-2B9CDEB98E82}">
  <ds:schemaRefs>
    <ds:schemaRef ds:uri="5b049a44-7832-48fa-a709-f6e368cd470b"/>
    <ds:schemaRef ds:uri="d5635f6c-c281-4f83-9a95-4aa47450f7b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EC8B431-B194-4BCF-8E25-0A27A8F3CB70}">
  <ds:schemaRefs>
    <ds:schemaRef ds:uri="5b049a44-7832-48fa-a709-f6e368cd470b"/>
    <ds:schemaRef ds:uri="http://purl.org/dc/dcmitype/"/>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http://purl.org/dc/terms/"/>
    <ds:schemaRef ds:uri="http://schemas.microsoft.com/office/2006/metadata/properties"/>
    <ds:schemaRef ds:uri="d5635f6c-c281-4f83-9a95-4aa47450f7b6"/>
    <ds:schemaRef ds:uri="http://purl.org/dc/elements/1.1/"/>
  </ds:schemaRefs>
</ds:datastoreItem>
</file>

<file path=customXml/itemProps3.xml><?xml version="1.0" encoding="utf-8"?>
<ds:datastoreItem xmlns:ds="http://schemas.openxmlformats.org/officeDocument/2006/customXml" ds:itemID="{E5C24F79-BFC1-430D-B450-4F4E6A88536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8525</TotalTime>
  <Words>709</Words>
  <Application>Microsoft Macintosh PowerPoint</Application>
  <PresentationFormat>Widescreen</PresentationFormat>
  <Paragraphs>128</Paragraphs>
  <Slides>10</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Aptos</vt:lpstr>
      <vt:lpstr>Century Gothic</vt:lpstr>
      <vt:lpstr>PP Neue Machina Plain Ultrabold</vt:lpstr>
      <vt:lpstr>Verdana</vt:lpstr>
      <vt:lpstr>26_Template</vt:lpstr>
      <vt:lpstr>Content - Light</vt:lpstr>
      <vt:lpstr>Ascendion -   Legacy System X-Ray &amp; Navigator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Mukund Kaushal</dc:creator>
  <cp:lastModifiedBy>Srinidhi Ramanujam</cp:lastModifiedBy>
  <cp:revision>4</cp:revision>
  <dcterms:created xsi:type="dcterms:W3CDTF">2025-07-24T05:40:47Z</dcterms:created>
  <dcterms:modified xsi:type="dcterms:W3CDTF">2026-03-10T08:02:49Z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0x01010038EC293183C3D143B44C68C9C9060FED</vt:lpwstr>
  </property>
  <property fmtid="{D5CDD505-2E9C-101B-9397-08002B2CF9AE}" pid="3" name="MediaServiceImageTags">
    <vt:lpwstr/>
  </property>
</Properties>
</file>