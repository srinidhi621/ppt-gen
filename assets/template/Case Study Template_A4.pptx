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3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0F7D"/>
    <a:srgbClr val="F40F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1EDAB-56AD-6742-8A01-6EA1C6C27996}" v="33" dt="2024-12-23T18:16:49.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4" d="100"/>
          <a:sy n="84" d="100"/>
        </p:scale>
        <p:origin x="3584" y="184"/>
      </p:cViewPr>
      <p:guideLst>
        <p:guide orient="horz" pos="3120"/>
        <p:guide pos="39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pic>
        <p:nvPicPr>
          <p:cNvPr id="152" name="Picture Placeholder 6">
            <a:extLst>
              <a:ext uri="{FF2B5EF4-FFF2-40B4-BE49-F238E27FC236}">
                <a16:creationId xmlns:a16="http://schemas.microsoft.com/office/drawing/2014/main" id="{E8B7FADE-9B79-5354-3269-8EDA9ACCA31A}"/>
              </a:ext>
            </a:extLst>
          </p:cNvPr>
          <p:cNvPicPr>
            <a:picLocks noChangeAspect="1"/>
          </p:cNvPicPr>
          <p:nvPr userDrawn="1"/>
        </p:nvPicPr>
        <p:blipFill>
          <a:blip r:embed="rId2">
            <a:extLst>
              <a:ext uri="{28A0092B-C50C-407E-A947-70E740481C1C}">
                <a14:useLocalDpi xmlns:a14="http://schemas.microsoft.com/office/drawing/2010/main" val="0"/>
              </a:ext>
            </a:extLst>
          </a:blip>
          <a:srcRect t="6077" b="6077"/>
          <a:stretch/>
        </p:blipFill>
        <p:spPr>
          <a:xfrm>
            <a:off x="-11205" y="607269"/>
            <a:ext cx="6870883" cy="3450430"/>
          </a:xfrm>
          <a:prstGeom prst="rect">
            <a:avLst/>
          </a:prstGeom>
        </p:spPr>
      </p:pic>
      <p:sp>
        <p:nvSpPr>
          <p:cNvPr id="136" name="Freeform: Shape 8">
            <a:extLst>
              <a:ext uri="{FF2B5EF4-FFF2-40B4-BE49-F238E27FC236}">
                <a16:creationId xmlns:a16="http://schemas.microsoft.com/office/drawing/2014/main" id="{52440AD8-2118-C5DC-11D2-FC6A41DB8A76}"/>
              </a:ext>
            </a:extLst>
          </p:cNvPr>
          <p:cNvSpPr/>
          <p:nvPr userDrawn="1"/>
        </p:nvSpPr>
        <p:spPr>
          <a:xfrm>
            <a:off x="-10182" y="-20170"/>
            <a:ext cx="6888071" cy="890867"/>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 name="connsiteX0" fmla="*/ 0 w 9144000"/>
              <a:gd name="connsiteY0" fmla="*/ 0 h 870697"/>
              <a:gd name="connsiteX1" fmla="*/ 2272553 w 9144000"/>
              <a:gd name="connsiteY1" fmla="*/ 870697 h 870697"/>
              <a:gd name="connsiteX2" fmla="*/ 7540609 w 9144000"/>
              <a:gd name="connsiteY2" fmla="*/ 857250 h 870697"/>
              <a:gd name="connsiteX3" fmla="*/ 8245698 w 9144000"/>
              <a:gd name="connsiteY3" fmla="*/ 707422 h 870697"/>
              <a:gd name="connsiteX4" fmla="*/ 8933831 w 9144000"/>
              <a:gd name="connsiteY4" fmla="*/ 857250 h 870697"/>
              <a:gd name="connsiteX5" fmla="*/ 9144000 w 9144000"/>
              <a:gd name="connsiteY5" fmla="*/ 857250 h 870697"/>
              <a:gd name="connsiteX6" fmla="*/ 9144000 w 9144000"/>
              <a:gd name="connsiteY6" fmla="*/ 0 h 870697"/>
              <a:gd name="connsiteX7" fmla="*/ 0 w 9144000"/>
              <a:gd name="connsiteY7" fmla="*/ 0 h 870697"/>
              <a:gd name="connsiteX0" fmla="*/ 6723 w 6871447"/>
              <a:gd name="connsiteY0" fmla="*/ 0 h 870697"/>
              <a:gd name="connsiteX1" fmla="*/ 0 w 6871447"/>
              <a:gd name="connsiteY1" fmla="*/ 870697 h 870697"/>
              <a:gd name="connsiteX2" fmla="*/ 5268056 w 6871447"/>
              <a:gd name="connsiteY2" fmla="*/ 857250 h 870697"/>
              <a:gd name="connsiteX3" fmla="*/ 5973145 w 6871447"/>
              <a:gd name="connsiteY3" fmla="*/ 707422 h 870697"/>
              <a:gd name="connsiteX4" fmla="*/ 6661278 w 6871447"/>
              <a:gd name="connsiteY4" fmla="*/ 857250 h 870697"/>
              <a:gd name="connsiteX5" fmla="*/ 6871447 w 6871447"/>
              <a:gd name="connsiteY5" fmla="*/ 857250 h 870697"/>
              <a:gd name="connsiteX6" fmla="*/ 6871447 w 6871447"/>
              <a:gd name="connsiteY6" fmla="*/ 0 h 870697"/>
              <a:gd name="connsiteX7" fmla="*/ 6723 w 6871447"/>
              <a:gd name="connsiteY7" fmla="*/ 0 h 870697"/>
              <a:gd name="connsiteX0" fmla="*/ 0 w 6878172"/>
              <a:gd name="connsiteY0" fmla="*/ 6724 h 870697"/>
              <a:gd name="connsiteX1" fmla="*/ 6725 w 6878172"/>
              <a:gd name="connsiteY1" fmla="*/ 870697 h 870697"/>
              <a:gd name="connsiteX2" fmla="*/ 5274781 w 6878172"/>
              <a:gd name="connsiteY2" fmla="*/ 857250 h 870697"/>
              <a:gd name="connsiteX3" fmla="*/ 5979870 w 6878172"/>
              <a:gd name="connsiteY3" fmla="*/ 707422 h 870697"/>
              <a:gd name="connsiteX4" fmla="*/ 6668003 w 6878172"/>
              <a:gd name="connsiteY4" fmla="*/ 857250 h 870697"/>
              <a:gd name="connsiteX5" fmla="*/ 6878172 w 6878172"/>
              <a:gd name="connsiteY5" fmla="*/ 857250 h 870697"/>
              <a:gd name="connsiteX6" fmla="*/ 6878172 w 6878172"/>
              <a:gd name="connsiteY6" fmla="*/ 0 h 870697"/>
              <a:gd name="connsiteX7" fmla="*/ 0 w 6878172"/>
              <a:gd name="connsiteY7" fmla="*/ 6724 h 870697"/>
              <a:gd name="connsiteX0" fmla="*/ 0 w 6878172"/>
              <a:gd name="connsiteY0" fmla="*/ 0 h 890867"/>
              <a:gd name="connsiteX1" fmla="*/ 6725 w 6878172"/>
              <a:gd name="connsiteY1" fmla="*/ 890867 h 890867"/>
              <a:gd name="connsiteX2" fmla="*/ 5274781 w 6878172"/>
              <a:gd name="connsiteY2" fmla="*/ 877420 h 890867"/>
              <a:gd name="connsiteX3" fmla="*/ 5979870 w 6878172"/>
              <a:gd name="connsiteY3" fmla="*/ 727592 h 890867"/>
              <a:gd name="connsiteX4" fmla="*/ 6668003 w 6878172"/>
              <a:gd name="connsiteY4" fmla="*/ 877420 h 890867"/>
              <a:gd name="connsiteX5" fmla="*/ 6878172 w 6878172"/>
              <a:gd name="connsiteY5" fmla="*/ 877420 h 890867"/>
              <a:gd name="connsiteX6" fmla="*/ 6878172 w 6878172"/>
              <a:gd name="connsiteY6" fmla="*/ 20170 h 890867"/>
              <a:gd name="connsiteX7" fmla="*/ 0 w 6878172"/>
              <a:gd name="connsiteY7" fmla="*/ 0 h 890867"/>
              <a:gd name="connsiteX0" fmla="*/ 0 w 6884896"/>
              <a:gd name="connsiteY0" fmla="*/ 0 h 890867"/>
              <a:gd name="connsiteX1" fmla="*/ 6725 w 6884896"/>
              <a:gd name="connsiteY1" fmla="*/ 890867 h 890867"/>
              <a:gd name="connsiteX2" fmla="*/ 5274781 w 6884896"/>
              <a:gd name="connsiteY2" fmla="*/ 877420 h 890867"/>
              <a:gd name="connsiteX3" fmla="*/ 5979870 w 6884896"/>
              <a:gd name="connsiteY3" fmla="*/ 727592 h 890867"/>
              <a:gd name="connsiteX4" fmla="*/ 6668003 w 6884896"/>
              <a:gd name="connsiteY4" fmla="*/ 877420 h 890867"/>
              <a:gd name="connsiteX5" fmla="*/ 6878172 w 6884896"/>
              <a:gd name="connsiteY5" fmla="*/ 877420 h 890867"/>
              <a:gd name="connsiteX6" fmla="*/ 6884896 w 6884896"/>
              <a:gd name="connsiteY6" fmla="*/ 13446 h 890867"/>
              <a:gd name="connsiteX7" fmla="*/ 0 w 6884896"/>
              <a:gd name="connsiteY7" fmla="*/ 0 h 890867"/>
              <a:gd name="connsiteX0" fmla="*/ 0 w 6888071"/>
              <a:gd name="connsiteY0" fmla="*/ 0 h 890867"/>
              <a:gd name="connsiteX1" fmla="*/ 6725 w 6888071"/>
              <a:gd name="connsiteY1" fmla="*/ 890867 h 890867"/>
              <a:gd name="connsiteX2" fmla="*/ 5274781 w 6888071"/>
              <a:gd name="connsiteY2" fmla="*/ 877420 h 890867"/>
              <a:gd name="connsiteX3" fmla="*/ 5979870 w 6888071"/>
              <a:gd name="connsiteY3" fmla="*/ 727592 h 890867"/>
              <a:gd name="connsiteX4" fmla="*/ 6668003 w 6888071"/>
              <a:gd name="connsiteY4" fmla="*/ 877420 h 890867"/>
              <a:gd name="connsiteX5" fmla="*/ 6878172 w 6888071"/>
              <a:gd name="connsiteY5" fmla="*/ 877420 h 890867"/>
              <a:gd name="connsiteX6" fmla="*/ 6888071 w 6888071"/>
              <a:gd name="connsiteY6" fmla="*/ 3921 h 890867"/>
              <a:gd name="connsiteX7" fmla="*/ 0 w 6888071"/>
              <a:gd name="connsiteY7" fmla="*/ 0 h 890867"/>
              <a:gd name="connsiteX0" fmla="*/ 0 w 6888071"/>
              <a:gd name="connsiteY0" fmla="*/ 0 h 890867"/>
              <a:gd name="connsiteX1" fmla="*/ 6725 w 6888071"/>
              <a:gd name="connsiteY1" fmla="*/ 890867 h 890867"/>
              <a:gd name="connsiteX2" fmla="*/ 5274781 w 6888071"/>
              <a:gd name="connsiteY2" fmla="*/ 877420 h 890867"/>
              <a:gd name="connsiteX3" fmla="*/ 5979870 w 6888071"/>
              <a:gd name="connsiteY3" fmla="*/ 727592 h 890867"/>
              <a:gd name="connsiteX4" fmla="*/ 6668003 w 6888071"/>
              <a:gd name="connsiteY4" fmla="*/ 877420 h 890867"/>
              <a:gd name="connsiteX5" fmla="*/ 6881347 w 6888071"/>
              <a:gd name="connsiteY5" fmla="*/ 886945 h 890867"/>
              <a:gd name="connsiteX6" fmla="*/ 6888071 w 6888071"/>
              <a:gd name="connsiteY6" fmla="*/ 3921 h 890867"/>
              <a:gd name="connsiteX7" fmla="*/ 0 w 6888071"/>
              <a:gd name="connsiteY7" fmla="*/ 0 h 89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88071" h="890867">
                <a:moveTo>
                  <a:pt x="0" y="0"/>
                </a:moveTo>
                <a:cubicBezTo>
                  <a:pt x="2242" y="287991"/>
                  <a:pt x="4483" y="602876"/>
                  <a:pt x="6725" y="890867"/>
                </a:cubicBezTo>
                <a:lnTo>
                  <a:pt x="5274781" y="877420"/>
                </a:lnTo>
                <a:lnTo>
                  <a:pt x="5979870" y="727592"/>
                </a:lnTo>
                <a:lnTo>
                  <a:pt x="6668003" y="877420"/>
                </a:lnTo>
                <a:lnTo>
                  <a:pt x="6881347" y="886945"/>
                </a:lnTo>
                <a:cubicBezTo>
                  <a:pt x="6883588" y="598954"/>
                  <a:pt x="6885830" y="291912"/>
                  <a:pt x="6888071" y="3921"/>
                </a:cubicBezTo>
                <a:lnTo>
                  <a:pt x="0" y="0"/>
                </a:lnTo>
                <a:close/>
              </a:path>
            </a:pathLst>
          </a:custGeom>
          <a:gradFill>
            <a:gsLst>
              <a:gs pos="0">
                <a:srgbClr val="ED1A7D"/>
              </a:gs>
              <a:gs pos="50000">
                <a:srgbClr val="BB1B6D"/>
              </a:gs>
              <a:gs pos="100000">
                <a:srgbClr val="891D5D"/>
              </a:gs>
            </a:gsLst>
            <a:lin ang="0" scaled="1"/>
          </a:gradFill>
          <a:ln w="8132" cap="flat">
            <a:noFill/>
            <a:prstDash val="solid"/>
            <a:miter/>
          </a:ln>
        </p:spPr>
        <p:txBody>
          <a:bodyPr rtlCol="0" anchor="ctr"/>
          <a:lstStyle/>
          <a:p>
            <a:pPr marL="0" lvl="0" defTabSz="914400" eaLnBrk="1" latinLnBrk="0" hangingPunct="1"/>
            <a:endParaRPr lang="en-AU" sz="1800" kern="1200">
              <a:solidFill>
                <a:schemeClr val="tx1"/>
              </a:solidFill>
              <a:latin typeface="+mn-lt"/>
              <a:ea typeface="+mn-ea"/>
              <a:cs typeface="+mn-cs"/>
            </a:endParaRPr>
          </a:p>
        </p:txBody>
      </p:sp>
      <p:sp>
        <p:nvSpPr>
          <p:cNvPr id="137" name="Freeform: Shape 9">
            <a:extLst>
              <a:ext uri="{FF2B5EF4-FFF2-40B4-BE49-F238E27FC236}">
                <a16:creationId xmlns:a16="http://schemas.microsoft.com/office/drawing/2014/main" id="{D44EA1F8-DE8B-6719-C5F8-87EEC0462225}"/>
              </a:ext>
            </a:extLst>
          </p:cNvPr>
          <p:cNvSpPr/>
          <p:nvPr userDrawn="1"/>
        </p:nvSpPr>
        <p:spPr>
          <a:xfrm>
            <a:off x="526459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138" name="Graphic 3">
            <a:extLst>
              <a:ext uri="{FF2B5EF4-FFF2-40B4-BE49-F238E27FC236}">
                <a16:creationId xmlns:a16="http://schemas.microsoft.com/office/drawing/2014/main" id="{5E0F81ED-3493-659D-19F6-AEC15A2973DF}"/>
              </a:ext>
            </a:extLst>
          </p:cNvPr>
          <p:cNvGrpSpPr/>
          <p:nvPr userDrawn="1"/>
        </p:nvGrpSpPr>
        <p:grpSpPr>
          <a:xfrm>
            <a:off x="263438" y="648700"/>
            <a:ext cx="739282" cy="73485"/>
            <a:chOff x="186213" y="648700"/>
            <a:chExt cx="739282" cy="73485"/>
          </a:xfrm>
          <a:solidFill>
            <a:srgbClr val="FFFFFF"/>
          </a:solidFill>
        </p:grpSpPr>
        <p:sp>
          <p:nvSpPr>
            <p:cNvPr id="139" name="Freeform: Shape 11">
              <a:extLst>
                <a:ext uri="{FF2B5EF4-FFF2-40B4-BE49-F238E27FC236}">
                  <a16:creationId xmlns:a16="http://schemas.microsoft.com/office/drawing/2014/main" id="{FBB4F3E0-79E4-C626-FE69-505C5E406AF0}"/>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40" name="Freeform: Shape 12">
              <a:extLst>
                <a:ext uri="{FF2B5EF4-FFF2-40B4-BE49-F238E27FC236}">
                  <a16:creationId xmlns:a16="http://schemas.microsoft.com/office/drawing/2014/main" id="{C0383359-CA63-D9D1-0AA8-A50D968047F2}"/>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41" name="Freeform: Shape 13">
              <a:extLst>
                <a:ext uri="{FF2B5EF4-FFF2-40B4-BE49-F238E27FC236}">
                  <a16:creationId xmlns:a16="http://schemas.microsoft.com/office/drawing/2014/main" id="{52EFDB6F-CF5D-49ED-9409-8F076AEBB459}"/>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42" name="Freeform: Shape 14">
              <a:extLst>
                <a:ext uri="{FF2B5EF4-FFF2-40B4-BE49-F238E27FC236}">
                  <a16:creationId xmlns:a16="http://schemas.microsoft.com/office/drawing/2014/main" id="{45785337-97BF-CF95-525B-C49C368C5E27}"/>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3" name="Freeform: Shape 15">
              <a:extLst>
                <a:ext uri="{FF2B5EF4-FFF2-40B4-BE49-F238E27FC236}">
                  <a16:creationId xmlns:a16="http://schemas.microsoft.com/office/drawing/2014/main" id="{65FCB90D-9E0A-8DD4-07C8-50C3B8B4A91E}"/>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44" name="Freeform: Shape 16">
              <a:extLst>
                <a:ext uri="{FF2B5EF4-FFF2-40B4-BE49-F238E27FC236}">
                  <a16:creationId xmlns:a16="http://schemas.microsoft.com/office/drawing/2014/main" id="{5E2EF7C6-2859-9740-99FC-8F987A542679}"/>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45" name="Freeform: Shape 17">
              <a:extLst>
                <a:ext uri="{FF2B5EF4-FFF2-40B4-BE49-F238E27FC236}">
                  <a16:creationId xmlns:a16="http://schemas.microsoft.com/office/drawing/2014/main" id="{7252C0BB-C75F-E3AB-ED36-476892432F22}"/>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46" name="Freeform: Shape 18">
              <a:extLst>
                <a:ext uri="{FF2B5EF4-FFF2-40B4-BE49-F238E27FC236}">
                  <a16:creationId xmlns:a16="http://schemas.microsoft.com/office/drawing/2014/main" id="{5991EA1B-6F77-7710-82F0-42C8841E18D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47" name="Freeform: Shape 19">
              <a:extLst>
                <a:ext uri="{FF2B5EF4-FFF2-40B4-BE49-F238E27FC236}">
                  <a16:creationId xmlns:a16="http://schemas.microsoft.com/office/drawing/2014/main" id="{5BDB28EF-A6AC-652B-1880-6B08A7039DB2}"/>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48" name="Freeform: Shape 20">
              <a:extLst>
                <a:ext uri="{FF2B5EF4-FFF2-40B4-BE49-F238E27FC236}">
                  <a16:creationId xmlns:a16="http://schemas.microsoft.com/office/drawing/2014/main" id="{AC75336B-62D4-B715-51E2-0DB50FD773DB}"/>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149" name="Freeform: Shape 21">
              <a:extLst>
                <a:ext uri="{FF2B5EF4-FFF2-40B4-BE49-F238E27FC236}">
                  <a16:creationId xmlns:a16="http://schemas.microsoft.com/office/drawing/2014/main" id="{B7AA44D1-A0F4-A08C-A726-86D017DD59C9}"/>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50" name="Freeform: Shape 22">
              <a:extLst>
                <a:ext uri="{FF2B5EF4-FFF2-40B4-BE49-F238E27FC236}">
                  <a16:creationId xmlns:a16="http://schemas.microsoft.com/office/drawing/2014/main" id="{38F89FC8-0BDB-215B-E518-12014E83E0E6}"/>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51" name="Freeform: Shape 23">
              <a:extLst>
                <a:ext uri="{FF2B5EF4-FFF2-40B4-BE49-F238E27FC236}">
                  <a16:creationId xmlns:a16="http://schemas.microsoft.com/office/drawing/2014/main" id="{CAD5F3EF-1E97-C411-A1F3-AC6F4F917D75}"/>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
        <p:nvSpPr>
          <p:cNvPr id="2" name="TextBox 1">
            <a:extLst>
              <a:ext uri="{FF2B5EF4-FFF2-40B4-BE49-F238E27FC236}">
                <a16:creationId xmlns:a16="http://schemas.microsoft.com/office/drawing/2014/main" id="{26636E94-8246-8F57-02D7-2F12AC262A2A}"/>
              </a:ext>
            </a:extLst>
          </p:cNvPr>
          <p:cNvSpPr txBox="1"/>
          <p:nvPr userDrawn="1"/>
        </p:nvSpPr>
        <p:spPr>
          <a:xfrm>
            <a:off x="1403032" y="9464992"/>
            <a:ext cx="2121093" cy="200055"/>
          </a:xfrm>
          <a:prstGeom prst="rect">
            <a:avLst/>
          </a:prstGeom>
          <a:noFill/>
        </p:spPr>
        <p:txBody>
          <a:bodyPr wrap="none" rtlCol="0">
            <a:spAutoFit/>
          </a:bodyPr>
          <a:lstStyle/>
          <a:p>
            <a:pPr algn="l"/>
            <a:r>
              <a:rPr lang="en-AU" sz="700" spc="0" baseline="0" dirty="0">
                <a:ln/>
                <a:solidFill>
                  <a:srgbClr val="231F20"/>
                </a:solidFill>
                <a:latin typeface="+mn-lt"/>
                <a:sym typeface="Avenir"/>
                <a:rtl val="0"/>
              </a:rPr>
              <a:t>Copyright 2025 © Ascendion. All Rights Reserved.</a:t>
            </a:r>
          </a:p>
        </p:txBody>
      </p:sp>
      <p:sp>
        <p:nvSpPr>
          <p:cNvPr id="3" name="TextBox 2">
            <a:extLst>
              <a:ext uri="{FF2B5EF4-FFF2-40B4-BE49-F238E27FC236}">
                <a16:creationId xmlns:a16="http://schemas.microsoft.com/office/drawing/2014/main" id="{69D5D63F-0A8C-B0F1-3D64-78DF3F0874DF}"/>
              </a:ext>
            </a:extLst>
          </p:cNvPr>
          <p:cNvSpPr txBox="1"/>
          <p:nvPr userDrawn="1"/>
        </p:nvSpPr>
        <p:spPr>
          <a:xfrm>
            <a:off x="4321492" y="9457372"/>
            <a:ext cx="819455" cy="200055"/>
          </a:xfrm>
          <a:prstGeom prst="rect">
            <a:avLst/>
          </a:prstGeom>
          <a:noFill/>
        </p:spPr>
        <p:txBody>
          <a:bodyPr wrap="none" rtlCol="0">
            <a:spAutoFit/>
          </a:bodyPr>
          <a:lstStyle/>
          <a:p>
            <a:pPr algn="l"/>
            <a:r>
              <a:rPr lang="en-AU" sz="700" b="0" spc="0" baseline="0" dirty="0" err="1">
                <a:ln/>
                <a:solidFill>
                  <a:srgbClr val="231F20"/>
                </a:solidFill>
                <a:latin typeface="+mn-lt"/>
                <a:sym typeface="Avenir"/>
                <a:rtl val="0"/>
              </a:rPr>
              <a:t>ascendion.com</a:t>
            </a:r>
            <a:endParaRPr lang="en-AU" sz="700" b="0" spc="0" baseline="0" dirty="0">
              <a:ln/>
              <a:solidFill>
                <a:srgbClr val="231F20"/>
              </a:solidFill>
              <a:latin typeface="+mn-lt"/>
              <a:sym typeface="Avenir"/>
              <a:rtl val="0"/>
            </a:endParaRPr>
          </a:p>
        </p:txBody>
      </p:sp>
      <p:pic>
        <p:nvPicPr>
          <p:cNvPr id="4" name="Graphic 3">
            <a:extLst>
              <a:ext uri="{FF2B5EF4-FFF2-40B4-BE49-F238E27FC236}">
                <a16:creationId xmlns:a16="http://schemas.microsoft.com/office/drawing/2014/main" id="{2D093891-29A1-B9D7-E2C5-2E34B2F1DB87}"/>
              </a:ext>
            </a:extLst>
          </p:cNvPr>
          <p:cNvPicPr>
            <a:picLocks noChangeAspect="1"/>
          </p:cNvPicPr>
          <p:nvPr userDrawn="1"/>
        </p:nvPicPr>
        <p:blipFill>
          <a:blip>
            <a:extLst>
              <a:ext uri="{96DAC541-7B7A-43D3-8B79-37D633B846F1}">
                <asvg:svgBlip xmlns:asvg="http://schemas.microsoft.com/office/drawing/2016/SVG/main" r:embed="rId3"/>
              </a:ext>
            </a:extLst>
          </a:blip>
          <a:srcRect l="80867" t="25283" r="11867"/>
          <a:stretch/>
        </p:blipFill>
        <p:spPr>
          <a:xfrm>
            <a:off x="5545836" y="9230868"/>
            <a:ext cx="498348" cy="421986"/>
          </a:xfrm>
          <a:prstGeom prst="rect">
            <a:avLst/>
          </a:prstGeom>
        </p:spPr>
      </p:pic>
      <p:pic>
        <p:nvPicPr>
          <p:cNvPr id="5" name="Graphic 4">
            <a:extLst>
              <a:ext uri="{FF2B5EF4-FFF2-40B4-BE49-F238E27FC236}">
                <a16:creationId xmlns:a16="http://schemas.microsoft.com/office/drawing/2014/main" id="{5C47CF55-37BA-2A9F-EA98-864DB9A7897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44315" y="9474200"/>
            <a:ext cx="504825" cy="123825"/>
          </a:xfrm>
          <a:prstGeom prst="rect">
            <a:avLst/>
          </a:prstGeom>
        </p:spPr>
      </p:pic>
      <p:pic>
        <p:nvPicPr>
          <p:cNvPr id="6" name="Graphic 14">
            <a:extLst>
              <a:ext uri="{FF2B5EF4-FFF2-40B4-BE49-F238E27FC236}">
                <a16:creationId xmlns:a16="http://schemas.microsoft.com/office/drawing/2014/main" id="{3E05537A-A59B-FD12-F8EE-D43472F5719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3209" y="9159748"/>
            <a:ext cx="6924418" cy="142240"/>
          </a:xfrm>
          <a:prstGeom prst="rect">
            <a:avLst/>
          </a:prstGeom>
        </p:spPr>
      </p:pic>
    </p:spTree>
    <p:extLst>
      <p:ext uri="{BB962C8B-B14F-4D97-AF65-F5344CB8AC3E}">
        <p14:creationId xmlns:p14="http://schemas.microsoft.com/office/powerpoint/2010/main" val="222848425"/>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lumMod val="95000"/>
          </a:schemeClr>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BBD10B2-0047-5547-1279-8850E03FDF04}"/>
              </a:ext>
            </a:extLst>
          </p:cNvPr>
          <p:cNvSpPr txBox="1"/>
          <p:nvPr/>
        </p:nvSpPr>
        <p:spPr>
          <a:xfrm>
            <a:off x="1403032" y="9464992"/>
            <a:ext cx="2121093" cy="200055"/>
          </a:xfrm>
          <a:prstGeom prst="rect">
            <a:avLst/>
          </a:prstGeom>
          <a:noFill/>
        </p:spPr>
        <p:txBody>
          <a:bodyPr wrap="none" rtlCol="0">
            <a:spAutoFit/>
          </a:bodyPr>
          <a:lstStyle/>
          <a:p>
            <a:pPr algn="l"/>
            <a:r>
              <a:rPr lang="en-AU" sz="700" spc="0" baseline="0">
                <a:ln/>
                <a:solidFill>
                  <a:srgbClr val="231F20"/>
                </a:solidFill>
                <a:latin typeface="+mn-lt"/>
                <a:sym typeface="Avenir"/>
                <a:rtl val="0"/>
              </a:rPr>
              <a:t>Copyright 2025 © Ascendion. All Rights Reserved.</a:t>
            </a:r>
          </a:p>
        </p:txBody>
      </p:sp>
      <p:sp>
        <p:nvSpPr>
          <p:cNvPr id="11" name="TextBox 10">
            <a:extLst>
              <a:ext uri="{FF2B5EF4-FFF2-40B4-BE49-F238E27FC236}">
                <a16:creationId xmlns:a16="http://schemas.microsoft.com/office/drawing/2014/main" id="{A46BFC48-536A-A582-F7F7-D1C61AF66EE1}"/>
              </a:ext>
            </a:extLst>
          </p:cNvPr>
          <p:cNvSpPr txBox="1"/>
          <p:nvPr userDrawn="1"/>
        </p:nvSpPr>
        <p:spPr>
          <a:xfrm>
            <a:off x="4321492" y="9457372"/>
            <a:ext cx="819455" cy="200055"/>
          </a:xfrm>
          <a:prstGeom prst="rect">
            <a:avLst/>
          </a:prstGeom>
          <a:noFill/>
        </p:spPr>
        <p:txBody>
          <a:bodyPr wrap="none" rtlCol="0">
            <a:spAutoFit/>
          </a:bodyPr>
          <a:lstStyle/>
          <a:p>
            <a:pPr algn="l"/>
            <a:r>
              <a:rPr lang="en-AU" sz="700" b="0" spc="0" baseline="0">
                <a:ln/>
                <a:solidFill>
                  <a:srgbClr val="231F20"/>
                </a:solidFill>
                <a:latin typeface="+mn-lt"/>
                <a:sym typeface="Avenir"/>
                <a:rtl val="0"/>
              </a:rPr>
              <a:t>ascendion.com</a:t>
            </a:r>
          </a:p>
        </p:txBody>
      </p:sp>
      <p:pic>
        <p:nvPicPr>
          <p:cNvPr id="3" name="Graphic 2">
            <a:extLst>
              <a:ext uri="{FF2B5EF4-FFF2-40B4-BE49-F238E27FC236}">
                <a16:creationId xmlns:a16="http://schemas.microsoft.com/office/drawing/2014/main" id="{95AF0B24-BA86-ED0C-62DA-EEEF06ADB29C}"/>
              </a:ext>
            </a:extLst>
          </p:cNvPr>
          <p:cNvPicPr>
            <a:picLocks noChangeAspect="1"/>
          </p:cNvPicPr>
          <p:nvPr userDrawn="1"/>
        </p:nvPicPr>
        <p:blipFill>
          <a:blip>
            <a:extLst>
              <a:ext uri="{96DAC541-7B7A-43D3-8B79-37D633B846F1}">
                <asvg:svgBlip xmlns:asvg="http://schemas.microsoft.com/office/drawing/2016/SVG/main" r:embed="rId2"/>
              </a:ext>
            </a:extLst>
          </a:blip>
          <a:srcRect l="80867" t="25283" r="11867"/>
          <a:stretch/>
        </p:blipFill>
        <p:spPr>
          <a:xfrm>
            <a:off x="5545836" y="9230868"/>
            <a:ext cx="498348" cy="421986"/>
          </a:xfrm>
          <a:prstGeom prst="rect">
            <a:avLst/>
          </a:prstGeom>
        </p:spPr>
      </p:pic>
      <p:pic>
        <p:nvPicPr>
          <p:cNvPr id="13" name="Graphic 12">
            <a:extLst>
              <a:ext uri="{FF2B5EF4-FFF2-40B4-BE49-F238E27FC236}">
                <a16:creationId xmlns:a16="http://schemas.microsoft.com/office/drawing/2014/main" id="{67694CD6-B9D2-EBA3-F40A-BB74BD032D8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315" y="9474200"/>
            <a:ext cx="504825" cy="123825"/>
          </a:xfrm>
          <a:prstGeom prst="rect">
            <a:avLst/>
          </a:prstGeom>
        </p:spPr>
      </p:pic>
      <p:pic>
        <p:nvPicPr>
          <p:cNvPr id="18" name="Graphic 14">
            <a:extLst>
              <a:ext uri="{FF2B5EF4-FFF2-40B4-BE49-F238E27FC236}">
                <a16:creationId xmlns:a16="http://schemas.microsoft.com/office/drawing/2014/main" id="{0CFDC12C-73EC-D0BC-DC8E-BCB6150D33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3209" y="9159748"/>
            <a:ext cx="6924418" cy="142240"/>
          </a:xfrm>
          <a:prstGeom prst="rect">
            <a:avLst/>
          </a:prstGeom>
        </p:spPr>
      </p:pic>
    </p:spTree>
    <p:extLst>
      <p:ext uri="{BB962C8B-B14F-4D97-AF65-F5344CB8AC3E}">
        <p14:creationId xmlns:p14="http://schemas.microsoft.com/office/powerpoint/2010/main" val="3628776198"/>
      </p:ext>
    </p:extLst>
  </p:cSld>
  <p:clrMapOvr>
    <a:masterClrMapping/>
  </p:clrMapOvr>
  <p:extLst>
    <p:ext uri="{DCECCB84-F9BA-43D5-87BE-67443E8EF086}">
      <p15:sldGuideLst xmlns:p15="http://schemas.microsoft.com/office/powerpoint/2012/main">
        <p15:guide id="1" orient="horz" pos="6046"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A41713B2-92BF-41A6-9A8A-40D7DF07F78C}" type="datetimeFigureOut">
              <a:rPr lang="en-AU" smtClean="0"/>
              <a:t>18/03/2026</a:t>
            </a:fld>
            <a:endParaRPr lang="en-AU"/>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B6F6D4D4-E3A9-4F0F-AF51-F6945936C2B3}" type="slidenum">
              <a:rPr lang="en-AU" smtClean="0"/>
              <a:t>‹#›</a:t>
            </a:fld>
            <a:endParaRPr lang="en-AU"/>
          </a:p>
        </p:txBody>
      </p:sp>
    </p:spTree>
    <p:extLst>
      <p:ext uri="{BB962C8B-B14F-4D97-AF65-F5344CB8AC3E}">
        <p14:creationId xmlns:p14="http://schemas.microsoft.com/office/powerpoint/2010/main" val="1033588351"/>
      </p:ext>
    </p:extLst>
  </p:cSld>
  <p:clrMap bg1="lt1" tx1="dk1" bg2="lt2" tx2="dk2" accent1="accent1" accent2="accent2" accent3="accent3" accent4="accent4" accent5="accent5" accent6="accent6" hlink="hlink" folHlink="folHlink"/>
  <p:sldLayoutIdLst>
    <p:sldLayoutId id="2147483661" r:id="rId1"/>
    <p:sldLayoutId id="2147483673" r:id="rId2"/>
  </p:sldLayoutIdLst>
  <p:txStyles>
    <p:titleStyle>
      <a:lvl1pPr algn="l" defTabSz="685800" rtl="0" eaLnBrk="1" latinLnBrk="0" hangingPunct="1">
        <a:lnSpc>
          <a:spcPct val="90000"/>
        </a:lnSpc>
        <a:spcBef>
          <a:spcPct val="0"/>
        </a:spcBef>
        <a:buNone/>
        <a:defRPr sz="3300" kern="1200">
          <a:solidFill>
            <a:schemeClr val="tx1"/>
          </a:solidFill>
          <a:latin typeface="PP Neue Machina Plain"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mail@ascendion.com"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www.ascendio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89641F-5BF4-F08E-66EA-3CCD23BFD487}"/>
              </a:ext>
            </a:extLst>
          </p:cNvPr>
          <p:cNvSpPr/>
          <p:nvPr/>
        </p:nvSpPr>
        <p:spPr>
          <a:xfrm>
            <a:off x="-2" y="2565400"/>
            <a:ext cx="6858000" cy="1519238"/>
          </a:xfrm>
          <a:prstGeom prst="rect">
            <a:avLst/>
          </a:prstGeom>
          <a:gradFill flip="none" rotWithShape="1">
            <a:gsLst>
              <a:gs pos="0">
                <a:schemeClr val="tx1">
                  <a:alpha val="0"/>
                </a:schemeClr>
              </a:gs>
              <a:gs pos="33000">
                <a:schemeClr val="tx1">
                  <a:alpha val="46000"/>
                </a:schemeClr>
              </a:gs>
              <a:gs pos="100000">
                <a:schemeClr val="tx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23E5CA16-1E13-8B4B-37EE-A308A87EB2EC}"/>
              </a:ext>
            </a:extLst>
          </p:cNvPr>
          <p:cNvSpPr txBox="1"/>
          <p:nvPr/>
        </p:nvSpPr>
        <p:spPr>
          <a:xfrm>
            <a:off x="546100" y="2793434"/>
            <a:ext cx="5824220" cy="1200329"/>
          </a:xfrm>
          <a:prstGeom prst="rect">
            <a:avLst/>
          </a:prstGeom>
          <a:noFill/>
        </p:spPr>
        <p:txBody>
          <a:bodyPr wrap="square" lIns="91440" tIns="45720" rIns="91440" bIns="45720" anchor="t">
            <a:spAutoFit/>
          </a:bodyPr>
          <a:lstStyle/>
          <a:p>
            <a:r>
              <a:rPr lang="en-US" sz="2400" b="1" dirty="0">
                <a:solidFill>
                  <a:schemeClr val="bg1"/>
                </a:solidFill>
                <a:latin typeface="PP Neue Machina Plain" pitchFamily="2" charset="77"/>
              </a:rPr>
              <a:t>From Manual Chaos to Automated Efficiency: Transforming Billing and Revenue Management</a:t>
            </a:r>
            <a:endParaRPr lang="en-AU" sz="2400" b="1" dirty="0">
              <a:solidFill>
                <a:schemeClr val="bg1"/>
              </a:solidFill>
              <a:latin typeface="PP Neue Machina Plain" pitchFamily="2" charset="77"/>
            </a:endParaRPr>
          </a:p>
        </p:txBody>
      </p:sp>
      <p:sp>
        <p:nvSpPr>
          <p:cNvPr id="15" name="TextBox 14">
            <a:extLst>
              <a:ext uri="{FF2B5EF4-FFF2-40B4-BE49-F238E27FC236}">
                <a16:creationId xmlns:a16="http://schemas.microsoft.com/office/drawing/2014/main" id="{BBCF1A87-B500-50C6-7CFC-8046200A8267}"/>
              </a:ext>
            </a:extLst>
          </p:cNvPr>
          <p:cNvSpPr txBox="1"/>
          <p:nvPr/>
        </p:nvSpPr>
        <p:spPr>
          <a:xfrm>
            <a:off x="647699" y="2476500"/>
            <a:ext cx="1387475" cy="316934"/>
          </a:xfrm>
          <a:prstGeom prst="rect">
            <a:avLst/>
          </a:prstGeom>
          <a:solidFill>
            <a:srgbClr val="F50F7D"/>
          </a:solidFill>
        </p:spPr>
        <p:txBody>
          <a:bodyPr wrap="square" rtlCol="0">
            <a:spAutoFit/>
          </a:bodyPr>
          <a:lstStyle/>
          <a:p>
            <a:r>
              <a:rPr lang="en-IN" sz="1400" dirty="0">
                <a:solidFill>
                  <a:schemeClr val="bg1"/>
                </a:solidFill>
              </a:rPr>
              <a:t>CASE STUDY</a:t>
            </a:r>
            <a:endParaRPr lang="en-AU" sz="1400" dirty="0">
              <a:solidFill>
                <a:schemeClr val="bg1"/>
              </a:solidFill>
            </a:endParaRPr>
          </a:p>
        </p:txBody>
      </p:sp>
      <p:sp>
        <p:nvSpPr>
          <p:cNvPr id="16" name="object 12">
            <a:extLst>
              <a:ext uri="{FF2B5EF4-FFF2-40B4-BE49-F238E27FC236}">
                <a16:creationId xmlns:a16="http://schemas.microsoft.com/office/drawing/2014/main" id="{8F477995-AE3D-D43B-2070-B1E43C209E93}"/>
              </a:ext>
            </a:extLst>
          </p:cNvPr>
          <p:cNvSpPr/>
          <p:nvPr/>
        </p:nvSpPr>
        <p:spPr>
          <a:xfrm>
            <a:off x="660402" y="7126461"/>
            <a:ext cx="5572125" cy="0"/>
          </a:xfrm>
          <a:custGeom>
            <a:avLst/>
            <a:gdLst/>
            <a:ahLst/>
            <a:cxnLst/>
            <a:rect l="l" t="t" r="r" b="b"/>
            <a:pathLst>
              <a:path w="5572125">
                <a:moveTo>
                  <a:pt x="0" y="0"/>
                </a:moveTo>
                <a:lnTo>
                  <a:pt x="5571896" y="0"/>
                </a:lnTo>
              </a:path>
            </a:pathLst>
          </a:custGeom>
          <a:ln w="12700">
            <a:solidFill>
              <a:srgbClr val="F40F7D"/>
            </a:solidFill>
          </a:ln>
        </p:spPr>
        <p:txBody>
          <a:bodyPr wrap="square" lIns="0" tIns="0" rIns="0" bIns="0" rtlCol="0"/>
          <a:lstStyle/>
          <a:p>
            <a:endParaRPr/>
          </a:p>
        </p:txBody>
      </p:sp>
      <p:sp>
        <p:nvSpPr>
          <p:cNvPr id="17" name="object 13">
            <a:extLst>
              <a:ext uri="{FF2B5EF4-FFF2-40B4-BE49-F238E27FC236}">
                <a16:creationId xmlns:a16="http://schemas.microsoft.com/office/drawing/2014/main" id="{63C3216A-309B-4E92-20AB-119E8E803A29}"/>
              </a:ext>
            </a:extLst>
          </p:cNvPr>
          <p:cNvSpPr txBox="1"/>
          <p:nvPr/>
        </p:nvSpPr>
        <p:spPr>
          <a:xfrm>
            <a:off x="647700" y="4765477"/>
            <a:ext cx="5553075" cy="805180"/>
          </a:xfrm>
          <a:prstGeom prst="rect">
            <a:avLst/>
          </a:prstGeom>
        </p:spPr>
        <p:txBody>
          <a:bodyPr vert="horz" wrap="square" lIns="0" tIns="12700" rIns="0" bIns="0" rtlCol="0">
            <a:spAutoFit/>
          </a:bodyPr>
          <a:lstStyle/>
          <a:p>
            <a:pPr marL="12700">
              <a:lnSpc>
                <a:spcPct val="100000"/>
              </a:lnSpc>
              <a:spcBef>
                <a:spcPts val="100"/>
              </a:spcBef>
            </a:pPr>
            <a:r>
              <a:rPr sz="1500" b="1" spc="-10" dirty="0">
                <a:latin typeface="PP Neue Machina Plain" pitchFamily="2" charset="77"/>
                <a:cs typeface="PP Neue Machina Plain Ultrabold"/>
              </a:rPr>
              <a:t>Overview</a:t>
            </a:r>
            <a:endParaRPr sz="1500" dirty="0">
              <a:latin typeface="PP Neue Machina Plain" pitchFamily="2" charset="77"/>
              <a:cs typeface="PP Neue Machina Plain Ultrabold"/>
            </a:endParaRPr>
          </a:p>
          <a:p>
            <a:pPr marL="12700" marR="5080">
              <a:lnSpc>
                <a:spcPct val="100000"/>
              </a:lnSpc>
              <a:spcBef>
                <a:spcPts val="735"/>
              </a:spcBef>
            </a:pPr>
            <a:r>
              <a:rPr sz="1000" b="0" dirty="0">
                <a:cs typeface="Avenir Light"/>
              </a:rPr>
              <a:t>A</a:t>
            </a:r>
            <a:r>
              <a:rPr sz="1000" b="0" spc="-25" dirty="0">
                <a:cs typeface="Avenir Light"/>
              </a:rPr>
              <a:t> </a:t>
            </a:r>
            <a:r>
              <a:rPr sz="1000" b="0" dirty="0">
                <a:cs typeface="Avenir Light"/>
              </a:rPr>
              <a:t>leading</a:t>
            </a:r>
            <a:r>
              <a:rPr sz="1000" b="0" spc="-20" dirty="0">
                <a:cs typeface="Avenir Light"/>
              </a:rPr>
              <a:t> </a:t>
            </a:r>
            <a:r>
              <a:rPr sz="1000" b="0" dirty="0">
                <a:cs typeface="Avenir Light"/>
              </a:rPr>
              <a:t>healthcare</a:t>
            </a:r>
            <a:r>
              <a:rPr sz="1000" b="0" spc="-20" dirty="0">
                <a:cs typeface="Avenir Light"/>
              </a:rPr>
              <a:t> </a:t>
            </a:r>
            <a:r>
              <a:rPr sz="1000" b="0" dirty="0">
                <a:cs typeface="Avenir Light"/>
              </a:rPr>
              <a:t>provider</a:t>
            </a:r>
            <a:r>
              <a:rPr sz="1000" b="0" spc="-20" dirty="0">
                <a:cs typeface="Avenir Light"/>
              </a:rPr>
              <a:t> </a:t>
            </a:r>
            <a:r>
              <a:rPr sz="1000" b="0" dirty="0">
                <a:cs typeface="Avenir Light"/>
              </a:rPr>
              <a:t>faced</a:t>
            </a:r>
            <a:r>
              <a:rPr sz="1000" b="0" spc="-20" dirty="0">
                <a:cs typeface="Avenir Light"/>
              </a:rPr>
              <a:t> </a:t>
            </a:r>
            <a:r>
              <a:rPr sz="1000" b="0" dirty="0">
                <a:cs typeface="Avenir Light"/>
              </a:rPr>
              <a:t>operational</a:t>
            </a:r>
            <a:r>
              <a:rPr sz="1000" b="0" spc="-20" dirty="0">
                <a:cs typeface="Avenir Light"/>
              </a:rPr>
              <a:t> </a:t>
            </a:r>
            <a:r>
              <a:rPr sz="1000" b="0" dirty="0">
                <a:cs typeface="Avenir Light"/>
              </a:rPr>
              <a:t>inefficiencies</a:t>
            </a:r>
            <a:r>
              <a:rPr sz="1000" b="0" spc="-25" dirty="0">
                <a:cs typeface="Avenir Light"/>
              </a:rPr>
              <a:t> </a:t>
            </a:r>
            <a:r>
              <a:rPr sz="1000" b="0" dirty="0">
                <a:cs typeface="Avenir Light"/>
              </a:rPr>
              <a:t>impacting</a:t>
            </a:r>
            <a:r>
              <a:rPr sz="1000" b="0" spc="-20" dirty="0">
                <a:cs typeface="Avenir Light"/>
              </a:rPr>
              <a:t> </a:t>
            </a:r>
            <a:r>
              <a:rPr sz="1000" b="0" dirty="0">
                <a:cs typeface="Avenir Light"/>
              </a:rPr>
              <a:t>financial</a:t>
            </a:r>
            <a:r>
              <a:rPr sz="1000" b="0" spc="-20" dirty="0">
                <a:cs typeface="Avenir Light"/>
              </a:rPr>
              <a:t> </a:t>
            </a:r>
            <a:r>
              <a:rPr sz="1000" b="0" spc="-10" dirty="0">
                <a:cs typeface="Avenir Light"/>
              </a:rPr>
              <a:t>performance</a:t>
            </a:r>
            <a:r>
              <a:rPr sz="1000" b="0" spc="500" dirty="0">
                <a:cs typeface="Avenir Light"/>
              </a:rPr>
              <a:t> </a:t>
            </a:r>
            <a:r>
              <a:rPr sz="1000" b="0" dirty="0">
                <a:cs typeface="Avenir Light"/>
              </a:rPr>
              <a:t>and</a:t>
            </a:r>
            <a:r>
              <a:rPr sz="1000" b="0" spc="-10" dirty="0">
                <a:cs typeface="Avenir Light"/>
              </a:rPr>
              <a:t> </a:t>
            </a:r>
            <a:r>
              <a:rPr sz="1000" b="0" dirty="0">
                <a:cs typeface="Avenir Light"/>
              </a:rPr>
              <a:t>compliance.</a:t>
            </a:r>
            <a:r>
              <a:rPr sz="1000" b="0" spc="-5" dirty="0">
                <a:cs typeface="Avenir Light"/>
              </a:rPr>
              <a:t> </a:t>
            </a:r>
            <a:r>
              <a:rPr sz="1000" b="0" dirty="0">
                <a:cs typeface="Avenir Light"/>
              </a:rPr>
              <a:t>Manual</a:t>
            </a:r>
            <a:r>
              <a:rPr sz="1000" b="0" spc="-5" dirty="0">
                <a:cs typeface="Avenir Light"/>
              </a:rPr>
              <a:t> </a:t>
            </a:r>
            <a:r>
              <a:rPr sz="1000" b="0" dirty="0">
                <a:cs typeface="Avenir Light"/>
              </a:rPr>
              <a:t>processes</a:t>
            </a:r>
            <a:r>
              <a:rPr sz="1000" b="0" spc="-5" dirty="0">
                <a:cs typeface="Avenir Light"/>
              </a:rPr>
              <a:t> </a:t>
            </a:r>
            <a:r>
              <a:rPr sz="1000" b="0" dirty="0">
                <a:cs typeface="Avenir Light"/>
              </a:rPr>
              <a:t>in</a:t>
            </a:r>
            <a:r>
              <a:rPr sz="1000" b="0" spc="-5" dirty="0">
                <a:cs typeface="Avenir Light"/>
              </a:rPr>
              <a:t> </a:t>
            </a:r>
            <a:r>
              <a:rPr sz="1000" b="0" dirty="0">
                <a:cs typeface="Avenir Light"/>
              </a:rPr>
              <a:t>billing</a:t>
            </a:r>
            <a:r>
              <a:rPr sz="1000" b="0" spc="-5" dirty="0">
                <a:cs typeface="Avenir Light"/>
              </a:rPr>
              <a:t> </a:t>
            </a:r>
            <a:r>
              <a:rPr sz="1000" b="0" spc="-10" dirty="0">
                <a:cs typeface="Avenir Light"/>
              </a:rPr>
              <a:t>follow-</a:t>
            </a:r>
            <a:r>
              <a:rPr sz="1000" b="0" dirty="0">
                <a:cs typeface="Avenir Light"/>
              </a:rPr>
              <a:t>ups,</a:t>
            </a:r>
            <a:r>
              <a:rPr sz="1000" b="0" spc="-5" dirty="0">
                <a:cs typeface="Avenir Light"/>
              </a:rPr>
              <a:t> </a:t>
            </a:r>
            <a:r>
              <a:rPr sz="1000" b="0" dirty="0">
                <a:cs typeface="Avenir Light"/>
              </a:rPr>
              <a:t>disconnected</a:t>
            </a:r>
            <a:r>
              <a:rPr sz="1000" b="0" spc="-5" dirty="0">
                <a:cs typeface="Avenir Light"/>
              </a:rPr>
              <a:t> </a:t>
            </a:r>
            <a:r>
              <a:rPr sz="1000" b="0" dirty="0">
                <a:cs typeface="Avenir Light"/>
              </a:rPr>
              <a:t>data</a:t>
            </a:r>
            <a:r>
              <a:rPr sz="1000" b="0" spc="-5" dirty="0">
                <a:cs typeface="Avenir Light"/>
              </a:rPr>
              <a:t> </a:t>
            </a:r>
            <a:r>
              <a:rPr sz="1000" b="0" dirty="0">
                <a:cs typeface="Avenir Light"/>
              </a:rPr>
              <a:t>systems,</a:t>
            </a:r>
            <a:r>
              <a:rPr sz="1000" b="0" spc="-5" dirty="0">
                <a:cs typeface="Avenir Light"/>
              </a:rPr>
              <a:t> </a:t>
            </a:r>
            <a:r>
              <a:rPr sz="1000" b="0" dirty="0">
                <a:cs typeface="Avenir Light"/>
              </a:rPr>
              <a:t>and</a:t>
            </a:r>
            <a:r>
              <a:rPr sz="1000" b="0" spc="-5" dirty="0">
                <a:cs typeface="Avenir Light"/>
              </a:rPr>
              <a:t> </a:t>
            </a:r>
            <a:r>
              <a:rPr sz="1000" b="0" spc="-10" dirty="0">
                <a:cs typeface="Avenir Light"/>
              </a:rPr>
              <a:t>outdated </a:t>
            </a:r>
            <a:r>
              <a:rPr sz="1000" b="0" dirty="0">
                <a:cs typeface="Avenir Light"/>
              </a:rPr>
              <a:t>reporting</a:t>
            </a:r>
            <a:r>
              <a:rPr sz="1000" b="0" spc="-25" dirty="0">
                <a:cs typeface="Avenir Light"/>
              </a:rPr>
              <a:t> </a:t>
            </a:r>
            <a:r>
              <a:rPr sz="1000" b="0" dirty="0">
                <a:cs typeface="Avenir Light"/>
              </a:rPr>
              <a:t>practices</a:t>
            </a:r>
            <a:r>
              <a:rPr sz="1000" b="0" spc="-25" dirty="0">
                <a:cs typeface="Avenir Light"/>
              </a:rPr>
              <a:t> </a:t>
            </a:r>
            <a:r>
              <a:rPr sz="1000" b="0" dirty="0">
                <a:cs typeface="Avenir Light"/>
              </a:rPr>
              <a:t>hindered</a:t>
            </a:r>
            <a:r>
              <a:rPr sz="1000" b="0" spc="-25" dirty="0">
                <a:cs typeface="Avenir Light"/>
              </a:rPr>
              <a:t> </a:t>
            </a:r>
            <a:r>
              <a:rPr sz="1000" b="0" dirty="0">
                <a:cs typeface="Avenir Light"/>
              </a:rPr>
              <a:t>revenue</a:t>
            </a:r>
            <a:r>
              <a:rPr sz="1000" b="0" spc="-25" dirty="0">
                <a:cs typeface="Avenir Light"/>
              </a:rPr>
              <a:t> </a:t>
            </a:r>
            <a:r>
              <a:rPr sz="1000" b="0" dirty="0">
                <a:cs typeface="Avenir Light"/>
              </a:rPr>
              <a:t>optimization</a:t>
            </a:r>
            <a:r>
              <a:rPr sz="1000" b="0" spc="-25" dirty="0">
                <a:cs typeface="Avenir Light"/>
              </a:rPr>
              <a:t> </a:t>
            </a:r>
            <a:r>
              <a:rPr sz="1000" b="0" dirty="0">
                <a:cs typeface="Avenir Light"/>
              </a:rPr>
              <a:t>and</a:t>
            </a:r>
            <a:r>
              <a:rPr sz="1000" b="0" spc="-25" dirty="0">
                <a:cs typeface="Avenir Light"/>
              </a:rPr>
              <a:t> </a:t>
            </a:r>
            <a:r>
              <a:rPr sz="1000" b="0" dirty="0">
                <a:cs typeface="Avenir Light"/>
              </a:rPr>
              <a:t>increased</a:t>
            </a:r>
            <a:r>
              <a:rPr sz="1000" b="0" spc="-25" dirty="0">
                <a:cs typeface="Avenir Light"/>
              </a:rPr>
              <a:t> </a:t>
            </a:r>
            <a:r>
              <a:rPr sz="1000" b="0" dirty="0">
                <a:cs typeface="Avenir Light"/>
              </a:rPr>
              <a:t>compliance</a:t>
            </a:r>
            <a:r>
              <a:rPr sz="1000" b="0" spc="-25" dirty="0">
                <a:cs typeface="Avenir Light"/>
              </a:rPr>
              <a:t> </a:t>
            </a:r>
            <a:r>
              <a:rPr sz="1000" b="0" spc="-10" dirty="0">
                <a:cs typeface="Avenir Light"/>
              </a:rPr>
              <a:t>risks</a:t>
            </a:r>
            <a:endParaRPr sz="1000" dirty="0">
              <a:cs typeface="Avenir Light"/>
            </a:endParaRPr>
          </a:p>
        </p:txBody>
      </p:sp>
      <p:sp>
        <p:nvSpPr>
          <p:cNvPr id="18" name="object 14">
            <a:extLst>
              <a:ext uri="{FF2B5EF4-FFF2-40B4-BE49-F238E27FC236}">
                <a16:creationId xmlns:a16="http://schemas.microsoft.com/office/drawing/2014/main" id="{1C646A99-4779-EB73-2A29-9ABFB3CD5B8D}"/>
              </a:ext>
            </a:extLst>
          </p:cNvPr>
          <p:cNvSpPr txBox="1"/>
          <p:nvPr/>
        </p:nvSpPr>
        <p:spPr>
          <a:xfrm>
            <a:off x="691515" y="7897935"/>
            <a:ext cx="1660525" cy="894604"/>
          </a:xfrm>
          <a:prstGeom prst="rect">
            <a:avLst/>
          </a:prstGeom>
        </p:spPr>
        <p:txBody>
          <a:bodyPr vert="horz" wrap="square" lIns="0" tIns="12700" rIns="0" bIns="0" rtlCol="0">
            <a:spAutoFit/>
          </a:bodyPr>
          <a:lstStyle/>
          <a:p>
            <a:pPr marL="12700" marR="5080">
              <a:lnSpc>
                <a:spcPct val="116700"/>
              </a:lnSpc>
              <a:spcBef>
                <a:spcPts val="535"/>
              </a:spcBef>
            </a:pPr>
            <a:r>
              <a:rPr sz="1000" b="1" dirty="0">
                <a:cs typeface="Avenir Black"/>
              </a:rPr>
              <a:t>Inefﬁcient</a:t>
            </a:r>
            <a:r>
              <a:rPr sz="1000" b="1" spc="-40" dirty="0">
                <a:cs typeface="Avenir Black"/>
              </a:rPr>
              <a:t> </a:t>
            </a:r>
            <a:r>
              <a:rPr sz="1000" b="1" dirty="0">
                <a:cs typeface="Avenir Black"/>
              </a:rPr>
              <a:t>Billing</a:t>
            </a:r>
            <a:r>
              <a:rPr sz="1000" b="1" spc="-40" dirty="0">
                <a:cs typeface="Avenir Black"/>
              </a:rPr>
              <a:t> </a:t>
            </a:r>
            <a:r>
              <a:rPr sz="1000" b="1" spc="-10">
                <a:cs typeface="Avenir Black"/>
              </a:rPr>
              <a:t>Processes </a:t>
            </a:r>
            <a:r>
              <a:rPr sz="1000" b="0">
                <a:cs typeface="Avenir Light"/>
              </a:rPr>
              <a:t>Manual</a:t>
            </a:r>
            <a:r>
              <a:rPr sz="1000" b="0" spc="25">
                <a:cs typeface="Avenir Light"/>
              </a:rPr>
              <a:t> </a:t>
            </a:r>
            <a:r>
              <a:rPr sz="1000" b="0" spc="-10" dirty="0">
                <a:cs typeface="Avenir Light"/>
              </a:rPr>
              <a:t>follow-</a:t>
            </a:r>
            <a:r>
              <a:rPr sz="1000" b="0" dirty="0">
                <a:cs typeface="Avenir Light"/>
              </a:rPr>
              <a:t>ups</a:t>
            </a:r>
            <a:r>
              <a:rPr sz="1000" b="0" spc="30" dirty="0">
                <a:cs typeface="Avenir Light"/>
              </a:rPr>
              <a:t> </a:t>
            </a:r>
            <a:r>
              <a:rPr sz="1000" b="0" spc="-10" dirty="0">
                <a:cs typeface="Avenir Light"/>
              </a:rPr>
              <a:t>caused </a:t>
            </a:r>
            <a:r>
              <a:rPr sz="1000" b="0" dirty="0">
                <a:cs typeface="Avenir Light"/>
              </a:rPr>
              <a:t>delays</a:t>
            </a:r>
            <a:r>
              <a:rPr sz="1000" b="0" spc="-20" dirty="0">
                <a:cs typeface="Avenir Light"/>
              </a:rPr>
              <a:t> </a:t>
            </a:r>
            <a:r>
              <a:rPr sz="1000" b="0" dirty="0">
                <a:cs typeface="Avenir Light"/>
              </a:rPr>
              <a:t>and</a:t>
            </a:r>
            <a:r>
              <a:rPr sz="1000" b="0" spc="-20" dirty="0">
                <a:cs typeface="Avenir Light"/>
              </a:rPr>
              <a:t> </a:t>
            </a:r>
            <a:r>
              <a:rPr sz="1000" b="0" dirty="0">
                <a:cs typeface="Avenir Light"/>
              </a:rPr>
              <a:t>potential</a:t>
            </a:r>
            <a:r>
              <a:rPr sz="1000" b="0" spc="-20" dirty="0">
                <a:cs typeface="Avenir Light"/>
              </a:rPr>
              <a:t> </a:t>
            </a:r>
            <a:r>
              <a:rPr sz="1000" b="0" spc="-10" dirty="0">
                <a:cs typeface="Avenir Light"/>
              </a:rPr>
              <a:t>revenue losses.</a:t>
            </a:r>
            <a:endParaRPr sz="1000" dirty="0">
              <a:cs typeface="Avenir Light"/>
            </a:endParaRPr>
          </a:p>
        </p:txBody>
      </p:sp>
      <p:sp>
        <p:nvSpPr>
          <p:cNvPr id="19" name="object 15">
            <a:extLst>
              <a:ext uri="{FF2B5EF4-FFF2-40B4-BE49-F238E27FC236}">
                <a16:creationId xmlns:a16="http://schemas.microsoft.com/office/drawing/2014/main" id="{12FA245F-5366-8872-D2BB-40D90D098E62}"/>
              </a:ext>
            </a:extLst>
          </p:cNvPr>
          <p:cNvSpPr txBox="1"/>
          <p:nvPr/>
        </p:nvSpPr>
        <p:spPr>
          <a:xfrm>
            <a:off x="2550668" y="7897935"/>
            <a:ext cx="1715135" cy="714042"/>
          </a:xfrm>
          <a:prstGeom prst="rect">
            <a:avLst/>
          </a:prstGeom>
        </p:spPr>
        <p:txBody>
          <a:bodyPr vert="horz" wrap="square" lIns="0" tIns="38100" rIns="0" bIns="0" rtlCol="0">
            <a:spAutoFit/>
          </a:bodyPr>
          <a:lstStyle/>
          <a:p>
            <a:pPr marL="12700">
              <a:lnSpc>
                <a:spcPct val="100000"/>
              </a:lnSpc>
              <a:spcBef>
                <a:spcPts val="300"/>
              </a:spcBef>
            </a:pPr>
            <a:r>
              <a:rPr sz="1000" b="1" dirty="0">
                <a:cs typeface="Avenir Black"/>
              </a:rPr>
              <a:t>Disconnected</a:t>
            </a:r>
            <a:r>
              <a:rPr sz="1000" b="1" spc="-65" dirty="0">
                <a:cs typeface="Avenir Black"/>
              </a:rPr>
              <a:t> </a:t>
            </a:r>
            <a:r>
              <a:rPr sz="1000" b="1" spc="-10" dirty="0">
                <a:cs typeface="Avenir Black"/>
              </a:rPr>
              <a:t>Systems</a:t>
            </a:r>
            <a:endParaRPr sz="1000" dirty="0">
              <a:cs typeface="Avenir Black"/>
            </a:endParaRPr>
          </a:p>
          <a:p>
            <a:pPr marL="12700" marR="5080">
              <a:lnSpc>
                <a:spcPct val="116700"/>
              </a:lnSpc>
            </a:pPr>
            <a:r>
              <a:rPr sz="1000" b="0" dirty="0">
                <a:cs typeface="Avenir Light"/>
              </a:rPr>
              <a:t>Lack</a:t>
            </a:r>
            <a:r>
              <a:rPr sz="1000" b="0" spc="-25" dirty="0">
                <a:cs typeface="Avenir Light"/>
              </a:rPr>
              <a:t> </a:t>
            </a:r>
            <a:r>
              <a:rPr sz="1000" b="0" dirty="0">
                <a:cs typeface="Avenir Light"/>
              </a:rPr>
              <a:t>of</a:t>
            </a:r>
            <a:r>
              <a:rPr sz="1000" b="0" spc="-20" dirty="0">
                <a:cs typeface="Avenir Light"/>
              </a:rPr>
              <a:t> </a:t>
            </a:r>
            <a:r>
              <a:rPr sz="1000" b="0" dirty="0">
                <a:cs typeface="Avenir Light"/>
              </a:rPr>
              <a:t>integrated</a:t>
            </a:r>
            <a:r>
              <a:rPr sz="1000" b="0" spc="-20" dirty="0">
                <a:cs typeface="Avenir Light"/>
              </a:rPr>
              <a:t> </a:t>
            </a:r>
            <a:r>
              <a:rPr sz="1000" b="0" dirty="0">
                <a:cs typeface="Avenir Light"/>
              </a:rPr>
              <a:t>data</a:t>
            </a:r>
            <a:r>
              <a:rPr sz="1000" b="0" spc="-20" dirty="0">
                <a:cs typeface="Avenir Light"/>
              </a:rPr>
              <a:t> </a:t>
            </a:r>
            <a:r>
              <a:rPr sz="1000" b="0" spc="-10" dirty="0">
                <a:cs typeface="Avenir Light"/>
              </a:rPr>
              <a:t>across </a:t>
            </a:r>
            <a:r>
              <a:rPr sz="1000" b="0" dirty="0">
                <a:cs typeface="Avenir Light"/>
              </a:rPr>
              <a:t>patient</a:t>
            </a:r>
            <a:r>
              <a:rPr sz="1000" b="0" spc="-20" dirty="0">
                <a:cs typeface="Avenir Light"/>
              </a:rPr>
              <a:t> </a:t>
            </a:r>
            <a:r>
              <a:rPr sz="1000" b="0" dirty="0">
                <a:cs typeface="Avenir Light"/>
              </a:rPr>
              <a:t>care</a:t>
            </a:r>
            <a:r>
              <a:rPr sz="1000" b="0" spc="-20" dirty="0">
                <a:cs typeface="Avenir Light"/>
              </a:rPr>
              <a:t> </a:t>
            </a:r>
            <a:r>
              <a:rPr sz="1000" b="0" dirty="0">
                <a:cs typeface="Avenir Light"/>
              </a:rPr>
              <a:t>and</a:t>
            </a:r>
            <a:r>
              <a:rPr sz="1000" b="0" spc="-20" dirty="0">
                <a:cs typeface="Avenir Light"/>
              </a:rPr>
              <a:t> </a:t>
            </a:r>
            <a:r>
              <a:rPr sz="1000" b="0" spc="-10" dirty="0">
                <a:cs typeface="Avenir Light"/>
              </a:rPr>
              <a:t>diagnostic services.</a:t>
            </a:r>
            <a:endParaRPr sz="1000" dirty="0">
              <a:cs typeface="Avenir Light"/>
            </a:endParaRPr>
          </a:p>
        </p:txBody>
      </p:sp>
      <p:sp>
        <p:nvSpPr>
          <p:cNvPr id="20" name="object 16">
            <a:extLst>
              <a:ext uri="{FF2B5EF4-FFF2-40B4-BE49-F238E27FC236}">
                <a16:creationId xmlns:a16="http://schemas.microsoft.com/office/drawing/2014/main" id="{612D7D71-7EFB-BA3A-CAD9-6E8A82D33BAD}"/>
              </a:ext>
            </a:extLst>
          </p:cNvPr>
          <p:cNvSpPr txBox="1"/>
          <p:nvPr/>
        </p:nvSpPr>
        <p:spPr>
          <a:xfrm>
            <a:off x="4464431" y="7897935"/>
            <a:ext cx="1493520" cy="736600"/>
          </a:xfrm>
          <a:prstGeom prst="rect">
            <a:avLst/>
          </a:prstGeom>
        </p:spPr>
        <p:txBody>
          <a:bodyPr vert="horz" wrap="square" lIns="0" tIns="12700" rIns="0" bIns="0" rtlCol="0">
            <a:spAutoFit/>
          </a:bodyPr>
          <a:lstStyle/>
          <a:p>
            <a:pPr marL="12700" marR="5080">
              <a:lnSpc>
                <a:spcPct val="116700"/>
              </a:lnSpc>
              <a:spcBef>
                <a:spcPts val="100"/>
              </a:spcBef>
            </a:pPr>
            <a:r>
              <a:rPr sz="1000" b="1" dirty="0">
                <a:cs typeface="Avenir Black"/>
              </a:rPr>
              <a:t>Compliance</a:t>
            </a:r>
            <a:r>
              <a:rPr sz="1000" b="1" spc="-55" dirty="0">
                <a:cs typeface="Avenir Black"/>
              </a:rPr>
              <a:t> </a:t>
            </a:r>
            <a:r>
              <a:rPr sz="1000" b="1" spc="-10" dirty="0">
                <a:cs typeface="Avenir Black"/>
              </a:rPr>
              <a:t>Risks</a:t>
            </a:r>
            <a:r>
              <a:rPr sz="1000" b="1" spc="500" dirty="0">
                <a:cs typeface="Avenir Black"/>
              </a:rPr>
              <a:t> </a:t>
            </a:r>
            <a:r>
              <a:rPr sz="1000" b="0" dirty="0">
                <a:cs typeface="Avenir Light"/>
              </a:rPr>
              <a:t>Manual</a:t>
            </a:r>
            <a:r>
              <a:rPr sz="1000" b="0" spc="-30" dirty="0">
                <a:cs typeface="Avenir Light"/>
              </a:rPr>
              <a:t> </a:t>
            </a:r>
            <a:r>
              <a:rPr sz="1000" b="0" dirty="0">
                <a:cs typeface="Avenir Light"/>
              </a:rPr>
              <a:t>reporting</a:t>
            </a:r>
            <a:r>
              <a:rPr sz="1000" b="0" spc="-25" dirty="0">
                <a:cs typeface="Avenir Light"/>
              </a:rPr>
              <a:t> </a:t>
            </a:r>
            <a:r>
              <a:rPr sz="1000" b="0" spc="-10" dirty="0">
                <a:cs typeface="Avenir Light"/>
              </a:rPr>
              <a:t>created </a:t>
            </a:r>
            <a:r>
              <a:rPr sz="1000" b="0" dirty="0">
                <a:cs typeface="Avenir Light"/>
              </a:rPr>
              <a:t>delays</a:t>
            </a:r>
            <a:r>
              <a:rPr sz="1000" b="0" spc="-10" dirty="0">
                <a:cs typeface="Avenir Light"/>
              </a:rPr>
              <a:t> </a:t>
            </a:r>
            <a:r>
              <a:rPr sz="1000" b="0" dirty="0">
                <a:cs typeface="Avenir Light"/>
              </a:rPr>
              <a:t>and</a:t>
            </a:r>
            <a:r>
              <a:rPr sz="1000" b="0" spc="-10" dirty="0">
                <a:cs typeface="Avenir Light"/>
              </a:rPr>
              <a:t> </a:t>
            </a:r>
            <a:r>
              <a:rPr sz="1000" b="0" dirty="0">
                <a:cs typeface="Avenir Light"/>
              </a:rPr>
              <a:t>vulnerability</a:t>
            </a:r>
            <a:r>
              <a:rPr sz="1000" b="0" spc="-10" dirty="0">
                <a:cs typeface="Avenir Light"/>
              </a:rPr>
              <a:t> </a:t>
            </a:r>
            <a:r>
              <a:rPr sz="1000" b="0" spc="-25" dirty="0">
                <a:cs typeface="Avenir Light"/>
              </a:rPr>
              <a:t>to </a:t>
            </a:r>
            <a:r>
              <a:rPr sz="1000" b="0" dirty="0">
                <a:cs typeface="Avenir Light"/>
              </a:rPr>
              <a:t>compliance </a:t>
            </a:r>
            <a:r>
              <a:rPr sz="1000" b="0" spc="-10" dirty="0">
                <a:cs typeface="Avenir Light"/>
              </a:rPr>
              <a:t>issues.</a:t>
            </a:r>
            <a:endParaRPr sz="1000" dirty="0">
              <a:cs typeface="Avenir Light"/>
            </a:endParaRPr>
          </a:p>
        </p:txBody>
      </p:sp>
      <p:sp>
        <p:nvSpPr>
          <p:cNvPr id="21" name="object 17">
            <a:extLst>
              <a:ext uri="{FF2B5EF4-FFF2-40B4-BE49-F238E27FC236}">
                <a16:creationId xmlns:a16="http://schemas.microsoft.com/office/drawing/2014/main" id="{F377EE93-91ED-22A3-C4FC-2B2BAC117B9D}"/>
              </a:ext>
            </a:extLst>
          </p:cNvPr>
          <p:cNvSpPr txBox="1"/>
          <p:nvPr/>
        </p:nvSpPr>
        <p:spPr>
          <a:xfrm>
            <a:off x="2550668" y="5791132"/>
            <a:ext cx="1250950" cy="381000"/>
          </a:xfrm>
          <a:prstGeom prst="rect">
            <a:avLst/>
          </a:prstGeom>
        </p:spPr>
        <p:txBody>
          <a:bodyPr vert="horz" wrap="square" lIns="0" tIns="38100" rIns="0" bIns="0" rtlCol="0">
            <a:spAutoFit/>
          </a:bodyPr>
          <a:lstStyle/>
          <a:p>
            <a:pPr marL="12700">
              <a:lnSpc>
                <a:spcPct val="100000"/>
              </a:lnSpc>
              <a:spcBef>
                <a:spcPts val="300"/>
              </a:spcBef>
            </a:pPr>
            <a:r>
              <a:rPr sz="1000" b="0" spc="-10" dirty="0">
                <a:cs typeface="Avenir Light"/>
              </a:rPr>
              <a:t>Capability</a:t>
            </a:r>
            <a:endParaRPr sz="1000" dirty="0">
              <a:cs typeface="Avenir Light"/>
            </a:endParaRPr>
          </a:p>
          <a:p>
            <a:pPr marL="12700">
              <a:lnSpc>
                <a:spcPct val="100000"/>
              </a:lnSpc>
              <a:spcBef>
                <a:spcPts val="200"/>
              </a:spcBef>
            </a:pPr>
            <a:r>
              <a:rPr sz="1000" b="1" dirty="0">
                <a:cs typeface="Avenir Black"/>
              </a:rPr>
              <a:t>Insights</a:t>
            </a:r>
            <a:r>
              <a:rPr sz="1000" b="1" spc="-40" dirty="0">
                <a:cs typeface="Avenir Black"/>
              </a:rPr>
              <a:t> </a:t>
            </a:r>
            <a:r>
              <a:rPr sz="1000" b="1" spc="-10" dirty="0">
                <a:cs typeface="Avenir Black"/>
              </a:rPr>
              <a:t>Engineering</a:t>
            </a:r>
            <a:endParaRPr sz="1000" dirty="0">
              <a:cs typeface="Avenir Black"/>
            </a:endParaRPr>
          </a:p>
        </p:txBody>
      </p:sp>
      <p:sp>
        <p:nvSpPr>
          <p:cNvPr id="22" name="object 18">
            <a:extLst>
              <a:ext uri="{FF2B5EF4-FFF2-40B4-BE49-F238E27FC236}">
                <a16:creationId xmlns:a16="http://schemas.microsoft.com/office/drawing/2014/main" id="{0E91E54E-708F-8CFB-B722-5565EB7FA37F}"/>
              </a:ext>
            </a:extLst>
          </p:cNvPr>
          <p:cNvSpPr txBox="1"/>
          <p:nvPr/>
        </p:nvSpPr>
        <p:spPr>
          <a:xfrm>
            <a:off x="4464431" y="5791132"/>
            <a:ext cx="1732914" cy="381000"/>
          </a:xfrm>
          <a:prstGeom prst="rect">
            <a:avLst/>
          </a:prstGeom>
        </p:spPr>
        <p:txBody>
          <a:bodyPr vert="horz" wrap="square" lIns="0" tIns="38100" rIns="0" bIns="0" rtlCol="0">
            <a:spAutoFit/>
          </a:bodyPr>
          <a:lstStyle/>
          <a:p>
            <a:pPr marL="12700">
              <a:lnSpc>
                <a:spcPct val="100000"/>
              </a:lnSpc>
              <a:spcBef>
                <a:spcPts val="300"/>
              </a:spcBef>
            </a:pPr>
            <a:r>
              <a:rPr sz="1000" b="0">
                <a:cs typeface="Avenir Light"/>
              </a:rPr>
              <a:t>Core</a:t>
            </a:r>
            <a:r>
              <a:rPr sz="1000" b="0" spc="-35">
                <a:cs typeface="Avenir Light"/>
              </a:rPr>
              <a:t> </a:t>
            </a:r>
            <a:r>
              <a:rPr sz="1000" b="0" spc="-10">
                <a:cs typeface="Avenir Light"/>
              </a:rPr>
              <a:t>Business</a:t>
            </a:r>
            <a:endParaRPr sz="1000">
              <a:cs typeface="Avenir Light"/>
            </a:endParaRPr>
          </a:p>
          <a:p>
            <a:pPr marL="12700">
              <a:lnSpc>
                <a:spcPct val="100000"/>
              </a:lnSpc>
              <a:spcBef>
                <a:spcPts val="200"/>
              </a:spcBef>
            </a:pPr>
            <a:r>
              <a:rPr sz="1000" b="1">
                <a:cs typeface="Avenir Black"/>
              </a:rPr>
              <a:t>Revenue</a:t>
            </a:r>
            <a:r>
              <a:rPr sz="1000" b="1" spc="-35">
                <a:cs typeface="Avenir Black"/>
              </a:rPr>
              <a:t> </a:t>
            </a:r>
            <a:r>
              <a:rPr sz="1000" b="1">
                <a:cs typeface="Avenir Black"/>
              </a:rPr>
              <a:t>Cycle</a:t>
            </a:r>
            <a:r>
              <a:rPr sz="1000" b="1" spc="-35">
                <a:cs typeface="Avenir Black"/>
              </a:rPr>
              <a:t> </a:t>
            </a:r>
            <a:r>
              <a:rPr sz="1000" b="1" spc="-10">
                <a:cs typeface="Avenir Black"/>
              </a:rPr>
              <a:t>Management</a:t>
            </a:r>
            <a:endParaRPr sz="1000">
              <a:cs typeface="Avenir Black"/>
            </a:endParaRPr>
          </a:p>
        </p:txBody>
      </p:sp>
      <p:sp>
        <p:nvSpPr>
          <p:cNvPr id="23" name="object 19">
            <a:extLst>
              <a:ext uri="{FF2B5EF4-FFF2-40B4-BE49-F238E27FC236}">
                <a16:creationId xmlns:a16="http://schemas.microsoft.com/office/drawing/2014/main" id="{593E5DCD-FE98-111B-45F5-079B69A4B406}"/>
              </a:ext>
            </a:extLst>
          </p:cNvPr>
          <p:cNvSpPr txBox="1"/>
          <p:nvPr/>
        </p:nvSpPr>
        <p:spPr>
          <a:xfrm>
            <a:off x="647700" y="5782242"/>
            <a:ext cx="1387475" cy="987450"/>
          </a:xfrm>
          <a:prstGeom prst="rect">
            <a:avLst/>
          </a:prstGeom>
        </p:spPr>
        <p:txBody>
          <a:bodyPr vert="horz" wrap="square" lIns="0" tIns="38100" rIns="0" bIns="0" rtlCol="0">
            <a:spAutoFit/>
          </a:bodyPr>
          <a:lstStyle/>
          <a:p>
            <a:pPr marL="12700">
              <a:lnSpc>
                <a:spcPct val="100000"/>
              </a:lnSpc>
              <a:spcBef>
                <a:spcPts val="300"/>
              </a:spcBef>
            </a:pPr>
            <a:r>
              <a:rPr sz="1000" b="0" spc="-10" dirty="0">
                <a:cs typeface="Avenir Light"/>
              </a:rPr>
              <a:t>Industry</a:t>
            </a:r>
            <a:endParaRPr sz="1000" dirty="0">
              <a:cs typeface="Avenir Light"/>
            </a:endParaRPr>
          </a:p>
          <a:p>
            <a:pPr marL="12700" marR="5080">
              <a:spcBef>
                <a:spcPts val="200"/>
              </a:spcBef>
            </a:pPr>
            <a:r>
              <a:rPr sz="1000" b="1" dirty="0">
                <a:cs typeface="Avenir Black"/>
              </a:rPr>
              <a:t>Healthcare,</a:t>
            </a:r>
            <a:r>
              <a:rPr sz="1000" b="1" spc="-75" dirty="0">
                <a:cs typeface="Avenir Black"/>
              </a:rPr>
              <a:t> </a:t>
            </a:r>
            <a:r>
              <a:rPr sz="1000" b="1" spc="-10" dirty="0">
                <a:cs typeface="Avenir Black"/>
              </a:rPr>
              <a:t>Consulting Services</a:t>
            </a:r>
            <a:endParaRPr sz="1000" dirty="0">
              <a:cs typeface="Avenir Black"/>
            </a:endParaRPr>
          </a:p>
          <a:p>
            <a:pPr marL="12700">
              <a:lnSpc>
                <a:spcPct val="100000"/>
              </a:lnSpc>
              <a:spcBef>
                <a:spcPts val="994"/>
              </a:spcBef>
            </a:pPr>
            <a:r>
              <a:rPr sz="1000" b="0" spc="-10" dirty="0">
                <a:cs typeface="Avenir Light"/>
              </a:rPr>
              <a:t>Geography</a:t>
            </a:r>
            <a:endParaRPr sz="1000" dirty="0">
              <a:cs typeface="Avenir Light"/>
            </a:endParaRPr>
          </a:p>
          <a:p>
            <a:pPr marL="12700">
              <a:lnSpc>
                <a:spcPct val="100000"/>
              </a:lnSpc>
              <a:spcBef>
                <a:spcPts val="200"/>
              </a:spcBef>
            </a:pPr>
            <a:r>
              <a:rPr sz="1000" b="1" dirty="0">
                <a:cs typeface="Avenir Black"/>
              </a:rPr>
              <a:t>North</a:t>
            </a:r>
            <a:r>
              <a:rPr sz="1000" b="1" spc="-30" dirty="0">
                <a:cs typeface="Avenir Black"/>
              </a:rPr>
              <a:t> </a:t>
            </a:r>
            <a:r>
              <a:rPr sz="1000" b="1" spc="-10" dirty="0">
                <a:cs typeface="Avenir Black"/>
              </a:rPr>
              <a:t>America</a:t>
            </a:r>
            <a:endParaRPr sz="1000" dirty="0">
              <a:cs typeface="Avenir Black"/>
            </a:endParaRPr>
          </a:p>
        </p:txBody>
      </p:sp>
      <p:sp>
        <p:nvSpPr>
          <p:cNvPr id="24" name="object 20">
            <a:extLst>
              <a:ext uri="{FF2B5EF4-FFF2-40B4-BE49-F238E27FC236}">
                <a16:creationId xmlns:a16="http://schemas.microsoft.com/office/drawing/2014/main" id="{39D694B0-C822-31FF-F264-4B566CE40D94}"/>
              </a:ext>
            </a:extLst>
          </p:cNvPr>
          <p:cNvSpPr txBox="1"/>
          <p:nvPr/>
        </p:nvSpPr>
        <p:spPr>
          <a:xfrm>
            <a:off x="2550668" y="6425878"/>
            <a:ext cx="1630680" cy="381000"/>
          </a:xfrm>
          <a:prstGeom prst="rect">
            <a:avLst/>
          </a:prstGeom>
        </p:spPr>
        <p:txBody>
          <a:bodyPr vert="horz" wrap="square" lIns="0" tIns="38100" rIns="0" bIns="0" rtlCol="0">
            <a:spAutoFit/>
          </a:bodyPr>
          <a:lstStyle/>
          <a:p>
            <a:pPr marL="12700">
              <a:lnSpc>
                <a:spcPct val="100000"/>
              </a:lnSpc>
              <a:spcBef>
                <a:spcPts val="300"/>
              </a:spcBef>
            </a:pPr>
            <a:r>
              <a:rPr sz="1000" b="0" spc="-20">
                <a:cs typeface="Avenir Light"/>
              </a:rPr>
              <a:t>Tech</a:t>
            </a:r>
            <a:r>
              <a:rPr sz="1000" b="0" spc="-25">
                <a:cs typeface="Avenir Light"/>
              </a:rPr>
              <a:t> </a:t>
            </a:r>
            <a:r>
              <a:rPr sz="1000" b="0" spc="-10">
                <a:cs typeface="Avenir Light"/>
              </a:rPr>
              <a:t>Stack</a:t>
            </a:r>
            <a:endParaRPr sz="1000">
              <a:cs typeface="Avenir Light"/>
            </a:endParaRPr>
          </a:p>
          <a:p>
            <a:pPr marL="12700">
              <a:lnSpc>
                <a:spcPct val="100000"/>
              </a:lnSpc>
              <a:spcBef>
                <a:spcPts val="200"/>
              </a:spcBef>
            </a:pPr>
            <a:r>
              <a:rPr sz="1000" b="1">
                <a:cs typeface="Avenir Black"/>
              </a:rPr>
              <a:t>AWS,</a:t>
            </a:r>
            <a:r>
              <a:rPr sz="1000" b="1" spc="-35">
                <a:cs typeface="Avenir Black"/>
              </a:rPr>
              <a:t> </a:t>
            </a:r>
            <a:r>
              <a:rPr sz="1000" b="1">
                <a:cs typeface="Avenir Black"/>
              </a:rPr>
              <a:t>Spotﬁre,</a:t>
            </a:r>
            <a:r>
              <a:rPr sz="1000" b="1" spc="-40">
                <a:cs typeface="Avenir Black"/>
              </a:rPr>
              <a:t> </a:t>
            </a:r>
            <a:r>
              <a:rPr sz="1000" b="1">
                <a:cs typeface="Avenir Black"/>
              </a:rPr>
              <a:t>SQL</a:t>
            </a:r>
            <a:r>
              <a:rPr sz="1000" b="1" spc="-35">
                <a:cs typeface="Avenir Black"/>
              </a:rPr>
              <a:t> </a:t>
            </a:r>
            <a:r>
              <a:rPr sz="1000" b="1" spc="-10">
                <a:cs typeface="Avenir Black"/>
              </a:rPr>
              <a:t>Server</a:t>
            </a:r>
            <a:endParaRPr sz="1000">
              <a:cs typeface="Avenir Black"/>
            </a:endParaRPr>
          </a:p>
        </p:txBody>
      </p:sp>
      <p:sp>
        <p:nvSpPr>
          <p:cNvPr id="2" name="object 13">
            <a:extLst>
              <a:ext uri="{FF2B5EF4-FFF2-40B4-BE49-F238E27FC236}">
                <a16:creationId xmlns:a16="http://schemas.microsoft.com/office/drawing/2014/main" id="{5E94BE0A-A878-02D5-1353-E6CD77D9CC5F}"/>
              </a:ext>
            </a:extLst>
          </p:cNvPr>
          <p:cNvSpPr txBox="1"/>
          <p:nvPr/>
        </p:nvSpPr>
        <p:spPr>
          <a:xfrm>
            <a:off x="691515" y="7578351"/>
            <a:ext cx="5553075" cy="243656"/>
          </a:xfrm>
          <a:prstGeom prst="rect">
            <a:avLst/>
          </a:prstGeom>
        </p:spPr>
        <p:txBody>
          <a:bodyPr vert="horz" wrap="square" lIns="0" tIns="12700" rIns="0" bIns="0" rtlCol="0">
            <a:spAutoFit/>
          </a:bodyPr>
          <a:lstStyle/>
          <a:p>
            <a:pPr marL="12700">
              <a:lnSpc>
                <a:spcPct val="100000"/>
              </a:lnSpc>
              <a:spcBef>
                <a:spcPts val="100"/>
              </a:spcBef>
            </a:pPr>
            <a:r>
              <a:rPr lang="en-US" sz="1500" b="1" spc="-10" dirty="0">
                <a:latin typeface="PP Neue Machina Plain" pitchFamily="2" charset="77"/>
                <a:cs typeface="PP Neue Machina Plain Ultrabold"/>
              </a:rPr>
              <a:t>Challenges</a:t>
            </a:r>
            <a:endParaRPr sz="1500" dirty="0">
              <a:latin typeface="PP Neue Machina Plain" pitchFamily="2" charset="77"/>
              <a:cs typeface="PP Neue Machina Plain Ultrabold"/>
            </a:endParaRPr>
          </a:p>
        </p:txBody>
      </p:sp>
    </p:spTree>
    <p:extLst>
      <p:ext uri="{BB962C8B-B14F-4D97-AF65-F5344CB8AC3E}">
        <p14:creationId xmlns:p14="http://schemas.microsoft.com/office/powerpoint/2010/main" val="1625209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93477D3F-E5B3-17C3-8F5D-EF0B9DFBDB04}"/>
              </a:ext>
            </a:extLst>
          </p:cNvPr>
          <p:cNvSpPr/>
          <p:nvPr/>
        </p:nvSpPr>
        <p:spPr>
          <a:xfrm>
            <a:off x="641916" y="3009154"/>
            <a:ext cx="5572125" cy="0"/>
          </a:xfrm>
          <a:custGeom>
            <a:avLst/>
            <a:gdLst/>
            <a:ahLst/>
            <a:cxnLst/>
            <a:rect l="l" t="t" r="r" b="b"/>
            <a:pathLst>
              <a:path w="5572125">
                <a:moveTo>
                  <a:pt x="0" y="0"/>
                </a:moveTo>
                <a:lnTo>
                  <a:pt x="5571896" y="0"/>
                </a:lnTo>
              </a:path>
            </a:pathLst>
          </a:custGeom>
          <a:ln w="12700">
            <a:solidFill>
              <a:srgbClr val="F40F7D"/>
            </a:solidFill>
          </a:ln>
        </p:spPr>
        <p:txBody>
          <a:bodyPr wrap="square" lIns="0" tIns="0" rIns="0" bIns="0" rtlCol="0"/>
          <a:lstStyle/>
          <a:p>
            <a:endParaRPr/>
          </a:p>
        </p:txBody>
      </p:sp>
      <p:sp>
        <p:nvSpPr>
          <p:cNvPr id="3" name="object 4">
            <a:extLst>
              <a:ext uri="{FF2B5EF4-FFF2-40B4-BE49-F238E27FC236}">
                <a16:creationId xmlns:a16="http://schemas.microsoft.com/office/drawing/2014/main" id="{3B977F4E-A885-ED16-BE14-3D49A4C34B89}"/>
              </a:ext>
            </a:extLst>
          </p:cNvPr>
          <p:cNvSpPr txBox="1"/>
          <p:nvPr/>
        </p:nvSpPr>
        <p:spPr>
          <a:xfrm>
            <a:off x="629214" y="636235"/>
            <a:ext cx="5456555" cy="1871980"/>
          </a:xfrm>
          <a:prstGeom prst="rect">
            <a:avLst/>
          </a:prstGeom>
        </p:spPr>
        <p:txBody>
          <a:bodyPr vert="horz" wrap="square" lIns="0" tIns="12700" rIns="0" bIns="0" rtlCol="0">
            <a:spAutoFit/>
          </a:bodyPr>
          <a:lstStyle/>
          <a:p>
            <a:pPr marL="12700">
              <a:lnSpc>
                <a:spcPct val="100000"/>
              </a:lnSpc>
              <a:spcBef>
                <a:spcPts val="100"/>
              </a:spcBef>
            </a:pPr>
            <a:r>
              <a:rPr sz="1500" b="1" spc="-10" dirty="0">
                <a:latin typeface="PP Neue Machina Plain" pitchFamily="2" charset="77"/>
                <a:cs typeface="PP Neue Machina Plain Ultrabold"/>
              </a:rPr>
              <a:t>Solution</a:t>
            </a:r>
            <a:endParaRPr sz="1500" dirty="0">
              <a:latin typeface="PP Neue Machina Plain" pitchFamily="2" charset="77"/>
              <a:cs typeface="PP Neue Machina Plain Ultrabold"/>
            </a:endParaRPr>
          </a:p>
          <a:p>
            <a:pPr marL="12700" marR="5080">
              <a:lnSpc>
                <a:spcPct val="100000"/>
              </a:lnSpc>
              <a:spcBef>
                <a:spcPts val="735"/>
              </a:spcBef>
            </a:pPr>
            <a:r>
              <a:rPr sz="1000" b="0" spc="-65" dirty="0">
                <a:cs typeface="Avenir Light"/>
              </a:rPr>
              <a:t>To</a:t>
            </a:r>
            <a:r>
              <a:rPr sz="1000" b="0" spc="-5" dirty="0">
                <a:cs typeface="Avenir Light"/>
              </a:rPr>
              <a:t> </a:t>
            </a:r>
            <a:r>
              <a:rPr sz="1000" b="0" dirty="0">
                <a:cs typeface="Avenir Light"/>
              </a:rPr>
              <a:t>address</a:t>
            </a:r>
            <a:r>
              <a:rPr sz="1000" b="0" spc="-10" dirty="0">
                <a:cs typeface="Avenir Light"/>
              </a:rPr>
              <a:t> </a:t>
            </a:r>
            <a:r>
              <a:rPr sz="1000" b="0" dirty="0">
                <a:cs typeface="Avenir Light"/>
              </a:rPr>
              <a:t>these</a:t>
            </a:r>
            <a:r>
              <a:rPr sz="1000" b="0" spc="-5" dirty="0">
                <a:cs typeface="Avenir Light"/>
              </a:rPr>
              <a:t> </a:t>
            </a:r>
            <a:r>
              <a:rPr sz="1000" b="0" dirty="0">
                <a:cs typeface="Avenir Light"/>
              </a:rPr>
              <a:t>challenges,</a:t>
            </a:r>
            <a:r>
              <a:rPr sz="1000" b="0" spc="-5" dirty="0">
                <a:cs typeface="Avenir Light"/>
              </a:rPr>
              <a:t> </a:t>
            </a:r>
            <a:r>
              <a:rPr sz="1000" b="0" dirty="0">
                <a:cs typeface="Avenir Light"/>
              </a:rPr>
              <a:t>the</a:t>
            </a:r>
            <a:r>
              <a:rPr sz="1000" b="0" spc="-5" dirty="0">
                <a:cs typeface="Avenir Light"/>
              </a:rPr>
              <a:t> </a:t>
            </a:r>
            <a:r>
              <a:rPr sz="1000" b="0" dirty="0">
                <a:cs typeface="Avenir Light"/>
              </a:rPr>
              <a:t>client</a:t>
            </a:r>
            <a:r>
              <a:rPr sz="1000" b="0" spc="-10" dirty="0">
                <a:cs typeface="Avenir Light"/>
              </a:rPr>
              <a:t> </a:t>
            </a:r>
            <a:r>
              <a:rPr sz="1000" b="0" dirty="0">
                <a:cs typeface="Avenir Light"/>
              </a:rPr>
              <a:t>implemented</a:t>
            </a:r>
            <a:r>
              <a:rPr sz="1000" b="0" spc="-5" dirty="0">
                <a:cs typeface="Avenir Light"/>
              </a:rPr>
              <a:t> </a:t>
            </a:r>
            <a:r>
              <a:rPr sz="1000" b="0" dirty="0">
                <a:cs typeface="Avenir Light"/>
              </a:rPr>
              <a:t>a</a:t>
            </a:r>
            <a:r>
              <a:rPr sz="1000" b="0" spc="-5" dirty="0">
                <a:cs typeface="Avenir Light"/>
              </a:rPr>
              <a:t> </a:t>
            </a:r>
            <a:r>
              <a:rPr sz="1000" b="0" spc="-10" dirty="0">
                <a:cs typeface="Avenir Light"/>
              </a:rPr>
              <a:t>data-</a:t>
            </a:r>
            <a:r>
              <a:rPr sz="1000" b="0" dirty="0">
                <a:cs typeface="Avenir Light"/>
              </a:rPr>
              <a:t>driven</a:t>
            </a:r>
            <a:r>
              <a:rPr sz="1000" b="0" spc="-5" dirty="0">
                <a:cs typeface="Avenir Light"/>
              </a:rPr>
              <a:t> </a:t>
            </a:r>
            <a:r>
              <a:rPr sz="1000" b="0" dirty="0">
                <a:cs typeface="Avenir Light"/>
              </a:rPr>
              <a:t>solution</a:t>
            </a:r>
            <a:r>
              <a:rPr sz="1000" b="0" spc="-5" dirty="0">
                <a:cs typeface="Avenir Light"/>
              </a:rPr>
              <a:t> </a:t>
            </a:r>
            <a:r>
              <a:rPr sz="1000" b="0" dirty="0">
                <a:cs typeface="Avenir Light"/>
              </a:rPr>
              <a:t>leveraging</a:t>
            </a:r>
            <a:r>
              <a:rPr sz="1000" b="0" spc="-10" dirty="0">
                <a:cs typeface="Avenir Light"/>
              </a:rPr>
              <a:t> advanced technologies:</a:t>
            </a:r>
            <a:endParaRPr sz="1000" dirty="0">
              <a:cs typeface="Avenir Light"/>
            </a:endParaRPr>
          </a:p>
          <a:p>
            <a:pPr marL="241300" marR="67945" indent="-228600">
              <a:lnSpc>
                <a:spcPct val="100000"/>
              </a:lnSpc>
              <a:spcBef>
                <a:spcPts val="1200"/>
              </a:spcBef>
              <a:buChar char="•"/>
              <a:tabLst>
                <a:tab pos="241300" algn="l"/>
              </a:tabLst>
            </a:pPr>
            <a:r>
              <a:rPr sz="1000" b="0" spc="-10" dirty="0">
                <a:cs typeface="Avenir Light"/>
              </a:rPr>
              <a:t>Transitioned</a:t>
            </a:r>
            <a:r>
              <a:rPr sz="1000" b="0" spc="-15" dirty="0">
                <a:cs typeface="Avenir Light"/>
              </a:rPr>
              <a:t> </a:t>
            </a:r>
            <a:r>
              <a:rPr sz="1000" b="0" dirty="0">
                <a:cs typeface="Avenir Light"/>
              </a:rPr>
              <a:t>from</a:t>
            </a:r>
            <a:r>
              <a:rPr sz="1000" b="0" spc="-15" dirty="0">
                <a:cs typeface="Avenir Light"/>
              </a:rPr>
              <a:t> </a:t>
            </a:r>
            <a:r>
              <a:rPr sz="1000" b="0" dirty="0">
                <a:cs typeface="Avenir Light"/>
              </a:rPr>
              <a:t>Excel-based</a:t>
            </a:r>
            <a:r>
              <a:rPr sz="1000" b="0" spc="-15" dirty="0">
                <a:cs typeface="Avenir Light"/>
              </a:rPr>
              <a:t> </a:t>
            </a:r>
            <a:r>
              <a:rPr sz="1000" b="0" dirty="0">
                <a:cs typeface="Avenir Light"/>
              </a:rPr>
              <a:t>manual</a:t>
            </a:r>
            <a:r>
              <a:rPr sz="1000" b="0" spc="-15" dirty="0">
                <a:cs typeface="Avenir Light"/>
              </a:rPr>
              <a:t> </a:t>
            </a:r>
            <a:r>
              <a:rPr sz="1000" b="0" dirty="0">
                <a:cs typeface="Avenir Light"/>
              </a:rPr>
              <a:t>processes</a:t>
            </a:r>
            <a:r>
              <a:rPr sz="1000" b="0" spc="-15" dirty="0">
                <a:cs typeface="Avenir Light"/>
              </a:rPr>
              <a:t> </a:t>
            </a:r>
            <a:r>
              <a:rPr sz="1000" b="0" dirty="0">
                <a:cs typeface="Avenir Light"/>
              </a:rPr>
              <a:t>to</a:t>
            </a:r>
            <a:r>
              <a:rPr sz="1000" b="0" spc="-15" dirty="0">
                <a:cs typeface="Avenir Light"/>
              </a:rPr>
              <a:t> </a:t>
            </a:r>
            <a:r>
              <a:rPr sz="1000" b="0" spc="-10" dirty="0">
                <a:cs typeface="Avenir Light"/>
              </a:rPr>
              <a:t>Spotfire-</a:t>
            </a:r>
            <a:r>
              <a:rPr sz="1000" b="0" dirty="0">
                <a:cs typeface="Avenir Light"/>
              </a:rPr>
              <a:t>powered</a:t>
            </a:r>
            <a:r>
              <a:rPr sz="1000" b="0" spc="-10" dirty="0">
                <a:cs typeface="Avenir Light"/>
              </a:rPr>
              <a:t> real-</a:t>
            </a:r>
            <a:r>
              <a:rPr sz="1000" b="0" dirty="0">
                <a:cs typeface="Avenir Light"/>
              </a:rPr>
              <a:t>time</a:t>
            </a:r>
            <a:r>
              <a:rPr sz="1000" b="0" spc="-15" dirty="0">
                <a:cs typeface="Avenir Light"/>
              </a:rPr>
              <a:t> </a:t>
            </a:r>
            <a:r>
              <a:rPr sz="1000" b="0" spc="-10" dirty="0">
                <a:cs typeface="Avenir Light"/>
              </a:rPr>
              <a:t>dashboards </a:t>
            </a:r>
            <a:r>
              <a:rPr sz="1000" b="0" dirty="0">
                <a:cs typeface="Avenir Light"/>
              </a:rPr>
              <a:t>for</a:t>
            </a:r>
            <a:r>
              <a:rPr sz="1000" b="0" spc="-20" dirty="0">
                <a:cs typeface="Avenir Light"/>
              </a:rPr>
              <a:t> </a:t>
            </a:r>
            <a:r>
              <a:rPr sz="1000" b="0" dirty="0">
                <a:cs typeface="Avenir Light"/>
              </a:rPr>
              <a:t>actionable</a:t>
            </a:r>
            <a:r>
              <a:rPr sz="1000" b="0" spc="-20" dirty="0">
                <a:cs typeface="Avenir Light"/>
              </a:rPr>
              <a:t> </a:t>
            </a:r>
            <a:r>
              <a:rPr sz="1000" b="0" spc="-10" dirty="0">
                <a:cs typeface="Avenir Light"/>
              </a:rPr>
              <a:t>insights.</a:t>
            </a:r>
            <a:endParaRPr sz="1000" dirty="0">
              <a:cs typeface="Avenir Light"/>
            </a:endParaRPr>
          </a:p>
          <a:p>
            <a:pPr marL="240665" indent="-227965">
              <a:lnSpc>
                <a:spcPct val="100000"/>
              </a:lnSpc>
              <a:spcBef>
                <a:spcPts val="400"/>
              </a:spcBef>
              <a:buChar char="•"/>
              <a:tabLst>
                <a:tab pos="240665" algn="l"/>
              </a:tabLst>
            </a:pPr>
            <a:r>
              <a:rPr sz="1000" b="0" dirty="0">
                <a:cs typeface="Avenir Light"/>
              </a:rPr>
              <a:t>Integrated</a:t>
            </a:r>
            <a:r>
              <a:rPr sz="1000" b="0" spc="-15" dirty="0">
                <a:cs typeface="Avenir Light"/>
              </a:rPr>
              <a:t> </a:t>
            </a:r>
            <a:r>
              <a:rPr sz="1000" b="0" dirty="0">
                <a:cs typeface="Avenir Light"/>
              </a:rPr>
              <a:t>automated</a:t>
            </a:r>
            <a:r>
              <a:rPr sz="1000" b="0" spc="-15" dirty="0">
                <a:cs typeface="Avenir Light"/>
              </a:rPr>
              <a:t> </a:t>
            </a:r>
            <a:r>
              <a:rPr sz="1000" b="0" dirty="0">
                <a:cs typeface="Avenir Light"/>
              </a:rPr>
              <a:t>schedules</a:t>
            </a:r>
            <a:r>
              <a:rPr sz="1000" b="0" spc="-10" dirty="0">
                <a:cs typeface="Avenir Light"/>
              </a:rPr>
              <a:t> </a:t>
            </a:r>
            <a:r>
              <a:rPr sz="1000" b="0" dirty="0">
                <a:cs typeface="Avenir Light"/>
              </a:rPr>
              <a:t>and</a:t>
            </a:r>
            <a:r>
              <a:rPr sz="1000" b="0" spc="-15" dirty="0">
                <a:cs typeface="Avenir Light"/>
              </a:rPr>
              <a:t> </a:t>
            </a:r>
            <a:r>
              <a:rPr sz="1000" b="0" dirty="0">
                <a:cs typeface="Avenir Light"/>
              </a:rPr>
              <a:t>alerts</a:t>
            </a:r>
            <a:r>
              <a:rPr sz="1000" b="0" spc="-15" dirty="0">
                <a:cs typeface="Avenir Light"/>
              </a:rPr>
              <a:t> </a:t>
            </a:r>
            <a:r>
              <a:rPr sz="1000" b="0" dirty="0">
                <a:cs typeface="Avenir Light"/>
              </a:rPr>
              <a:t>for</a:t>
            </a:r>
            <a:r>
              <a:rPr sz="1000" b="0" spc="-10" dirty="0">
                <a:cs typeface="Avenir Light"/>
              </a:rPr>
              <a:t> </a:t>
            </a:r>
            <a:r>
              <a:rPr sz="1000" b="0" dirty="0">
                <a:cs typeface="Avenir Light"/>
              </a:rPr>
              <a:t>billing</a:t>
            </a:r>
            <a:r>
              <a:rPr sz="1000" b="0" spc="-15" dirty="0">
                <a:cs typeface="Avenir Light"/>
              </a:rPr>
              <a:t> </a:t>
            </a:r>
            <a:r>
              <a:rPr sz="1000" b="0" spc="-10" dirty="0">
                <a:cs typeface="Avenir Light"/>
              </a:rPr>
              <a:t>follow-</a:t>
            </a:r>
            <a:r>
              <a:rPr sz="1000" b="0" dirty="0">
                <a:cs typeface="Avenir Light"/>
              </a:rPr>
              <a:t>ups</a:t>
            </a:r>
            <a:r>
              <a:rPr sz="1000" b="0" spc="-15" dirty="0">
                <a:cs typeface="Avenir Light"/>
              </a:rPr>
              <a:t> </a:t>
            </a:r>
            <a:r>
              <a:rPr sz="1000" b="0" dirty="0">
                <a:cs typeface="Avenir Light"/>
              </a:rPr>
              <a:t>and</a:t>
            </a:r>
            <a:r>
              <a:rPr sz="1000" b="0" spc="-10" dirty="0">
                <a:cs typeface="Avenir Light"/>
              </a:rPr>
              <a:t> </a:t>
            </a:r>
            <a:r>
              <a:rPr sz="1000" b="0" dirty="0">
                <a:cs typeface="Avenir Light"/>
              </a:rPr>
              <a:t>closure</a:t>
            </a:r>
            <a:r>
              <a:rPr sz="1000" b="0" spc="-15" dirty="0">
                <a:cs typeface="Avenir Light"/>
              </a:rPr>
              <a:t> </a:t>
            </a:r>
            <a:r>
              <a:rPr sz="1000" b="0" spc="-10" dirty="0">
                <a:cs typeface="Avenir Light"/>
              </a:rPr>
              <a:t>metrics.</a:t>
            </a:r>
            <a:endParaRPr sz="1000" dirty="0">
              <a:cs typeface="Avenir Light"/>
            </a:endParaRPr>
          </a:p>
          <a:p>
            <a:pPr marL="240665" indent="-227965">
              <a:lnSpc>
                <a:spcPct val="100000"/>
              </a:lnSpc>
              <a:spcBef>
                <a:spcPts val="400"/>
              </a:spcBef>
              <a:buChar char="•"/>
              <a:tabLst>
                <a:tab pos="240665" algn="l"/>
              </a:tabLst>
            </a:pPr>
            <a:r>
              <a:rPr sz="1000" b="0" dirty="0">
                <a:cs typeface="Avenir Light"/>
              </a:rPr>
              <a:t>Designed</a:t>
            </a:r>
            <a:r>
              <a:rPr sz="1000" b="0" spc="-10" dirty="0">
                <a:cs typeface="Avenir Light"/>
              </a:rPr>
              <a:t> </a:t>
            </a:r>
            <a:r>
              <a:rPr sz="1000" b="0" dirty="0">
                <a:cs typeface="Avenir Light"/>
              </a:rPr>
              <a:t>custom</a:t>
            </a:r>
            <a:r>
              <a:rPr sz="1000" b="0" spc="-10" dirty="0">
                <a:cs typeface="Avenir Light"/>
              </a:rPr>
              <a:t> </a:t>
            </a:r>
            <a:r>
              <a:rPr sz="1000" b="0" dirty="0">
                <a:cs typeface="Avenir Light"/>
              </a:rPr>
              <a:t>forms</a:t>
            </a:r>
            <a:r>
              <a:rPr sz="1000" b="0" spc="-10" dirty="0">
                <a:cs typeface="Avenir Light"/>
              </a:rPr>
              <a:t> </a:t>
            </a:r>
            <a:r>
              <a:rPr sz="1000" b="0" dirty="0">
                <a:cs typeface="Avenir Light"/>
              </a:rPr>
              <a:t>in</a:t>
            </a:r>
            <a:r>
              <a:rPr sz="1000" b="0" spc="-10" dirty="0">
                <a:cs typeface="Avenir Light"/>
              </a:rPr>
              <a:t> </a:t>
            </a:r>
            <a:r>
              <a:rPr sz="1000" b="0" dirty="0">
                <a:cs typeface="Avenir Light"/>
              </a:rPr>
              <a:t>Spotfire</a:t>
            </a:r>
            <a:r>
              <a:rPr sz="1000" b="0" spc="-10" dirty="0">
                <a:cs typeface="Avenir Light"/>
              </a:rPr>
              <a:t> </a:t>
            </a:r>
            <a:r>
              <a:rPr sz="1000" b="0" dirty="0">
                <a:cs typeface="Avenir Light"/>
              </a:rPr>
              <a:t>for</a:t>
            </a:r>
            <a:r>
              <a:rPr sz="1000" b="0" spc="-10" dirty="0">
                <a:cs typeface="Avenir Light"/>
              </a:rPr>
              <a:t> </a:t>
            </a:r>
            <a:r>
              <a:rPr sz="1000" b="0" dirty="0">
                <a:cs typeface="Avenir Light"/>
              </a:rPr>
              <a:t>accurate</a:t>
            </a:r>
            <a:r>
              <a:rPr sz="1000" b="0" spc="-5" dirty="0">
                <a:cs typeface="Avenir Light"/>
              </a:rPr>
              <a:t> </a:t>
            </a:r>
            <a:r>
              <a:rPr sz="1000" b="0" dirty="0">
                <a:cs typeface="Avenir Light"/>
              </a:rPr>
              <a:t>data</a:t>
            </a:r>
            <a:r>
              <a:rPr sz="1000" b="0" spc="-10" dirty="0">
                <a:cs typeface="Avenir Light"/>
              </a:rPr>
              <a:t> </a:t>
            </a:r>
            <a:r>
              <a:rPr sz="1000" b="0" dirty="0">
                <a:cs typeface="Avenir Light"/>
              </a:rPr>
              <a:t>entry</a:t>
            </a:r>
            <a:r>
              <a:rPr sz="1000" b="0" spc="-10" dirty="0">
                <a:cs typeface="Avenir Light"/>
              </a:rPr>
              <a:t> </a:t>
            </a:r>
            <a:r>
              <a:rPr sz="1000" b="0" dirty="0">
                <a:cs typeface="Avenir Light"/>
              </a:rPr>
              <a:t>on</a:t>
            </a:r>
            <a:r>
              <a:rPr sz="1000" b="0" spc="-10" dirty="0">
                <a:cs typeface="Avenir Light"/>
              </a:rPr>
              <a:t> </a:t>
            </a:r>
            <a:r>
              <a:rPr sz="1000" b="0" dirty="0">
                <a:cs typeface="Avenir Light"/>
              </a:rPr>
              <a:t>billing</a:t>
            </a:r>
            <a:r>
              <a:rPr sz="1000" b="0" spc="-10" dirty="0">
                <a:cs typeface="Avenir Light"/>
              </a:rPr>
              <a:t> </a:t>
            </a:r>
            <a:r>
              <a:rPr sz="1000" b="0" dirty="0">
                <a:cs typeface="Avenir Light"/>
              </a:rPr>
              <a:t>and</a:t>
            </a:r>
            <a:r>
              <a:rPr sz="1000" b="0" spc="-10" dirty="0">
                <a:cs typeface="Avenir Light"/>
              </a:rPr>
              <a:t> </a:t>
            </a:r>
            <a:r>
              <a:rPr sz="1000" b="0" dirty="0">
                <a:cs typeface="Avenir Light"/>
              </a:rPr>
              <a:t>claim</a:t>
            </a:r>
            <a:r>
              <a:rPr sz="1000" b="0" spc="-10" dirty="0">
                <a:cs typeface="Avenir Light"/>
              </a:rPr>
              <a:t> denials.</a:t>
            </a:r>
            <a:endParaRPr sz="1000" dirty="0">
              <a:cs typeface="Avenir Light"/>
            </a:endParaRPr>
          </a:p>
          <a:p>
            <a:pPr marL="241300" marR="74295" indent="-228600">
              <a:lnSpc>
                <a:spcPct val="100000"/>
              </a:lnSpc>
              <a:spcBef>
                <a:spcPts val="400"/>
              </a:spcBef>
              <a:buChar char="•"/>
              <a:tabLst>
                <a:tab pos="241300" algn="l"/>
              </a:tabLst>
            </a:pPr>
            <a:r>
              <a:rPr sz="1000" b="0" dirty="0">
                <a:cs typeface="Avenir Light"/>
              </a:rPr>
              <a:t>Consolidated</a:t>
            </a:r>
            <a:r>
              <a:rPr sz="1000" b="0" spc="-25" dirty="0">
                <a:cs typeface="Avenir Light"/>
              </a:rPr>
              <a:t> </a:t>
            </a:r>
            <a:r>
              <a:rPr sz="1000" b="0" dirty="0">
                <a:cs typeface="Avenir Light"/>
              </a:rPr>
              <a:t>data</a:t>
            </a:r>
            <a:r>
              <a:rPr sz="1000" b="0" spc="-20" dirty="0">
                <a:cs typeface="Avenir Light"/>
              </a:rPr>
              <a:t> </a:t>
            </a:r>
            <a:r>
              <a:rPr sz="1000" b="0" dirty="0">
                <a:cs typeface="Avenir Light"/>
              </a:rPr>
              <a:t>to</a:t>
            </a:r>
            <a:r>
              <a:rPr sz="1000" b="0" spc="-20" dirty="0">
                <a:cs typeface="Avenir Light"/>
              </a:rPr>
              <a:t> </a:t>
            </a:r>
            <a:r>
              <a:rPr sz="1000" b="0" dirty="0">
                <a:cs typeface="Avenir Light"/>
              </a:rPr>
              <a:t>identify</a:t>
            </a:r>
            <a:r>
              <a:rPr sz="1000" b="0" spc="-20" dirty="0">
                <a:cs typeface="Avenir Light"/>
              </a:rPr>
              <a:t> </a:t>
            </a:r>
            <a:r>
              <a:rPr sz="1000" b="0" dirty="0">
                <a:cs typeface="Avenir Light"/>
              </a:rPr>
              <a:t>and</a:t>
            </a:r>
            <a:r>
              <a:rPr sz="1000" b="0" spc="-20" dirty="0">
                <a:cs typeface="Avenir Light"/>
              </a:rPr>
              <a:t> </a:t>
            </a:r>
            <a:r>
              <a:rPr sz="1000" b="0" dirty="0">
                <a:cs typeface="Avenir Light"/>
              </a:rPr>
              <a:t>rectify</a:t>
            </a:r>
            <a:r>
              <a:rPr sz="1000" b="0" spc="-20" dirty="0">
                <a:cs typeface="Avenir Light"/>
              </a:rPr>
              <a:t> </a:t>
            </a:r>
            <a:r>
              <a:rPr sz="1000" b="0" dirty="0">
                <a:cs typeface="Avenir Light"/>
              </a:rPr>
              <a:t>root</a:t>
            </a:r>
            <a:r>
              <a:rPr sz="1000" b="0" spc="-20" dirty="0">
                <a:cs typeface="Avenir Light"/>
              </a:rPr>
              <a:t> </a:t>
            </a:r>
            <a:r>
              <a:rPr sz="1000" b="0" dirty="0">
                <a:cs typeface="Avenir Light"/>
              </a:rPr>
              <a:t>causes</a:t>
            </a:r>
            <a:r>
              <a:rPr sz="1000" b="0" spc="-20" dirty="0">
                <a:cs typeface="Avenir Light"/>
              </a:rPr>
              <a:t> </a:t>
            </a:r>
            <a:r>
              <a:rPr sz="1000" b="0" dirty="0">
                <a:cs typeface="Avenir Light"/>
              </a:rPr>
              <a:t>of</a:t>
            </a:r>
            <a:r>
              <a:rPr sz="1000" b="0" spc="-20" dirty="0">
                <a:cs typeface="Avenir Light"/>
              </a:rPr>
              <a:t> </a:t>
            </a:r>
            <a:r>
              <a:rPr sz="1000" b="0" dirty="0">
                <a:cs typeface="Avenir Light"/>
              </a:rPr>
              <a:t>errors,</a:t>
            </a:r>
            <a:r>
              <a:rPr sz="1000" b="0" spc="-20" dirty="0">
                <a:cs typeface="Avenir Light"/>
              </a:rPr>
              <a:t> </a:t>
            </a:r>
            <a:r>
              <a:rPr sz="1000" b="0" dirty="0">
                <a:cs typeface="Avenir Light"/>
              </a:rPr>
              <a:t>such</a:t>
            </a:r>
            <a:r>
              <a:rPr sz="1000" b="0" spc="-20" dirty="0">
                <a:cs typeface="Avenir Light"/>
              </a:rPr>
              <a:t> </a:t>
            </a:r>
            <a:r>
              <a:rPr sz="1000" b="0" dirty="0">
                <a:cs typeface="Avenir Light"/>
              </a:rPr>
              <a:t>as</a:t>
            </a:r>
            <a:r>
              <a:rPr sz="1000" b="0" spc="-20" dirty="0">
                <a:cs typeface="Avenir Light"/>
              </a:rPr>
              <a:t> </a:t>
            </a:r>
            <a:r>
              <a:rPr sz="1000" b="0" dirty="0">
                <a:cs typeface="Avenir Light"/>
              </a:rPr>
              <a:t>unassigned</a:t>
            </a:r>
            <a:r>
              <a:rPr sz="1000" b="0" spc="-20" dirty="0">
                <a:cs typeface="Avenir Light"/>
              </a:rPr>
              <a:t> </a:t>
            </a:r>
            <a:r>
              <a:rPr sz="1000" b="0" spc="-10" dirty="0">
                <a:cs typeface="Avenir Light"/>
              </a:rPr>
              <a:t>accounts </a:t>
            </a:r>
            <a:r>
              <a:rPr sz="1000" b="0" dirty="0">
                <a:cs typeface="Avenir Light"/>
              </a:rPr>
              <a:t>and</a:t>
            </a:r>
            <a:r>
              <a:rPr sz="1000" b="0" spc="-10" dirty="0">
                <a:cs typeface="Avenir Light"/>
              </a:rPr>
              <a:t> </a:t>
            </a:r>
            <a:r>
              <a:rPr sz="1000" b="0" dirty="0">
                <a:cs typeface="Avenir Light"/>
              </a:rPr>
              <a:t>unmapped</a:t>
            </a:r>
            <a:r>
              <a:rPr sz="1000" b="0" spc="-10" dirty="0">
                <a:cs typeface="Avenir Light"/>
              </a:rPr>
              <a:t> charges.</a:t>
            </a:r>
            <a:endParaRPr sz="1000" dirty="0">
              <a:cs typeface="Avenir Light"/>
            </a:endParaRPr>
          </a:p>
        </p:txBody>
      </p:sp>
      <p:sp>
        <p:nvSpPr>
          <p:cNvPr id="4" name="object 5">
            <a:extLst>
              <a:ext uri="{FF2B5EF4-FFF2-40B4-BE49-F238E27FC236}">
                <a16:creationId xmlns:a16="http://schemas.microsoft.com/office/drawing/2014/main" id="{3675B464-BE05-199B-1A00-CFCAFD3B0C2D}"/>
              </a:ext>
            </a:extLst>
          </p:cNvPr>
          <p:cNvSpPr/>
          <p:nvPr/>
        </p:nvSpPr>
        <p:spPr>
          <a:xfrm>
            <a:off x="646053" y="5203261"/>
            <a:ext cx="5572125" cy="0"/>
          </a:xfrm>
          <a:custGeom>
            <a:avLst/>
            <a:gdLst/>
            <a:ahLst/>
            <a:cxnLst/>
            <a:rect l="l" t="t" r="r" b="b"/>
            <a:pathLst>
              <a:path w="5572125">
                <a:moveTo>
                  <a:pt x="0" y="0"/>
                </a:moveTo>
                <a:lnTo>
                  <a:pt x="5571896" y="0"/>
                </a:lnTo>
              </a:path>
            </a:pathLst>
          </a:custGeom>
          <a:ln w="12700">
            <a:solidFill>
              <a:srgbClr val="F40F7D"/>
            </a:solidFill>
          </a:ln>
        </p:spPr>
        <p:txBody>
          <a:bodyPr wrap="square" lIns="0" tIns="0" rIns="0" bIns="0" rtlCol="0"/>
          <a:lstStyle/>
          <a:p>
            <a:endParaRPr/>
          </a:p>
        </p:txBody>
      </p:sp>
      <p:sp>
        <p:nvSpPr>
          <p:cNvPr id="5" name="object 6">
            <a:extLst>
              <a:ext uri="{FF2B5EF4-FFF2-40B4-BE49-F238E27FC236}">
                <a16:creationId xmlns:a16="http://schemas.microsoft.com/office/drawing/2014/main" id="{0FA152BD-37E2-C8DF-AEC7-6B80A91F95B3}"/>
              </a:ext>
            </a:extLst>
          </p:cNvPr>
          <p:cNvSpPr txBox="1"/>
          <p:nvPr/>
        </p:nvSpPr>
        <p:spPr>
          <a:xfrm>
            <a:off x="633344" y="3207487"/>
            <a:ext cx="800735" cy="243656"/>
          </a:xfrm>
          <a:prstGeom prst="rect">
            <a:avLst/>
          </a:prstGeom>
        </p:spPr>
        <p:txBody>
          <a:bodyPr vert="horz" wrap="square" lIns="0" tIns="12700" rIns="0" bIns="0" rtlCol="0">
            <a:spAutoFit/>
          </a:bodyPr>
          <a:lstStyle/>
          <a:p>
            <a:pPr marL="12700">
              <a:lnSpc>
                <a:spcPct val="100000"/>
              </a:lnSpc>
              <a:spcBef>
                <a:spcPts val="100"/>
              </a:spcBef>
            </a:pPr>
            <a:r>
              <a:rPr sz="1500" spc="-10">
                <a:latin typeface="PP Neue Machina Plain" pitchFamily="2" charset="77"/>
                <a:cs typeface="PP Neue Machina Plain Ultrabold"/>
              </a:rPr>
              <a:t>Results</a:t>
            </a:r>
            <a:endParaRPr sz="1500">
              <a:latin typeface="PP Neue Machina Plain" pitchFamily="2" charset="77"/>
              <a:cs typeface="PP Neue Machina Plain Ultrabold"/>
            </a:endParaRPr>
          </a:p>
        </p:txBody>
      </p:sp>
      <p:sp>
        <p:nvSpPr>
          <p:cNvPr id="6" name="object 7">
            <a:extLst>
              <a:ext uri="{FF2B5EF4-FFF2-40B4-BE49-F238E27FC236}">
                <a16:creationId xmlns:a16="http://schemas.microsoft.com/office/drawing/2014/main" id="{EE51751D-05A6-6978-9E6B-8BC8533B6600}"/>
              </a:ext>
            </a:extLst>
          </p:cNvPr>
          <p:cNvSpPr txBox="1"/>
          <p:nvPr/>
        </p:nvSpPr>
        <p:spPr>
          <a:xfrm>
            <a:off x="633344" y="4602705"/>
            <a:ext cx="5257165" cy="330200"/>
          </a:xfrm>
          <a:prstGeom prst="rect">
            <a:avLst/>
          </a:prstGeom>
        </p:spPr>
        <p:txBody>
          <a:bodyPr vert="horz" wrap="square" lIns="0" tIns="12700" rIns="0" bIns="0" rtlCol="0">
            <a:spAutoFit/>
          </a:bodyPr>
          <a:lstStyle/>
          <a:p>
            <a:pPr marL="12700" marR="5080">
              <a:lnSpc>
                <a:spcPct val="100000"/>
              </a:lnSpc>
              <a:spcBef>
                <a:spcPts val="100"/>
              </a:spcBef>
            </a:pPr>
            <a:r>
              <a:rPr sz="1000" b="0" dirty="0">
                <a:cs typeface="Avenir Light"/>
              </a:rPr>
              <a:t>This</a:t>
            </a:r>
            <a:r>
              <a:rPr sz="1000" b="0" spc="-15" dirty="0">
                <a:cs typeface="Avenir Light"/>
              </a:rPr>
              <a:t> </a:t>
            </a:r>
            <a:r>
              <a:rPr sz="1000" b="0" dirty="0">
                <a:cs typeface="Avenir Light"/>
              </a:rPr>
              <a:t>transformation</a:t>
            </a:r>
            <a:r>
              <a:rPr sz="1000" b="0" spc="-15" dirty="0">
                <a:cs typeface="Avenir Light"/>
              </a:rPr>
              <a:t> </a:t>
            </a:r>
            <a:r>
              <a:rPr sz="1000" b="0" dirty="0">
                <a:cs typeface="Avenir Light"/>
              </a:rPr>
              <a:t>showcases</a:t>
            </a:r>
            <a:r>
              <a:rPr sz="1000" b="0" spc="-15" dirty="0">
                <a:cs typeface="Avenir Light"/>
              </a:rPr>
              <a:t> </a:t>
            </a:r>
            <a:r>
              <a:rPr sz="1000" b="0" dirty="0">
                <a:cs typeface="Avenir Light"/>
              </a:rPr>
              <a:t>the</a:t>
            </a:r>
            <a:r>
              <a:rPr sz="1000" b="0" spc="-15" dirty="0">
                <a:cs typeface="Avenir Light"/>
              </a:rPr>
              <a:t> </a:t>
            </a:r>
            <a:r>
              <a:rPr sz="1000" b="0" dirty="0">
                <a:cs typeface="Avenir Light"/>
              </a:rPr>
              <a:t>power</a:t>
            </a:r>
            <a:r>
              <a:rPr sz="1000" b="0" spc="-10" dirty="0">
                <a:cs typeface="Avenir Light"/>
              </a:rPr>
              <a:t> </a:t>
            </a:r>
            <a:r>
              <a:rPr sz="1000" b="0" dirty="0">
                <a:cs typeface="Avenir Light"/>
              </a:rPr>
              <a:t>of</a:t>
            </a:r>
            <a:r>
              <a:rPr sz="1000" b="0" spc="-15" dirty="0">
                <a:cs typeface="Avenir Light"/>
              </a:rPr>
              <a:t> </a:t>
            </a:r>
            <a:r>
              <a:rPr sz="1000" b="0" dirty="0">
                <a:cs typeface="Avenir Light"/>
              </a:rPr>
              <a:t>leveraging</a:t>
            </a:r>
            <a:r>
              <a:rPr sz="1000" b="0" spc="-15" dirty="0">
                <a:cs typeface="Avenir Light"/>
              </a:rPr>
              <a:t> </a:t>
            </a:r>
            <a:r>
              <a:rPr sz="1000" b="0" dirty="0">
                <a:cs typeface="Avenir Light"/>
              </a:rPr>
              <a:t>technology</a:t>
            </a:r>
            <a:r>
              <a:rPr sz="1000" b="0" spc="-15" dirty="0">
                <a:cs typeface="Avenir Light"/>
              </a:rPr>
              <a:t> </a:t>
            </a:r>
            <a:r>
              <a:rPr sz="1000" b="0" dirty="0">
                <a:cs typeface="Avenir Light"/>
              </a:rPr>
              <a:t>to</a:t>
            </a:r>
            <a:r>
              <a:rPr sz="1000" b="0" spc="-15" dirty="0">
                <a:cs typeface="Avenir Light"/>
              </a:rPr>
              <a:t> </a:t>
            </a:r>
            <a:r>
              <a:rPr sz="1000" b="0" dirty="0">
                <a:cs typeface="Avenir Light"/>
              </a:rPr>
              <a:t>optimize</a:t>
            </a:r>
            <a:r>
              <a:rPr sz="1000" b="0" spc="-10" dirty="0">
                <a:cs typeface="Avenir Light"/>
              </a:rPr>
              <a:t> </a:t>
            </a:r>
            <a:r>
              <a:rPr sz="1000" b="0" dirty="0">
                <a:cs typeface="Avenir Light"/>
              </a:rPr>
              <a:t>revenue</a:t>
            </a:r>
            <a:r>
              <a:rPr sz="1000" b="0" spc="-15" dirty="0">
                <a:cs typeface="Avenir Light"/>
              </a:rPr>
              <a:t> </a:t>
            </a:r>
            <a:r>
              <a:rPr sz="1000" b="0" spc="-10" dirty="0">
                <a:cs typeface="Avenir Light"/>
              </a:rPr>
              <a:t>cycle </a:t>
            </a:r>
            <a:r>
              <a:rPr sz="1000" b="0" dirty="0">
                <a:cs typeface="Avenir Light"/>
              </a:rPr>
              <a:t>management</a:t>
            </a:r>
            <a:r>
              <a:rPr sz="1000" b="0" spc="-15" dirty="0">
                <a:cs typeface="Avenir Light"/>
              </a:rPr>
              <a:t> </a:t>
            </a:r>
            <a:r>
              <a:rPr sz="1000" b="0" dirty="0">
                <a:cs typeface="Avenir Light"/>
              </a:rPr>
              <a:t>while</a:t>
            </a:r>
            <a:r>
              <a:rPr sz="1000" b="0" spc="-10" dirty="0">
                <a:cs typeface="Avenir Light"/>
              </a:rPr>
              <a:t> </a:t>
            </a:r>
            <a:r>
              <a:rPr sz="1000" b="0" dirty="0">
                <a:cs typeface="Avenir Light"/>
              </a:rPr>
              <a:t>enhancing</a:t>
            </a:r>
            <a:r>
              <a:rPr sz="1000" b="0" spc="-10" dirty="0">
                <a:cs typeface="Avenir Light"/>
              </a:rPr>
              <a:t> </a:t>
            </a:r>
            <a:r>
              <a:rPr sz="1000" b="0" dirty="0">
                <a:cs typeface="Avenir Light"/>
              </a:rPr>
              <a:t>compliance</a:t>
            </a:r>
            <a:r>
              <a:rPr sz="1000" b="0" spc="-15" dirty="0">
                <a:cs typeface="Avenir Light"/>
              </a:rPr>
              <a:t> </a:t>
            </a:r>
            <a:r>
              <a:rPr sz="1000" b="0" dirty="0">
                <a:cs typeface="Avenir Light"/>
              </a:rPr>
              <a:t>and</a:t>
            </a:r>
            <a:r>
              <a:rPr sz="1000" b="0" spc="-10" dirty="0">
                <a:cs typeface="Avenir Light"/>
              </a:rPr>
              <a:t> </a:t>
            </a:r>
            <a:r>
              <a:rPr sz="1000" b="0" dirty="0">
                <a:cs typeface="Avenir Light"/>
              </a:rPr>
              <a:t>operational</a:t>
            </a:r>
            <a:r>
              <a:rPr sz="1000" b="0" spc="-10" dirty="0">
                <a:cs typeface="Avenir Light"/>
              </a:rPr>
              <a:t> efficiency.</a:t>
            </a:r>
            <a:endParaRPr sz="1000" dirty="0">
              <a:cs typeface="Avenir Light"/>
            </a:endParaRPr>
          </a:p>
        </p:txBody>
      </p:sp>
      <p:sp>
        <p:nvSpPr>
          <p:cNvPr id="7" name="object 8">
            <a:extLst>
              <a:ext uri="{FF2B5EF4-FFF2-40B4-BE49-F238E27FC236}">
                <a16:creationId xmlns:a16="http://schemas.microsoft.com/office/drawing/2014/main" id="{B2791E10-225E-F104-F087-65ADFFD710D3}"/>
              </a:ext>
            </a:extLst>
          </p:cNvPr>
          <p:cNvSpPr txBox="1"/>
          <p:nvPr/>
        </p:nvSpPr>
        <p:spPr>
          <a:xfrm>
            <a:off x="633344" y="3546418"/>
            <a:ext cx="800735" cy="289823"/>
          </a:xfrm>
          <a:prstGeom prst="rect">
            <a:avLst/>
          </a:prstGeom>
        </p:spPr>
        <p:txBody>
          <a:bodyPr vert="horz" wrap="square" lIns="0" tIns="12700" rIns="0" bIns="0" rtlCol="0">
            <a:spAutoFit/>
          </a:bodyPr>
          <a:lstStyle/>
          <a:p>
            <a:pPr marL="12700">
              <a:lnSpc>
                <a:spcPct val="100000"/>
              </a:lnSpc>
              <a:spcBef>
                <a:spcPts val="100"/>
              </a:spcBef>
            </a:pPr>
            <a:r>
              <a:rPr sz="1800" b="1" spc="-25" dirty="0">
                <a:cs typeface="Avenir Black"/>
              </a:rPr>
              <a:t>35</a:t>
            </a:r>
            <a:r>
              <a:rPr lang="en-US" b="1" spc="-25" dirty="0">
                <a:cs typeface="Avenir Black"/>
              </a:rPr>
              <a:t>%</a:t>
            </a:r>
            <a:endParaRPr sz="1800" dirty="0">
              <a:cs typeface="Avenir Black"/>
            </a:endParaRPr>
          </a:p>
        </p:txBody>
      </p:sp>
      <p:sp>
        <p:nvSpPr>
          <p:cNvPr id="9" name="object 10">
            <a:extLst>
              <a:ext uri="{FF2B5EF4-FFF2-40B4-BE49-F238E27FC236}">
                <a16:creationId xmlns:a16="http://schemas.microsoft.com/office/drawing/2014/main" id="{AF063148-1720-FAF2-B7F3-C1B291F574F9}"/>
              </a:ext>
            </a:extLst>
          </p:cNvPr>
          <p:cNvSpPr txBox="1"/>
          <p:nvPr/>
        </p:nvSpPr>
        <p:spPr>
          <a:xfrm>
            <a:off x="1294619" y="3572363"/>
            <a:ext cx="1273321" cy="566822"/>
          </a:xfrm>
          <a:prstGeom prst="rect">
            <a:avLst/>
          </a:prstGeom>
        </p:spPr>
        <p:txBody>
          <a:bodyPr vert="horz" wrap="square" lIns="0" tIns="12700" rIns="0" bIns="0" rtlCol="0">
            <a:spAutoFit/>
          </a:bodyPr>
          <a:lstStyle/>
          <a:p>
            <a:pPr marL="12700" marR="5080">
              <a:lnSpc>
                <a:spcPct val="100000"/>
              </a:lnSpc>
              <a:spcBef>
                <a:spcPts val="100"/>
              </a:spcBef>
            </a:pPr>
            <a:r>
              <a:rPr sz="900" b="1" dirty="0">
                <a:cs typeface="Avenir"/>
              </a:rPr>
              <a:t>Increase in Collections: </a:t>
            </a:r>
            <a:r>
              <a:rPr sz="900" b="0" dirty="0">
                <a:cs typeface="Avenir Light"/>
              </a:rPr>
              <a:t>Streamlined billing processes significantly improved revenue.</a:t>
            </a:r>
            <a:endParaRPr sz="900" dirty="0">
              <a:cs typeface="Avenir Light"/>
            </a:endParaRPr>
          </a:p>
        </p:txBody>
      </p:sp>
      <p:sp>
        <p:nvSpPr>
          <p:cNvPr id="10" name="object 11">
            <a:extLst>
              <a:ext uri="{FF2B5EF4-FFF2-40B4-BE49-F238E27FC236}">
                <a16:creationId xmlns:a16="http://schemas.microsoft.com/office/drawing/2014/main" id="{60C31761-C64F-A1A5-8471-34265E75F6FB}"/>
              </a:ext>
            </a:extLst>
          </p:cNvPr>
          <p:cNvSpPr txBox="1"/>
          <p:nvPr/>
        </p:nvSpPr>
        <p:spPr>
          <a:xfrm>
            <a:off x="2854204" y="3572363"/>
            <a:ext cx="1412996" cy="566822"/>
          </a:xfrm>
          <a:prstGeom prst="rect">
            <a:avLst/>
          </a:prstGeom>
        </p:spPr>
        <p:txBody>
          <a:bodyPr vert="horz" wrap="square" lIns="0" tIns="12700" rIns="0" bIns="0" rtlCol="0">
            <a:spAutoFit/>
          </a:bodyPr>
          <a:lstStyle/>
          <a:p>
            <a:pPr marL="12700" marR="5080">
              <a:lnSpc>
                <a:spcPct val="100000"/>
              </a:lnSpc>
              <a:spcBef>
                <a:spcPts val="100"/>
              </a:spcBef>
            </a:pPr>
            <a:r>
              <a:rPr sz="900" b="1" dirty="0">
                <a:cs typeface="Avenir"/>
              </a:rPr>
              <a:t>Improved User Experience </a:t>
            </a:r>
            <a:r>
              <a:rPr sz="900" b="0" dirty="0">
                <a:cs typeface="Avenir Light"/>
              </a:rPr>
              <a:t>Interactive dashboards enabled real-time</a:t>
            </a:r>
            <a:endParaRPr sz="900" dirty="0">
              <a:cs typeface="Avenir Light"/>
            </a:endParaRPr>
          </a:p>
          <a:p>
            <a:pPr marL="12700">
              <a:lnSpc>
                <a:spcPct val="100000"/>
              </a:lnSpc>
            </a:pPr>
            <a:r>
              <a:rPr sz="900" b="0" dirty="0">
                <a:cs typeface="Avenir Light"/>
              </a:rPr>
              <a:t>decision-making.</a:t>
            </a:r>
            <a:endParaRPr sz="900" dirty="0">
              <a:cs typeface="Avenir Light"/>
            </a:endParaRPr>
          </a:p>
        </p:txBody>
      </p:sp>
      <p:sp>
        <p:nvSpPr>
          <p:cNvPr id="11" name="object 12">
            <a:extLst>
              <a:ext uri="{FF2B5EF4-FFF2-40B4-BE49-F238E27FC236}">
                <a16:creationId xmlns:a16="http://schemas.microsoft.com/office/drawing/2014/main" id="{E9C9E4AD-B82C-41A7-0969-2C479F7F14F5}"/>
              </a:ext>
            </a:extLst>
          </p:cNvPr>
          <p:cNvSpPr txBox="1"/>
          <p:nvPr/>
        </p:nvSpPr>
        <p:spPr>
          <a:xfrm>
            <a:off x="4787170" y="3572363"/>
            <a:ext cx="1461770" cy="705321"/>
          </a:xfrm>
          <a:prstGeom prst="rect">
            <a:avLst/>
          </a:prstGeom>
        </p:spPr>
        <p:txBody>
          <a:bodyPr vert="horz" wrap="square" lIns="0" tIns="12700" rIns="0" bIns="0" rtlCol="0">
            <a:spAutoFit/>
          </a:bodyPr>
          <a:lstStyle/>
          <a:p>
            <a:pPr marL="12700" marR="5080">
              <a:lnSpc>
                <a:spcPct val="100000"/>
              </a:lnSpc>
              <a:spcBef>
                <a:spcPts val="100"/>
              </a:spcBef>
            </a:pPr>
            <a:r>
              <a:rPr sz="900" b="1" dirty="0">
                <a:cs typeface="Avenir"/>
              </a:rPr>
              <a:t>Efficiency Gains </a:t>
            </a:r>
            <a:r>
              <a:rPr sz="900" b="0" dirty="0">
                <a:cs typeface="Avenir Light"/>
              </a:rPr>
              <a:t>Automation eliminated manual reporting tasks, reducing errors and saving time.</a:t>
            </a:r>
            <a:endParaRPr sz="900" dirty="0">
              <a:cs typeface="Avenir Light"/>
            </a:endParaRPr>
          </a:p>
        </p:txBody>
      </p:sp>
      <p:sp>
        <p:nvSpPr>
          <p:cNvPr id="12" name="object 13">
            <a:extLst>
              <a:ext uri="{FF2B5EF4-FFF2-40B4-BE49-F238E27FC236}">
                <a16:creationId xmlns:a16="http://schemas.microsoft.com/office/drawing/2014/main" id="{8DE1E152-80F4-3243-4E9E-5B238B696E08}"/>
              </a:ext>
            </a:extLst>
          </p:cNvPr>
          <p:cNvSpPr/>
          <p:nvPr/>
        </p:nvSpPr>
        <p:spPr>
          <a:xfrm>
            <a:off x="2511484" y="3555100"/>
            <a:ext cx="305435" cy="306070"/>
          </a:xfrm>
          <a:custGeom>
            <a:avLst/>
            <a:gdLst/>
            <a:ahLst/>
            <a:cxnLst/>
            <a:rect l="l" t="t" r="r" b="b"/>
            <a:pathLst>
              <a:path w="305435" h="306070">
                <a:moveTo>
                  <a:pt x="142432" y="132080"/>
                </a:moveTo>
                <a:lnTo>
                  <a:pt x="123458" y="132080"/>
                </a:lnTo>
                <a:lnTo>
                  <a:pt x="115711" y="139700"/>
                </a:lnTo>
                <a:lnTo>
                  <a:pt x="115711" y="209550"/>
                </a:lnTo>
                <a:lnTo>
                  <a:pt x="108730" y="212090"/>
                </a:lnTo>
                <a:lnTo>
                  <a:pt x="101631" y="215900"/>
                </a:lnTo>
                <a:lnTo>
                  <a:pt x="96121" y="220980"/>
                </a:lnTo>
                <a:lnTo>
                  <a:pt x="93905" y="227330"/>
                </a:lnTo>
                <a:lnTo>
                  <a:pt x="93905" y="271780"/>
                </a:lnTo>
                <a:lnTo>
                  <a:pt x="94083" y="271780"/>
                </a:lnTo>
                <a:lnTo>
                  <a:pt x="94451" y="273050"/>
                </a:lnTo>
                <a:lnTo>
                  <a:pt x="99484" y="279400"/>
                </a:lnTo>
                <a:lnTo>
                  <a:pt x="106321" y="287020"/>
                </a:lnTo>
                <a:lnTo>
                  <a:pt x="112369" y="293370"/>
                </a:lnTo>
                <a:lnTo>
                  <a:pt x="115038" y="295910"/>
                </a:lnTo>
                <a:lnTo>
                  <a:pt x="114936" y="304800"/>
                </a:lnTo>
                <a:lnTo>
                  <a:pt x="117006" y="306070"/>
                </a:lnTo>
                <a:lnTo>
                  <a:pt x="193447" y="306070"/>
                </a:lnTo>
                <a:lnTo>
                  <a:pt x="195784" y="304800"/>
                </a:lnTo>
                <a:lnTo>
                  <a:pt x="197156" y="303530"/>
                </a:lnTo>
                <a:lnTo>
                  <a:pt x="197435" y="298450"/>
                </a:lnTo>
                <a:lnTo>
                  <a:pt x="197480" y="297180"/>
                </a:lnTo>
                <a:lnTo>
                  <a:pt x="124283" y="297180"/>
                </a:lnTo>
                <a:lnTo>
                  <a:pt x="124283" y="294640"/>
                </a:lnTo>
                <a:lnTo>
                  <a:pt x="124639" y="293370"/>
                </a:lnTo>
                <a:lnTo>
                  <a:pt x="122378" y="289560"/>
                </a:lnTo>
                <a:lnTo>
                  <a:pt x="106300" y="274320"/>
                </a:lnTo>
                <a:lnTo>
                  <a:pt x="103189" y="269240"/>
                </a:lnTo>
                <a:lnTo>
                  <a:pt x="103189" y="226060"/>
                </a:lnTo>
                <a:lnTo>
                  <a:pt x="105297" y="224790"/>
                </a:lnTo>
                <a:lnTo>
                  <a:pt x="110478" y="220980"/>
                </a:lnTo>
                <a:lnTo>
                  <a:pt x="113171" y="220980"/>
                </a:lnTo>
                <a:lnTo>
                  <a:pt x="115711" y="219710"/>
                </a:lnTo>
                <a:lnTo>
                  <a:pt x="124984" y="219710"/>
                </a:lnTo>
                <a:lnTo>
                  <a:pt x="124994" y="147320"/>
                </a:lnTo>
                <a:lnTo>
                  <a:pt x="125896" y="146050"/>
                </a:lnTo>
                <a:lnTo>
                  <a:pt x="132386" y="138430"/>
                </a:lnTo>
                <a:lnTo>
                  <a:pt x="148887" y="138430"/>
                </a:lnTo>
                <a:lnTo>
                  <a:pt x="142432" y="132080"/>
                </a:lnTo>
                <a:close/>
              </a:path>
              <a:path w="305435" h="306070">
                <a:moveTo>
                  <a:pt x="209301" y="203200"/>
                </a:moveTo>
                <a:lnTo>
                  <a:pt x="196203" y="203200"/>
                </a:lnTo>
                <a:lnTo>
                  <a:pt x="202160" y="205740"/>
                </a:lnTo>
                <a:lnTo>
                  <a:pt x="202160" y="260350"/>
                </a:lnTo>
                <a:lnTo>
                  <a:pt x="201385" y="267970"/>
                </a:lnTo>
                <a:lnTo>
                  <a:pt x="199162" y="274320"/>
                </a:lnTo>
                <a:lnTo>
                  <a:pt x="195645" y="280670"/>
                </a:lnTo>
                <a:lnTo>
                  <a:pt x="189015" y="289560"/>
                </a:lnTo>
                <a:lnTo>
                  <a:pt x="188456" y="293370"/>
                </a:lnTo>
                <a:lnTo>
                  <a:pt x="188372" y="294640"/>
                </a:lnTo>
                <a:lnTo>
                  <a:pt x="188287" y="295910"/>
                </a:lnTo>
                <a:lnTo>
                  <a:pt x="188202" y="297180"/>
                </a:lnTo>
                <a:lnTo>
                  <a:pt x="197480" y="297180"/>
                </a:lnTo>
                <a:lnTo>
                  <a:pt x="197569" y="294640"/>
                </a:lnTo>
                <a:lnTo>
                  <a:pt x="197613" y="293370"/>
                </a:lnTo>
                <a:lnTo>
                  <a:pt x="200636" y="288290"/>
                </a:lnTo>
                <a:lnTo>
                  <a:pt x="211443" y="260350"/>
                </a:lnTo>
                <a:lnTo>
                  <a:pt x="211443" y="210820"/>
                </a:lnTo>
                <a:lnTo>
                  <a:pt x="209301" y="203200"/>
                </a:lnTo>
                <a:close/>
              </a:path>
              <a:path w="305435" h="306070">
                <a:moveTo>
                  <a:pt x="124984" y="219710"/>
                </a:moveTo>
                <a:lnTo>
                  <a:pt x="115711" y="219710"/>
                </a:lnTo>
                <a:lnTo>
                  <a:pt x="115698" y="241300"/>
                </a:lnTo>
                <a:lnTo>
                  <a:pt x="117781" y="243840"/>
                </a:lnTo>
                <a:lnTo>
                  <a:pt x="122899" y="243840"/>
                </a:lnTo>
                <a:lnTo>
                  <a:pt x="124982" y="241300"/>
                </a:lnTo>
                <a:lnTo>
                  <a:pt x="124984" y="219710"/>
                </a:lnTo>
                <a:close/>
              </a:path>
              <a:path w="305435" h="306070">
                <a:moveTo>
                  <a:pt x="196549" y="195580"/>
                </a:moveTo>
                <a:lnTo>
                  <a:pt x="188863" y="198120"/>
                </a:lnTo>
                <a:lnTo>
                  <a:pt x="175782" y="198120"/>
                </a:lnTo>
                <a:lnTo>
                  <a:pt x="181738" y="200660"/>
                </a:lnTo>
                <a:lnTo>
                  <a:pt x="181738" y="238760"/>
                </a:lnTo>
                <a:lnTo>
                  <a:pt x="183808" y="241300"/>
                </a:lnTo>
                <a:lnTo>
                  <a:pt x="188939" y="241300"/>
                </a:lnTo>
                <a:lnTo>
                  <a:pt x="191022" y="238760"/>
                </a:lnTo>
                <a:lnTo>
                  <a:pt x="191022" y="209550"/>
                </a:lnTo>
                <a:lnTo>
                  <a:pt x="191644" y="207010"/>
                </a:lnTo>
                <a:lnTo>
                  <a:pt x="196203" y="203200"/>
                </a:lnTo>
                <a:lnTo>
                  <a:pt x="209301" y="203200"/>
                </a:lnTo>
                <a:lnTo>
                  <a:pt x="203849" y="198120"/>
                </a:lnTo>
                <a:lnTo>
                  <a:pt x="196549" y="195580"/>
                </a:lnTo>
                <a:close/>
              </a:path>
              <a:path w="305435" h="306070">
                <a:moveTo>
                  <a:pt x="168792" y="190500"/>
                </a:moveTo>
                <a:lnTo>
                  <a:pt x="155360" y="190500"/>
                </a:lnTo>
                <a:lnTo>
                  <a:pt x="161316" y="193040"/>
                </a:lnTo>
                <a:lnTo>
                  <a:pt x="161316" y="229870"/>
                </a:lnTo>
                <a:lnTo>
                  <a:pt x="163387" y="232410"/>
                </a:lnTo>
                <a:lnTo>
                  <a:pt x="168517" y="232410"/>
                </a:lnTo>
                <a:lnTo>
                  <a:pt x="170600" y="229870"/>
                </a:lnTo>
                <a:lnTo>
                  <a:pt x="170600" y="204470"/>
                </a:lnTo>
                <a:lnTo>
                  <a:pt x="171222" y="203200"/>
                </a:lnTo>
                <a:lnTo>
                  <a:pt x="175782" y="198120"/>
                </a:lnTo>
                <a:lnTo>
                  <a:pt x="188863" y="198120"/>
                </a:lnTo>
                <a:lnTo>
                  <a:pt x="184824" y="191770"/>
                </a:lnTo>
                <a:lnTo>
                  <a:pt x="169419" y="191770"/>
                </a:lnTo>
                <a:lnTo>
                  <a:pt x="168792" y="190500"/>
                </a:lnTo>
                <a:close/>
              </a:path>
              <a:path w="305435" h="306070">
                <a:moveTo>
                  <a:pt x="148887" y="138430"/>
                </a:moveTo>
                <a:lnTo>
                  <a:pt x="132386" y="138430"/>
                </a:lnTo>
                <a:lnTo>
                  <a:pt x="140895" y="142240"/>
                </a:lnTo>
                <a:lnTo>
                  <a:pt x="140882" y="220980"/>
                </a:lnTo>
                <a:lnTo>
                  <a:pt x="142952" y="222250"/>
                </a:lnTo>
                <a:lnTo>
                  <a:pt x="148083" y="222250"/>
                </a:lnTo>
                <a:lnTo>
                  <a:pt x="150166" y="220980"/>
                </a:lnTo>
                <a:lnTo>
                  <a:pt x="150179" y="196850"/>
                </a:lnTo>
                <a:lnTo>
                  <a:pt x="150801" y="195580"/>
                </a:lnTo>
                <a:lnTo>
                  <a:pt x="155360" y="190500"/>
                </a:lnTo>
                <a:lnTo>
                  <a:pt x="168792" y="190500"/>
                </a:lnTo>
                <a:lnTo>
                  <a:pt x="166282" y="185420"/>
                </a:lnTo>
                <a:lnTo>
                  <a:pt x="163433" y="184150"/>
                </a:lnTo>
                <a:lnTo>
                  <a:pt x="150179" y="184150"/>
                </a:lnTo>
                <a:lnTo>
                  <a:pt x="150179" y="139700"/>
                </a:lnTo>
                <a:lnTo>
                  <a:pt x="148887" y="138430"/>
                </a:lnTo>
                <a:close/>
              </a:path>
              <a:path w="305435" h="306070">
                <a:moveTo>
                  <a:pt x="59769" y="76200"/>
                </a:moveTo>
                <a:lnTo>
                  <a:pt x="54276" y="77470"/>
                </a:lnTo>
                <a:lnTo>
                  <a:pt x="50611" y="82550"/>
                </a:lnTo>
                <a:lnTo>
                  <a:pt x="40984" y="113030"/>
                </a:lnTo>
                <a:lnTo>
                  <a:pt x="9272" y="113030"/>
                </a:lnTo>
                <a:lnTo>
                  <a:pt x="2911" y="114400"/>
                </a:lnTo>
                <a:lnTo>
                  <a:pt x="3314" y="114400"/>
                </a:lnTo>
                <a:lnTo>
                  <a:pt x="106" y="119380"/>
                </a:lnTo>
                <a:lnTo>
                  <a:pt x="0" y="125730"/>
                </a:lnTo>
                <a:lnTo>
                  <a:pt x="3608" y="130810"/>
                </a:lnTo>
                <a:lnTo>
                  <a:pt x="29148" y="148590"/>
                </a:lnTo>
                <a:lnTo>
                  <a:pt x="19394" y="179070"/>
                </a:lnTo>
                <a:lnTo>
                  <a:pt x="19427" y="185420"/>
                </a:lnTo>
                <a:lnTo>
                  <a:pt x="22890" y="189230"/>
                </a:lnTo>
                <a:lnTo>
                  <a:pt x="28309" y="191770"/>
                </a:lnTo>
                <a:lnTo>
                  <a:pt x="34215" y="189230"/>
                </a:lnTo>
                <a:lnTo>
                  <a:pt x="43259" y="182880"/>
                </a:lnTo>
                <a:lnTo>
                  <a:pt x="28449" y="182880"/>
                </a:lnTo>
                <a:lnTo>
                  <a:pt x="28182" y="181610"/>
                </a:lnTo>
                <a:lnTo>
                  <a:pt x="39257" y="148590"/>
                </a:lnTo>
                <a:lnTo>
                  <a:pt x="37860" y="143510"/>
                </a:lnTo>
                <a:lnTo>
                  <a:pt x="8713" y="123190"/>
                </a:lnTo>
                <a:lnTo>
                  <a:pt x="8916" y="121920"/>
                </a:lnTo>
                <a:lnTo>
                  <a:pt x="44857" y="121920"/>
                </a:lnTo>
                <a:lnTo>
                  <a:pt x="48490" y="119380"/>
                </a:lnTo>
                <a:lnTo>
                  <a:pt x="59539" y="85090"/>
                </a:lnTo>
                <a:lnTo>
                  <a:pt x="69739" y="85090"/>
                </a:lnTo>
                <a:lnTo>
                  <a:pt x="68937" y="82550"/>
                </a:lnTo>
                <a:lnTo>
                  <a:pt x="65264" y="77470"/>
                </a:lnTo>
                <a:lnTo>
                  <a:pt x="59769" y="76200"/>
                </a:lnTo>
                <a:close/>
              </a:path>
              <a:path w="305435" h="306070">
                <a:moveTo>
                  <a:pt x="75653" y="171450"/>
                </a:moveTo>
                <a:lnTo>
                  <a:pt x="60009" y="171450"/>
                </a:lnTo>
                <a:lnTo>
                  <a:pt x="85332" y="189230"/>
                </a:lnTo>
                <a:lnTo>
                  <a:pt x="91241" y="191770"/>
                </a:lnTo>
                <a:lnTo>
                  <a:pt x="96658" y="189230"/>
                </a:lnTo>
                <a:lnTo>
                  <a:pt x="100116" y="185420"/>
                </a:lnTo>
                <a:lnTo>
                  <a:pt x="100131" y="182880"/>
                </a:lnTo>
                <a:lnTo>
                  <a:pt x="90997" y="182880"/>
                </a:lnTo>
                <a:lnTo>
                  <a:pt x="75653" y="171450"/>
                </a:lnTo>
                <a:close/>
              </a:path>
              <a:path w="305435" h="306070">
                <a:moveTo>
                  <a:pt x="176379" y="189230"/>
                </a:moveTo>
                <a:lnTo>
                  <a:pt x="169419" y="191770"/>
                </a:lnTo>
                <a:lnTo>
                  <a:pt x="184824" y="191770"/>
                </a:lnTo>
                <a:lnTo>
                  <a:pt x="176379" y="189230"/>
                </a:lnTo>
                <a:close/>
              </a:path>
              <a:path w="305435" h="306070">
                <a:moveTo>
                  <a:pt x="245579" y="76200"/>
                </a:moveTo>
                <a:lnTo>
                  <a:pt x="240084" y="77470"/>
                </a:lnTo>
                <a:lnTo>
                  <a:pt x="236412" y="82550"/>
                </a:lnTo>
                <a:lnTo>
                  <a:pt x="226798" y="113030"/>
                </a:lnTo>
                <a:lnTo>
                  <a:pt x="195086" y="113030"/>
                </a:lnTo>
                <a:lnTo>
                  <a:pt x="188725" y="114400"/>
                </a:lnTo>
                <a:lnTo>
                  <a:pt x="189128" y="114400"/>
                </a:lnTo>
                <a:lnTo>
                  <a:pt x="185920" y="119380"/>
                </a:lnTo>
                <a:lnTo>
                  <a:pt x="185813" y="125730"/>
                </a:lnTo>
                <a:lnTo>
                  <a:pt x="189422" y="130810"/>
                </a:lnTo>
                <a:lnTo>
                  <a:pt x="214961" y="148590"/>
                </a:lnTo>
                <a:lnTo>
                  <a:pt x="205195" y="179070"/>
                </a:lnTo>
                <a:lnTo>
                  <a:pt x="205234" y="185420"/>
                </a:lnTo>
                <a:lnTo>
                  <a:pt x="208695" y="189230"/>
                </a:lnTo>
                <a:lnTo>
                  <a:pt x="214112" y="191770"/>
                </a:lnTo>
                <a:lnTo>
                  <a:pt x="220016" y="189230"/>
                </a:lnTo>
                <a:lnTo>
                  <a:pt x="229065" y="182880"/>
                </a:lnTo>
                <a:lnTo>
                  <a:pt x="214263" y="182880"/>
                </a:lnTo>
                <a:lnTo>
                  <a:pt x="214009" y="181610"/>
                </a:lnTo>
                <a:lnTo>
                  <a:pt x="223762" y="152400"/>
                </a:lnTo>
                <a:lnTo>
                  <a:pt x="225083" y="148590"/>
                </a:lnTo>
                <a:lnTo>
                  <a:pt x="223673" y="143510"/>
                </a:lnTo>
                <a:lnTo>
                  <a:pt x="194540" y="123190"/>
                </a:lnTo>
                <a:lnTo>
                  <a:pt x="194743" y="121920"/>
                </a:lnTo>
                <a:lnTo>
                  <a:pt x="230671" y="121920"/>
                </a:lnTo>
                <a:lnTo>
                  <a:pt x="234303" y="119380"/>
                </a:lnTo>
                <a:lnTo>
                  <a:pt x="245365" y="85090"/>
                </a:lnTo>
                <a:lnTo>
                  <a:pt x="255540" y="85090"/>
                </a:lnTo>
                <a:lnTo>
                  <a:pt x="254738" y="82550"/>
                </a:lnTo>
                <a:lnTo>
                  <a:pt x="251072" y="77470"/>
                </a:lnTo>
                <a:lnTo>
                  <a:pt x="245579" y="76200"/>
                </a:lnTo>
                <a:close/>
              </a:path>
              <a:path w="305435" h="306070">
                <a:moveTo>
                  <a:pt x="261473" y="171450"/>
                </a:moveTo>
                <a:lnTo>
                  <a:pt x="245810" y="171450"/>
                </a:lnTo>
                <a:lnTo>
                  <a:pt x="271146" y="189230"/>
                </a:lnTo>
                <a:lnTo>
                  <a:pt x="277055" y="191770"/>
                </a:lnTo>
                <a:lnTo>
                  <a:pt x="282471" y="189230"/>
                </a:lnTo>
                <a:lnTo>
                  <a:pt x="285930" y="185420"/>
                </a:lnTo>
                <a:lnTo>
                  <a:pt x="285945" y="182880"/>
                </a:lnTo>
                <a:lnTo>
                  <a:pt x="276823" y="182880"/>
                </a:lnTo>
                <a:lnTo>
                  <a:pt x="261473" y="171450"/>
                </a:lnTo>
                <a:close/>
              </a:path>
              <a:path w="305435" h="306070">
                <a:moveTo>
                  <a:pt x="157735" y="181610"/>
                </a:moveTo>
                <a:lnTo>
                  <a:pt x="150179" y="184150"/>
                </a:lnTo>
                <a:lnTo>
                  <a:pt x="163433" y="184150"/>
                </a:lnTo>
                <a:lnTo>
                  <a:pt x="157735" y="181610"/>
                </a:lnTo>
                <a:close/>
              </a:path>
              <a:path w="305435" h="306070">
                <a:moveTo>
                  <a:pt x="62015" y="161290"/>
                </a:moveTo>
                <a:lnTo>
                  <a:pt x="57557" y="161290"/>
                </a:lnTo>
                <a:lnTo>
                  <a:pt x="28449" y="182880"/>
                </a:lnTo>
                <a:lnTo>
                  <a:pt x="43259" y="182880"/>
                </a:lnTo>
                <a:lnTo>
                  <a:pt x="59539" y="171450"/>
                </a:lnTo>
                <a:lnTo>
                  <a:pt x="75653" y="171450"/>
                </a:lnTo>
                <a:lnTo>
                  <a:pt x="62015" y="161290"/>
                </a:lnTo>
                <a:close/>
              </a:path>
              <a:path w="305435" h="306070">
                <a:moveTo>
                  <a:pt x="69739" y="85090"/>
                </a:moveTo>
                <a:lnTo>
                  <a:pt x="60009" y="85090"/>
                </a:lnTo>
                <a:lnTo>
                  <a:pt x="69749" y="115570"/>
                </a:lnTo>
                <a:lnTo>
                  <a:pt x="71058" y="119380"/>
                </a:lnTo>
                <a:lnTo>
                  <a:pt x="74690" y="121920"/>
                </a:lnTo>
                <a:lnTo>
                  <a:pt x="110631" y="121920"/>
                </a:lnTo>
                <a:lnTo>
                  <a:pt x="110656" y="123190"/>
                </a:lnTo>
                <a:lnTo>
                  <a:pt x="81700" y="143510"/>
                </a:lnTo>
                <a:lnTo>
                  <a:pt x="80303" y="148590"/>
                </a:lnTo>
                <a:lnTo>
                  <a:pt x="91492" y="181610"/>
                </a:lnTo>
                <a:lnTo>
                  <a:pt x="90997" y="182880"/>
                </a:lnTo>
                <a:lnTo>
                  <a:pt x="100131" y="182880"/>
                </a:lnTo>
                <a:lnTo>
                  <a:pt x="100153" y="179070"/>
                </a:lnTo>
                <a:lnTo>
                  <a:pt x="90387" y="148590"/>
                </a:lnTo>
                <a:lnTo>
                  <a:pt x="115927" y="130810"/>
                </a:lnTo>
                <a:lnTo>
                  <a:pt x="119535" y="125730"/>
                </a:lnTo>
                <a:lnTo>
                  <a:pt x="119429" y="119380"/>
                </a:lnTo>
                <a:lnTo>
                  <a:pt x="116220" y="114400"/>
                </a:lnTo>
                <a:lnTo>
                  <a:pt x="116623" y="114400"/>
                </a:lnTo>
                <a:lnTo>
                  <a:pt x="110262" y="113030"/>
                </a:lnTo>
                <a:lnTo>
                  <a:pt x="78563" y="113030"/>
                </a:lnTo>
                <a:lnTo>
                  <a:pt x="69739" y="85090"/>
                </a:lnTo>
                <a:close/>
              </a:path>
              <a:path w="305435" h="306070">
                <a:moveTo>
                  <a:pt x="247829" y="161290"/>
                </a:moveTo>
                <a:lnTo>
                  <a:pt x="243384" y="161290"/>
                </a:lnTo>
                <a:lnTo>
                  <a:pt x="214263" y="182880"/>
                </a:lnTo>
                <a:lnTo>
                  <a:pt x="229065" y="182880"/>
                </a:lnTo>
                <a:lnTo>
                  <a:pt x="245352" y="171450"/>
                </a:lnTo>
                <a:lnTo>
                  <a:pt x="261473" y="171450"/>
                </a:lnTo>
                <a:lnTo>
                  <a:pt x="247829" y="161290"/>
                </a:lnTo>
                <a:close/>
              </a:path>
              <a:path w="305435" h="306070">
                <a:moveTo>
                  <a:pt x="255540" y="85090"/>
                </a:moveTo>
                <a:lnTo>
                  <a:pt x="245822" y="85090"/>
                </a:lnTo>
                <a:lnTo>
                  <a:pt x="255576" y="115570"/>
                </a:lnTo>
                <a:lnTo>
                  <a:pt x="256871" y="119380"/>
                </a:lnTo>
                <a:lnTo>
                  <a:pt x="260503" y="121920"/>
                </a:lnTo>
                <a:lnTo>
                  <a:pt x="296457" y="121920"/>
                </a:lnTo>
                <a:lnTo>
                  <a:pt x="296483" y="123190"/>
                </a:lnTo>
                <a:lnTo>
                  <a:pt x="267527" y="143510"/>
                </a:lnTo>
                <a:lnTo>
                  <a:pt x="266117" y="148590"/>
                </a:lnTo>
                <a:lnTo>
                  <a:pt x="277306" y="181610"/>
                </a:lnTo>
                <a:lnTo>
                  <a:pt x="276823" y="182880"/>
                </a:lnTo>
                <a:lnTo>
                  <a:pt x="285945" y="182880"/>
                </a:lnTo>
                <a:lnTo>
                  <a:pt x="285967" y="179070"/>
                </a:lnTo>
                <a:lnTo>
                  <a:pt x="276201" y="148590"/>
                </a:lnTo>
                <a:lnTo>
                  <a:pt x="301740" y="130810"/>
                </a:lnTo>
                <a:lnTo>
                  <a:pt x="305349" y="125730"/>
                </a:lnTo>
                <a:lnTo>
                  <a:pt x="305242" y="119380"/>
                </a:lnTo>
                <a:lnTo>
                  <a:pt x="302034" y="114400"/>
                </a:lnTo>
                <a:lnTo>
                  <a:pt x="302437" y="114400"/>
                </a:lnTo>
                <a:lnTo>
                  <a:pt x="296076" y="113030"/>
                </a:lnTo>
                <a:lnTo>
                  <a:pt x="264364" y="113030"/>
                </a:lnTo>
                <a:lnTo>
                  <a:pt x="255540" y="85090"/>
                </a:lnTo>
                <a:close/>
              </a:path>
              <a:path w="305435" h="306070">
                <a:moveTo>
                  <a:pt x="126646" y="114400"/>
                </a:moveTo>
                <a:lnTo>
                  <a:pt x="116220" y="114400"/>
                </a:lnTo>
                <a:lnTo>
                  <a:pt x="121206" y="115570"/>
                </a:lnTo>
                <a:lnTo>
                  <a:pt x="126646" y="114400"/>
                </a:lnTo>
                <a:close/>
              </a:path>
              <a:path w="305435" h="306070">
                <a:moveTo>
                  <a:pt x="189128" y="114400"/>
                </a:moveTo>
                <a:lnTo>
                  <a:pt x="178702" y="114400"/>
                </a:lnTo>
                <a:lnTo>
                  <a:pt x="184138" y="115570"/>
                </a:lnTo>
                <a:lnTo>
                  <a:pt x="189128" y="114400"/>
                </a:lnTo>
                <a:close/>
              </a:path>
              <a:path w="305435" h="306070">
                <a:moveTo>
                  <a:pt x="152674" y="0"/>
                </a:moveTo>
                <a:lnTo>
                  <a:pt x="147182" y="2540"/>
                </a:lnTo>
                <a:lnTo>
                  <a:pt x="143511" y="7620"/>
                </a:lnTo>
                <a:lnTo>
                  <a:pt x="133884" y="36830"/>
                </a:lnTo>
                <a:lnTo>
                  <a:pt x="102173" y="36830"/>
                </a:lnTo>
                <a:lnTo>
                  <a:pt x="96287" y="39370"/>
                </a:lnTo>
                <a:lnTo>
                  <a:pt x="93017" y="44450"/>
                </a:lnTo>
                <a:lnTo>
                  <a:pt x="92913" y="49530"/>
                </a:lnTo>
                <a:lnTo>
                  <a:pt x="96521" y="54610"/>
                </a:lnTo>
                <a:lnTo>
                  <a:pt x="122061" y="73660"/>
                </a:lnTo>
                <a:lnTo>
                  <a:pt x="112294" y="102870"/>
                </a:lnTo>
                <a:lnTo>
                  <a:pt x="112331" y="109220"/>
                </a:lnTo>
                <a:lnTo>
                  <a:pt x="115859" y="114400"/>
                </a:lnTo>
                <a:lnTo>
                  <a:pt x="126981" y="114400"/>
                </a:lnTo>
                <a:lnTo>
                  <a:pt x="137245" y="106680"/>
                </a:lnTo>
                <a:lnTo>
                  <a:pt x="121083" y="106680"/>
                </a:lnTo>
                <a:lnTo>
                  <a:pt x="132157" y="72390"/>
                </a:lnTo>
                <a:lnTo>
                  <a:pt x="130760" y="68580"/>
                </a:lnTo>
                <a:lnTo>
                  <a:pt x="101626" y="46990"/>
                </a:lnTo>
                <a:lnTo>
                  <a:pt x="137758" y="46990"/>
                </a:lnTo>
                <a:lnTo>
                  <a:pt x="141390" y="44450"/>
                </a:lnTo>
                <a:lnTo>
                  <a:pt x="152325" y="10160"/>
                </a:lnTo>
                <a:lnTo>
                  <a:pt x="162674" y="10160"/>
                </a:lnTo>
                <a:lnTo>
                  <a:pt x="161837" y="7620"/>
                </a:lnTo>
                <a:lnTo>
                  <a:pt x="158166" y="2540"/>
                </a:lnTo>
                <a:lnTo>
                  <a:pt x="152674" y="0"/>
                </a:lnTo>
                <a:close/>
              </a:path>
              <a:path w="305435" h="306070">
                <a:moveTo>
                  <a:pt x="168560" y="95250"/>
                </a:moveTo>
                <a:lnTo>
                  <a:pt x="152909" y="95250"/>
                </a:lnTo>
                <a:lnTo>
                  <a:pt x="178367" y="114400"/>
                </a:lnTo>
                <a:lnTo>
                  <a:pt x="189489" y="114400"/>
                </a:lnTo>
                <a:lnTo>
                  <a:pt x="193020" y="109220"/>
                </a:lnTo>
                <a:lnTo>
                  <a:pt x="193034" y="106680"/>
                </a:lnTo>
                <a:lnTo>
                  <a:pt x="183910" y="106680"/>
                </a:lnTo>
                <a:lnTo>
                  <a:pt x="168560" y="95250"/>
                </a:lnTo>
                <a:close/>
              </a:path>
              <a:path w="305435" h="306070">
                <a:moveTo>
                  <a:pt x="154916" y="85090"/>
                </a:moveTo>
                <a:lnTo>
                  <a:pt x="150471" y="85090"/>
                </a:lnTo>
                <a:lnTo>
                  <a:pt x="121350" y="106680"/>
                </a:lnTo>
                <a:lnTo>
                  <a:pt x="137245" y="106680"/>
                </a:lnTo>
                <a:lnTo>
                  <a:pt x="152439" y="95250"/>
                </a:lnTo>
                <a:lnTo>
                  <a:pt x="168560" y="95250"/>
                </a:lnTo>
                <a:lnTo>
                  <a:pt x="154916" y="85090"/>
                </a:lnTo>
                <a:close/>
              </a:path>
              <a:path w="305435" h="306070">
                <a:moveTo>
                  <a:pt x="162674" y="10160"/>
                </a:moveTo>
                <a:lnTo>
                  <a:pt x="152909" y="10160"/>
                </a:lnTo>
                <a:lnTo>
                  <a:pt x="162663" y="39370"/>
                </a:lnTo>
                <a:lnTo>
                  <a:pt x="163958" y="44450"/>
                </a:lnTo>
                <a:lnTo>
                  <a:pt x="167578" y="46990"/>
                </a:lnTo>
                <a:lnTo>
                  <a:pt x="203544" y="46990"/>
                </a:lnTo>
                <a:lnTo>
                  <a:pt x="174613" y="68580"/>
                </a:lnTo>
                <a:lnTo>
                  <a:pt x="173204" y="72390"/>
                </a:lnTo>
                <a:lnTo>
                  <a:pt x="184392" y="106680"/>
                </a:lnTo>
                <a:lnTo>
                  <a:pt x="193034" y="106680"/>
                </a:lnTo>
                <a:lnTo>
                  <a:pt x="193054" y="102870"/>
                </a:lnTo>
                <a:lnTo>
                  <a:pt x="183300" y="73660"/>
                </a:lnTo>
                <a:lnTo>
                  <a:pt x="208840" y="54610"/>
                </a:lnTo>
                <a:lnTo>
                  <a:pt x="212448" y="49530"/>
                </a:lnTo>
                <a:lnTo>
                  <a:pt x="212342" y="44450"/>
                </a:lnTo>
                <a:lnTo>
                  <a:pt x="209068" y="39370"/>
                </a:lnTo>
                <a:lnTo>
                  <a:pt x="203176" y="36830"/>
                </a:lnTo>
                <a:lnTo>
                  <a:pt x="171464" y="36830"/>
                </a:lnTo>
                <a:lnTo>
                  <a:pt x="162674" y="10160"/>
                </a:lnTo>
                <a:close/>
              </a:path>
            </a:pathLst>
          </a:custGeom>
          <a:solidFill>
            <a:srgbClr val="000000"/>
          </a:solidFill>
        </p:spPr>
        <p:txBody>
          <a:bodyPr wrap="square" lIns="0" tIns="0" rIns="0" bIns="0" rtlCol="0"/>
          <a:lstStyle/>
          <a:p>
            <a:endParaRPr/>
          </a:p>
        </p:txBody>
      </p:sp>
      <p:grpSp>
        <p:nvGrpSpPr>
          <p:cNvPr id="13" name="object 14">
            <a:extLst>
              <a:ext uri="{FF2B5EF4-FFF2-40B4-BE49-F238E27FC236}">
                <a16:creationId xmlns:a16="http://schemas.microsoft.com/office/drawing/2014/main" id="{51978A86-513D-7E86-7F79-7BB7D71C9FD2}"/>
              </a:ext>
            </a:extLst>
          </p:cNvPr>
          <p:cNvGrpSpPr/>
          <p:nvPr/>
        </p:nvGrpSpPr>
        <p:grpSpPr>
          <a:xfrm>
            <a:off x="4374606" y="3555939"/>
            <a:ext cx="324485" cy="311785"/>
            <a:chOff x="4843533" y="4150118"/>
            <a:chExt cx="324485" cy="311785"/>
          </a:xfrm>
        </p:grpSpPr>
        <p:pic>
          <p:nvPicPr>
            <p:cNvPr id="14" name="object 15">
              <a:extLst>
                <a:ext uri="{FF2B5EF4-FFF2-40B4-BE49-F238E27FC236}">
                  <a16:creationId xmlns:a16="http://schemas.microsoft.com/office/drawing/2014/main" id="{507F4530-8321-613A-C009-32EB5B5BAB85}"/>
                </a:ext>
              </a:extLst>
            </p:cNvPr>
            <p:cNvPicPr/>
            <p:nvPr/>
          </p:nvPicPr>
          <p:blipFill>
            <a:blip r:embed="rId2" cstate="print"/>
            <a:stretch>
              <a:fillRect/>
            </a:stretch>
          </p:blipFill>
          <p:spPr>
            <a:xfrm>
              <a:off x="4904244" y="4186936"/>
              <a:ext cx="148706" cy="234873"/>
            </a:xfrm>
            <a:prstGeom prst="rect">
              <a:avLst/>
            </a:prstGeom>
          </p:spPr>
        </p:pic>
        <p:sp>
          <p:nvSpPr>
            <p:cNvPr id="15" name="object 16">
              <a:extLst>
                <a:ext uri="{FF2B5EF4-FFF2-40B4-BE49-F238E27FC236}">
                  <a16:creationId xmlns:a16="http://schemas.microsoft.com/office/drawing/2014/main" id="{BFD62141-A7ED-B7C2-7CB3-8F95D11CF185}"/>
                </a:ext>
              </a:extLst>
            </p:cNvPr>
            <p:cNvSpPr/>
            <p:nvPr/>
          </p:nvSpPr>
          <p:spPr>
            <a:xfrm>
              <a:off x="4843526" y="4150118"/>
              <a:ext cx="324485" cy="311785"/>
            </a:xfrm>
            <a:custGeom>
              <a:avLst/>
              <a:gdLst/>
              <a:ahLst/>
              <a:cxnLst/>
              <a:rect l="l" t="t" r="r" b="b"/>
              <a:pathLst>
                <a:path w="324485" h="311785">
                  <a:moveTo>
                    <a:pt x="139001" y="36918"/>
                  </a:moveTo>
                  <a:lnTo>
                    <a:pt x="134988" y="21031"/>
                  </a:lnTo>
                  <a:lnTo>
                    <a:pt x="124498" y="9474"/>
                  </a:lnTo>
                  <a:lnTo>
                    <a:pt x="109880" y="2400"/>
                  </a:lnTo>
                  <a:lnTo>
                    <a:pt x="93459" y="0"/>
                  </a:lnTo>
                  <a:lnTo>
                    <a:pt x="75272" y="3683"/>
                  </a:lnTo>
                  <a:lnTo>
                    <a:pt x="60401" y="13716"/>
                  </a:lnTo>
                  <a:lnTo>
                    <a:pt x="50368" y="28587"/>
                  </a:lnTo>
                  <a:lnTo>
                    <a:pt x="46685" y="46761"/>
                  </a:lnTo>
                  <a:lnTo>
                    <a:pt x="46761" y="49301"/>
                  </a:lnTo>
                  <a:lnTo>
                    <a:pt x="27787" y="58343"/>
                  </a:lnTo>
                  <a:lnTo>
                    <a:pt x="13004" y="72567"/>
                  </a:lnTo>
                  <a:lnTo>
                    <a:pt x="3416" y="90754"/>
                  </a:lnTo>
                  <a:lnTo>
                    <a:pt x="0" y="111645"/>
                  </a:lnTo>
                  <a:lnTo>
                    <a:pt x="2501" y="129603"/>
                  </a:lnTo>
                  <a:lnTo>
                    <a:pt x="9588" y="145719"/>
                  </a:lnTo>
                  <a:lnTo>
                    <a:pt x="20650" y="159245"/>
                  </a:lnTo>
                  <a:lnTo>
                    <a:pt x="35090" y="169392"/>
                  </a:lnTo>
                  <a:lnTo>
                    <a:pt x="26517" y="176872"/>
                  </a:lnTo>
                  <a:lnTo>
                    <a:pt x="20027" y="186105"/>
                  </a:lnTo>
                  <a:lnTo>
                    <a:pt x="15938" y="196659"/>
                  </a:lnTo>
                  <a:lnTo>
                    <a:pt x="14503" y="208102"/>
                  </a:lnTo>
                  <a:lnTo>
                    <a:pt x="18186" y="226301"/>
                  </a:lnTo>
                  <a:lnTo>
                    <a:pt x="28219" y="241173"/>
                  </a:lnTo>
                  <a:lnTo>
                    <a:pt x="43078" y="251206"/>
                  </a:lnTo>
                  <a:lnTo>
                    <a:pt x="61810" y="254876"/>
                  </a:lnTo>
                  <a:lnTo>
                    <a:pt x="62903" y="254800"/>
                  </a:lnTo>
                  <a:lnTo>
                    <a:pt x="60452" y="260070"/>
                  </a:lnTo>
                  <a:lnTo>
                    <a:pt x="59118" y="265772"/>
                  </a:lnTo>
                  <a:lnTo>
                    <a:pt x="59118" y="271754"/>
                  </a:lnTo>
                  <a:lnTo>
                    <a:pt x="62268" y="287299"/>
                  </a:lnTo>
                  <a:lnTo>
                    <a:pt x="70827" y="299986"/>
                  </a:lnTo>
                  <a:lnTo>
                    <a:pt x="83515" y="308533"/>
                  </a:lnTo>
                  <a:lnTo>
                    <a:pt x="99034" y="311670"/>
                  </a:lnTo>
                  <a:lnTo>
                    <a:pt x="114554" y="308533"/>
                  </a:lnTo>
                  <a:lnTo>
                    <a:pt x="127254" y="299961"/>
                  </a:lnTo>
                  <a:lnTo>
                    <a:pt x="135813" y="287274"/>
                  </a:lnTo>
                  <a:lnTo>
                    <a:pt x="138963" y="271754"/>
                  </a:lnTo>
                  <a:lnTo>
                    <a:pt x="131152" y="271754"/>
                  </a:lnTo>
                  <a:lnTo>
                    <a:pt x="128625" y="284238"/>
                  </a:lnTo>
                  <a:lnTo>
                    <a:pt x="121729" y="294449"/>
                  </a:lnTo>
                  <a:lnTo>
                    <a:pt x="111518" y="301332"/>
                  </a:lnTo>
                  <a:lnTo>
                    <a:pt x="99009" y="303784"/>
                  </a:lnTo>
                  <a:lnTo>
                    <a:pt x="86512" y="301256"/>
                  </a:lnTo>
                  <a:lnTo>
                    <a:pt x="76301" y="294373"/>
                  </a:lnTo>
                  <a:lnTo>
                    <a:pt x="69418" y="284162"/>
                  </a:lnTo>
                  <a:lnTo>
                    <a:pt x="66890" y="271665"/>
                  </a:lnTo>
                  <a:lnTo>
                    <a:pt x="66890" y="264985"/>
                  </a:lnTo>
                  <a:lnTo>
                    <a:pt x="68884" y="258660"/>
                  </a:lnTo>
                  <a:lnTo>
                    <a:pt x="72682" y="253263"/>
                  </a:lnTo>
                  <a:lnTo>
                    <a:pt x="76149" y="252171"/>
                  </a:lnTo>
                  <a:lnTo>
                    <a:pt x="85064" y="248704"/>
                  </a:lnTo>
                  <a:lnTo>
                    <a:pt x="90614" y="241427"/>
                  </a:lnTo>
                  <a:lnTo>
                    <a:pt x="84404" y="236702"/>
                  </a:lnTo>
                  <a:lnTo>
                    <a:pt x="79248" y="243497"/>
                  </a:lnTo>
                  <a:lnTo>
                    <a:pt x="66662" y="246710"/>
                  </a:lnTo>
                  <a:lnTo>
                    <a:pt x="63919" y="247015"/>
                  </a:lnTo>
                  <a:lnTo>
                    <a:pt x="61226" y="247015"/>
                  </a:lnTo>
                  <a:lnTo>
                    <a:pt x="46075" y="243954"/>
                  </a:lnTo>
                  <a:lnTo>
                    <a:pt x="33693" y="235597"/>
                  </a:lnTo>
                  <a:lnTo>
                    <a:pt x="25336" y="223227"/>
                  </a:lnTo>
                  <a:lnTo>
                    <a:pt x="22275" y="208064"/>
                  </a:lnTo>
                  <a:lnTo>
                    <a:pt x="23812" y="197256"/>
                  </a:lnTo>
                  <a:lnTo>
                    <a:pt x="28194" y="187477"/>
                  </a:lnTo>
                  <a:lnTo>
                    <a:pt x="35064" y="179273"/>
                  </a:lnTo>
                  <a:lnTo>
                    <a:pt x="44069" y="173177"/>
                  </a:lnTo>
                  <a:lnTo>
                    <a:pt x="49657" y="174777"/>
                  </a:lnTo>
                  <a:lnTo>
                    <a:pt x="51485" y="167195"/>
                  </a:lnTo>
                  <a:lnTo>
                    <a:pt x="33807" y="159626"/>
                  </a:lnTo>
                  <a:lnTo>
                    <a:pt x="20002" y="147027"/>
                  </a:lnTo>
                  <a:lnTo>
                    <a:pt x="11023" y="130619"/>
                  </a:lnTo>
                  <a:lnTo>
                    <a:pt x="7810" y="111607"/>
                  </a:lnTo>
                  <a:lnTo>
                    <a:pt x="10731" y="92938"/>
                  </a:lnTo>
                  <a:lnTo>
                    <a:pt x="18935" y="77177"/>
                  </a:lnTo>
                  <a:lnTo>
                    <a:pt x="31597" y="64985"/>
                  </a:lnTo>
                  <a:lnTo>
                    <a:pt x="47891" y="57061"/>
                  </a:lnTo>
                  <a:lnTo>
                    <a:pt x="51295" y="66903"/>
                  </a:lnTo>
                  <a:lnTo>
                    <a:pt x="56718" y="75666"/>
                  </a:lnTo>
                  <a:lnTo>
                    <a:pt x="63957" y="83045"/>
                  </a:lnTo>
                  <a:lnTo>
                    <a:pt x="72821" y="88696"/>
                  </a:lnTo>
                  <a:lnTo>
                    <a:pt x="76263" y="81711"/>
                  </a:lnTo>
                  <a:lnTo>
                    <a:pt x="68160" y="76403"/>
                  </a:lnTo>
                  <a:lnTo>
                    <a:pt x="61709" y="69392"/>
                  </a:lnTo>
                  <a:lnTo>
                    <a:pt x="57188" y="61023"/>
                  </a:lnTo>
                  <a:lnTo>
                    <a:pt x="54813" y="51638"/>
                  </a:lnTo>
                  <a:lnTo>
                    <a:pt x="54508" y="46761"/>
                  </a:lnTo>
                  <a:lnTo>
                    <a:pt x="57569" y="31610"/>
                  </a:lnTo>
                  <a:lnTo>
                    <a:pt x="65925" y="19227"/>
                  </a:lnTo>
                  <a:lnTo>
                    <a:pt x="78308" y="10871"/>
                  </a:lnTo>
                  <a:lnTo>
                    <a:pt x="93459" y="7797"/>
                  </a:lnTo>
                  <a:lnTo>
                    <a:pt x="107061" y="9690"/>
                  </a:lnTo>
                  <a:lnTo>
                    <a:pt x="119164" y="15265"/>
                  </a:lnTo>
                  <a:lnTo>
                    <a:pt x="127850" y="24396"/>
                  </a:lnTo>
                  <a:lnTo>
                    <a:pt x="131191" y="36918"/>
                  </a:lnTo>
                  <a:lnTo>
                    <a:pt x="139001" y="36918"/>
                  </a:lnTo>
                  <a:close/>
                </a:path>
                <a:path w="324485" h="311785">
                  <a:moveTo>
                    <a:pt x="232740" y="260667"/>
                  </a:moveTo>
                  <a:lnTo>
                    <a:pt x="155625" y="260667"/>
                  </a:lnTo>
                  <a:lnTo>
                    <a:pt x="155625" y="268478"/>
                  </a:lnTo>
                  <a:lnTo>
                    <a:pt x="232740" y="268478"/>
                  </a:lnTo>
                  <a:lnTo>
                    <a:pt x="232740" y="260667"/>
                  </a:lnTo>
                  <a:close/>
                </a:path>
                <a:path w="324485" h="311785">
                  <a:moveTo>
                    <a:pt x="232740" y="43065"/>
                  </a:moveTo>
                  <a:lnTo>
                    <a:pt x="155625" y="43065"/>
                  </a:lnTo>
                  <a:lnTo>
                    <a:pt x="155625" y="50888"/>
                  </a:lnTo>
                  <a:lnTo>
                    <a:pt x="232740" y="50888"/>
                  </a:lnTo>
                  <a:lnTo>
                    <a:pt x="232740" y="43065"/>
                  </a:lnTo>
                  <a:close/>
                </a:path>
                <a:path w="324485" h="311785">
                  <a:moveTo>
                    <a:pt x="286613" y="240423"/>
                  </a:moveTo>
                  <a:lnTo>
                    <a:pt x="261696" y="217728"/>
                  </a:lnTo>
                  <a:lnTo>
                    <a:pt x="260756" y="217373"/>
                  </a:lnTo>
                  <a:lnTo>
                    <a:pt x="259778" y="217373"/>
                  </a:lnTo>
                  <a:lnTo>
                    <a:pt x="204152" y="217373"/>
                  </a:lnTo>
                  <a:lnTo>
                    <a:pt x="204152" y="225183"/>
                  </a:lnTo>
                  <a:lnTo>
                    <a:pt x="258254" y="225183"/>
                  </a:lnTo>
                  <a:lnTo>
                    <a:pt x="281343" y="246202"/>
                  </a:lnTo>
                  <a:lnTo>
                    <a:pt x="286613" y="240423"/>
                  </a:lnTo>
                  <a:close/>
                </a:path>
                <a:path w="324485" h="311785">
                  <a:moveTo>
                    <a:pt x="286613" y="71120"/>
                  </a:moveTo>
                  <a:lnTo>
                    <a:pt x="281343" y="65341"/>
                  </a:lnTo>
                  <a:lnTo>
                    <a:pt x="258254" y="86360"/>
                  </a:lnTo>
                  <a:lnTo>
                    <a:pt x="204152" y="86360"/>
                  </a:lnTo>
                  <a:lnTo>
                    <a:pt x="204152" y="94170"/>
                  </a:lnTo>
                  <a:lnTo>
                    <a:pt x="260756" y="94170"/>
                  </a:lnTo>
                  <a:lnTo>
                    <a:pt x="261696" y="93814"/>
                  </a:lnTo>
                  <a:lnTo>
                    <a:pt x="286613" y="71120"/>
                  </a:lnTo>
                  <a:close/>
                </a:path>
                <a:path w="324485" h="311785">
                  <a:moveTo>
                    <a:pt x="324370" y="171780"/>
                  </a:moveTo>
                  <a:lnTo>
                    <a:pt x="229044" y="171780"/>
                  </a:lnTo>
                  <a:lnTo>
                    <a:pt x="229044" y="179590"/>
                  </a:lnTo>
                  <a:lnTo>
                    <a:pt x="324370" y="179590"/>
                  </a:lnTo>
                  <a:lnTo>
                    <a:pt x="324370" y="171780"/>
                  </a:lnTo>
                  <a:close/>
                </a:path>
                <a:path w="324485" h="311785">
                  <a:moveTo>
                    <a:pt x="324370" y="127444"/>
                  </a:moveTo>
                  <a:lnTo>
                    <a:pt x="229044" y="127444"/>
                  </a:lnTo>
                  <a:lnTo>
                    <a:pt x="229044" y="135255"/>
                  </a:lnTo>
                  <a:lnTo>
                    <a:pt x="324370" y="135255"/>
                  </a:lnTo>
                  <a:lnTo>
                    <a:pt x="324370" y="127444"/>
                  </a:lnTo>
                  <a:close/>
                </a:path>
              </a:pathLst>
            </a:custGeom>
            <a:solidFill>
              <a:srgbClr val="000000"/>
            </a:solidFill>
          </p:spPr>
          <p:txBody>
            <a:bodyPr wrap="square" lIns="0" tIns="0" rIns="0" bIns="0" rtlCol="0"/>
            <a:lstStyle/>
            <a:p>
              <a:endParaRPr/>
            </a:p>
          </p:txBody>
        </p:sp>
      </p:grpSp>
      <p:sp>
        <p:nvSpPr>
          <p:cNvPr id="16" name="object 17">
            <a:extLst>
              <a:ext uri="{FF2B5EF4-FFF2-40B4-BE49-F238E27FC236}">
                <a16:creationId xmlns:a16="http://schemas.microsoft.com/office/drawing/2014/main" id="{E3DA530C-0EB8-366B-76C5-D96EC7CDA117}"/>
              </a:ext>
            </a:extLst>
          </p:cNvPr>
          <p:cNvSpPr txBox="1"/>
          <p:nvPr/>
        </p:nvSpPr>
        <p:spPr>
          <a:xfrm>
            <a:off x="620713" y="5324075"/>
            <a:ext cx="5641340" cy="330200"/>
          </a:xfrm>
          <a:prstGeom prst="rect">
            <a:avLst/>
          </a:prstGeom>
        </p:spPr>
        <p:txBody>
          <a:bodyPr vert="horz" wrap="square" lIns="0" tIns="12700" rIns="0" bIns="0" rtlCol="0">
            <a:spAutoFit/>
          </a:bodyPr>
          <a:lstStyle/>
          <a:p>
            <a:pPr marL="38100" marR="30480">
              <a:lnSpc>
                <a:spcPct val="100000"/>
              </a:lnSpc>
              <a:spcBef>
                <a:spcPts val="100"/>
              </a:spcBef>
            </a:pPr>
            <a:r>
              <a:rPr sz="1000" b="0" spc="-20">
                <a:cs typeface="Avenir Light"/>
              </a:rPr>
              <a:t>Want</a:t>
            </a:r>
            <a:r>
              <a:rPr sz="1000" b="0" spc="-25">
                <a:cs typeface="Avenir Light"/>
              </a:rPr>
              <a:t> </a:t>
            </a:r>
            <a:r>
              <a:rPr sz="1000" b="0">
                <a:cs typeface="Avenir Light"/>
              </a:rPr>
              <a:t>to</a:t>
            </a:r>
            <a:r>
              <a:rPr sz="1000" b="0" spc="-25">
                <a:cs typeface="Avenir Light"/>
              </a:rPr>
              <a:t> </a:t>
            </a:r>
            <a:r>
              <a:rPr sz="1000" b="0" spc="-10">
                <a:cs typeface="Avenir Light"/>
              </a:rPr>
              <a:t>discover</a:t>
            </a:r>
            <a:r>
              <a:rPr sz="1000" b="0" spc="-25">
                <a:cs typeface="Avenir Light"/>
              </a:rPr>
              <a:t> </a:t>
            </a:r>
            <a:r>
              <a:rPr sz="1000" b="0">
                <a:cs typeface="Avenir Light"/>
              </a:rPr>
              <a:t>how</a:t>
            </a:r>
            <a:r>
              <a:rPr sz="1000" b="0" spc="-25">
                <a:cs typeface="Avenir Light"/>
              </a:rPr>
              <a:t> </a:t>
            </a:r>
            <a:r>
              <a:rPr sz="1000" b="0" spc="-10">
                <a:cs typeface="Avenir Light"/>
              </a:rPr>
              <a:t>Engineering</a:t>
            </a:r>
            <a:r>
              <a:rPr sz="825" b="0" spc="-15" baseline="35353">
                <a:cs typeface="Avenir Light"/>
              </a:rPr>
              <a:t>AI</a:t>
            </a:r>
            <a:r>
              <a:rPr sz="825" b="0" spc="135" baseline="35353">
                <a:cs typeface="Avenir Light"/>
              </a:rPr>
              <a:t> </a:t>
            </a:r>
            <a:r>
              <a:rPr sz="1000" b="0">
                <a:cs typeface="Avenir Light"/>
              </a:rPr>
              <a:t>can</a:t>
            </a:r>
            <a:r>
              <a:rPr sz="1000" b="0" spc="-25">
                <a:cs typeface="Avenir Light"/>
              </a:rPr>
              <a:t> </a:t>
            </a:r>
            <a:r>
              <a:rPr sz="1000" b="0" spc="-10">
                <a:cs typeface="Avenir Light"/>
              </a:rPr>
              <a:t>transform</a:t>
            </a:r>
            <a:r>
              <a:rPr sz="1000" b="0" spc="-25">
                <a:cs typeface="Avenir Light"/>
              </a:rPr>
              <a:t> </a:t>
            </a:r>
            <a:r>
              <a:rPr sz="1000" b="0" spc="-10">
                <a:cs typeface="Avenir Light"/>
              </a:rPr>
              <a:t>your</a:t>
            </a:r>
            <a:r>
              <a:rPr sz="1000" b="0" spc="-25">
                <a:cs typeface="Avenir Light"/>
              </a:rPr>
              <a:t> </a:t>
            </a:r>
            <a:r>
              <a:rPr sz="1000" b="0" spc="-10">
                <a:cs typeface="Avenir Light"/>
              </a:rPr>
              <a:t>business?</a:t>
            </a:r>
            <a:r>
              <a:rPr sz="1000" b="0" spc="-25">
                <a:cs typeface="Avenir Light"/>
              </a:rPr>
              <a:t> </a:t>
            </a:r>
            <a:r>
              <a:rPr sz="1000" b="0">
                <a:cs typeface="Avenir Light"/>
              </a:rPr>
              <a:t>Email</a:t>
            </a:r>
            <a:r>
              <a:rPr sz="1000" b="0" spc="-20">
                <a:cs typeface="Avenir Light"/>
              </a:rPr>
              <a:t> </a:t>
            </a:r>
            <a:r>
              <a:rPr sz="1000" b="0">
                <a:cs typeface="Avenir Light"/>
              </a:rPr>
              <a:t>us</a:t>
            </a:r>
            <a:r>
              <a:rPr sz="1000" b="0" spc="-25">
                <a:cs typeface="Avenir Light"/>
              </a:rPr>
              <a:t> </a:t>
            </a:r>
            <a:r>
              <a:rPr sz="1000" b="0">
                <a:cs typeface="Avenir Light"/>
              </a:rPr>
              <a:t>at</a:t>
            </a:r>
            <a:r>
              <a:rPr sz="1000" b="0" spc="-25">
                <a:cs typeface="Avenir Light"/>
              </a:rPr>
              <a:t> </a:t>
            </a:r>
            <a:r>
              <a:rPr sz="1000" b="0" spc="-20">
                <a:cs typeface="Avenir Medium"/>
                <a:hlinkClick r:id="rId3"/>
              </a:rPr>
              <a:t>mail@ascendion.com</a:t>
            </a:r>
            <a:r>
              <a:rPr sz="1000" b="0" spc="-30">
                <a:cs typeface="Avenir Medium"/>
              </a:rPr>
              <a:t> </a:t>
            </a:r>
            <a:r>
              <a:rPr sz="1000" b="0" spc="-25">
                <a:cs typeface="Avenir Light"/>
              </a:rPr>
              <a:t>to </a:t>
            </a:r>
            <a:r>
              <a:rPr sz="1000" b="0">
                <a:cs typeface="Avenir Light"/>
              </a:rPr>
              <a:t>drive</a:t>
            </a:r>
            <a:r>
              <a:rPr sz="1000" b="0" spc="-30">
                <a:cs typeface="Avenir Light"/>
              </a:rPr>
              <a:t> </a:t>
            </a:r>
            <a:r>
              <a:rPr sz="1000" b="0" spc="-20">
                <a:cs typeface="Avenir Light"/>
              </a:rPr>
              <a:t>growth,</a:t>
            </a:r>
            <a:r>
              <a:rPr sz="1000" b="0" spc="-25">
                <a:cs typeface="Avenir Light"/>
              </a:rPr>
              <a:t> </a:t>
            </a:r>
            <a:r>
              <a:rPr sz="1000" b="0">
                <a:cs typeface="Avenir Light"/>
              </a:rPr>
              <a:t>scale</a:t>
            </a:r>
            <a:r>
              <a:rPr sz="1000" b="0" spc="-25">
                <a:cs typeface="Avenir Light"/>
              </a:rPr>
              <a:t> effortlessly, </a:t>
            </a:r>
            <a:r>
              <a:rPr sz="1000" b="0">
                <a:cs typeface="Avenir Light"/>
              </a:rPr>
              <a:t>and</a:t>
            </a:r>
            <a:r>
              <a:rPr sz="1000" b="0" spc="-30">
                <a:cs typeface="Avenir Light"/>
              </a:rPr>
              <a:t> </a:t>
            </a:r>
            <a:r>
              <a:rPr sz="1000" b="0" spc="-10">
                <a:cs typeface="Avenir Light"/>
              </a:rPr>
              <a:t>secure</a:t>
            </a:r>
            <a:r>
              <a:rPr sz="1000" b="0" spc="-25">
                <a:cs typeface="Avenir Light"/>
              </a:rPr>
              <a:t> </a:t>
            </a:r>
            <a:r>
              <a:rPr sz="1000" b="0" spc="-10">
                <a:cs typeface="Avenir Light"/>
              </a:rPr>
              <a:t>your</a:t>
            </a:r>
            <a:r>
              <a:rPr sz="1000" b="0" spc="-25">
                <a:cs typeface="Avenir Light"/>
              </a:rPr>
              <a:t> </a:t>
            </a:r>
            <a:r>
              <a:rPr sz="1000" b="0" spc="-10">
                <a:cs typeface="Avenir Light"/>
              </a:rPr>
              <a:t>enterprise's</a:t>
            </a:r>
            <a:r>
              <a:rPr sz="1000" b="0" spc="-25">
                <a:cs typeface="Avenir Light"/>
              </a:rPr>
              <a:t> </a:t>
            </a:r>
            <a:r>
              <a:rPr sz="1000" b="0" spc="-10">
                <a:cs typeface="Avenir Light"/>
              </a:rPr>
              <a:t>future</a:t>
            </a:r>
            <a:r>
              <a:rPr sz="1000" b="0" spc="-30">
                <a:cs typeface="Avenir Light"/>
              </a:rPr>
              <a:t> </a:t>
            </a:r>
            <a:r>
              <a:rPr sz="1000" b="0" spc="-10">
                <a:cs typeface="Avenir Light"/>
              </a:rPr>
              <a:t>success.</a:t>
            </a:r>
            <a:endParaRPr sz="1000">
              <a:cs typeface="Avenir Light"/>
            </a:endParaRPr>
          </a:p>
        </p:txBody>
      </p:sp>
      <p:grpSp>
        <p:nvGrpSpPr>
          <p:cNvPr id="20" name="Group 19">
            <a:extLst>
              <a:ext uri="{FF2B5EF4-FFF2-40B4-BE49-F238E27FC236}">
                <a16:creationId xmlns:a16="http://schemas.microsoft.com/office/drawing/2014/main" id="{17CCE5DB-2175-21CB-D616-2671EFA698A0}"/>
              </a:ext>
            </a:extLst>
          </p:cNvPr>
          <p:cNvGrpSpPr/>
          <p:nvPr/>
        </p:nvGrpSpPr>
        <p:grpSpPr>
          <a:xfrm>
            <a:off x="663705" y="6803439"/>
            <a:ext cx="5585234" cy="1525673"/>
            <a:chOff x="663705" y="7165389"/>
            <a:chExt cx="5585234" cy="1525673"/>
          </a:xfrm>
        </p:grpSpPr>
        <p:sp>
          <p:nvSpPr>
            <p:cNvPr id="17" name="object 18">
              <a:extLst>
                <a:ext uri="{FF2B5EF4-FFF2-40B4-BE49-F238E27FC236}">
                  <a16:creationId xmlns:a16="http://schemas.microsoft.com/office/drawing/2014/main" id="{71436EE7-BA5D-B592-D2C7-DC9DF6F4AD25}"/>
                </a:ext>
              </a:extLst>
            </p:cNvPr>
            <p:cNvSpPr txBox="1"/>
            <p:nvPr/>
          </p:nvSpPr>
          <p:spPr>
            <a:xfrm>
              <a:off x="731036" y="7307544"/>
              <a:ext cx="5517903" cy="1049005"/>
            </a:xfrm>
            <a:prstGeom prst="rect">
              <a:avLst/>
            </a:prstGeom>
          </p:spPr>
          <p:txBody>
            <a:bodyPr vert="horz" wrap="square" lIns="0" tIns="78740" rIns="0" bIns="0" rtlCol="0">
              <a:spAutoFit/>
            </a:bodyPr>
            <a:lstStyle/>
            <a:p>
              <a:pPr marL="12700">
                <a:lnSpc>
                  <a:spcPct val="100000"/>
                </a:lnSpc>
                <a:spcBef>
                  <a:spcPts val="620"/>
                </a:spcBef>
              </a:pPr>
              <a:r>
                <a:rPr sz="900" b="1" spc="-10" dirty="0">
                  <a:cs typeface="PP Neue Machina Plain Ultrabold"/>
                </a:rPr>
                <a:t>About</a:t>
              </a:r>
              <a:r>
                <a:rPr sz="900" b="1" spc="-25" dirty="0">
                  <a:cs typeface="PP Neue Machina Plain Ultrabold"/>
                </a:rPr>
                <a:t> </a:t>
              </a:r>
              <a:r>
                <a:rPr sz="900" b="1" spc="-10" dirty="0">
                  <a:cs typeface="PP Neue Machina Plain Ultrabold"/>
                </a:rPr>
                <a:t>Ascendion</a:t>
              </a:r>
              <a:endParaRPr sz="900" dirty="0">
                <a:cs typeface="PP Neue Machina Plain Ultrabold"/>
              </a:endParaRPr>
            </a:p>
            <a:p>
              <a:pPr marL="0" marR="0"/>
              <a:r>
                <a:rPr lang="en-US" sz="900" kern="100" dirty="0">
                  <a:solidFill>
                    <a:srgbClr val="212121"/>
                  </a:solidFill>
                  <a:effectLst/>
                  <a:latin typeface="Verdana" panose="020B0604030504040204" pitchFamily="34" charset="0"/>
                  <a:ea typeface="Aptos" panose="020B0004020202020204" pitchFamily="34" charset="0"/>
                  <a:cs typeface="Times New Roman" panose="02020603050405020304" pitchFamily="18" charset="0"/>
                </a:rPr>
                <a:t>Ascendion is an AI-powered software engineering leader. We serve over 400 global clients with software engineering, cloud, data, experience design, and workforce transformation solutions. Powered </a:t>
              </a:r>
              <a:r>
                <a:rPr lang="en-US" sz="900" kern="100" dirty="0">
                  <a:solidFill>
                    <a:srgbClr val="000000"/>
                  </a:solidFill>
                  <a:effectLst/>
                  <a:latin typeface="Verdana" panose="020B0604030504040204" pitchFamily="34" charset="0"/>
                  <a:ea typeface="Aptos" panose="020B0004020202020204" pitchFamily="34" charset="0"/>
                  <a:cs typeface="Times New Roman" panose="02020603050405020304" pitchFamily="18" charset="0"/>
                </a:rPr>
                <a:t>by +11,000 Ascenders around the world,</a:t>
              </a:r>
              <a:r>
                <a:rPr lang="en-US" sz="900" kern="100" dirty="0">
                  <a:solidFill>
                    <a:srgbClr val="212121"/>
                  </a:solidFill>
                  <a:effectLst/>
                  <a:latin typeface="Verdana" panose="020B0604030504040204" pitchFamily="34" charset="0"/>
                  <a:ea typeface="Aptos" panose="020B0004020202020204" pitchFamily="34" charset="0"/>
                  <a:cs typeface="Times New Roman" panose="02020603050405020304" pitchFamily="18" charset="0"/>
                </a:rPr>
                <a:t> a bold culture, and our proprietary Engineering</a:t>
              </a:r>
              <a:r>
                <a:rPr lang="en-US" sz="900" i="1" kern="100" baseline="30000" dirty="0">
                  <a:solidFill>
                    <a:srgbClr val="212121"/>
                  </a:solidFill>
                  <a:effectLst/>
                  <a:latin typeface="Verdana" panose="020B0604030504040204" pitchFamily="34" charset="0"/>
                  <a:ea typeface="Aptos" panose="020B0004020202020204" pitchFamily="34" charset="0"/>
                  <a:cs typeface="Times New Roman" panose="02020603050405020304" pitchFamily="18" charset="0"/>
                </a:rPr>
                <a:t>AI</a:t>
              </a:r>
              <a:r>
                <a:rPr lang="en-US" sz="900" kern="100" baseline="30000" dirty="0">
                  <a:solidFill>
                    <a:srgbClr val="212121"/>
                  </a:solidFill>
                  <a:effectLst/>
                  <a:latin typeface="Verdana" panose="020B0604030504040204" pitchFamily="34" charset="0"/>
                  <a:ea typeface="Aptos" panose="020B0004020202020204" pitchFamily="34" charset="0"/>
                  <a:cs typeface="Times New Roman" panose="02020603050405020304" pitchFamily="18" charset="0"/>
                </a:rPr>
                <a:t> </a:t>
              </a:r>
              <a:r>
                <a:rPr lang="en-US" sz="900" kern="100" dirty="0">
                  <a:solidFill>
                    <a:srgbClr val="212121"/>
                  </a:solidFill>
                  <a:effectLst/>
                  <a:latin typeface="Verdana" panose="020B0604030504040204" pitchFamily="34" charset="0"/>
                  <a:ea typeface="Aptos" panose="020B0004020202020204" pitchFamily="34" charset="0"/>
                  <a:cs typeface="Times New Roman" panose="02020603050405020304" pitchFamily="18" charset="0"/>
                </a:rPr>
                <a:t>(Engineering to the Power of AI) approach, we help businesses unlock value, accelerate growth, and impact lives. Headquartered in New Jersey, Ascendion combines scale, agility, and ingenuity to engineer what’s next. Learn more at </a:t>
              </a:r>
              <a:r>
                <a:rPr lang="en-US" sz="900" u="sng" kern="100" dirty="0">
                  <a:solidFill>
                    <a:srgbClr val="96607D"/>
                  </a:solidFill>
                  <a:effectLst/>
                  <a:latin typeface="Verdana" panose="020B0604030504040204" pitchFamily="34" charset="0"/>
                  <a:ea typeface="Aptos" panose="020B0004020202020204" pitchFamily="34" charset="0"/>
                  <a:cs typeface="Times New Roman" panose="02020603050405020304" pitchFamily="18" charset="0"/>
                  <a:hlinkClick r:id="rId4" tooltip="http://www.ascendion.com"/>
                </a:rPr>
                <a:t>ascendion.com</a:t>
              </a:r>
              <a:r>
                <a:rPr lang="en-US" sz="900" kern="100" dirty="0">
                  <a:solidFill>
                    <a:srgbClr val="212121"/>
                  </a:solidFill>
                  <a:effectLst/>
                  <a:latin typeface="Verdana" panose="020B0604030504040204" pitchFamily="34" charset="0"/>
                  <a:ea typeface="Aptos" panose="020B0004020202020204" pitchFamily="34" charset="0"/>
                  <a:cs typeface="Times New Roman" panose="02020603050405020304" pitchFamily="18" charset="0"/>
                </a:rPr>
                <a:t>.</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8" name="object 19">
              <a:extLst>
                <a:ext uri="{FF2B5EF4-FFF2-40B4-BE49-F238E27FC236}">
                  <a16:creationId xmlns:a16="http://schemas.microsoft.com/office/drawing/2014/main" id="{AF511805-1C2D-15F7-E2D1-C608980C3A49}"/>
                </a:ext>
              </a:extLst>
            </p:cNvPr>
            <p:cNvSpPr/>
            <p:nvPr/>
          </p:nvSpPr>
          <p:spPr>
            <a:xfrm>
              <a:off x="663705" y="8691062"/>
              <a:ext cx="5541010" cy="0"/>
            </a:xfrm>
            <a:custGeom>
              <a:avLst/>
              <a:gdLst/>
              <a:ahLst/>
              <a:cxnLst/>
              <a:rect l="l" t="t" r="r" b="b"/>
              <a:pathLst>
                <a:path w="5541009">
                  <a:moveTo>
                    <a:pt x="0" y="0"/>
                  </a:moveTo>
                  <a:lnTo>
                    <a:pt x="5541010" y="0"/>
                  </a:lnTo>
                </a:path>
              </a:pathLst>
            </a:custGeom>
            <a:ln w="12700">
              <a:solidFill>
                <a:srgbClr val="000000"/>
              </a:solidFill>
            </a:ln>
          </p:spPr>
          <p:txBody>
            <a:bodyPr wrap="square" lIns="0" tIns="0" rIns="0" bIns="0" rtlCol="0"/>
            <a:lstStyle/>
            <a:p>
              <a:endParaRPr/>
            </a:p>
          </p:txBody>
        </p:sp>
        <p:sp>
          <p:nvSpPr>
            <p:cNvPr id="19" name="object 20">
              <a:extLst>
                <a:ext uri="{FF2B5EF4-FFF2-40B4-BE49-F238E27FC236}">
                  <a16:creationId xmlns:a16="http://schemas.microsoft.com/office/drawing/2014/main" id="{3716E35F-EC04-F77B-B081-5B4F96742186}"/>
                </a:ext>
              </a:extLst>
            </p:cNvPr>
            <p:cNvSpPr/>
            <p:nvPr/>
          </p:nvSpPr>
          <p:spPr>
            <a:xfrm>
              <a:off x="663705" y="7165389"/>
              <a:ext cx="5541010" cy="0"/>
            </a:xfrm>
            <a:custGeom>
              <a:avLst/>
              <a:gdLst/>
              <a:ahLst/>
              <a:cxnLst/>
              <a:rect l="l" t="t" r="r" b="b"/>
              <a:pathLst>
                <a:path w="5541009">
                  <a:moveTo>
                    <a:pt x="0" y="0"/>
                  </a:moveTo>
                  <a:lnTo>
                    <a:pt x="5541010" y="0"/>
                  </a:lnTo>
                </a:path>
              </a:pathLst>
            </a:custGeom>
            <a:ln w="12700">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4267857059"/>
      </p:ext>
    </p:extLst>
  </p:cSld>
  <p:clrMapOvr>
    <a:masterClrMapping/>
  </p:clrMapOvr>
</p:sld>
</file>

<file path=ppt/theme/theme1.xml><?xml version="1.0" encoding="utf-8"?>
<a:theme xmlns:a="http://schemas.openxmlformats.org/drawingml/2006/main" name="Office Theme">
  <a:themeElements>
    <a:clrScheme name="ASC">
      <a:dk1>
        <a:srgbClr val="000000"/>
      </a:dk1>
      <a:lt1>
        <a:srgbClr val="FFFFFF"/>
      </a:lt1>
      <a:dk2>
        <a:srgbClr val="4D4D4D"/>
      </a:dk2>
      <a:lt2>
        <a:srgbClr val="CCCCCC"/>
      </a:lt2>
      <a:accent1>
        <a:srgbClr val="008567"/>
      </a:accent1>
      <a:accent2>
        <a:srgbClr val="CC0066"/>
      </a:accent2>
      <a:accent3>
        <a:srgbClr val="FFCC00"/>
      </a:accent3>
      <a:accent4>
        <a:srgbClr val="6666CC"/>
      </a:accent4>
      <a:accent5>
        <a:srgbClr val="00FAC2"/>
      </a:accent5>
      <a:accent6>
        <a:srgbClr val="71758A"/>
      </a:accent6>
      <a:hlink>
        <a:srgbClr val="0563C1"/>
      </a:hlink>
      <a:folHlink>
        <a:srgbClr val="954F72"/>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0bf21c7-9604-4162-909e-79eeace4e24c">
      <Terms xmlns="http://schemas.microsoft.com/office/infopath/2007/PartnerControls"/>
    </lcf76f155ced4ddcb4097134ff3c332f>
    <TaxCatchAll xmlns="7ab9c3be-024f-4023-af36-b16ce83c127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C548ABFE884841B7762CF46292F6C8" ma:contentTypeVersion="9" ma:contentTypeDescription="Create a new document." ma:contentTypeScope="" ma:versionID="cbd6caa2098fc878e25ff792833782d2">
  <xsd:schema xmlns:xsd="http://www.w3.org/2001/XMLSchema" xmlns:xs="http://www.w3.org/2001/XMLSchema" xmlns:p="http://schemas.microsoft.com/office/2006/metadata/properties" xmlns:ns2="e0bf21c7-9604-4162-909e-79eeace4e24c" xmlns:ns3="7ab9c3be-024f-4023-af36-b16ce83c127d" xmlns:ns4="8e1bcf63-e4f3-4ac2-9b4d-b749b0381fae" targetNamespace="http://schemas.microsoft.com/office/2006/metadata/properties" ma:root="true" ma:fieldsID="e2c470d1f051735025b6cba2b66be4cd" ns2:_="" ns3:_="" ns4:_="">
    <xsd:import namespace="e0bf21c7-9604-4162-909e-79eeace4e24c"/>
    <xsd:import namespace="7ab9c3be-024f-4023-af36-b16ce83c127d"/>
    <xsd:import namespace="8e1bcf63-e4f3-4ac2-9b4d-b749b0381fae"/>
    <xsd:element name="properties">
      <xsd:complexType>
        <xsd:sequence>
          <xsd:element name="documentManagement">
            <xsd:complexType>
              <xsd:all>
                <xsd:element ref="ns2:lcf76f155ced4ddcb4097134ff3c332f" minOccurs="0"/>
                <xsd:element ref="ns3:TaxCatchAll"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3:SharedWithUsers" minOccurs="0"/>
                <xsd:element ref="ns3:SharedWithDetails"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bf21c7-9604-4162-909e-79eeace4e24c" elementFormDefault="qualified">
    <xsd:import namespace="http://schemas.microsoft.com/office/2006/documentManagement/types"/>
    <xsd:import namespace="http://schemas.microsoft.com/office/infopath/2007/PartnerControls"/>
    <xsd:element name="lcf76f155ced4ddcb4097134ff3c332f" ma:index="8" nillable="true" ma:taxonomy="true" ma:internalName="lcf76f155ced4ddcb4097134ff3c332f" ma:taxonomyFieldName="MediaServiceImageTags" ma:displayName="Image Tags" ma:readOnly="false" ma:fieldId="{5cf76f15-5ced-4ddc-b409-7134ff3c332f}" ma:taxonomyMulti="true" ma:sspId="ed186d10-97f7-4892-a460-100f03a627e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b9c3be-024f-4023-af36-b16ce83c127d"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ed33cc2b-5f74-40ff-a7a6-0805f592ce51}" ma:internalName="TaxCatchAll" ma:showField="CatchAllData" ma:web="7ab9c3be-024f-4023-af36-b16ce83c127d">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e1bcf63-e4f3-4ac2-9b4d-b749b0381fa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6BEC867-DB32-4307-AA54-44D48B8F6833}">
  <ds:schemaRefs>
    <ds:schemaRef ds:uri="f2347824-39d8-424e-b7d4-b88ecde1beab"/>
    <ds:schemaRef ds:uri="http://purl.org/dc/terms/"/>
    <ds:schemaRef ds:uri="http://purl.org/dc/elements/1.1/"/>
    <ds:schemaRef ds:uri="f436a321-05e3-4ec3-b8e9-109481339b4e"/>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schemas.microsoft.com/office/infopath/2007/PartnerControls"/>
    <ds:schemaRef ds:uri="http://purl.org/dc/dcmitype/"/>
    <ds:schemaRef ds:uri="e0bf21c7-9604-4162-909e-79eeace4e24c"/>
    <ds:schemaRef ds:uri="7ab9c3be-024f-4023-af36-b16ce83c127d"/>
  </ds:schemaRefs>
</ds:datastoreItem>
</file>

<file path=customXml/itemProps2.xml><?xml version="1.0" encoding="utf-8"?>
<ds:datastoreItem xmlns:ds="http://schemas.openxmlformats.org/officeDocument/2006/customXml" ds:itemID="{FB36EDA0-42F9-4F59-A7D8-A545C88CCB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bf21c7-9604-4162-909e-79eeace4e24c"/>
    <ds:schemaRef ds:uri="7ab9c3be-024f-4023-af36-b16ce83c127d"/>
    <ds:schemaRef ds:uri="8e1bcf63-e4f3-4ac2-9b4d-b749b0381f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0504F7-7DED-40C8-AA91-D6EB9E3C38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372</Words>
  <Application>Microsoft Office PowerPoint</Application>
  <PresentationFormat>A4 Paper (210x297 mm)</PresentationFormat>
  <Paragraphs>35</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dc:creator>
  <cp:lastModifiedBy>Ariana Oleary</cp:lastModifiedBy>
  <cp:revision>2</cp:revision>
  <dcterms:created xsi:type="dcterms:W3CDTF">2024-12-12T10:18:28Z</dcterms:created>
  <dcterms:modified xsi:type="dcterms:W3CDTF">2026-03-18T09:12:36Z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0x010100F6C548ABFE884841B7762CF46292F6C8</vt:lpwstr>
  </property>
  <property fmtid="{D5CDD505-2E9C-101B-9397-08002B2CF9AE}" pid="3" name="MediaServiceImageTags">
    <vt:lpwstr/>
  </property>
  <property fmtid="{D5CDD505-2E9C-101B-9397-08002B2CF9AE}" pid="4" name="Order">
    <vt:r8>276400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